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2" r:id="rId1"/>
  </p:sldMasterIdLst>
  <p:notesMasterIdLst>
    <p:notesMasterId r:id="rId42"/>
  </p:notesMasterIdLst>
  <p:sldIdLst>
    <p:sldId id="256" r:id="rId2"/>
    <p:sldId id="364" r:id="rId3"/>
    <p:sldId id="267" r:id="rId4"/>
    <p:sldId id="257" r:id="rId5"/>
    <p:sldId id="376" r:id="rId6"/>
    <p:sldId id="263" r:id="rId7"/>
    <p:sldId id="260" r:id="rId8"/>
    <p:sldId id="359" r:id="rId9"/>
    <p:sldId id="374" r:id="rId10"/>
    <p:sldId id="375" r:id="rId11"/>
    <p:sldId id="265" r:id="rId12"/>
    <p:sldId id="266" r:id="rId13"/>
    <p:sldId id="360" r:id="rId14"/>
    <p:sldId id="273" r:id="rId15"/>
    <p:sldId id="366" r:id="rId16"/>
    <p:sldId id="352" r:id="rId17"/>
    <p:sldId id="279" r:id="rId18"/>
    <p:sldId id="274" r:id="rId19"/>
    <p:sldId id="277" r:id="rId20"/>
    <p:sldId id="362" r:id="rId21"/>
    <p:sldId id="290" r:id="rId22"/>
    <p:sldId id="291" r:id="rId23"/>
    <p:sldId id="292" r:id="rId24"/>
    <p:sldId id="363" r:id="rId25"/>
    <p:sldId id="294" r:id="rId26"/>
    <p:sldId id="295" r:id="rId27"/>
    <p:sldId id="298" r:id="rId28"/>
    <p:sldId id="299" r:id="rId29"/>
    <p:sldId id="301" r:id="rId30"/>
    <p:sldId id="303" r:id="rId31"/>
    <p:sldId id="338" r:id="rId32"/>
    <p:sldId id="342" r:id="rId33"/>
    <p:sldId id="343" r:id="rId34"/>
    <p:sldId id="344" r:id="rId35"/>
    <p:sldId id="345" r:id="rId36"/>
    <p:sldId id="346" r:id="rId37"/>
    <p:sldId id="347" r:id="rId38"/>
    <p:sldId id="351" r:id="rId39"/>
    <p:sldId id="365" r:id="rId40"/>
    <p:sldId id="354" r:id="rId41"/>
  </p:sldIdLst>
  <p:sldSz cx="9144000" cy="5143500" type="screen16x9"/>
  <p:notesSz cx="6858000" cy="9144000"/>
  <p:embeddedFontLst>
    <p:embeddedFont>
      <p:font typeface="Roboto" panose="020B0604020202020204" pitchFamily="34" charset="0"/>
      <p:regular r:id="rId43"/>
      <p:bold r:id="rId44"/>
      <p:italic r:id="rId45"/>
      <p:boldItalic r:id="rId46"/>
    </p:embeddedFont>
    <p:embeddedFont>
      <p:font typeface="Roboto Slab" panose="020B0604020202020204" pitchFamily="34" charset="0"/>
      <p:regular r:id="rId47"/>
      <p:bold r:id="rId48"/>
    </p:embeddedFont>
  </p:embeddedFontLst>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C49"/>
    <a:srgbClr val="FFBB49"/>
    <a:srgbClr val="166DF1"/>
    <a:srgbClr val="F2F2F2"/>
    <a:srgbClr val="57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85" autoAdjust="0"/>
    <p:restoredTop sz="94757"/>
  </p:normalViewPr>
  <p:slideViewPr>
    <p:cSldViewPr snapToGrid="0" snapToObjects="1">
      <p:cViewPr>
        <p:scale>
          <a:sx n="113" d="100"/>
          <a:sy n="113" d="100"/>
        </p:scale>
        <p:origin x="616" y="59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extLst>
      <p:ext uri="{BB962C8B-B14F-4D97-AF65-F5344CB8AC3E}">
        <p14:creationId xmlns:p14="http://schemas.microsoft.com/office/powerpoint/2010/main" val="3355352142"/>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8"/>
        <p:cNvGrpSpPr/>
        <p:nvPr/>
      </p:nvGrpSpPr>
      <p:grpSpPr>
        <a:xfrm>
          <a:off x="0" y="0"/>
          <a:ext cx="0" cy="0"/>
          <a:chOff x="0" y="0"/>
          <a:chExt cx="0" cy="0"/>
        </a:xfrm>
      </p:grpSpPr>
      <p:sp>
        <p:nvSpPr>
          <p:cNvPr id="3089" name="Shape 30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090" name="Shape 309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295745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Shape 3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71" name="Shape 37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7" name="Shape 3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8"/>
        <p:cNvGrpSpPr/>
        <p:nvPr/>
      </p:nvGrpSpPr>
      <p:grpSpPr>
        <a:xfrm>
          <a:off x="0" y="0"/>
          <a:ext cx="0" cy="0"/>
          <a:chOff x="0" y="0"/>
          <a:chExt cx="0" cy="0"/>
        </a:xfrm>
      </p:grpSpPr>
      <p:sp>
        <p:nvSpPr>
          <p:cNvPr id="3089" name="Shape 30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090" name="Shape 309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789194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Shape 28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87" name="Shape 28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Shape 17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72" name="Shape 17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7" name="Shape 3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031325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Shape 83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835" name="Shape 83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40305319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Shape 3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45" name="Shape 34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4039870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Shape 32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21" name="Shape 32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Shape 3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45" name="Shape 34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7" name="Shape 3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0250889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Shape 60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08" name="Shape 60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5"/>
        <p:cNvGrpSpPr/>
        <p:nvPr/>
      </p:nvGrpSpPr>
      <p:grpSpPr>
        <a:xfrm>
          <a:off x="0" y="0"/>
          <a:ext cx="0" cy="0"/>
          <a:chOff x="0" y="0"/>
          <a:chExt cx="0" cy="0"/>
        </a:xfrm>
      </p:grpSpPr>
      <p:sp>
        <p:nvSpPr>
          <p:cNvPr id="3076" name="Shape 30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077" name="Shape 307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5953782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8"/>
        <p:cNvGrpSpPr/>
        <p:nvPr/>
      </p:nvGrpSpPr>
      <p:grpSpPr>
        <a:xfrm>
          <a:off x="0" y="0"/>
          <a:ext cx="0" cy="0"/>
          <a:chOff x="0" y="0"/>
          <a:chExt cx="0" cy="0"/>
        </a:xfrm>
      </p:grpSpPr>
      <p:sp>
        <p:nvSpPr>
          <p:cNvPr id="3089" name="Shape 30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090" name="Shape 309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Shape 83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835" name="Shape 83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Shape 6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45" name="Shape 64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Shape 7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57" name="Shape 75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7" name="Shape 3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1899865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1"/>
        <p:cNvGrpSpPr/>
        <p:nvPr/>
      </p:nvGrpSpPr>
      <p:grpSpPr>
        <a:xfrm>
          <a:off x="0" y="0"/>
          <a:ext cx="0" cy="0"/>
          <a:chOff x="0" y="0"/>
          <a:chExt cx="0" cy="0"/>
        </a:xfrm>
      </p:grpSpPr>
      <p:sp>
        <p:nvSpPr>
          <p:cNvPr id="1272" name="Shape 12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273" name="Shape 12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5"/>
        <p:cNvGrpSpPr/>
        <p:nvPr/>
      </p:nvGrpSpPr>
      <p:grpSpPr>
        <a:xfrm>
          <a:off x="0" y="0"/>
          <a:ext cx="0" cy="0"/>
          <a:chOff x="0" y="0"/>
          <a:chExt cx="0" cy="0"/>
        </a:xfrm>
      </p:grpSpPr>
      <p:sp>
        <p:nvSpPr>
          <p:cNvPr id="1306" name="Shape 130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307" name="Shape 130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8"/>
        <p:cNvGrpSpPr/>
        <p:nvPr/>
      </p:nvGrpSpPr>
      <p:grpSpPr>
        <a:xfrm>
          <a:off x="0" y="0"/>
          <a:ext cx="0" cy="0"/>
          <a:chOff x="0" y="0"/>
          <a:chExt cx="0" cy="0"/>
        </a:xfrm>
      </p:grpSpPr>
      <p:sp>
        <p:nvSpPr>
          <p:cNvPr id="1339" name="Shape 13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340" name="Shape 134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7" name="Shape 3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467865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1"/>
        <p:cNvGrpSpPr/>
        <p:nvPr/>
      </p:nvGrpSpPr>
      <p:grpSpPr>
        <a:xfrm>
          <a:off x="0" y="0"/>
          <a:ext cx="0" cy="0"/>
          <a:chOff x="0" y="0"/>
          <a:chExt cx="0" cy="0"/>
        </a:xfrm>
      </p:grpSpPr>
      <p:sp>
        <p:nvSpPr>
          <p:cNvPr id="1392" name="Shape 13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393" name="Shape 139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4"/>
        <p:cNvGrpSpPr/>
        <p:nvPr/>
      </p:nvGrpSpPr>
      <p:grpSpPr>
        <a:xfrm>
          <a:off x="0" y="0"/>
          <a:ext cx="0" cy="0"/>
          <a:chOff x="0" y="0"/>
          <a:chExt cx="0" cy="0"/>
        </a:xfrm>
      </p:grpSpPr>
      <p:sp>
        <p:nvSpPr>
          <p:cNvPr id="1435" name="Shape 143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436" name="Shape 143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8"/>
        <p:cNvGrpSpPr/>
        <p:nvPr/>
      </p:nvGrpSpPr>
      <p:grpSpPr>
        <a:xfrm>
          <a:off x="0" y="0"/>
          <a:ext cx="0" cy="0"/>
          <a:chOff x="0" y="0"/>
          <a:chExt cx="0" cy="0"/>
        </a:xfrm>
      </p:grpSpPr>
      <p:sp>
        <p:nvSpPr>
          <p:cNvPr id="1559" name="Shape 15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560" name="Shape 156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9"/>
        <p:cNvGrpSpPr/>
        <p:nvPr/>
      </p:nvGrpSpPr>
      <p:grpSpPr>
        <a:xfrm>
          <a:off x="0" y="0"/>
          <a:ext cx="0" cy="0"/>
          <a:chOff x="0" y="0"/>
          <a:chExt cx="0" cy="0"/>
        </a:xfrm>
      </p:grpSpPr>
      <p:sp>
        <p:nvSpPr>
          <p:cNvPr id="1590" name="Shape 159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591" name="Shape 159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8"/>
        <p:cNvGrpSpPr/>
        <p:nvPr/>
      </p:nvGrpSpPr>
      <p:grpSpPr>
        <a:xfrm>
          <a:off x="0" y="0"/>
          <a:ext cx="0" cy="0"/>
          <a:chOff x="0" y="0"/>
          <a:chExt cx="0" cy="0"/>
        </a:xfrm>
      </p:grpSpPr>
      <p:sp>
        <p:nvSpPr>
          <p:cNvPr id="1669" name="Shape 16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670" name="Shape 167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8"/>
        <p:cNvGrpSpPr/>
        <p:nvPr/>
      </p:nvGrpSpPr>
      <p:grpSpPr>
        <a:xfrm>
          <a:off x="0" y="0"/>
          <a:ext cx="0" cy="0"/>
          <a:chOff x="0" y="0"/>
          <a:chExt cx="0" cy="0"/>
        </a:xfrm>
      </p:grpSpPr>
      <p:sp>
        <p:nvSpPr>
          <p:cNvPr id="1719" name="Shape 17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720" name="Shape 17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0"/>
        <p:cNvGrpSpPr/>
        <p:nvPr/>
      </p:nvGrpSpPr>
      <p:grpSpPr>
        <a:xfrm>
          <a:off x="0" y="0"/>
          <a:ext cx="0" cy="0"/>
          <a:chOff x="0" y="0"/>
          <a:chExt cx="0" cy="0"/>
        </a:xfrm>
      </p:grpSpPr>
      <p:sp>
        <p:nvSpPr>
          <p:cNvPr id="2771" name="Shape 277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772" name="Shape 277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4"/>
        <p:cNvGrpSpPr/>
        <p:nvPr/>
      </p:nvGrpSpPr>
      <p:grpSpPr>
        <a:xfrm>
          <a:off x="0" y="0"/>
          <a:ext cx="0" cy="0"/>
          <a:chOff x="0" y="0"/>
          <a:chExt cx="0" cy="0"/>
        </a:xfrm>
      </p:grpSpPr>
      <p:sp>
        <p:nvSpPr>
          <p:cNvPr id="2905" name="Shape 29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906" name="Shape 290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7"/>
        <p:cNvGrpSpPr/>
        <p:nvPr/>
      </p:nvGrpSpPr>
      <p:grpSpPr>
        <a:xfrm>
          <a:off x="0" y="0"/>
          <a:ext cx="0" cy="0"/>
          <a:chOff x="0" y="0"/>
          <a:chExt cx="0" cy="0"/>
        </a:xfrm>
      </p:grpSpPr>
      <p:sp>
        <p:nvSpPr>
          <p:cNvPr id="2948" name="Shape 29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949" name="Shape 294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8"/>
        <p:cNvGrpSpPr/>
        <p:nvPr/>
      </p:nvGrpSpPr>
      <p:grpSpPr>
        <a:xfrm>
          <a:off x="0" y="0"/>
          <a:ext cx="0" cy="0"/>
          <a:chOff x="0" y="0"/>
          <a:chExt cx="0" cy="0"/>
        </a:xfrm>
      </p:grpSpPr>
      <p:sp>
        <p:nvSpPr>
          <p:cNvPr id="2979" name="Shape 297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980" name="Shape 298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Shape 300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007" name="Shape 300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5"/>
        <p:cNvGrpSpPr/>
        <p:nvPr/>
      </p:nvGrpSpPr>
      <p:grpSpPr>
        <a:xfrm>
          <a:off x="0" y="0"/>
          <a:ext cx="0" cy="0"/>
          <a:chOff x="0" y="0"/>
          <a:chExt cx="0" cy="0"/>
        </a:xfrm>
      </p:grpSpPr>
      <p:sp>
        <p:nvSpPr>
          <p:cNvPr id="3016" name="Shape 301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017" name="Shape 301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9"/>
        <p:cNvGrpSpPr/>
        <p:nvPr/>
      </p:nvGrpSpPr>
      <p:grpSpPr>
        <a:xfrm>
          <a:off x="0" y="0"/>
          <a:ext cx="0" cy="0"/>
          <a:chOff x="0" y="0"/>
          <a:chExt cx="0" cy="0"/>
        </a:xfrm>
      </p:grpSpPr>
      <p:sp>
        <p:nvSpPr>
          <p:cNvPr id="3030" name="Shape 303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031" name="Shape 303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5"/>
        <p:cNvGrpSpPr/>
        <p:nvPr/>
      </p:nvGrpSpPr>
      <p:grpSpPr>
        <a:xfrm>
          <a:off x="0" y="0"/>
          <a:ext cx="0" cy="0"/>
          <a:chOff x="0" y="0"/>
          <a:chExt cx="0" cy="0"/>
        </a:xfrm>
      </p:grpSpPr>
      <p:sp>
        <p:nvSpPr>
          <p:cNvPr id="3076" name="Shape 30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077" name="Shape 307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2"/>
        <p:cNvGrpSpPr/>
        <p:nvPr/>
      </p:nvGrpSpPr>
      <p:grpSpPr>
        <a:xfrm>
          <a:off x="0" y="0"/>
          <a:ext cx="0" cy="0"/>
          <a:chOff x="0" y="0"/>
          <a:chExt cx="0" cy="0"/>
        </a:xfrm>
      </p:grpSpPr>
      <p:sp>
        <p:nvSpPr>
          <p:cNvPr id="3103" name="Shape 310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104" name="Shape 310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41561183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1"/>
        <p:cNvGrpSpPr/>
        <p:nvPr/>
      </p:nvGrpSpPr>
      <p:grpSpPr>
        <a:xfrm>
          <a:off x="0" y="0"/>
          <a:ext cx="0" cy="0"/>
          <a:chOff x="0" y="0"/>
          <a:chExt cx="0" cy="0"/>
        </a:xfrm>
      </p:grpSpPr>
      <p:sp>
        <p:nvSpPr>
          <p:cNvPr id="3132" name="Shape 313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133" name="Shape 313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6"/>
        <p:cNvGrpSpPr/>
        <p:nvPr/>
      </p:nvGrpSpPr>
      <p:grpSpPr>
        <a:xfrm>
          <a:off x="0" y="0"/>
          <a:ext cx="0" cy="0"/>
          <a:chOff x="0" y="0"/>
          <a:chExt cx="0" cy="0"/>
        </a:xfrm>
      </p:grpSpPr>
      <p:sp>
        <p:nvSpPr>
          <p:cNvPr id="7" name="Shape 7"/>
          <p:cNvSpPr txBox="1">
            <a:spLocks noGrp="1"/>
          </p:cNvSpPr>
          <p:nvPr>
            <p:ph type="sldNum" idx="12"/>
          </p:nvPr>
        </p:nvSpPr>
        <p:spPr>
          <a:xfrm>
            <a:off x="8472457" y="4663216"/>
            <a:ext cx="548699" cy="393600"/>
          </a:xfrm>
          <a:prstGeom prst="rect">
            <a:avLst/>
          </a:prstGeom>
        </p:spPr>
        <p:txBody>
          <a:bodyPr lIns="91425" tIns="91425" rIns="91425" bIns="91425" anchor="ctr" anchorCtr="0">
            <a:noAutofit/>
          </a:bodyPr>
          <a:lstStyle/>
          <a:p>
            <a:pPr>
              <a:spcBef>
                <a:spcPts val="0"/>
              </a:spcBef>
              <a:buNone/>
            </a:pPr>
            <a:fld id="{00000000-1234-1234-1234-123412341234}" type="slidenum">
              <a:rPr lang="en"/>
              <a:t>‹N›</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Title">
    <p:spTree>
      <p:nvGrpSpPr>
        <p:cNvPr id="1" name="Shape 8"/>
        <p:cNvGrpSpPr/>
        <p:nvPr/>
      </p:nvGrpSpPr>
      <p:grpSpPr>
        <a:xfrm>
          <a:off x="0" y="0"/>
          <a:ext cx="0" cy="0"/>
          <a:chOff x="0" y="0"/>
          <a:chExt cx="0" cy="0"/>
        </a:xfrm>
      </p:grpSpPr>
      <p:sp>
        <p:nvSpPr>
          <p:cNvPr id="9" name="Shape 9"/>
          <p:cNvSpPr txBox="1">
            <a:spLocks noGrp="1"/>
          </p:cNvSpPr>
          <p:nvPr>
            <p:ph type="sldNum" idx="12"/>
          </p:nvPr>
        </p:nvSpPr>
        <p:spPr>
          <a:xfrm>
            <a:off x="8472457" y="4663216"/>
            <a:ext cx="548699" cy="393600"/>
          </a:xfrm>
          <a:prstGeom prst="rect">
            <a:avLst/>
          </a:prstGeom>
        </p:spPr>
        <p:txBody>
          <a:bodyPr lIns="91425" tIns="91425" rIns="91425" bIns="91425" anchor="ctr" anchorCtr="0">
            <a:noAutofit/>
          </a:bodyPr>
          <a:lstStyle/>
          <a:p>
            <a:pPr>
              <a:spcBef>
                <a:spcPts val="0"/>
              </a:spcBef>
              <a:buNone/>
            </a:pPr>
            <a:fld id="{00000000-1234-1234-1234-123412341234}" type="slidenum">
              <a:rPr lang="en"/>
              <a:t>‹N›</a:t>
            </a:fld>
            <a:endParaRPr lang="en"/>
          </a:p>
        </p:txBody>
      </p:sp>
      <p:pic>
        <p:nvPicPr>
          <p:cNvPr id="10" name="Shape 10"/>
          <p:cNvPicPr preferRelativeResize="0"/>
          <p:nvPr/>
        </p:nvPicPr>
        <p:blipFill>
          <a:blip r:embed="rId2">
            <a:alphaModFix/>
          </a:blip>
          <a:stretch>
            <a:fillRect/>
          </a:stretch>
        </p:blipFill>
        <p:spPr>
          <a:xfrm>
            <a:off x="0" y="11"/>
            <a:ext cx="9144001" cy="2858627"/>
          </a:xfrm>
          <a:prstGeom prst="rect">
            <a:avLst/>
          </a:prstGeom>
          <a:noFill/>
          <a:ln>
            <a:noFill/>
          </a:ln>
        </p:spPr>
      </p:pic>
      <p:pic>
        <p:nvPicPr>
          <p:cNvPr id="11" name="Shape 11"/>
          <p:cNvPicPr preferRelativeResize="0"/>
          <p:nvPr/>
        </p:nvPicPr>
        <p:blipFill>
          <a:blip r:embed="rId3">
            <a:duotone>
              <a:prstClr val="black"/>
              <a:srgbClr val="0070C0">
                <a:tint val="45000"/>
                <a:satMod val="400000"/>
              </a:srgbClr>
            </a:duotone>
          </a:blip>
          <a:stretch>
            <a:fillRect/>
          </a:stretch>
        </p:blipFill>
        <p:spPr>
          <a:xfrm>
            <a:off x="0" y="2858650"/>
            <a:ext cx="9143999" cy="464650"/>
          </a:xfrm>
          <a:prstGeom prst="rect">
            <a:avLst/>
          </a:prstGeom>
          <a:solidFill>
            <a:schemeClr val="tx2">
              <a:lumMod val="75000"/>
            </a:schemeClr>
          </a:solidFill>
        </p:spPr>
      </p:pic>
      <p:sp>
        <p:nvSpPr>
          <p:cNvPr id="12" name="Shape 12"/>
          <p:cNvSpPr txBox="1"/>
          <p:nvPr/>
        </p:nvSpPr>
        <p:spPr>
          <a:xfrm>
            <a:off x="3240750" y="4349050"/>
            <a:ext cx="2662499" cy="290700"/>
          </a:xfrm>
          <a:prstGeom prst="rect">
            <a:avLst/>
          </a:prstGeom>
          <a:noFill/>
          <a:ln>
            <a:noFill/>
          </a:ln>
        </p:spPr>
        <p:txBody>
          <a:bodyPr lIns="91425" tIns="91425" rIns="91425" bIns="91425" anchor="t" anchorCtr="0">
            <a:noAutofit/>
          </a:bodyPr>
          <a:lstStyle/>
          <a:p>
            <a:pPr lvl="0" algn="ctr" rtl="0">
              <a:spcBef>
                <a:spcPts val="0"/>
              </a:spcBef>
              <a:buNone/>
            </a:pPr>
            <a:r>
              <a:rPr lang="en" sz="1000">
                <a:latin typeface="Roboto Slab"/>
                <a:ea typeface="Roboto Slab"/>
                <a:cs typeface="Roboto Slab"/>
                <a:sym typeface="Roboto Slab"/>
              </a:rPr>
              <a:t>www.startupwebsite.com</a:t>
            </a:r>
          </a:p>
        </p:txBody>
      </p:sp>
      <p:sp>
        <p:nvSpPr>
          <p:cNvPr id="13" name="Shape 13"/>
          <p:cNvSpPr txBox="1"/>
          <p:nvPr/>
        </p:nvSpPr>
        <p:spPr>
          <a:xfrm>
            <a:off x="242325" y="2831150"/>
            <a:ext cx="3661081" cy="620399"/>
          </a:xfrm>
          <a:prstGeom prst="rect">
            <a:avLst/>
          </a:prstGeom>
          <a:noFill/>
          <a:ln>
            <a:noFill/>
          </a:ln>
        </p:spPr>
        <p:txBody>
          <a:bodyPr lIns="91425" tIns="91425" rIns="91425" bIns="91425" anchor="t" anchorCtr="0">
            <a:noAutofit/>
          </a:bodyPr>
          <a:lstStyle/>
          <a:p>
            <a:pPr lvl="0" rtl="0">
              <a:spcBef>
                <a:spcPts val="0"/>
              </a:spcBef>
              <a:buClr>
                <a:schemeClr val="dk1"/>
              </a:buClr>
              <a:buSzPct val="55000"/>
              <a:buFont typeface="Arial"/>
              <a:buNone/>
            </a:pPr>
            <a:r>
              <a:rPr lang="en" sz="2000" b="1">
                <a:solidFill>
                  <a:schemeClr val="lt1"/>
                </a:solidFill>
                <a:latin typeface="Roboto Slab"/>
                <a:ea typeface="Roboto Slab"/>
                <a:cs typeface="Roboto Slab"/>
                <a:sym typeface="Roboto Slab"/>
              </a:rPr>
              <a:t>MARKET DEFINITION</a:t>
            </a:r>
          </a:p>
          <a:p>
            <a:pPr lvl="0" rtl="0">
              <a:spcBef>
                <a:spcPts val="0"/>
              </a:spcBef>
              <a:buNone/>
            </a:pPr>
            <a:endParaRPr/>
          </a:p>
        </p:txBody>
      </p:sp>
      <p:sp>
        <p:nvSpPr>
          <p:cNvPr id="14" name="Shape 14"/>
          <p:cNvSpPr txBox="1"/>
          <p:nvPr/>
        </p:nvSpPr>
        <p:spPr>
          <a:xfrm>
            <a:off x="4846724" y="2889275"/>
            <a:ext cx="4131425" cy="430500"/>
          </a:xfrm>
          <a:prstGeom prst="rect">
            <a:avLst/>
          </a:prstGeom>
          <a:noFill/>
          <a:ln>
            <a:noFill/>
          </a:ln>
        </p:spPr>
        <p:txBody>
          <a:bodyPr lIns="91425" tIns="91425" rIns="91425" bIns="91425" anchor="t" anchorCtr="0">
            <a:noAutofit/>
          </a:bodyPr>
          <a:lstStyle/>
          <a:p>
            <a:pPr lvl="0" algn="r" rtl="0">
              <a:spcBef>
                <a:spcPts val="0"/>
              </a:spcBef>
              <a:buNone/>
            </a:pPr>
            <a:r>
              <a:rPr lang="en" dirty="0">
                <a:solidFill>
                  <a:schemeClr val="lt1"/>
                </a:solidFill>
                <a:latin typeface="Roboto"/>
                <a:ea typeface="Roboto"/>
                <a:cs typeface="Roboto"/>
                <a:sym typeface="Roboto"/>
              </a:rPr>
              <a:t>Use These Slides To Describe Your Market</a:t>
            </a:r>
          </a:p>
          <a:p>
            <a:pPr lvl="0" rtl="0">
              <a:spcBef>
                <a:spcPts val="0"/>
              </a:spcBef>
              <a:buNone/>
            </a:pPr>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bg>
      <p:bgPr>
        <a:solidFill>
          <a:schemeClr val="lt1"/>
        </a:solidFill>
        <a:effectLst/>
      </p:bgPr>
    </p:bg>
    <p:spTree>
      <p:nvGrpSpPr>
        <p:cNvPr id="1" name="Shape 15"/>
        <p:cNvGrpSpPr/>
        <p:nvPr/>
      </p:nvGrpSpPr>
      <p:grpSpPr>
        <a:xfrm>
          <a:off x="0" y="0"/>
          <a:ext cx="0" cy="0"/>
          <a:chOff x="0" y="0"/>
          <a:chExt cx="0" cy="0"/>
        </a:xfrm>
      </p:grpSpPr>
      <p:sp>
        <p:nvSpPr>
          <p:cNvPr id="16" name="Shape 16"/>
          <p:cNvSpPr txBox="1">
            <a:spLocks noGrp="1"/>
          </p:cNvSpPr>
          <p:nvPr>
            <p:ph type="sldNum" idx="12"/>
          </p:nvPr>
        </p:nvSpPr>
        <p:spPr>
          <a:xfrm>
            <a:off x="8472457" y="4663216"/>
            <a:ext cx="548699" cy="393600"/>
          </a:xfrm>
          <a:prstGeom prst="rect">
            <a:avLst/>
          </a:prstGeom>
        </p:spPr>
        <p:txBody>
          <a:bodyPr lIns="91425" tIns="91425" rIns="91425" bIns="91425" anchor="ctr" anchorCtr="0">
            <a:noAutofit/>
          </a:bodyPr>
          <a:lstStyle/>
          <a:p>
            <a:pPr>
              <a:spcBef>
                <a:spcPts val="0"/>
              </a:spcBef>
              <a:buNone/>
            </a:pPr>
            <a:fld id="{00000000-1234-1234-1234-123412341234}" type="slidenum">
              <a:rPr lang="en"/>
              <a:t>‹N›</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Custom Layout 1">
    <p:spTree>
      <p:nvGrpSpPr>
        <p:cNvPr id="1" name="Shape 17"/>
        <p:cNvGrpSpPr/>
        <p:nvPr/>
      </p:nvGrpSpPr>
      <p:grpSpPr>
        <a:xfrm>
          <a:off x="0" y="0"/>
          <a:ext cx="0" cy="0"/>
          <a:chOff x="0" y="0"/>
          <a:chExt cx="0" cy="0"/>
        </a:xfrm>
      </p:grpSpPr>
      <p:pic>
        <p:nvPicPr>
          <p:cNvPr id="18" name="Shape 18"/>
          <p:cNvPicPr preferRelativeResize="0"/>
          <p:nvPr/>
        </p:nvPicPr>
        <p:blipFill>
          <a:blip r:embed="rId2">
            <a:alphaModFix/>
          </a:blip>
          <a:stretch>
            <a:fillRect/>
          </a:stretch>
        </p:blipFill>
        <p:spPr>
          <a:xfrm>
            <a:off x="-84000" y="183075"/>
            <a:ext cx="9291700" cy="788900"/>
          </a:xfrm>
          <a:prstGeom prst="rect">
            <a:avLst/>
          </a:prstGeom>
          <a:noFill/>
          <a:ln>
            <a:noFill/>
          </a:ln>
        </p:spPr>
      </p:pic>
      <p:pic>
        <p:nvPicPr>
          <p:cNvPr id="19" name="Shape 19"/>
          <p:cNvPicPr preferRelativeResize="0"/>
          <p:nvPr/>
        </p:nvPicPr>
        <p:blipFill>
          <a:blip r:embed="rId3">
            <a:alphaModFix/>
            <a:duotone>
              <a:prstClr val="black"/>
              <a:srgbClr val="0070C0">
                <a:tint val="45000"/>
                <a:satMod val="400000"/>
              </a:srgbClr>
            </a:duotone>
          </a:blip>
          <a:stretch>
            <a:fillRect/>
          </a:stretch>
        </p:blipFill>
        <p:spPr>
          <a:xfrm>
            <a:off x="0" y="0"/>
            <a:ext cx="9143999" cy="183087"/>
          </a:xfrm>
          <a:prstGeom prst="rect">
            <a:avLst/>
          </a:prstGeom>
          <a:noFill/>
          <a:ln>
            <a:noFill/>
          </a:ln>
        </p:spPr>
      </p:pic>
      <p:pic>
        <p:nvPicPr>
          <p:cNvPr id="20" name="Shape 20"/>
          <p:cNvPicPr preferRelativeResize="0"/>
          <p:nvPr/>
        </p:nvPicPr>
        <p:blipFill>
          <a:blip r:embed="rId4">
            <a:alphaModFix/>
          </a:blip>
          <a:stretch>
            <a:fillRect/>
          </a:stretch>
        </p:blipFill>
        <p:spPr>
          <a:xfrm>
            <a:off x="156675" y="309462"/>
            <a:ext cx="1876425" cy="53612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
        <p:cNvGrpSpPr/>
        <p:nvPr/>
      </p:nvGrpSpPr>
      <p:grpSpPr>
        <a:xfrm>
          <a:off x="0" y="0"/>
          <a:ext cx="0" cy="0"/>
          <a:chOff x="0" y="0"/>
          <a:chExt cx="0" cy="0"/>
        </a:xfrm>
      </p:grpSpPr>
      <p:sp>
        <p:nvSpPr>
          <p:cNvPr id="5" name="Shape 5"/>
          <p:cNvSpPr txBox="1">
            <a:spLocks noGrp="1"/>
          </p:cNvSpPr>
          <p:nvPr>
            <p:ph type="sldNum" idx="12"/>
          </p:nvPr>
        </p:nvSpPr>
        <p:spPr>
          <a:xfrm>
            <a:off x="8472457" y="4663216"/>
            <a:ext cx="548699" cy="393600"/>
          </a:xfrm>
          <a:prstGeom prst="rect">
            <a:avLst/>
          </a:prstGeom>
          <a:noFill/>
          <a:ln>
            <a:noFill/>
          </a:ln>
        </p:spPr>
        <p:txBody>
          <a:bodyPr lIns="91425" tIns="91425" rIns="91425" bIns="91425" anchor="ctr" anchorCtr="0">
            <a:noAutofit/>
          </a:bodyPr>
          <a:lstStyle/>
          <a:p>
            <a:pPr algn="r">
              <a:spcBef>
                <a:spcPts val="0"/>
              </a:spcBef>
              <a:buNone/>
            </a:pPr>
            <a:fld id="{00000000-1234-1234-1234-123412341234}" type="slidenum">
              <a:rPr lang="en" sz="1000">
                <a:solidFill>
                  <a:schemeClr val="dk2"/>
                </a:solidFill>
              </a:rPr>
              <a:t>‹N›</a:t>
            </a:fld>
            <a:endParaRPr lang="en" sz="1000">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jp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0.png"/><Relationship Id="rId7"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image" Target="../media/image29.png"/><Relationship Id="rId5" Type="http://schemas.openxmlformats.org/officeDocument/2006/relationships/image" Target="../media/image27.png"/><Relationship Id="rId10" Type="http://schemas.openxmlformats.org/officeDocument/2006/relationships/image" Target="../media/image6.png"/><Relationship Id="rId4" Type="http://schemas.openxmlformats.org/officeDocument/2006/relationships/image" Target="../media/image22.png"/><Relationship Id="rId9"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6.png"/></Relationships>
</file>

<file path=ppt/slides/_rels/slide1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0.png"/><Relationship Id="rId7"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6.png"/><Relationship Id="rId4" Type="http://schemas.openxmlformats.org/officeDocument/2006/relationships/image" Target="../media/image31.png"/><Relationship Id="rId9"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4.png"/><Relationship Id="rId7" Type="http://schemas.openxmlformats.org/officeDocument/2006/relationships/image" Target="../media/image3.png"/><Relationship Id="rId12"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27.png"/><Relationship Id="rId5" Type="http://schemas.openxmlformats.org/officeDocument/2006/relationships/image" Target="../media/image36.png"/><Relationship Id="rId10" Type="http://schemas.openxmlformats.org/officeDocument/2006/relationships/image" Target="../media/image11.png"/><Relationship Id="rId4" Type="http://schemas.openxmlformats.org/officeDocument/2006/relationships/image" Target="../media/image35.png"/><Relationship Id="rId9"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png"/><Relationship Id="rId7"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6.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png"/><Relationship Id="rId7"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50.png"/><Relationship Id="rId3" Type="http://schemas.openxmlformats.org/officeDocument/2006/relationships/image" Target="../media/image22.png"/><Relationship Id="rId7" Type="http://schemas.openxmlformats.org/officeDocument/2006/relationships/image" Target="../media/image40.png"/><Relationship Id="rId12"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42.png"/><Relationship Id="rId11" Type="http://schemas.openxmlformats.org/officeDocument/2006/relationships/image" Target="../media/image48.png"/><Relationship Id="rId5" Type="http://schemas.openxmlformats.org/officeDocument/2006/relationships/image" Target="../media/image3.png"/><Relationship Id="rId10"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44.png"/><Relationship Id="rId14" Type="http://schemas.openxmlformats.org/officeDocument/2006/relationships/image" Target="../media/image6.png"/></Relationships>
</file>

<file path=ppt/slides/_rels/slide26.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41.png"/><Relationship Id="rId3" Type="http://schemas.openxmlformats.org/officeDocument/2006/relationships/image" Target="../media/image3.png"/><Relationship Id="rId7" Type="http://schemas.openxmlformats.org/officeDocument/2006/relationships/image" Target="../media/image40.png"/><Relationship Id="rId12"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52.png"/><Relationship Id="rId11" Type="http://schemas.openxmlformats.org/officeDocument/2006/relationships/image" Target="../media/image44.png"/><Relationship Id="rId5" Type="http://schemas.openxmlformats.org/officeDocument/2006/relationships/image" Target="../media/image42.png"/><Relationship Id="rId10" Type="http://schemas.openxmlformats.org/officeDocument/2006/relationships/image" Target="../media/image54.png"/><Relationship Id="rId4" Type="http://schemas.openxmlformats.org/officeDocument/2006/relationships/image" Target="../media/image51.png"/><Relationship Id="rId9" Type="http://schemas.openxmlformats.org/officeDocument/2006/relationships/image" Target="../media/image39.png"/><Relationship Id="rId14" Type="http://schemas.openxmlformats.org/officeDocument/2006/relationships/image" Target="../media/image6.png"/></Relationships>
</file>

<file path=ppt/slides/_rels/slide2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png"/><Relationship Id="rId7" Type="http://schemas.openxmlformats.org/officeDocument/2006/relationships/image" Target="../media/image42.png"/><Relationship Id="rId12"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41.png"/><Relationship Id="rId11" Type="http://schemas.openxmlformats.org/officeDocument/2006/relationships/image" Target="../media/image11.png"/><Relationship Id="rId5" Type="http://schemas.openxmlformats.org/officeDocument/2006/relationships/image" Target="../media/image39.png"/><Relationship Id="rId10" Type="http://schemas.openxmlformats.org/officeDocument/2006/relationships/image" Target="../media/image10.png"/><Relationship Id="rId4" Type="http://schemas.openxmlformats.org/officeDocument/2006/relationships/image" Target="../media/image56.png"/><Relationship Id="rId9" Type="http://schemas.openxmlformats.org/officeDocument/2006/relationships/image" Target="../media/image9.png"/></Relationships>
</file>

<file path=ppt/slides/_rels/slide28.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3.png"/><Relationship Id="rId7" Type="http://schemas.openxmlformats.org/officeDocument/2006/relationships/image" Target="../media/image60.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6.png"/></Relationships>
</file>

<file path=ppt/slides/_rels/slide29.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3.png"/><Relationship Id="rId7" Type="http://schemas.openxmlformats.org/officeDocument/2006/relationships/image" Target="../media/image60.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61.png"/><Relationship Id="rId5" Type="http://schemas.openxmlformats.org/officeDocument/2006/relationships/image" Target="../media/image63.png"/><Relationship Id="rId10" Type="http://schemas.openxmlformats.org/officeDocument/2006/relationships/image" Target="../media/image6.png"/><Relationship Id="rId4" Type="http://schemas.openxmlformats.org/officeDocument/2006/relationships/image" Target="../media/image62.png"/><Relationship Id="rId9"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64.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65.png"/></Relationships>
</file>

<file path=ppt/slides/_rels/slide32.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3.png"/><Relationship Id="rId7" Type="http://schemas.openxmlformats.org/officeDocument/2006/relationships/image" Target="../media/image69.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68.png"/><Relationship Id="rId5" Type="http://schemas.openxmlformats.org/officeDocument/2006/relationships/image" Target="../media/image67.png"/><Relationship Id="rId10" Type="http://schemas.openxmlformats.org/officeDocument/2006/relationships/image" Target="../media/image6.png"/><Relationship Id="rId4" Type="http://schemas.openxmlformats.org/officeDocument/2006/relationships/image" Target="../media/image66.png"/><Relationship Id="rId9" Type="http://schemas.openxmlformats.org/officeDocument/2006/relationships/image" Target="../media/image71.png"/></Relationships>
</file>

<file path=ppt/slides/_rels/slide33.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3" Type="http://schemas.openxmlformats.org/officeDocument/2006/relationships/image" Target="../media/image3.png"/><Relationship Id="rId7" Type="http://schemas.openxmlformats.org/officeDocument/2006/relationships/image" Target="../media/image75.png"/><Relationship Id="rId12" Type="http://schemas.openxmlformats.org/officeDocument/2006/relationships/image" Target="../media/image80.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 Id="rId14" Type="http://schemas.openxmlformats.org/officeDocument/2006/relationships/image" Target="../media/image6.png"/></Relationships>
</file>

<file path=ppt/slides/_rels/slide3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85.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35.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3.png"/><Relationship Id="rId7" Type="http://schemas.openxmlformats.org/officeDocument/2006/relationships/image" Target="../media/image89.png"/><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image" Target="../media/image88.png"/><Relationship Id="rId11" Type="http://schemas.openxmlformats.org/officeDocument/2006/relationships/image" Target="../media/image6.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64.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93.png"/><Relationship Id="rId7" Type="http://schemas.openxmlformats.org/officeDocument/2006/relationships/image" Target="../media/image96.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95.png"/><Relationship Id="rId5" Type="http://schemas.openxmlformats.org/officeDocument/2006/relationships/image" Target="../media/image5.png"/><Relationship Id="rId4" Type="http://schemas.openxmlformats.org/officeDocument/2006/relationships/image" Target="../media/image94.png"/><Relationship Id="rId9"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
        <p:cNvGrpSpPr/>
        <p:nvPr/>
      </p:nvGrpSpPr>
      <p:grpSpPr>
        <a:xfrm>
          <a:off x="0" y="0"/>
          <a:ext cx="0" cy="0"/>
          <a:chOff x="0" y="0"/>
          <a:chExt cx="0" cy="0"/>
        </a:xfrm>
      </p:grpSpPr>
      <p:pic>
        <p:nvPicPr>
          <p:cNvPr id="5" name="Immagine 4">
            <a:extLst>
              <a:ext uri="{FF2B5EF4-FFF2-40B4-BE49-F238E27FC236}">
                <a16:creationId xmlns:a16="http://schemas.microsoft.com/office/drawing/2014/main" id="{8D302CBC-95BF-46E1-A795-239018DD2D2A}"/>
              </a:ext>
            </a:extLst>
          </p:cNvPr>
          <p:cNvPicPr>
            <a:picLocks noChangeAspect="1"/>
          </p:cNvPicPr>
          <p:nvPr/>
        </p:nvPicPr>
        <p:blipFill rotWithShape="1">
          <a:blip r:embed="rId3"/>
          <a:srcRect t="42749" b="42199"/>
          <a:stretch/>
        </p:blipFill>
        <p:spPr>
          <a:xfrm>
            <a:off x="529733" y="1239247"/>
            <a:ext cx="8084534" cy="1216874"/>
          </a:xfrm>
          <a:prstGeom prst="rect">
            <a:avLst/>
          </a:prstGeom>
        </p:spPr>
      </p:pic>
      <p:sp>
        <p:nvSpPr>
          <p:cNvPr id="2" name="CasellaDiTesto 1">
            <a:extLst>
              <a:ext uri="{FF2B5EF4-FFF2-40B4-BE49-F238E27FC236}">
                <a16:creationId xmlns:a16="http://schemas.microsoft.com/office/drawing/2014/main" id="{7CE6EAFD-ED1A-5548-936A-2B85798D7BCE}"/>
              </a:ext>
            </a:extLst>
          </p:cNvPr>
          <p:cNvSpPr txBox="1"/>
          <p:nvPr/>
        </p:nvSpPr>
        <p:spPr>
          <a:xfrm>
            <a:off x="2313432" y="2825496"/>
            <a:ext cx="4809744" cy="307777"/>
          </a:xfrm>
          <a:prstGeom prst="rect">
            <a:avLst/>
          </a:prstGeom>
          <a:noFill/>
        </p:spPr>
        <p:txBody>
          <a:bodyPr wrap="square" rtlCol="0">
            <a:spAutoFit/>
          </a:bodyPr>
          <a:lstStyle/>
          <a:p>
            <a:pPr algn="ctr"/>
            <a:r>
              <a:rPr lang="it-IT" i="1" dirty="0">
                <a:latin typeface="Exo" panose="02000503000000000000" pitchFamily="2" charset="77"/>
              </a:rPr>
              <a:t>IL FANTACALCIO DELLE SCOMMESSE SPORTIVE</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6DF1">
            <a:alpha val="67000"/>
          </a:srgbClr>
        </a:solidFill>
        <a:effectLst/>
      </p:bgPr>
    </p:bg>
    <p:spTree>
      <p:nvGrpSpPr>
        <p:cNvPr id="1" name="Shape 3078"/>
        <p:cNvGrpSpPr/>
        <p:nvPr/>
      </p:nvGrpSpPr>
      <p:grpSpPr>
        <a:xfrm>
          <a:off x="0" y="0"/>
          <a:ext cx="0" cy="0"/>
          <a:chOff x="0" y="0"/>
          <a:chExt cx="0" cy="0"/>
        </a:xfrm>
      </p:grpSpPr>
      <p:pic>
        <p:nvPicPr>
          <p:cNvPr id="3" name="Immagine 2">
            <a:extLst>
              <a:ext uri="{FF2B5EF4-FFF2-40B4-BE49-F238E27FC236}">
                <a16:creationId xmlns:a16="http://schemas.microsoft.com/office/drawing/2014/main" id="{D87D8078-CA9D-6948-86E4-734E41ABEE3E}"/>
              </a:ext>
            </a:extLst>
          </p:cNvPr>
          <p:cNvPicPr>
            <a:picLocks noChangeAspect="1"/>
          </p:cNvPicPr>
          <p:nvPr/>
        </p:nvPicPr>
        <p:blipFill rotWithShape="1">
          <a:blip r:embed="rId3"/>
          <a:srcRect t="8620" b="17232"/>
          <a:stretch/>
        </p:blipFill>
        <p:spPr>
          <a:xfrm>
            <a:off x="-5075" y="628521"/>
            <a:ext cx="9133850" cy="4514979"/>
          </a:xfrm>
          <a:prstGeom prst="rect">
            <a:avLst/>
          </a:prstGeom>
          <a:noFill/>
        </p:spPr>
      </p:pic>
      <p:sp>
        <p:nvSpPr>
          <p:cNvPr id="12" name="Rettangolo 11">
            <a:extLst>
              <a:ext uri="{FF2B5EF4-FFF2-40B4-BE49-F238E27FC236}">
                <a16:creationId xmlns:a16="http://schemas.microsoft.com/office/drawing/2014/main" id="{3592D032-660C-4766-81A8-D287F2E025AD}"/>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8AA1BFC8-2424-324F-B58D-4A3608FBF260}"/>
              </a:ext>
            </a:extLst>
          </p:cNvPr>
          <p:cNvSpPr/>
          <p:nvPr/>
        </p:nvSpPr>
        <p:spPr>
          <a:xfrm>
            <a:off x="-10150" y="913271"/>
            <a:ext cx="9144000" cy="4230230"/>
          </a:xfrm>
          <a:prstGeom prst="rect">
            <a:avLst/>
          </a:prstGeom>
          <a:solidFill>
            <a:srgbClr val="FFBB49">
              <a:alpha val="9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pic>
        <p:nvPicPr>
          <p:cNvPr id="3079" name="Shape 3079"/>
          <p:cNvPicPr preferRelativeResize="0"/>
          <p:nvPr/>
        </p:nvPicPr>
        <p:blipFill>
          <a:blip r:embed="rId4">
            <a:alphaModFix/>
          </a:blip>
          <a:stretch>
            <a:fillRect/>
          </a:stretch>
        </p:blipFill>
        <p:spPr>
          <a:xfrm>
            <a:off x="-84000" y="175455"/>
            <a:ext cx="9291700" cy="788900"/>
          </a:xfrm>
          <a:prstGeom prst="rect">
            <a:avLst/>
          </a:prstGeom>
          <a:noFill/>
          <a:ln>
            <a:noFill/>
          </a:ln>
        </p:spPr>
      </p:pic>
      <p:grpSp>
        <p:nvGrpSpPr>
          <p:cNvPr id="3083" name="Shape 3083"/>
          <p:cNvGrpSpPr/>
          <p:nvPr/>
        </p:nvGrpSpPr>
        <p:grpSpPr>
          <a:xfrm>
            <a:off x="573375" y="1162518"/>
            <a:ext cx="8083200" cy="3352461"/>
            <a:chOff x="573375" y="2130500"/>
            <a:chExt cx="8083200" cy="2443643"/>
          </a:xfrm>
        </p:grpSpPr>
        <p:cxnSp>
          <p:nvCxnSpPr>
            <p:cNvPr id="3084" name="Shape 3084"/>
            <p:cNvCxnSpPr/>
            <p:nvPr/>
          </p:nvCxnSpPr>
          <p:spPr>
            <a:xfrm>
              <a:off x="573375" y="2130500"/>
              <a:ext cx="8083200" cy="0"/>
            </a:xfrm>
            <a:prstGeom prst="straightConnector1">
              <a:avLst/>
            </a:prstGeom>
            <a:noFill/>
            <a:ln w="9525" cap="flat" cmpd="sng">
              <a:noFill/>
              <a:prstDash val="solid"/>
              <a:round/>
              <a:headEnd type="none" w="lg" len="lg"/>
              <a:tailEnd type="none" w="lg" len="lg"/>
            </a:ln>
          </p:spPr>
        </p:cxnSp>
        <p:sp>
          <p:nvSpPr>
            <p:cNvPr id="3086" name="Shape 3086"/>
            <p:cNvSpPr txBox="1"/>
            <p:nvPr/>
          </p:nvSpPr>
          <p:spPr>
            <a:xfrm>
              <a:off x="1257668" y="2274944"/>
              <a:ext cx="6714613" cy="2299199"/>
            </a:xfrm>
            <a:prstGeom prst="rect">
              <a:avLst/>
            </a:prstGeom>
            <a:noFill/>
            <a:ln>
              <a:noFill/>
            </a:ln>
          </p:spPr>
          <p:txBody>
            <a:bodyPr lIns="91425" tIns="91425" rIns="91425" bIns="91425" anchor="t" anchorCtr="0">
              <a:noAutofit/>
            </a:bodyPr>
            <a:lstStyle/>
            <a:p>
              <a:pPr lvl="0"/>
              <a:r>
                <a:rPr lang="en" sz="2000" b="1" i="1" dirty="0">
                  <a:solidFill>
                    <a:schemeClr val="bg1"/>
                  </a:solidFill>
                  <a:latin typeface="Exo" panose="02000503000000000000" pitchFamily="2" charset="77"/>
                  <a:ea typeface="Roboto"/>
                  <a:cs typeface="Roboto"/>
                  <a:sym typeface="Roboto"/>
                </a:rPr>
                <a:t>BET4FUN</a:t>
              </a:r>
              <a:r>
                <a:rPr lang="it-IT" sz="2000" b="1" dirty="0">
                  <a:solidFill>
                    <a:schemeClr val="bg1"/>
                  </a:solidFill>
                  <a:latin typeface="Exo" panose="02000503000000000000" pitchFamily="2" charset="77"/>
                  <a:ea typeface="Roboto"/>
                  <a:cs typeface="Roboto"/>
                  <a:sym typeface="Roboto"/>
                </a:rPr>
                <a:t> </a:t>
              </a:r>
              <a:r>
                <a:rPr lang="it-IT" sz="2000" dirty="0">
                  <a:solidFill>
                    <a:schemeClr val="bg1"/>
                  </a:solidFill>
                  <a:latin typeface="Exo" panose="02000503000000000000" pitchFamily="2" charset="77"/>
                  <a:ea typeface="Roboto"/>
                  <a:cs typeface="Roboto"/>
                  <a:sym typeface="Roboto"/>
                </a:rPr>
                <a:t>è un social game che permette di scommettere gratuitamente sugli eventi sportivi internazionali e partecipare ad altre attività tramite sistema di </a:t>
              </a:r>
              <a:r>
                <a:rPr lang="it-IT" sz="2000" dirty="0" err="1">
                  <a:solidFill>
                    <a:schemeClr val="bg1"/>
                  </a:solidFill>
                  <a:latin typeface="Exo" panose="02000503000000000000" pitchFamily="2" charset="77"/>
                  <a:ea typeface="Roboto"/>
                  <a:cs typeface="Roboto"/>
                  <a:sym typeface="Roboto"/>
                </a:rPr>
                <a:t>gamification</a:t>
              </a:r>
              <a:r>
                <a:rPr lang="it-IT" sz="2000" dirty="0">
                  <a:solidFill>
                    <a:schemeClr val="bg1"/>
                  </a:solidFill>
                  <a:latin typeface="Exo" panose="02000503000000000000" pitchFamily="2" charset="77"/>
                  <a:ea typeface="Roboto"/>
                  <a:cs typeface="Roboto"/>
                  <a:sym typeface="Roboto"/>
                </a:rPr>
                <a:t>, con l’obiettivo di raccogliere «</a:t>
              </a:r>
              <a:r>
                <a:rPr lang="it-IT" sz="2000" dirty="0" err="1">
                  <a:solidFill>
                    <a:schemeClr val="bg1"/>
                  </a:solidFill>
                  <a:latin typeface="Exo" panose="02000503000000000000" pitchFamily="2" charset="77"/>
                  <a:ea typeface="Roboto"/>
                  <a:cs typeface="Roboto"/>
                  <a:sym typeface="Roboto"/>
                </a:rPr>
                <a:t>funnies</a:t>
              </a:r>
              <a:r>
                <a:rPr lang="it-IT" sz="2000" dirty="0">
                  <a:solidFill>
                    <a:schemeClr val="bg1"/>
                  </a:solidFill>
                  <a:latin typeface="Exo" panose="02000503000000000000" pitchFamily="2" charset="77"/>
                  <a:ea typeface="Roboto"/>
                  <a:cs typeface="Roboto"/>
                  <a:sym typeface="Roboto"/>
                </a:rPr>
                <a:t>», la moneta virtuale interna.</a:t>
              </a:r>
            </a:p>
            <a:p>
              <a:pPr lvl="0"/>
              <a:endParaRPr lang="it-IT" sz="2000" dirty="0">
                <a:solidFill>
                  <a:schemeClr val="bg1"/>
                </a:solidFill>
                <a:latin typeface="Exo" panose="02000503000000000000" pitchFamily="2" charset="77"/>
                <a:ea typeface="Roboto"/>
                <a:cs typeface="Roboto"/>
                <a:sym typeface="Roboto"/>
              </a:endParaRPr>
            </a:p>
            <a:p>
              <a:pPr lvl="0"/>
              <a:r>
                <a:rPr lang="it-IT" sz="2000" dirty="0">
                  <a:solidFill>
                    <a:schemeClr val="bg1"/>
                  </a:solidFill>
                  <a:latin typeface="Exo" panose="02000503000000000000" pitchFamily="2" charset="77"/>
                  <a:ea typeface="Roboto"/>
                  <a:cs typeface="Roboto"/>
                  <a:sym typeface="Roboto"/>
                </a:rPr>
                <a:t>I punti («</a:t>
              </a:r>
              <a:r>
                <a:rPr lang="it-IT" sz="2000" dirty="0" err="1">
                  <a:solidFill>
                    <a:schemeClr val="bg1"/>
                  </a:solidFill>
                  <a:latin typeface="Exo" panose="02000503000000000000" pitchFamily="2" charset="77"/>
                  <a:ea typeface="Roboto"/>
                  <a:cs typeface="Roboto"/>
                  <a:sym typeface="Roboto"/>
                </a:rPr>
                <a:t>funnies</a:t>
              </a:r>
              <a:r>
                <a:rPr lang="it-IT" sz="2000" dirty="0">
                  <a:solidFill>
                    <a:schemeClr val="bg1"/>
                  </a:solidFill>
                  <a:latin typeface="Exo" panose="02000503000000000000" pitchFamily="2" charset="77"/>
                  <a:ea typeface="Roboto"/>
                  <a:cs typeface="Roboto"/>
                  <a:sym typeface="Roboto"/>
                </a:rPr>
                <a:t>») guadagnati durante il gioco, possono poi essere scambiati con dei premi reali presenti all’interno della sezione negozio.</a:t>
              </a:r>
            </a:p>
            <a:p>
              <a:pPr lvl="0" rtl="0">
                <a:spcBef>
                  <a:spcPts val="0"/>
                </a:spcBef>
                <a:buNone/>
              </a:pPr>
              <a:endParaRPr lang="it-IT" sz="1100" dirty="0">
                <a:solidFill>
                  <a:srgbClr val="595959"/>
                </a:solidFill>
                <a:latin typeface="Roboto"/>
                <a:ea typeface="Roboto"/>
                <a:cs typeface="Roboto"/>
                <a:sym typeface="Roboto"/>
              </a:endParaRPr>
            </a:p>
            <a:p>
              <a:pPr lvl="0" rtl="0">
                <a:spcBef>
                  <a:spcPts val="0"/>
                </a:spcBef>
                <a:buNone/>
              </a:pPr>
              <a:endParaRPr lang="it-IT" sz="1100" dirty="0">
                <a:solidFill>
                  <a:srgbClr val="595959"/>
                </a:solidFill>
                <a:latin typeface="Roboto"/>
                <a:ea typeface="Roboto"/>
                <a:cs typeface="Roboto"/>
                <a:sym typeface="Roboto"/>
              </a:endParaRPr>
            </a:p>
          </p:txBody>
        </p:sp>
      </p:grpSp>
      <p:pic>
        <p:nvPicPr>
          <p:cNvPr id="11" name="Immagine 10">
            <a:extLst>
              <a:ext uri="{FF2B5EF4-FFF2-40B4-BE49-F238E27FC236}">
                <a16:creationId xmlns:a16="http://schemas.microsoft.com/office/drawing/2014/main" id="{FE64DD48-9387-4EF0-8DF2-B40A6C0C4B2A}"/>
              </a:ext>
            </a:extLst>
          </p:cNvPr>
          <p:cNvPicPr>
            <a:picLocks noChangeAspect="1"/>
          </p:cNvPicPr>
          <p:nvPr/>
        </p:nvPicPr>
        <p:blipFill rotWithShape="1">
          <a:blip r:embed="rId5"/>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082" name="Shape 3082"/>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it-IT" sz="1200" b="1" dirty="0">
                <a:solidFill>
                  <a:schemeClr val="accent3"/>
                </a:solidFill>
                <a:latin typeface="Exo" panose="02000503000000000000" pitchFamily="2" charset="77"/>
                <a:ea typeface="Roboto Slab"/>
                <a:cs typeface="Roboto Slab"/>
                <a:sym typeface="Roboto Slab"/>
              </a:rPr>
              <a:t>Chi Siamo</a:t>
            </a:r>
            <a:endParaRPr lang="en" sz="1200" b="1" dirty="0">
              <a:solidFill>
                <a:schemeClr val="accent3"/>
              </a:solidFill>
              <a:latin typeface="Exo" panose="02000503000000000000" pitchFamily="2" charset="77"/>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rtl="0">
              <a:spcBef>
                <a:spcPts val="0"/>
              </a:spcBef>
              <a:buNone/>
            </a:pPr>
            <a:endParaRPr sz="1200" dirty="0"/>
          </a:p>
        </p:txBody>
      </p:sp>
    </p:spTree>
    <p:extLst>
      <p:ext uri="{BB962C8B-B14F-4D97-AF65-F5344CB8AC3E}">
        <p14:creationId xmlns:p14="http://schemas.microsoft.com/office/powerpoint/2010/main" val="364216840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083"/>
                                        </p:tgtEl>
                                        <p:attrNameLst>
                                          <p:attrName>style.visibility</p:attrName>
                                        </p:attrNameLst>
                                      </p:cBhvr>
                                      <p:to>
                                        <p:strVal val="visible"/>
                                      </p:to>
                                    </p:set>
                                    <p:anim calcmode="lin" valueType="num">
                                      <p:cBhvr additive="base">
                                        <p:cTn id="7" dur="1000"/>
                                        <p:tgtEl>
                                          <p:spTgt spid="30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46"/>
        <p:cNvGrpSpPr/>
        <p:nvPr/>
      </p:nvGrpSpPr>
      <p:grpSpPr>
        <a:xfrm>
          <a:off x="0" y="0"/>
          <a:ext cx="0" cy="0"/>
          <a:chOff x="0" y="0"/>
          <a:chExt cx="0" cy="0"/>
        </a:xfrm>
      </p:grpSpPr>
      <p:sp>
        <p:nvSpPr>
          <p:cNvPr id="24" name="Rettangolo 23">
            <a:extLst>
              <a:ext uri="{FF2B5EF4-FFF2-40B4-BE49-F238E27FC236}">
                <a16:creationId xmlns:a16="http://schemas.microsoft.com/office/drawing/2014/main" id="{A0708796-5AD4-481F-816A-877180EC0D0D}"/>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sp>
        <p:nvSpPr>
          <p:cNvPr id="347" name="Shape 347"/>
          <p:cNvSpPr/>
          <p:nvPr/>
        </p:nvSpPr>
        <p:spPr>
          <a:xfrm>
            <a:off x="5242875" y="3822500"/>
            <a:ext cx="1182599" cy="472199"/>
          </a:xfrm>
          <a:prstGeom prst="rightArrow">
            <a:avLst>
              <a:gd name="adj1" fmla="val 50000"/>
              <a:gd name="adj2" fmla="val 50000"/>
            </a:avLst>
          </a:prstGeom>
          <a:solidFill>
            <a:srgbClr val="A5C961"/>
          </a:solidFill>
          <a:ln>
            <a:noFill/>
          </a:ln>
        </p:spPr>
        <p:txBody>
          <a:bodyPr lIns="91425" tIns="91425" rIns="91425" bIns="91425" anchor="ctr" anchorCtr="0">
            <a:noAutofit/>
          </a:bodyPr>
          <a:lstStyle/>
          <a:p>
            <a:pPr>
              <a:spcBef>
                <a:spcPts val="0"/>
              </a:spcBef>
              <a:buNone/>
            </a:pPr>
            <a:endParaRPr/>
          </a:p>
        </p:txBody>
      </p:sp>
      <p:sp>
        <p:nvSpPr>
          <p:cNvPr id="348" name="Shape 348"/>
          <p:cNvSpPr/>
          <p:nvPr/>
        </p:nvSpPr>
        <p:spPr>
          <a:xfrm rot="-10799128">
            <a:off x="2698274" y="3822500"/>
            <a:ext cx="1182600" cy="472199"/>
          </a:xfrm>
          <a:prstGeom prst="rightArrow">
            <a:avLst>
              <a:gd name="adj1" fmla="val 50000"/>
              <a:gd name="adj2" fmla="val 50000"/>
            </a:avLst>
          </a:prstGeom>
          <a:solidFill>
            <a:srgbClr val="F08B7C"/>
          </a:solidFill>
          <a:ln>
            <a:noFill/>
          </a:ln>
        </p:spPr>
        <p:txBody>
          <a:bodyPr lIns="91425" tIns="91425" rIns="91425" bIns="91425" anchor="ctr" anchorCtr="0">
            <a:noAutofit/>
          </a:bodyPr>
          <a:lstStyle/>
          <a:p>
            <a:pPr>
              <a:spcBef>
                <a:spcPts val="0"/>
              </a:spcBef>
              <a:buNone/>
            </a:pPr>
            <a:endParaRPr/>
          </a:p>
        </p:txBody>
      </p:sp>
      <p:sp>
        <p:nvSpPr>
          <p:cNvPr id="349" name="Shape 349"/>
          <p:cNvSpPr/>
          <p:nvPr/>
        </p:nvSpPr>
        <p:spPr>
          <a:xfrm>
            <a:off x="0" y="932637"/>
            <a:ext cx="9144000" cy="1641899"/>
          </a:xfrm>
          <a:prstGeom prst="rect">
            <a:avLst/>
          </a:prstGeom>
          <a:solidFill>
            <a:srgbClr val="708E90"/>
          </a:solidFill>
          <a:ln>
            <a:noFill/>
          </a:ln>
        </p:spPr>
        <p:txBody>
          <a:bodyPr lIns="91425" tIns="91425" rIns="91425" bIns="91425" anchor="ctr" anchorCtr="0">
            <a:noAutofit/>
          </a:bodyPr>
          <a:lstStyle/>
          <a:p>
            <a:pPr>
              <a:spcBef>
                <a:spcPts val="0"/>
              </a:spcBef>
              <a:buNone/>
            </a:pPr>
            <a:endParaRPr/>
          </a:p>
        </p:txBody>
      </p:sp>
      <p:pic>
        <p:nvPicPr>
          <p:cNvPr id="350" name="Shape 350"/>
          <p:cNvPicPr preferRelativeResize="0"/>
          <p:nvPr/>
        </p:nvPicPr>
        <p:blipFill>
          <a:blip r:embed="rId3">
            <a:alphaModFix/>
          </a:blip>
          <a:stretch>
            <a:fillRect/>
          </a:stretch>
        </p:blipFill>
        <p:spPr>
          <a:xfrm>
            <a:off x="-84000" y="183075"/>
            <a:ext cx="9291700" cy="788900"/>
          </a:xfrm>
          <a:prstGeom prst="rect">
            <a:avLst/>
          </a:prstGeom>
          <a:noFill/>
          <a:ln>
            <a:noFill/>
          </a:ln>
        </p:spPr>
      </p:pic>
      <p:sp>
        <p:nvSpPr>
          <p:cNvPr id="353" name="Shape 353"/>
          <p:cNvSpPr txBox="1"/>
          <p:nvPr/>
        </p:nvSpPr>
        <p:spPr>
          <a:xfrm>
            <a:off x="6136450" y="381250"/>
            <a:ext cx="2917200" cy="290700"/>
          </a:xfrm>
          <a:prstGeom prst="rect">
            <a:avLst/>
          </a:prstGeom>
          <a:noFill/>
          <a:ln>
            <a:noFill/>
          </a:ln>
        </p:spPr>
        <p:txBody>
          <a:bodyPr lIns="91425" tIns="91425" rIns="91425" bIns="91425" anchor="t" anchorCtr="0">
            <a:noAutofit/>
          </a:bodyPr>
          <a:lstStyle/>
          <a:p>
            <a:pPr algn="r">
              <a:buClr>
                <a:schemeClr val="dk1"/>
              </a:buClr>
              <a:buSzPct val="91666"/>
            </a:pPr>
            <a:r>
              <a:rPr lang="it-IT" sz="1200" b="1" dirty="0">
                <a:solidFill>
                  <a:schemeClr val="accent3"/>
                </a:solidFill>
                <a:latin typeface="Exo" panose="02000503000000000000" pitchFamily="2" charset="77"/>
                <a:cs typeface="Roboto Slab"/>
                <a:sym typeface="Roboto Slab"/>
              </a:rPr>
              <a:t>Problema e soluzione</a:t>
            </a: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rtl="0">
              <a:spcBef>
                <a:spcPts val="0"/>
              </a:spcBef>
              <a:buNone/>
            </a:pPr>
            <a:endParaRPr sz="1200" dirty="0"/>
          </a:p>
        </p:txBody>
      </p:sp>
      <p:sp>
        <p:nvSpPr>
          <p:cNvPr id="354" name="Shape 354"/>
          <p:cNvSpPr txBox="1"/>
          <p:nvPr/>
        </p:nvSpPr>
        <p:spPr>
          <a:xfrm>
            <a:off x="179574" y="1195673"/>
            <a:ext cx="8750149" cy="1209300"/>
          </a:xfrm>
          <a:prstGeom prst="rect">
            <a:avLst/>
          </a:prstGeom>
          <a:noFill/>
          <a:ln>
            <a:noFill/>
          </a:ln>
        </p:spPr>
        <p:txBody>
          <a:bodyPr lIns="91425" tIns="91425" rIns="91425" bIns="91425" anchor="t" anchorCtr="0">
            <a:noAutofit/>
          </a:bodyPr>
          <a:lstStyle/>
          <a:p>
            <a:pPr lvl="0" algn="ctr" rtl="0">
              <a:spcBef>
                <a:spcPts val="0"/>
              </a:spcBef>
              <a:buClr>
                <a:schemeClr val="dk1"/>
              </a:buClr>
              <a:buSzPct val="45833"/>
              <a:buFont typeface="Arial"/>
              <a:buNone/>
            </a:pPr>
            <a:r>
              <a:rPr lang="it-IT" dirty="0">
                <a:solidFill>
                  <a:schemeClr val="lt1"/>
                </a:solidFill>
                <a:latin typeface="Exo" panose="02000503000000000000" pitchFamily="2" charset="77"/>
                <a:ea typeface="Roboto Slab"/>
                <a:cs typeface="Roboto Slab"/>
                <a:sym typeface="Roboto Slab"/>
              </a:rPr>
              <a:t>Le scommesse sportive con premi in denaro possono essere nocive se non regolamentate in maniera corretta. Il fenomeno è attualmente uno dei problemi sociali che vuole essere limitato dall’attuale governo attraverso l’attuazione del ”Decreto Dignità”. Bet4Fun si posiziona proprio all’interno di questo contesto con l’intento di limitare tale fenomenologia.</a:t>
            </a:r>
            <a:endParaRPr lang="it-IT" dirty="0">
              <a:solidFill>
                <a:srgbClr val="FDCC5B"/>
              </a:solidFill>
              <a:latin typeface="Exo" panose="02000503000000000000" pitchFamily="2" charset="77"/>
              <a:ea typeface="Roboto Slab"/>
              <a:cs typeface="Roboto Slab"/>
              <a:sym typeface="Roboto Slab"/>
            </a:endParaRPr>
          </a:p>
          <a:p>
            <a:pPr algn="ctr">
              <a:spcBef>
                <a:spcPts val="0"/>
              </a:spcBef>
              <a:buNone/>
            </a:pPr>
            <a:endParaRPr sz="2400" dirty="0">
              <a:solidFill>
                <a:schemeClr val="lt1"/>
              </a:solidFill>
              <a:latin typeface="Roboto Slab"/>
              <a:ea typeface="Roboto Slab"/>
              <a:cs typeface="Roboto Slab"/>
              <a:sym typeface="Roboto Slab"/>
            </a:endParaRPr>
          </a:p>
        </p:txBody>
      </p:sp>
      <p:sp>
        <p:nvSpPr>
          <p:cNvPr id="355" name="Shape 355"/>
          <p:cNvSpPr/>
          <p:nvPr/>
        </p:nvSpPr>
        <p:spPr>
          <a:xfrm>
            <a:off x="0" y="2535316"/>
            <a:ext cx="9144000" cy="472199"/>
          </a:xfrm>
          <a:prstGeom prst="rect">
            <a:avLst/>
          </a:prstGeom>
          <a:solidFill>
            <a:schemeClr val="lt1"/>
          </a:solidFill>
          <a:ln>
            <a:noFill/>
          </a:ln>
        </p:spPr>
        <p:txBody>
          <a:bodyPr lIns="91425" tIns="91425" rIns="91425" bIns="91425" anchor="ctr" anchorCtr="0">
            <a:noAutofit/>
          </a:bodyPr>
          <a:lstStyle/>
          <a:p>
            <a:pPr>
              <a:spcBef>
                <a:spcPts val="0"/>
              </a:spcBef>
              <a:buNone/>
            </a:pPr>
            <a:endParaRPr/>
          </a:p>
        </p:txBody>
      </p:sp>
      <p:grpSp>
        <p:nvGrpSpPr>
          <p:cNvPr id="356" name="Shape 356"/>
          <p:cNvGrpSpPr/>
          <p:nvPr/>
        </p:nvGrpSpPr>
        <p:grpSpPr>
          <a:xfrm>
            <a:off x="3880812" y="3387237"/>
            <a:ext cx="1362075" cy="1501937"/>
            <a:chOff x="3880812" y="3387237"/>
            <a:chExt cx="1362075" cy="1501937"/>
          </a:xfrm>
        </p:grpSpPr>
        <p:sp>
          <p:nvSpPr>
            <p:cNvPr id="357" name="Shape 357"/>
            <p:cNvSpPr/>
            <p:nvPr/>
          </p:nvSpPr>
          <p:spPr>
            <a:xfrm>
              <a:off x="3880862" y="3563175"/>
              <a:ext cx="1361999" cy="1326000"/>
            </a:xfrm>
            <a:prstGeom prst="roundRect">
              <a:avLst>
                <a:gd name="adj" fmla="val 16667"/>
              </a:avLst>
            </a:prstGeom>
            <a:solidFill>
              <a:srgbClr val="89AEB0"/>
            </a:solidFill>
            <a:ln>
              <a:noFill/>
            </a:ln>
          </p:spPr>
          <p:txBody>
            <a:bodyPr lIns="91425" tIns="91425" rIns="91425" bIns="91425" anchor="ctr" anchorCtr="0">
              <a:noAutofit/>
            </a:bodyPr>
            <a:lstStyle/>
            <a:p>
              <a:pPr>
                <a:spcBef>
                  <a:spcPts val="0"/>
                </a:spcBef>
                <a:buNone/>
              </a:pPr>
              <a:endParaRPr/>
            </a:p>
          </p:txBody>
        </p:sp>
        <p:pic>
          <p:nvPicPr>
            <p:cNvPr id="358" name="Shape 358"/>
            <p:cNvPicPr preferRelativeResize="0"/>
            <p:nvPr/>
          </p:nvPicPr>
          <p:blipFill>
            <a:blip r:embed="rId4">
              <a:alphaModFix/>
            </a:blip>
            <a:stretch>
              <a:fillRect/>
            </a:stretch>
          </p:blipFill>
          <p:spPr>
            <a:xfrm>
              <a:off x="3880812" y="3387237"/>
              <a:ext cx="1362075" cy="1362075"/>
            </a:xfrm>
            <a:prstGeom prst="rect">
              <a:avLst/>
            </a:prstGeom>
            <a:noFill/>
            <a:ln>
              <a:noFill/>
            </a:ln>
          </p:spPr>
        </p:pic>
      </p:grpSp>
      <p:grpSp>
        <p:nvGrpSpPr>
          <p:cNvPr id="359" name="Shape 359"/>
          <p:cNvGrpSpPr/>
          <p:nvPr/>
        </p:nvGrpSpPr>
        <p:grpSpPr>
          <a:xfrm>
            <a:off x="179574" y="3432875"/>
            <a:ext cx="2646130" cy="1463174"/>
            <a:chOff x="179574" y="3432875"/>
            <a:chExt cx="2646130" cy="1463174"/>
          </a:xfrm>
        </p:grpSpPr>
        <p:sp>
          <p:nvSpPr>
            <p:cNvPr id="360" name="Shape 360"/>
            <p:cNvSpPr txBox="1"/>
            <p:nvPr/>
          </p:nvSpPr>
          <p:spPr>
            <a:xfrm>
              <a:off x="179574" y="3432875"/>
              <a:ext cx="2614799" cy="504299"/>
            </a:xfrm>
            <a:prstGeom prst="rect">
              <a:avLst/>
            </a:prstGeom>
            <a:noFill/>
            <a:ln>
              <a:noFill/>
            </a:ln>
          </p:spPr>
          <p:txBody>
            <a:bodyPr lIns="91425" tIns="91425" rIns="91425" bIns="91425" anchor="t" anchorCtr="0">
              <a:noAutofit/>
            </a:bodyPr>
            <a:lstStyle/>
            <a:p>
              <a:pPr lvl="0" algn="ctr" rtl="0">
                <a:spcBef>
                  <a:spcPts val="0"/>
                </a:spcBef>
                <a:buNone/>
              </a:pPr>
              <a:r>
                <a:rPr lang="en" sz="2400" b="1" dirty="0">
                  <a:solidFill>
                    <a:srgbClr val="F08B7C"/>
                  </a:solidFill>
                  <a:latin typeface="Exo" panose="02000503000000000000" pitchFamily="2" charset="77"/>
                  <a:ea typeface="Roboto Slab"/>
                  <a:cs typeface="Roboto Slab"/>
                  <a:sym typeface="Roboto Slab"/>
                </a:rPr>
                <a:t>PROBLEMA</a:t>
              </a:r>
            </a:p>
            <a:p>
              <a:pPr lvl="0" algn="ctr" rtl="0">
                <a:spcBef>
                  <a:spcPts val="0"/>
                </a:spcBef>
                <a:buNone/>
              </a:pPr>
              <a:endParaRPr sz="2400" b="1" dirty="0">
                <a:solidFill>
                  <a:schemeClr val="dk2"/>
                </a:solidFill>
                <a:latin typeface="Roboto Slab"/>
                <a:ea typeface="Roboto Slab"/>
                <a:cs typeface="Roboto Slab"/>
                <a:sym typeface="Roboto Slab"/>
              </a:endParaRPr>
            </a:p>
          </p:txBody>
        </p:sp>
        <p:sp>
          <p:nvSpPr>
            <p:cNvPr id="361" name="Shape 361"/>
            <p:cNvSpPr txBox="1"/>
            <p:nvPr/>
          </p:nvSpPr>
          <p:spPr>
            <a:xfrm>
              <a:off x="413575" y="3900950"/>
              <a:ext cx="2146800" cy="995099"/>
            </a:xfrm>
            <a:prstGeom prst="rect">
              <a:avLst/>
            </a:prstGeom>
            <a:noFill/>
            <a:ln>
              <a:noFill/>
            </a:ln>
          </p:spPr>
          <p:txBody>
            <a:bodyPr lIns="91425" tIns="91425" rIns="91425" bIns="91425" anchor="t" anchorCtr="0">
              <a:noAutofit/>
            </a:bodyPr>
            <a:lstStyle/>
            <a:p>
              <a:pPr lvl="0" algn="ctr" rtl="0">
                <a:spcBef>
                  <a:spcPts val="0"/>
                </a:spcBef>
                <a:buNone/>
              </a:pPr>
              <a:r>
                <a:rPr lang="it-IT" sz="1100" i="1" dirty="0">
                  <a:solidFill>
                    <a:schemeClr val="dk1"/>
                  </a:solidFill>
                  <a:latin typeface="Exo" panose="02000503000000000000" pitchFamily="2" charset="77"/>
                </a:rPr>
                <a:t>Le scommesse sportive con premi in denaro </a:t>
              </a:r>
              <a:r>
                <a:rPr lang="it-IT" sz="1100" b="1" i="1" dirty="0">
                  <a:solidFill>
                    <a:schemeClr val="dk1"/>
                  </a:solidFill>
                  <a:latin typeface="Exo" panose="02000503000000000000" pitchFamily="2" charset="77"/>
                </a:rPr>
                <a:t>non sono accessibili</a:t>
              </a:r>
              <a:r>
                <a:rPr lang="it-IT" sz="1100" i="1" dirty="0">
                  <a:solidFill>
                    <a:schemeClr val="dk1"/>
                  </a:solidFill>
                  <a:latin typeface="Exo" panose="02000503000000000000" pitchFamily="2" charset="77"/>
                </a:rPr>
                <a:t> a tutti e spesso, verso i soggetti più deboli, può portare a </a:t>
              </a:r>
              <a:r>
                <a:rPr lang="it-IT" sz="1100" b="1" i="1" dirty="0" err="1">
                  <a:solidFill>
                    <a:schemeClr val="dk1"/>
                  </a:solidFill>
                  <a:latin typeface="Exo" panose="02000503000000000000" pitchFamily="2" charset="77"/>
                </a:rPr>
                <a:t>Ludopatia</a:t>
              </a:r>
              <a:endParaRPr lang="it-IT" sz="1100" b="1" i="1" dirty="0">
                <a:solidFill>
                  <a:schemeClr val="dk1"/>
                </a:solidFill>
                <a:latin typeface="Exo" panose="02000503000000000000" pitchFamily="2" charset="77"/>
              </a:endParaRPr>
            </a:p>
            <a:p>
              <a:pPr lvl="0" algn="ctr" rtl="0">
                <a:spcBef>
                  <a:spcPts val="0"/>
                </a:spcBef>
                <a:buNone/>
              </a:pPr>
              <a:endParaRPr sz="1100" dirty="0">
                <a:solidFill>
                  <a:srgbClr val="666666"/>
                </a:solidFill>
                <a:latin typeface="Roboto"/>
                <a:ea typeface="Roboto"/>
                <a:cs typeface="Roboto"/>
                <a:sym typeface="Roboto"/>
              </a:endParaRPr>
            </a:p>
          </p:txBody>
        </p:sp>
        <p:sp>
          <p:nvSpPr>
            <p:cNvPr id="362" name="Shape 362"/>
            <p:cNvSpPr txBox="1"/>
            <p:nvPr/>
          </p:nvSpPr>
          <p:spPr>
            <a:xfrm>
              <a:off x="205866" y="3477845"/>
              <a:ext cx="792600" cy="566100"/>
            </a:xfrm>
            <a:prstGeom prst="rect">
              <a:avLst/>
            </a:prstGeom>
            <a:noFill/>
            <a:ln>
              <a:noFill/>
            </a:ln>
          </p:spPr>
          <p:txBody>
            <a:bodyPr lIns="91425" tIns="91425" rIns="91425" bIns="91425" anchor="ctr" anchorCtr="0">
              <a:noAutofit/>
            </a:bodyPr>
            <a:lstStyle/>
            <a:p>
              <a:pPr lvl="0" rtl="0">
                <a:spcBef>
                  <a:spcPts val="0"/>
                </a:spcBef>
                <a:buNone/>
              </a:pPr>
              <a:r>
                <a:rPr lang="en" sz="6000">
                  <a:solidFill>
                    <a:srgbClr val="F08B7C"/>
                  </a:solidFill>
                </a:rPr>
                <a:t>“</a:t>
              </a:r>
            </a:p>
          </p:txBody>
        </p:sp>
        <p:sp>
          <p:nvSpPr>
            <p:cNvPr id="363" name="Shape 363"/>
            <p:cNvSpPr txBox="1"/>
            <p:nvPr/>
          </p:nvSpPr>
          <p:spPr>
            <a:xfrm rot="10800000">
              <a:off x="2033105" y="4294695"/>
              <a:ext cx="792600" cy="566100"/>
            </a:xfrm>
            <a:prstGeom prst="rect">
              <a:avLst/>
            </a:prstGeom>
            <a:noFill/>
            <a:ln>
              <a:noFill/>
            </a:ln>
          </p:spPr>
          <p:txBody>
            <a:bodyPr lIns="91425" tIns="91425" rIns="91425" bIns="91425" anchor="ctr" anchorCtr="0">
              <a:noAutofit/>
            </a:bodyPr>
            <a:lstStyle/>
            <a:p>
              <a:pPr lvl="0" rtl="0">
                <a:spcBef>
                  <a:spcPts val="0"/>
                </a:spcBef>
                <a:buNone/>
              </a:pPr>
              <a:r>
                <a:rPr lang="en" sz="6000">
                  <a:solidFill>
                    <a:srgbClr val="F08B7C"/>
                  </a:solidFill>
                </a:rPr>
                <a:t>“</a:t>
              </a:r>
            </a:p>
          </p:txBody>
        </p:sp>
      </p:grpSp>
      <p:grpSp>
        <p:nvGrpSpPr>
          <p:cNvPr id="364" name="Shape 364"/>
          <p:cNvGrpSpPr/>
          <p:nvPr/>
        </p:nvGrpSpPr>
        <p:grpSpPr>
          <a:xfrm>
            <a:off x="6314924" y="3449860"/>
            <a:ext cx="2672376" cy="1465564"/>
            <a:chOff x="6314924" y="3449860"/>
            <a:chExt cx="2672376" cy="1465564"/>
          </a:xfrm>
        </p:grpSpPr>
        <p:sp>
          <p:nvSpPr>
            <p:cNvPr id="365" name="Shape 365"/>
            <p:cNvSpPr txBox="1"/>
            <p:nvPr/>
          </p:nvSpPr>
          <p:spPr>
            <a:xfrm>
              <a:off x="6314924" y="3472850"/>
              <a:ext cx="2614799" cy="504299"/>
            </a:xfrm>
            <a:prstGeom prst="rect">
              <a:avLst/>
            </a:prstGeom>
            <a:noFill/>
            <a:ln>
              <a:noFill/>
            </a:ln>
          </p:spPr>
          <p:txBody>
            <a:bodyPr lIns="91425" tIns="91425" rIns="91425" bIns="91425" anchor="t" anchorCtr="0">
              <a:noAutofit/>
            </a:bodyPr>
            <a:lstStyle/>
            <a:p>
              <a:pPr lvl="0" algn="ctr" rtl="0">
                <a:spcBef>
                  <a:spcPts val="0"/>
                </a:spcBef>
                <a:buNone/>
              </a:pPr>
              <a:r>
                <a:rPr lang="en" sz="2400" b="1" dirty="0">
                  <a:solidFill>
                    <a:srgbClr val="A5C961"/>
                  </a:solidFill>
                  <a:latin typeface="Exo" panose="02000503000000000000" pitchFamily="2" charset="77"/>
                  <a:ea typeface="Roboto Slab"/>
                  <a:cs typeface="Roboto Slab"/>
                  <a:sym typeface="Roboto Slab"/>
                </a:rPr>
                <a:t>SOLUZIONE</a:t>
              </a:r>
            </a:p>
            <a:p>
              <a:pPr lvl="0" algn="ctr" rtl="0">
                <a:spcBef>
                  <a:spcPts val="0"/>
                </a:spcBef>
                <a:buNone/>
              </a:pPr>
              <a:endParaRPr sz="2400" b="1" dirty="0">
                <a:solidFill>
                  <a:schemeClr val="dk2"/>
                </a:solidFill>
                <a:latin typeface="Roboto Slab"/>
                <a:ea typeface="Roboto Slab"/>
                <a:cs typeface="Roboto Slab"/>
                <a:sym typeface="Roboto Slab"/>
              </a:endParaRPr>
            </a:p>
          </p:txBody>
        </p:sp>
        <p:sp>
          <p:nvSpPr>
            <p:cNvPr id="366" name="Shape 366"/>
            <p:cNvSpPr txBox="1"/>
            <p:nvPr/>
          </p:nvSpPr>
          <p:spPr>
            <a:xfrm>
              <a:off x="6518100" y="3920325"/>
              <a:ext cx="2146800" cy="995099"/>
            </a:xfrm>
            <a:prstGeom prst="rect">
              <a:avLst/>
            </a:prstGeom>
            <a:noFill/>
            <a:ln>
              <a:noFill/>
            </a:ln>
          </p:spPr>
          <p:txBody>
            <a:bodyPr lIns="91425" tIns="91425" rIns="91425" bIns="91425" anchor="t" anchorCtr="0">
              <a:noAutofit/>
            </a:bodyPr>
            <a:lstStyle/>
            <a:p>
              <a:pPr lvl="0" algn="ctr" rtl="0">
                <a:spcBef>
                  <a:spcPts val="0"/>
                </a:spcBef>
                <a:buClr>
                  <a:schemeClr val="dk1"/>
                </a:buClr>
                <a:buSzPct val="100000"/>
                <a:buFont typeface="Arial"/>
                <a:buNone/>
              </a:pPr>
              <a:r>
                <a:rPr lang="it-IT" sz="1100" i="1" dirty="0">
                  <a:solidFill>
                    <a:schemeClr val="dk1"/>
                  </a:solidFill>
                  <a:latin typeface="Exo" panose="02000503000000000000" pitchFamily="2" charset="77"/>
                </a:rPr>
                <a:t>Rendere le scommesse sportive un fenomeno di divertimento e aggregazione, mantenendo la possibilità di vincere premi reali.</a:t>
              </a:r>
              <a:endParaRPr lang="it-IT" sz="1100" dirty="0">
                <a:solidFill>
                  <a:srgbClr val="666666"/>
                </a:solidFill>
                <a:latin typeface="Exo" panose="02000503000000000000" pitchFamily="2" charset="77"/>
                <a:ea typeface="Roboto"/>
                <a:cs typeface="Roboto"/>
                <a:sym typeface="Roboto"/>
              </a:endParaRPr>
            </a:p>
          </p:txBody>
        </p:sp>
        <p:sp>
          <p:nvSpPr>
            <p:cNvPr id="367" name="Shape 367"/>
            <p:cNvSpPr txBox="1"/>
            <p:nvPr/>
          </p:nvSpPr>
          <p:spPr>
            <a:xfrm>
              <a:off x="6367462" y="3449860"/>
              <a:ext cx="792600" cy="566100"/>
            </a:xfrm>
            <a:prstGeom prst="rect">
              <a:avLst/>
            </a:prstGeom>
            <a:noFill/>
            <a:ln>
              <a:noFill/>
            </a:ln>
          </p:spPr>
          <p:txBody>
            <a:bodyPr lIns="91425" tIns="91425" rIns="91425" bIns="91425" anchor="ctr" anchorCtr="0">
              <a:noAutofit/>
            </a:bodyPr>
            <a:lstStyle/>
            <a:p>
              <a:pPr lvl="0" rtl="0">
                <a:spcBef>
                  <a:spcPts val="0"/>
                </a:spcBef>
                <a:buNone/>
              </a:pPr>
              <a:r>
                <a:rPr lang="en" sz="6000">
                  <a:solidFill>
                    <a:srgbClr val="A5C961"/>
                  </a:solidFill>
                </a:rPr>
                <a:t>“</a:t>
              </a:r>
            </a:p>
          </p:txBody>
        </p:sp>
        <p:sp>
          <p:nvSpPr>
            <p:cNvPr id="368" name="Shape 368"/>
            <p:cNvSpPr txBox="1"/>
            <p:nvPr/>
          </p:nvSpPr>
          <p:spPr>
            <a:xfrm rot="10800000">
              <a:off x="8194701" y="4266710"/>
              <a:ext cx="792600" cy="566100"/>
            </a:xfrm>
            <a:prstGeom prst="rect">
              <a:avLst/>
            </a:prstGeom>
            <a:noFill/>
            <a:ln>
              <a:noFill/>
            </a:ln>
          </p:spPr>
          <p:txBody>
            <a:bodyPr lIns="91425" tIns="91425" rIns="91425" bIns="91425" anchor="ctr" anchorCtr="0">
              <a:noAutofit/>
            </a:bodyPr>
            <a:lstStyle/>
            <a:p>
              <a:pPr lvl="0" rtl="0">
                <a:spcBef>
                  <a:spcPts val="0"/>
                </a:spcBef>
                <a:buNone/>
              </a:pPr>
              <a:r>
                <a:rPr lang="en" sz="6000">
                  <a:solidFill>
                    <a:srgbClr val="A5C961"/>
                  </a:solidFill>
                </a:rPr>
                <a:t>“</a:t>
              </a:r>
            </a:p>
          </p:txBody>
        </p:sp>
      </p:grpSp>
      <p:pic>
        <p:nvPicPr>
          <p:cNvPr id="25" name="Immagine 24">
            <a:extLst>
              <a:ext uri="{FF2B5EF4-FFF2-40B4-BE49-F238E27FC236}">
                <a16:creationId xmlns:a16="http://schemas.microsoft.com/office/drawing/2014/main" id="{FC6F634B-8590-4B30-BF49-E080123E9311}"/>
              </a:ext>
            </a:extLst>
          </p:cNvPr>
          <p:cNvPicPr>
            <a:picLocks noChangeAspect="1"/>
          </p:cNvPicPr>
          <p:nvPr/>
        </p:nvPicPr>
        <p:blipFill rotWithShape="1">
          <a:blip r:embed="rId5"/>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49"/>
                                        </p:tgtEl>
                                        <p:attrNameLst>
                                          <p:attrName>style.visibility</p:attrName>
                                        </p:attrNameLst>
                                      </p:cBhvr>
                                      <p:to>
                                        <p:strVal val="visible"/>
                                      </p:to>
                                    </p:set>
                                    <p:anim calcmode="lin" valueType="num">
                                      <p:cBhvr additive="base">
                                        <p:cTn id="7" dur="900"/>
                                        <p:tgtEl>
                                          <p:spTgt spid="349"/>
                                        </p:tgtEl>
                                        <p:attrNameLst>
                                          <p:attrName>ppt_y</p:attrName>
                                        </p:attrNameLst>
                                      </p:cBhvr>
                                      <p:tavLst>
                                        <p:tav tm="0">
                                          <p:val>
                                            <p:strVal val="#ppt_y+1"/>
                                          </p:val>
                                        </p:tav>
                                        <p:tav tm="100000">
                                          <p:val>
                                            <p:strVal val="#ppt_y"/>
                                          </p:val>
                                        </p:tav>
                                      </p:tavLst>
                                    </p:anim>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55"/>
                                        </p:tgtEl>
                                        <p:attrNameLst>
                                          <p:attrName>style.visibility</p:attrName>
                                        </p:attrNameLst>
                                      </p:cBhvr>
                                      <p:to>
                                        <p:strVal val="visible"/>
                                      </p:to>
                                    </p:set>
                                    <p:anim calcmode="lin" valueType="num">
                                      <p:cBhvr additive="base">
                                        <p:cTn id="11" dur="700"/>
                                        <p:tgtEl>
                                          <p:spTgt spid="355"/>
                                        </p:tgtEl>
                                        <p:attrNameLst>
                                          <p:attrName>ppt_y</p:attrName>
                                        </p:attrNameLst>
                                      </p:cBhvr>
                                      <p:tavLst>
                                        <p:tav tm="0">
                                          <p:val>
                                            <p:strVal val="#ppt_y+1"/>
                                          </p:val>
                                        </p:tav>
                                        <p:tav tm="100000">
                                          <p:val>
                                            <p:strVal val="#ppt_y"/>
                                          </p:val>
                                        </p:tav>
                                      </p:tavLst>
                                    </p:anim>
                                  </p:childTnLst>
                                </p:cTn>
                              </p:par>
                            </p:childTnLst>
                          </p:cTn>
                        </p:par>
                        <p:par>
                          <p:cTn id="12" fill="hold">
                            <p:stCondLst>
                              <p:cond delay="1600"/>
                            </p:stCondLst>
                            <p:childTnLst>
                              <p:par>
                                <p:cTn id="13" presetID="10" presetClass="entr" presetSubtype="0" fill="hold" nodeType="afterEffect">
                                  <p:stCondLst>
                                    <p:cond delay="0"/>
                                  </p:stCondLst>
                                  <p:childTnLst>
                                    <p:set>
                                      <p:cBhvr>
                                        <p:cTn id="14" dur="1" fill="hold">
                                          <p:stCondLst>
                                            <p:cond delay="0"/>
                                          </p:stCondLst>
                                        </p:cTn>
                                        <p:tgtEl>
                                          <p:spTgt spid="354"/>
                                        </p:tgtEl>
                                        <p:attrNameLst>
                                          <p:attrName>style.visibility</p:attrName>
                                        </p:attrNameLst>
                                      </p:cBhvr>
                                      <p:to>
                                        <p:strVal val="visible"/>
                                      </p:to>
                                    </p:set>
                                    <p:animEffect transition="in" filter="fade">
                                      <p:cBhvr>
                                        <p:cTn id="15" dur="800"/>
                                        <p:tgtEl>
                                          <p:spTgt spid="354"/>
                                        </p:tgtEl>
                                      </p:cBhvr>
                                    </p:animEffect>
                                  </p:childTnLst>
                                </p:cTn>
                              </p:par>
                            </p:childTnLst>
                          </p:cTn>
                        </p:par>
                        <p:par>
                          <p:cTn id="16" fill="hold">
                            <p:stCondLst>
                              <p:cond delay="2400"/>
                            </p:stCondLst>
                            <p:childTnLst>
                              <p:par>
                                <p:cTn id="17" presetID="23" presetClass="entr" presetSubtype="16" fill="hold" nodeType="afterEffect">
                                  <p:stCondLst>
                                    <p:cond delay="0"/>
                                  </p:stCondLst>
                                  <p:childTnLst>
                                    <p:set>
                                      <p:cBhvr>
                                        <p:cTn id="18" dur="1" fill="hold">
                                          <p:stCondLst>
                                            <p:cond delay="0"/>
                                          </p:stCondLst>
                                        </p:cTn>
                                        <p:tgtEl>
                                          <p:spTgt spid="356"/>
                                        </p:tgtEl>
                                        <p:attrNameLst>
                                          <p:attrName>style.visibility</p:attrName>
                                        </p:attrNameLst>
                                      </p:cBhvr>
                                      <p:to>
                                        <p:strVal val="visible"/>
                                      </p:to>
                                    </p:set>
                                    <p:anim calcmode="lin" valueType="num">
                                      <p:cBhvr additive="base">
                                        <p:cTn id="19" dur="500"/>
                                        <p:tgtEl>
                                          <p:spTgt spid="356"/>
                                        </p:tgtEl>
                                        <p:attrNameLst>
                                          <p:attrName>ppt_w</p:attrName>
                                        </p:attrNameLst>
                                      </p:cBhvr>
                                      <p:tavLst>
                                        <p:tav tm="0">
                                          <p:val>
                                            <p:strVal val="0"/>
                                          </p:val>
                                        </p:tav>
                                        <p:tav tm="100000">
                                          <p:val>
                                            <p:strVal val="#ppt_w"/>
                                          </p:val>
                                        </p:tav>
                                      </p:tavLst>
                                    </p:anim>
                                    <p:anim calcmode="lin" valueType="num">
                                      <p:cBhvr additive="base">
                                        <p:cTn id="20" dur="500"/>
                                        <p:tgtEl>
                                          <p:spTgt spid="356"/>
                                        </p:tgtEl>
                                        <p:attrNameLst>
                                          <p:attrName>ppt_h</p:attrName>
                                        </p:attrNameLst>
                                      </p:cBhvr>
                                      <p:tavLst>
                                        <p:tav tm="0">
                                          <p:val>
                                            <p:strVal val="0"/>
                                          </p:val>
                                        </p:tav>
                                        <p:tav tm="100000">
                                          <p:val>
                                            <p:strVal val="#ppt_h"/>
                                          </p:val>
                                        </p:tav>
                                      </p:tavLst>
                                    </p:anim>
                                  </p:childTnLst>
                                </p:cTn>
                              </p:par>
                            </p:childTnLst>
                          </p:cTn>
                        </p:par>
                        <p:par>
                          <p:cTn id="21" fill="hold">
                            <p:stCondLst>
                              <p:cond delay="2900"/>
                            </p:stCondLst>
                            <p:childTnLst>
                              <p:par>
                                <p:cTn id="22" presetID="10" presetClass="entr" presetSubtype="0" fill="hold" nodeType="afterEffect">
                                  <p:stCondLst>
                                    <p:cond delay="0"/>
                                  </p:stCondLst>
                                  <p:childTnLst>
                                    <p:set>
                                      <p:cBhvr>
                                        <p:cTn id="23" dur="1" fill="hold">
                                          <p:stCondLst>
                                            <p:cond delay="0"/>
                                          </p:stCondLst>
                                        </p:cTn>
                                        <p:tgtEl>
                                          <p:spTgt spid="348"/>
                                        </p:tgtEl>
                                        <p:attrNameLst>
                                          <p:attrName>style.visibility</p:attrName>
                                        </p:attrNameLst>
                                      </p:cBhvr>
                                      <p:to>
                                        <p:strVal val="visible"/>
                                      </p:to>
                                    </p:set>
                                    <p:animEffect transition="in" filter="fade">
                                      <p:cBhvr>
                                        <p:cTn id="24" dur="500"/>
                                        <p:tgtEl>
                                          <p:spTgt spid="348"/>
                                        </p:tgtEl>
                                      </p:cBhvr>
                                    </p:animEffect>
                                  </p:childTnLst>
                                </p:cTn>
                              </p:par>
                            </p:childTnLst>
                          </p:cTn>
                        </p:par>
                        <p:par>
                          <p:cTn id="25" fill="hold">
                            <p:stCondLst>
                              <p:cond delay="3400"/>
                            </p:stCondLst>
                            <p:childTnLst>
                              <p:par>
                                <p:cTn id="26" presetID="10" presetClass="entr" presetSubtype="0" fill="hold" nodeType="afterEffect">
                                  <p:stCondLst>
                                    <p:cond delay="0"/>
                                  </p:stCondLst>
                                  <p:childTnLst>
                                    <p:set>
                                      <p:cBhvr>
                                        <p:cTn id="27" dur="1" fill="hold">
                                          <p:stCondLst>
                                            <p:cond delay="0"/>
                                          </p:stCondLst>
                                        </p:cTn>
                                        <p:tgtEl>
                                          <p:spTgt spid="347"/>
                                        </p:tgtEl>
                                        <p:attrNameLst>
                                          <p:attrName>style.visibility</p:attrName>
                                        </p:attrNameLst>
                                      </p:cBhvr>
                                      <p:to>
                                        <p:strVal val="visible"/>
                                      </p:to>
                                    </p:set>
                                    <p:animEffect transition="in" filter="fade">
                                      <p:cBhvr>
                                        <p:cTn id="28" dur="500"/>
                                        <p:tgtEl>
                                          <p:spTgt spid="347"/>
                                        </p:tgtEl>
                                      </p:cBhvr>
                                    </p:animEffect>
                                  </p:childTnLst>
                                </p:cTn>
                              </p:par>
                            </p:childTnLst>
                          </p:cTn>
                        </p:par>
                        <p:par>
                          <p:cTn id="29" fill="hold">
                            <p:stCondLst>
                              <p:cond delay="3900"/>
                            </p:stCondLst>
                            <p:childTnLst>
                              <p:par>
                                <p:cTn id="30" presetID="2" presetClass="entr" presetSubtype="4" fill="hold" nodeType="afterEffect">
                                  <p:stCondLst>
                                    <p:cond delay="0"/>
                                  </p:stCondLst>
                                  <p:childTnLst>
                                    <p:set>
                                      <p:cBhvr>
                                        <p:cTn id="31" dur="1" fill="hold">
                                          <p:stCondLst>
                                            <p:cond delay="0"/>
                                          </p:stCondLst>
                                        </p:cTn>
                                        <p:tgtEl>
                                          <p:spTgt spid="359"/>
                                        </p:tgtEl>
                                        <p:attrNameLst>
                                          <p:attrName>style.visibility</p:attrName>
                                        </p:attrNameLst>
                                      </p:cBhvr>
                                      <p:to>
                                        <p:strVal val="visible"/>
                                      </p:to>
                                    </p:set>
                                    <p:anim calcmode="lin" valueType="num">
                                      <p:cBhvr additive="base">
                                        <p:cTn id="32" dur="600"/>
                                        <p:tgtEl>
                                          <p:spTgt spid="359"/>
                                        </p:tgtEl>
                                        <p:attrNameLst>
                                          <p:attrName>ppt_y</p:attrName>
                                        </p:attrNameLst>
                                      </p:cBhvr>
                                      <p:tavLst>
                                        <p:tav tm="0">
                                          <p:val>
                                            <p:strVal val="#ppt_y+1"/>
                                          </p:val>
                                        </p:tav>
                                        <p:tav tm="100000">
                                          <p:val>
                                            <p:strVal val="#ppt_y"/>
                                          </p:val>
                                        </p:tav>
                                      </p:tavLst>
                                    </p:anim>
                                  </p:childTnLst>
                                </p:cTn>
                              </p:par>
                            </p:childTnLst>
                          </p:cTn>
                        </p:par>
                        <p:par>
                          <p:cTn id="33" fill="hold">
                            <p:stCondLst>
                              <p:cond delay="4500"/>
                            </p:stCondLst>
                            <p:childTnLst>
                              <p:par>
                                <p:cTn id="34" presetID="2" presetClass="entr" presetSubtype="4" fill="hold" nodeType="afterEffect">
                                  <p:stCondLst>
                                    <p:cond delay="0"/>
                                  </p:stCondLst>
                                  <p:childTnLst>
                                    <p:set>
                                      <p:cBhvr>
                                        <p:cTn id="35" dur="1" fill="hold">
                                          <p:stCondLst>
                                            <p:cond delay="0"/>
                                          </p:stCondLst>
                                        </p:cTn>
                                        <p:tgtEl>
                                          <p:spTgt spid="364"/>
                                        </p:tgtEl>
                                        <p:attrNameLst>
                                          <p:attrName>style.visibility</p:attrName>
                                        </p:attrNameLst>
                                      </p:cBhvr>
                                      <p:to>
                                        <p:strVal val="visible"/>
                                      </p:to>
                                    </p:set>
                                    <p:anim calcmode="lin" valueType="num">
                                      <p:cBhvr additive="base">
                                        <p:cTn id="36" dur="700"/>
                                        <p:tgtEl>
                                          <p:spTgt spid="3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4" name="Rettangolo 3">
            <a:extLst>
              <a:ext uri="{FF2B5EF4-FFF2-40B4-BE49-F238E27FC236}">
                <a16:creationId xmlns:a16="http://schemas.microsoft.com/office/drawing/2014/main" id="{8084AE9D-6866-4D3E-B386-353480D02C44}"/>
              </a:ext>
            </a:extLst>
          </p:cNvPr>
          <p:cNvSpPr/>
          <p:nvPr/>
        </p:nvSpPr>
        <p:spPr>
          <a:xfrm>
            <a:off x="0" y="2774227"/>
            <a:ext cx="9144000" cy="620399"/>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sp>
        <p:nvSpPr>
          <p:cNvPr id="32" name="Shape 32"/>
          <p:cNvSpPr txBox="1"/>
          <p:nvPr/>
        </p:nvSpPr>
        <p:spPr>
          <a:xfrm>
            <a:off x="3240750" y="4349050"/>
            <a:ext cx="2662499" cy="290700"/>
          </a:xfrm>
          <a:prstGeom prst="rect">
            <a:avLst/>
          </a:prstGeom>
          <a:noFill/>
          <a:ln>
            <a:noFill/>
          </a:ln>
        </p:spPr>
        <p:txBody>
          <a:bodyPr lIns="91425" tIns="91425" rIns="91425" bIns="91425" anchor="t" anchorCtr="0">
            <a:noAutofit/>
          </a:bodyPr>
          <a:lstStyle/>
          <a:p>
            <a:pPr algn="ctr">
              <a:spcBef>
                <a:spcPts val="0"/>
              </a:spcBef>
              <a:buNone/>
            </a:pPr>
            <a:r>
              <a:rPr lang="en" sz="1000" dirty="0">
                <a:latin typeface="Roboto Slab"/>
                <a:ea typeface="Roboto Slab"/>
                <a:cs typeface="Roboto Slab"/>
                <a:sym typeface="Roboto Slab"/>
              </a:rPr>
              <a:t>www.startupwebsite.com</a:t>
            </a:r>
          </a:p>
        </p:txBody>
      </p:sp>
      <p:sp>
        <p:nvSpPr>
          <p:cNvPr id="33" name="Shape 33"/>
          <p:cNvSpPr txBox="1"/>
          <p:nvPr/>
        </p:nvSpPr>
        <p:spPr>
          <a:xfrm>
            <a:off x="242325" y="2774227"/>
            <a:ext cx="4256523" cy="620399"/>
          </a:xfrm>
          <a:prstGeom prst="rect">
            <a:avLst/>
          </a:prstGeom>
          <a:noFill/>
          <a:ln>
            <a:noFill/>
          </a:ln>
        </p:spPr>
        <p:txBody>
          <a:bodyPr lIns="91425" tIns="91425" rIns="91425" bIns="91425" anchor="t" anchorCtr="0">
            <a:noAutofit/>
          </a:bodyPr>
          <a:lstStyle/>
          <a:p>
            <a:pPr>
              <a:buClr>
                <a:schemeClr val="dk1"/>
              </a:buClr>
              <a:buSzPct val="55000"/>
            </a:pPr>
            <a:r>
              <a:rPr lang="en" sz="2800" b="1" dirty="0">
                <a:solidFill>
                  <a:schemeClr val="lt1"/>
                </a:solidFill>
                <a:latin typeface="Exo 2 Extra Bold Condensed" panose="00000906000000000000" pitchFamily="50" charset="0"/>
                <a:ea typeface="Roboto Slab"/>
                <a:cs typeface="Roboto Slab"/>
                <a:sym typeface="Roboto Slab"/>
              </a:rPr>
              <a:t>MARKET DEFINITION</a:t>
            </a:r>
          </a:p>
          <a:p>
            <a:pPr>
              <a:spcBef>
                <a:spcPts val="0"/>
              </a:spcBef>
              <a:buNone/>
            </a:pPr>
            <a:endParaRPr dirty="0"/>
          </a:p>
        </p:txBody>
      </p:sp>
      <p:sp>
        <p:nvSpPr>
          <p:cNvPr id="34" name="Shape 34"/>
          <p:cNvSpPr txBox="1"/>
          <p:nvPr/>
        </p:nvSpPr>
        <p:spPr>
          <a:xfrm>
            <a:off x="4373750" y="2889275"/>
            <a:ext cx="4604400" cy="430500"/>
          </a:xfrm>
          <a:prstGeom prst="rect">
            <a:avLst/>
          </a:prstGeom>
          <a:noFill/>
          <a:ln>
            <a:noFill/>
          </a:ln>
        </p:spPr>
        <p:txBody>
          <a:bodyPr lIns="91425" tIns="91425" rIns="91425" bIns="91425" anchor="t" anchorCtr="0">
            <a:noAutofit/>
          </a:bodyPr>
          <a:lstStyle/>
          <a:p>
            <a:pPr lvl="0" algn="r" rtl="0">
              <a:spcBef>
                <a:spcPts val="0"/>
              </a:spcBef>
              <a:buNone/>
            </a:pPr>
            <a:r>
              <a:rPr lang="it-IT" b="1" dirty="0">
                <a:solidFill>
                  <a:schemeClr val="lt1"/>
                </a:solidFill>
                <a:latin typeface="Exo" panose="02000503000000000000" pitchFamily="2" charset="77"/>
                <a:ea typeface="Roboto"/>
                <a:cs typeface="Roboto"/>
                <a:sym typeface="Roboto"/>
              </a:rPr>
              <a:t>Il mercato delle scommesse sportive in Italia</a:t>
            </a:r>
          </a:p>
          <a:p>
            <a:pPr lvl="0" rtl="0">
              <a:spcBef>
                <a:spcPts val="0"/>
              </a:spcBef>
              <a:buNone/>
            </a:pPr>
            <a:endParaRPr dirty="0"/>
          </a:p>
        </p:txBody>
      </p:sp>
      <p:pic>
        <p:nvPicPr>
          <p:cNvPr id="3" name="Immagine 2">
            <a:extLst>
              <a:ext uri="{FF2B5EF4-FFF2-40B4-BE49-F238E27FC236}">
                <a16:creationId xmlns:a16="http://schemas.microsoft.com/office/drawing/2014/main" id="{0DA18343-295D-48A2-9447-D43C713212AD}"/>
              </a:ext>
            </a:extLst>
          </p:cNvPr>
          <p:cNvPicPr>
            <a:picLocks noChangeAspect="1"/>
          </p:cNvPicPr>
          <p:nvPr/>
        </p:nvPicPr>
        <p:blipFill rotWithShape="1">
          <a:blip r:embed="rId3"/>
          <a:srcRect t="42749" b="42199"/>
          <a:stretch/>
        </p:blipFill>
        <p:spPr>
          <a:xfrm>
            <a:off x="1283546" y="1069126"/>
            <a:ext cx="6576908" cy="98994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1000"/>
                                        <p:tgtEl>
                                          <p:spTgt spid="33"/>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1000"/>
                                        <p:tgtEl>
                                          <p:spTgt spid="34"/>
                                        </p:tgtEl>
                                        <p:attrNameLst>
                                          <p:attrName>ppt_x</p:attrName>
                                        </p:attrNameLst>
                                      </p:cBhvr>
                                      <p:tavLst>
                                        <p:tav tm="0">
                                          <p:val>
                                            <p:strVal val="#ppt_x+1"/>
                                          </p:val>
                                        </p:tav>
                                        <p:tav tm="100000">
                                          <p:val>
                                            <p:strVal val="#ppt_x"/>
                                          </p:val>
                                        </p:tav>
                                      </p:tavLst>
                                    </p:anim>
                                  </p:childTnLst>
                                </p:cTn>
                              </p:par>
                            </p:childTnLst>
                          </p:cTn>
                        </p:par>
                        <p:par>
                          <p:cTn id="12" fill="hold">
                            <p:stCondLst>
                              <p:cond delay="2000"/>
                            </p:stCondLst>
                            <p:childTnLst>
                              <p:par>
                                <p:cTn id="13" presetID="23" presetClass="entr" presetSubtype="16"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additive="base">
                                        <p:cTn id="15" dur="1000"/>
                                        <p:tgtEl>
                                          <p:spTgt spid="32"/>
                                        </p:tgtEl>
                                        <p:attrNameLst>
                                          <p:attrName>ppt_w</p:attrName>
                                        </p:attrNameLst>
                                      </p:cBhvr>
                                      <p:tavLst>
                                        <p:tav tm="0">
                                          <p:val>
                                            <p:strVal val="0"/>
                                          </p:val>
                                        </p:tav>
                                        <p:tav tm="100000">
                                          <p:val>
                                            <p:strVal val="#ppt_w"/>
                                          </p:val>
                                        </p:tav>
                                      </p:tavLst>
                                    </p:anim>
                                    <p:anim calcmode="lin" valueType="num">
                                      <p:cBhvr additive="base">
                                        <p:cTn id="16" dur="1000"/>
                                        <p:tgtEl>
                                          <p:spTgt spid="3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78"/>
        <p:cNvGrpSpPr/>
        <p:nvPr/>
      </p:nvGrpSpPr>
      <p:grpSpPr>
        <a:xfrm>
          <a:off x="0" y="0"/>
          <a:ext cx="0" cy="0"/>
          <a:chOff x="0" y="0"/>
          <a:chExt cx="0" cy="0"/>
        </a:xfrm>
      </p:grpSpPr>
      <p:sp>
        <p:nvSpPr>
          <p:cNvPr id="2" name="Rettangolo 1">
            <a:extLst>
              <a:ext uri="{FF2B5EF4-FFF2-40B4-BE49-F238E27FC236}">
                <a16:creationId xmlns:a16="http://schemas.microsoft.com/office/drawing/2014/main" id="{3DD57A53-3C74-9043-99E6-A8C02E7E70CC}"/>
              </a:ext>
            </a:extLst>
          </p:cNvPr>
          <p:cNvSpPr/>
          <p:nvPr/>
        </p:nvSpPr>
        <p:spPr>
          <a:xfrm>
            <a:off x="1693561" y="1369667"/>
            <a:ext cx="6886854" cy="877678"/>
          </a:xfrm>
          <a:prstGeom prst="rect">
            <a:avLst/>
          </a:prstGeom>
          <a:solidFill>
            <a:schemeClr val="bg2">
              <a:alpha val="8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72" name="Rettangolo 71">
            <a:extLst>
              <a:ext uri="{FF2B5EF4-FFF2-40B4-BE49-F238E27FC236}">
                <a16:creationId xmlns:a16="http://schemas.microsoft.com/office/drawing/2014/main" id="{B092D8D4-5F92-D444-8750-E50464EE8756}"/>
              </a:ext>
            </a:extLst>
          </p:cNvPr>
          <p:cNvSpPr/>
          <p:nvPr/>
        </p:nvSpPr>
        <p:spPr>
          <a:xfrm>
            <a:off x="1693561" y="2643833"/>
            <a:ext cx="6886854" cy="877678"/>
          </a:xfrm>
          <a:prstGeom prst="rect">
            <a:avLst/>
          </a:prstGeom>
          <a:solidFill>
            <a:schemeClr val="bg2">
              <a:alpha val="8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73" name="Rettangolo 72">
            <a:extLst>
              <a:ext uri="{FF2B5EF4-FFF2-40B4-BE49-F238E27FC236}">
                <a16:creationId xmlns:a16="http://schemas.microsoft.com/office/drawing/2014/main" id="{16D84364-A328-434B-A897-BEE52FD2DE1F}"/>
              </a:ext>
            </a:extLst>
          </p:cNvPr>
          <p:cNvSpPr/>
          <p:nvPr/>
        </p:nvSpPr>
        <p:spPr>
          <a:xfrm>
            <a:off x="1693561" y="3884572"/>
            <a:ext cx="6886854" cy="877678"/>
          </a:xfrm>
          <a:prstGeom prst="rect">
            <a:avLst/>
          </a:prstGeom>
          <a:solidFill>
            <a:schemeClr val="bg2">
              <a:alpha val="8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grpSp>
        <p:nvGrpSpPr>
          <p:cNvPr id="25" name="Shape 818">
            <a:extLst>
              <a:ext uri="{FF2B5EF4-FFF2-40B4-BE49-F238E27FC236}">
                <a16:creationId xmlns:a16="http://schemas.microsoft.com/office/drawing/2014/main" id="{862F007A-76DC-FC4A-9AC4-EB5FE8C7E16D}"/>
              </a:ext>
            </a:extLst>
          </p:cNvPr>
          <p:cNvGrpSpPr/>
          <p:nvPr/>
        </p:nvGrpSpPr>
        <p:grpSpPr>
          <a:xfrm>
            <a:off x="1807217" y="1291218"/>
            <a:ext cx="6630869" cy="840693"/>
            <a:chOff x="6377083" y="1363959"/>
            <a:chExt cx="2856259" cy="840693"/>
          </a:xfrm>
        </p:grpSpPr>
        <p:sp>
          <p:nvSpPr>
            <p:cNvPr id="26" name="Shape 819">
              <a:extLst>
                <a:ext uri="{FF2B5EF4-FFF2-40B4-BE49-F238E27FC236}">
                  <a16:creationId xmlns:a16="http://schemas.microsoft.com/office/drawing/2014/main" id="{BF80386E-19C2-8A41-9186-53CE255107E0}"/>
                </a:ext>
              </a:extLst>
            </p:cNvPr>
            <p:cNvSpPr txBox="1"/>
            <p:nvPr/>
          </p:nvSpPr>
          <p:spPr>
            <a:xfrm>
              <a:off x="6377083" y="1363959"/>
              <a:ext cx="2751600" cy="365399"/>
            </a:xfrm>
            <a:prstGeom prst="rect">
              <a:avLst/>
            </a:prstGeom>
            <a:noFill/>
            <a:ln>
              <a:noFill/>
            </a:ln>
          </p:spPr>
          <p:txBody>
            <a:bodyPr lIns="91425" tIns="91425" rIns="91425" bIns="91425" anchor="t" anchorCtr="0">
              <a:noAutofit/>
            </a:bodyPr>
            <a:lstStyle/>
            <a:p>
              <a:pPr lvl="0" rtl="0">
                <a:lnSpc>
                  <a:spcPct val="115000"/>
                </a:lnSpc>
                <a:spcBef>
                  <a:spcPts val="0"/>
                </a:spcBef>
                <a:buClr>
                  <a:schemeClr val="dk1"/>
                </a:buClr>
                <a:buSzPct val="78571"/>
                <a:buFont typeface="Arial"/>
                <a:buNone/>
              </a:pPr>
              <a:r>
                <a:rPr lang="en" sz="1800" b="1" dirty="0" err="1">
                  <a:solidFill>
                    <a:schemeClr val="bg1"/>
                  </a:solidFill>
                  <a:latin typeface="Exo" panose="02000503000000000000" pitchFamily="2" charset="77"/>
                  <a:ea typeface="Roboto Slab"/>
                  <a:cs typeface="Roboto Slab"/>
                  <a:sym typeface="Roboto Slab"/>
                </a:rPr>
                <a:t>Generazione</a:t>
              </a:r>
              <a:r>
                <a:rPr lang="en" sz="1800" b="1" dirty="0">
                  <a:solidFill>
                    <a:schemeClr val="bg1"/>
                  </a:solidFill>
                  <a:latin typeface="Exo" panose="02000503000000000000" pitchFamily="2" charset="77"/>
                  <a:ea typeface="Roboto Slab"/>
                  <a:cs typeface="Roboto Slab"/>
                  <a:sym typeface="Roboto Slab"/>
                </a:rPr>
                <a:t> Z</a:t>
              </a:r>
            </a:p>
            <a:p>
              <a:pPr lvl="0" rtl="0">
                <a:lnSpc>
                  <a:spcPct val="115000"/>
                </a:lnSpc>
                <a:spcBef>
                  <a:spcPts val="0"/>
                </a:spcBef>
                <a:buClr>
                  <a:schemeClr val="dk1"/>
                </a:buClr>
                <a:buFont typeface="Arial"/>
                <a:buNone/>
              </a:pPr>
              <a:endParaRPr sz="1800" dirty="0">
                <a:solidFill>
                  <a:schemeClr val="bg1"/>
                </a:solidFill>
                <a:latin typeface="Roboto Slab"/>
                <a:ea typeface="Roboto Slab"/>
                <a:cs typeface="Roboto Slab"/>
                <a:sym typeface="Roboto Slab"/>
              </a:endParaRPr>
            </a:p>
            <a:p>
              <a:pPr lvl="0" rtl="0">
                <a:lnSpc>
                  <a:spcPct val="115000"/>
                </a:lnSpc>
                <a:spcBef>
                  <a:spcPts val="0"/>
                </a:spcBef>
                <a:buNone/>
              </a:pPr>
              <a:endParaRPr sz="1800" dirty="0">
                <a:solidFill>
                  <a:schemeClr val="bg1"/>
                </a:solidFill>
                <a:latin typeface="Roboto Slab"/>
                <a:ea typeface="Roboto Slab"/>
                <a:cs typeface="Roboto Slab"/>
                <a:sym typeface="Roboto Slab"/>
              </a:endParaRPr>
            </a:p>
            <a:p>
              <a:pPr lvl="0" rtl="0">
                <a:spcBef>
                  <a:spcPts val="0"/>
                </a:spcBef>
                <a:buNone/>
              </a:pPr>
              <a:endParaRPr sz="1800" dirty="0">
                <a:solidFill>
                  <a:schemeClr val="bg1"/>
                </a:solidFill>
                <a:latin typeface="Roboto Slab"/>
                <a:ea typeface="Roboto Slab"/>
                <a:cs typeface="Roboto Slab"/>
                <a:sym typeface="Roboto Slab"/>
              </a:endParaRPr>
            </a:p>
          </p:txBody>
        </p:sp>
        <p:sp>
          <p:nvSpPr>
            <p:cNvPr id="27" name="Shape 820">
              <a:extLst>
                <a:ext uri="{FF2B5EF4-FFF2-40B4-BE49-F238E27FC236}">
                  <a16:creationId xmlns:a16="http://schemas.microsoft.com/office/drawing/2014/main" id="{20E021BD-5487-CA4C-B25F-12FAD41FFF2D}"/>
                </a:ext>
              </a:extLst>
            </p:cNvPr>
            <p:cNvSpPr txBox="1"/>
            <p:nvPr/>
          </p:nvSpPr>
          <p:spPr>
            <a:xfrm>
              <a:off x="6377083" y="1716853"/>
              <a:ext cx="2856259" cy="487799"/>
            </a:xfrm>
            <a:prstGeom prst="rect">
              <a:avLst/>
            </a:prstGeom>
            <a:noFill/>
            <a:ln>
              <a:noFill/>
            </a:ln>
          </p:spPr>
          <p:txBody>
            <a:bodyPr lIns="91425" tIns="91425" rIns="91425" bIns="91425" anchor="t" anchorCtr="0">
              <a:noAutofit/>
            </a:bodyPr>
            <a:lstStyle/>
            <a:p>
              <a:pPr lvl="0" rtl="0">
                <a:spcBef>
                  <a:spcPts val="0"/>
                </a:spcBef>
                <a:buClr>
                  <a:schemeClr val="dk1"/>
                </a:buClr>
                <a:buSzPct val="137500"/>
                <a:buFont typeface="Arial"/>
                <a:buNone/>
              </a:pPr>
              <a:r>
                <a:rPr lang="en" dirty="0">
                  <a:solidFill>
                    <a:schemeClr val="bg1"/>
                  </a:solidFill>
                  <a:latin typeface="Exo" panose="02000503000000000000" pitchFamily="2" charset="77"/>
                  <a:ea typeface="Roboto"/>
                  <a:cs typeface="Roboto"/>
                  <a:sym typeface="Roboto"/>
                </a:rPr>
                <a:t>Lorem ipsum dolor sit </a:t>
              </a:r>
              <a:r>
                <a:rPr lang="en" dirty="0" err="1">
                  <a:solidFill>
                    <a:schemeClr val="bg1"/>
                  </a:solidFill>
                  <a:latin typeface="Exo" panose="02000503000000000000" pitchFamily="2" charset="77"/>
                  <a:ea typeface="Roboto"/>
                  <a:cs typeface="Roboto"/>
                  <a:sym typeface="Roboto"/>
                </a:rPr>
                <a:t>amet</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consectetur</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adipiscing</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elit</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Nulla</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dapibus</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nunc</a:t>
              </a:r>
              <a:r>
                <a:rPr lang="en" dirty="0">
                  <a:solidFill>
                    <a:schemeClr val="bg1"/>
                  </a:solidFill>
                  <a:latin typeface="Exo" panose="02000503000000000000" pitchFamily="2" charset="77"/>
                  <a:ea typeface="Roboto"/>
                  <a:cs typeface="Roboto"/>
                  <a:sym typeface="Roboto"/>
                </a:rPr>
                <a:t> vitae </a:t>
              </a:r>
              <a:r>
                <a:rPr lang="en" dirty="0" err="1">
                  <a:solidFill>
                    <a:schemeClr val="bg1"/>
                  </a:solidFill>
                  <a:latin typeface="Exo" panose="02000503000000000000" pitchFamily="2" charset="77"/>
                  <a:ea typeface="Roboto"/>
                  <a:cs typeface="Roboto"/>
                  <a:sym typeface="Roboto"/>
                </a:rPr>
                <a:t>velit</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ornare</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pretium</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mauris</a:t>
              </a:r>
              <a:r>
                <a:rPr lang="en" dirty="0">
                  <a:solidFill>
                    <a:schemeClr val="bg1"/>
                  </a:solidFill>
                  <a:latin typeface="Exo" panose="02000503000000000000" pitchFamily="2" charset="77"/>
                  <a:ea typeface="Roboto"/>
                  <a:cs typeface="Roboto"/>
                  <a:sym typeface="Roboto"/>
                </a:rPr>
                <a:t>, in </a:t>
              </a:r>
              <a:r>
                <a:rPr lang="en" dirty="0" err="1">
                  <a:solidFill>
                    <a:schemeClr val="bg1"/>
                  </a:solidFill>
                  <a:latin typeface="Exo" panose="02000503000000000000" pitchFamily="2" charset="77"/>
                  <a:ea typeface="Roboto"/>
                  <a:cs typeface="Roboto"/>
                  <a:sym typeface="Roboto"/>
                </a:rPr>
                <a:t>elementum</a:t>
              </a:r>
              <a:r>
                <a:rPr lang="en" dirty="0">
                  <a:solidFill>
                    <a:schemeClr val="bg1"/>
                  </a:solidFill>
                  <a:latin typeface="Exo" panose="02000503000000000000" pitchFamily="2" charset="77"/>
                  <a:ea typeface="Roboto"/>
                  <a:cs typeface="Roboto"/>
                  <a:sym typeface="Roboto"/>
                </a:rPr>
                <a:t>.</a:t>
              </a:r>
            </a:p>
            <a:p>
              <a:pPr>
                <a:spcBef>
                  <a:spcPts val="0"/>
                </a:spcBef>
                <a:buNone/>
              </a:pPr>
              <a:endParaRPr sz="800" dirty="0">
                <a:solidFill>
                  <a:schemeClr val="bg1"/>
                </a:solidFill>
                <a:latin typeface="Roboto"/>
                <a:ea typeface="Roboto"/>
                <a:cs typeface="Roboto"/>
                <a:sym typeface="Roboto"/>
              </a:endParaRPr>
            </a:p>
          </p:txBody>
        </p:sp>
      </p:grpSp>
      <p:grpSp>
        <p:nvGrpSpPr>
          <p:cNvPr id="66" name="Shape 818">
            <a:extLst>
              <a:ext uri="{FF2B5EF4-FFF2-40B4-BE49-F238E27FC236}">
                <a16:creationId xmlns:a16="http://schemas.microsoft.com/office/drawing/2014/main" id="{9EE5B41A-1526-144C-861A-CB629F714D73}"/>
              </a:ext>
            </a:extLst>
          </p:cNvPr>
          <p:cNvGrpSpPr/>
          <p:nvPr/>
        </p:nvGrpSpPr>
        <p:grpSpPr>
          <a:xfrm>
            <a:off x="1807217" y="2560808"/>
            <a:ext cx="6630869" cy="840693"/>
            <a:chOff x="6377083" y="1363959"/>
            <a:chExt cx="2856259" cy="840693"/>
          </a:xfrm>
        </p:grpSpPr>
        <p:sp>
          <p:nvSpPr>
            <p:cNvPr id="67" name="Shape 819">
              <a:extLst>
                <a:ext uri="{FF2B5EF4-FFF2-40B4-BE49-F238E27FC236}">
                  <a16:creationId xmlns:a16="http://schemas.microsoft.com/office/drawing/2014/main" id="{939FA40A-142D-0542-B25A-5F98C63D491B}"/>
                </a:ext>
              </a:extLst>
            </p:cNvPr>
            <p:cNvSpPr txBox="1"/>
            <p:nvPr/>
          </p:nvSpPr>
          <p:spPr>
            <a:xfrm>
              <a:off x="6377083" y="1363959"/>
              <a:ext cx="2751600" cy="365399"/>
            </a:xfrm>
            <a:prstGeom prst="rect">
              <a:avLst/>
            </a:prstGeom>
            <a:noFill/>
            <a:ln>
              <a:noFill/>
            </a:ln>
          </p:spPr>
          <p:txBody>
            <a:bodyPr lIns="91425" tIns="91425" rIns="91425" bIns="91425" anchor="t" anchorCtr="0">
              <a:noAutofit/>
            </a:bodyPr>
            <a:lstStyle/>
            <a:p>
              <a:pPr lvl="0" rtl="0">
                <a:lnSpc>
                  <a:spcPct val="115000"/>
                </a:lnSpc>
                <a:spcBef>
                  <a:spcPts val="0"/>
                </a:spcBef>
                <a:buClr>
                  <a:schemeClr val="dk1"/>
                </a:buClr>
                <a:buSzPct val="78571"/>
                <a:buFont typeface="Arial"/>
                <a:buNone/>
              </a:pPr>
              <a:r>
                <a:rPr lang="en" sz="1800" b="1" dirty="0" err="1">
                  <a:solidFill>
                    <a:schemeClr val="bg1"/>
                  </a:solidFill>
                  <a:latin typeface="Exo" panose="02000503000000000000" pitchFamily="2" charset="77"/>
                  <a:ea typeface="Roboto Slab"/>
                  <a:cs typeface="Roboto Slab"/>
                  <a:sym typeface="Roboto Slab"/>
                </a:rPr>
                <a:t>Generazione</a:t>
              </a:r>
              <a:r>
                <a:rPr lang="en" sz="1800" b="1" dirty="0">
                  <a:solidFill>
                    <a:schemeClr val="bg1"/>
                  </a:solidFill>
                  <a:latin typeface="Exo" panose="02000503000000000000" pitchFamily="2" charset="77"/>
                  <a:ea typeface="Roboto Slab"/>
                  <a:cs typeface="Roboto Slab"/>
                  <a:sym typeface="Roboto Slab"/>
                </a:rPr>
                <a:t> Z</a:t>
              </a:r>
            </a:p>
            <a:p>
              <a:pPr lvl="0" rtl="0">
                <a:lnSpc>
                  <a:spcPct val="115000"/>
                </a:lnSpc>
                <a:spcBef>
                  <a:spcPts val="0"/>
                </a:spcBef>
                <a:buClr>
                  <a:schemeClr val="dk1"/>
                </a:buClr>
                <a:buFont typeface="Arial"/>
                <a:buNone/>
              </a:pPr>
              <a:endParaRPr sz="1800" dirty="0">
                <a:solidFill>
                  <a:schemeClr val="bg1"/>
                </a:solidFill>
                <a:latin typeface="Roboto Slab"/>
                <a:ea typeface="Roboto Slab"/>
                <a:cs typeface="Roboto Slab"/>
                <a:sym typeface="Roboto Slab"/>
              </a:endParaRPr>
            </a:p>
            <a:p>
              <a:pPr lvl="0" rtl="0">
                <a:lnSpc>
                  <a:spcPct val="115000"/>
                </a:lnSpc>
                <a:spcBef>
                  <a:spcPts val="0"/>
                </a:spcBef>
                <a:buNone/>
              </a:pPr>
              <a:endParaRPr sz="1800" dirty="0">
                <a:solidFill>
                  <a:schemeClr val="bg1"/>
                </a:solidFill>
                <a:latin typeface="Roboto Slab"/>
                <a:ea typeface="Roboto Slab"/>
                <a:cs typeface="Roboto Slab"/>
                <a:sym typeface="Roboto Slab"/>
              </a:endParaRPr>
            </a:p>
            <a:p>
              <a:pPr lvl="0" rtl="0">
                <a:spcBef>
                  <a:spcPts val="0"/>
                </a:spcBef>
                <a:buNone/>
              </a:pPr>
              <a:endParaRPr sz="1800" dirty="0">
                <a:solidFill>
                  <a:schemeClr val="bg1"/>
                </a:solidFill>
                <a:latin typeface="Roboto Slab"/>
                <a:ea typeface="Roboto Slab"/>
                <a:cs typeface="Roboto Slab"/>
                <a:sym typeface="Roboto Slab"/>
              </a:endParaRPr>
            </a:p>
          </p:txBody>
        </p:sp>
        <p:sp>
          <p:nvSpPr>
            <p:cNvPr id="68" name="Shape 820">
              <a:extLst>
                <a:ext uri="{FF2B5EF4-FFF2-40B4-BE49-F238E27FC236}">
                  <a16:creationId xmlns:a16="http://schemas.microsoft.com/office/drawing/2014/main" id="{34EF5917-EA4B-9640-A751-EC646D138B72}"/>
                </a:ext>
              </a:extLst>
            </p:cNvPr>
            <p:cNvSpPr txBox="1"/>
            <p:nvPr/>
          </p:nvSpPr>
          <p:spPr>
            <a:xfrm>
              <a:off x="6377083" y="1716853"/>
              <a:ext cx="2856259" cy="487799"/>
            </a:xfrm>
            <a:prstGeom prst="rect">
              <a:avLst/>
            </a:prstGeom>
            <a:noFill/>
            <a:ln>
              <a:noFill/>
            </a:ln>
          </p:spPr>
          <p:txBody>
            <a:bodyPr lIns="91425" tIns="91425" rIns="91425" bIns="91425" anchor="t" anchorCtr="0">
              <a:noAutofit/>
            </a:bodyPr>
            <a:lstStyle/>
            <a:p>
              <a:pPr lvl="0" rtl="0">
                <a:spcBef>
                  <a:spcPts val="0"/>
                </a:spcBef>
                <a:buClr>
                  <a:schemeClr val="dk1"/>
                </a:buClr>
                <a:buSzPct val="137500"/>
                <a:buFont typeface="Arial"/>
                <a:buNone/>
              </a:pPr>
              <a:r>
                <a:rPr lang="en" dirty="0">
                  <a:solidFill>
                    <a:schemeClr val="bg1"/>
                  </a:solidFill>
                  <a:latin typeface="Exo" panose="02000503000000000000" pitchFamily="2" charset="77"/>
                  <a:ea typeface="Roboto"/>
                  <a:cs typeface="Roboto"/>
                  <a:sym typeface="Roboto"/>
                </a:rPr>
                <a:t>Lorem ipsum dolor sit </a:t>
              </a:r>
              <a:r>
                <a:rPr lang="en" dirty="0" err="1">
                  <a:solidFill>
                    <a:schemeClr val="bg1"/>
                  </a:solidFill>
                  <a:latin typeface="Exo" panose="02000503000000000000" pitchFamily="2" charset="77"/>
                  <a:ea typeface="Roboto"/>
                  <a:cs typeface="Roboto"/>
                  <a:sym typeface="Roboto"/>
                </a:rPr>
                <a:t>amet</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consectetur</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adipiscing</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elit</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Nulla</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dapibus</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nunc</a:t>
              </a:r>
              <a:r>
                <a:rPr lang="en" dirty="0">
                  <a:solidFill>
                    <a:schemeClr val="bg1"/>
                  </a:solidFill>
                  <a:latin typeface="Exo" panose="02000503000000000000" pitchFamily="2" charset="77"/>
                  <a:ea typeface="Roboto"/>
                  <a:cs typeface="Roboto"/>
                  <a:sym typeface="Roboto"/>
                </a:rPr>
                <a:t> vitae </a:t>
              </a:r>
              <a:r>
                <a:rPr lang="en" dirty="0" err="1">
                  <a:solidFill>
                    <a:schemeClr val="bg1"/>
                  </a:solidFill>
                  <a:latin typeface="Exo" panose="02000503000000000000" pitchFamily="2" charset="77"/>
                  <a:ea typeface="Roboto"/>
                  <a:cs typeface="Roboto"/>
                  <a:sym typeface="Roboto"/>
                </a:rPr>
                <a:t>velit</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ornare</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pretium</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mauris</a:t>
              </a:r>
              <a:r>
                <a:rPr lang="en" dirty="0">
                  <a:solidFill>
                    <a:schemeClr val="bg1"/>
                  </a:solidFill>
                  <a:latin typeface="Exo" panose="02000503000000000000" pitchFamily="2" charset="77"/>
                  <a:ea typeface="Roboto"/>
                  <a:cs typeface="Roboto"/>
                  <a:sym typeface="Roboto"/>
                </a:rPr>
                <a:t>, in </a:t>
              </a:r>
              <a:r>
                <a:rPr lang="en" dirty="0" err="1">
                  <a:solidFill>
                    <a:schemeClr val="bg1"/>
                  </a:solidFill>
                  <a:latin typeface="Exo" panose="02000503000000000000" pitchFamily="2" charset="77"/>
                  <a:ea typeface="Roboto"/>
                  <a:cs typeface="Roboto"/>
                  <a:sym typeface="Roboto"/>
                </a:rPr>
                <a:t>elementum</a:t>
              </a:r>
              <a:r>
                <a:rPr lang="en" dirty="0">
                  <a:solidFill>
                    <a:schemeClr val="bg1"/>
                  </a:solidFill>
                  <a:latin typeface="Exo" panose="02000503000000000000" pitchFamily="2" charset="77"/>
                  <a:ea typeface="Roboto"/>
                  <a:cs typeface="Roboto"/>
                  <a:sym typeface="Roboto"/>
                </a:rPr>
                <a:t>.</a:t>
              </a:r>
            </a:p>
            <a:p>
              <a:pPr>
                <a:spcBef>
                  <a:spcPts val="0"/>
                </a:spcBef>
                <a:buNone/>
              </a:pPr>
              <a:endParaRPr sz="800" dirty="0">
                <a:solidFill>
                  <a:schemeClr val="bg1"/>
                </a:solidFill>
                <a:latin typeface="Roboto"/>
                <a:ea typeface="Roboto"/>
                <a:cs typeface="Roboto"/>
                <a:sym typeface="Roboto"/>
              </a:endParaRPr>
            </a:p>
          </p:txBody>
        </p:sp>
      </p:grpSp>
      <p:grpSp>
        <p:nvGrpSpPr>
          <p:cNvPr id="69" name="Shape 818">
            <a:extLst>
              <a:ext uri="{FF2B5EF4-FFF2-40B4-BE49-F238E27FC236}">
                <a16:creationId xmlns:a16="http://schemas.microsoft.com/office/drawing/2014/main" id="{02865E4C-118B-3E4F-9D24-C786D9CF0843}"/>
              </a:ext>
            </a:extLst>
          </p:cNvPr>
          <p:cNvGrpSpPr/>
          <p:nvPr/>
        </p:nvGrpSpPr>
        <p:grpSpPr>
          <a:xfrm>
            <a:off x="1807217" y="3814419"/>
            <a:ext cx="6630869" cy="840693"/>
            <a:chOff x="6377083" y="1363959"/>
            <a:chExt cx="2856259" cy="840693"/>
          </a:xfrm>
        </p:grpSpPr>
        <p:sp>
          <p:nvSpPr>
            <p:cNvPr id="70" name="Shape 819">
              <a:extLst>
                <a:ext uri="{FF2B5EF4-FFF2-40B4-BE49-F238E27FC236}">
                  <a16:creationId xmlns:a16="http://schemas.microsoft.com/office/drawing/2014/main" id="{DDB5DBFF-B868-3844-B1C1-A9B8EB267AA5}"/>
                </a:ext>
              </a:extLst>
            </p:cNvPr>
            <p:cNvSpPr txBox="1"/>
            <p:nvPr/>
          </p:nvSpPr>
          <p:spPr>
            <a:xfrm>
              <a:off x="6377083" y="1363959"/>
              <a:ext cx="2751600" cy="365399"/>
            </a:xfrm>
            <a:prstGeom prst="rect">
              <a:avLst/>
            </a:prstGeom>
            <a:noFill/>
            <a:ln>
              <a:noFill/>
            </a:ln>
          </p:spPr>
          <p:txBody>
            <a:bodyPr lIns="91425" tIns="91425" rIns="91425" bIns="91425" anchor="t" anchorCtr="0">
              <a:noAutofit/>
            </a:bodyPr>
            <a:lstStyle/>
            <a:p>
              <a:pPr lvl="0" rtl="0">
                <a:lnSpc>
                  <a:spcPct val="115000"/>
                </a:lnSpc>
                <a:spcBef>
                  <a:spcPts val="0"/>
                </a:spcBef>
                <a:buClr>
                  <a:schemeClr val="dk1"/>
                </a:buClr>
                <a:buSzPct val="78571"/>
                <a:buFont typeface="Arial"/>
                <a:buNone/>
              </a:pPr>
              <a:r>
                <a:rPr lang="en" sz="1800" b="1" dirty="0" err="1">
                  <a:solidFill>
                    <a:schemeClr val="bg1"/>
                  </a:solidFill>
                  <a:latin typeface="Exo" panose="02000503000000000000" pitchFamily="2" charset="77"/>
                  <a:ea typeface="Roboto Slab"/>
                  <a:cs typeface="Roboto Slab"/>
                  <a:sym typeface="Roboto Slab"/>
                </a:rPr>
                <a:t>Generazione</a:t>
              </a:r>
              <a:r>
                <a:rPr lang="en" sz="1800" b="1" dirty="0">
                  <a:solidFill>
                    <a:schemeClr val="bg1"/>
                  </a:solidFill>
                  <a:latin typeface="Exo" panose="02000503000000000000" pitchFamily="2" charset="77"/>
                  <a:ea typeface="Roboto Slab"/>
                  <a:cs typeface="Roboto Slab"/>
                  <a:sym typeface="Roboto Slab"/>
                </a:rPr>
                <a:t> Z</a:t>
              </a:r>
            </a:p>
            <a:p>
              <a:pPr lvl="0" rtl="0">
                <a:lnSpc>
                  <a:spcPct val="115000"/>
                </a:lnSpc>
                <a:spcBef>
                  <a:spcPts val="0"/>
                </a:spcBef>
                <a:buClr>
                  <a:schemeClr val="dk1"/>
                </a:buClr>
                <a:buFont typeface="Arial"/>
                <a:buNone/>
              </a:pPr>
              <a:endParaRPr sz="1800" dirty="0">
                <a:solidFill>
                  <a:schemeClr val="bg1"/>
                </a:solidFill>
                <a:latin typeface="Roboto Slab"/>
                <a:ea typeface="Roboto Slab"/>
                <a:cs typeface="Roboto Slab"/>
                <a:sym typeface="Roboto Slab"/>
              </a:endParaRPr>
            </a:p>
            <a:p>
              <a:pPr lvl="0" rtl="0">
                <a:lnSpc>
                  <a:spcPct val="115000"/>
                </a:lnSpc>
                <a:spcBef>
                  <a:spcPts val="0"/>
                </a:spcBef>
                <a:buNone/>
              </a:pPr>
              <a:endParaRPr sz="1800" dirty="0">
                <a:solidFill>
                  <a:schemeClr val="bg1"/>
                </a:solidFill>
                <a:latin typeface="Roboto Slab"/>
                <a:ea typeface="Roboto Slab"/>
                <a:cs typeface="Roboto Slab"/>
                <a:sym typeface="Roboto Slab"/>
              </a:endParaRPr>
            </a:p>
            <a:p>
              <a:pPr lvl="0" rtl="0">
                <a:spcBef>
                  <a:spcPts val="0"/>
                </a:spcBef>
                <a:buNone/>
              </a:pPr>
              <a:endParaRPr sz="1800" dirty="0">
                <a:solidFill>
                  <a:schemeClr val="bg1"/>
                </a:solidFill>
                <a:latin typeface="Roboto Slab"/>
                <a:ea typeface="Roboto Slab"/>
                <a:cs typeface="Roboto Slab"/>
                <a:sym typeface="Roboto Slab"/>
              </a:endParaRPr>
            </a:p>
          </p:txBody>
        </p:sp>
        <p:sp>
          <p:nvSpPr>
            <p:cNvPr id="71" name="Shape 820">
              <a:extLst>
                <a:ext uri="{FF2B5EF4-FFF2-40B4-BE49-F238E27FC236}">
                  <a16:creationId xmlns:a16="http://schemas.microsoft.com/office/drawing/2014/main" id="{63F234DB-0829-F144-B7C2-7CD3193A6F13}"/>
                </a:ext>
              </a:extLst>
            </p:cNvPr>
            <p:cNvSpPr txBox="1"/>
            <p:nvPr/>
          </p:nvSpPr>
          <p:spPr>
            <a:xfrm>
              <a:off x="6377083" y="1716853"/>
              <a:ext cx="2856259" cy="487799"/>
            </a:xfrm>
            <a:prstGeom prst="rect">
              <a:avLst/>
            </a:prstGeom>
            <a:noFill/>
            <a:ln>
              <a:noFill/>
            </a:ln>
          </p:spPr>
          <p:txBody>
            <a:bodyPr lIns="91425" tIns="91425" rIns="91425" bIns="91425" anchor="t" anchorCtr="0">
              <a:noAutofit/>
            </a:bodyPr>
            <a:lstStyle/>
            <a:p>
              <a:pPr lvl="0" rtl="0">
                <a:spcBef>
                  <a:spcPts val="0"/>
                </a:spcBef>
                <a:buClr>
                  <a:schemeClr val="dk1"/>
                </a:buClr>
                <a:buSzPct val="137500"/>
                <a:buFont typeface="Arial"/>
                <a:buNone/>
              </a:pPr>
              <a:r>
                <a:rPr lang="en" dirty="0">
                  <a:solidFill>
                    <a:schemeClr val="bg1"/>
                  </a:solidFill>
                  <a:latin typeface="Exo" panose="02000503000000000000" pitchFamily="2" charset="77"/>
                  <a:ea typeface="Roboto"/>
                  <a:cs typeface="Roboto"/>
                  <a:sym typeface="Roboto"/>
                </a:rPr>
                <a:t>Lorem ipsum dolor sit </a:t>
              </a:r>
              <a:r>
                <a:rPr lang="en" dirty="0" err="1">
                  <a:solidFill>
                    <a:schemeClr val="bg1"/>
                  </a:solidFill>
                  <a:latin typeface="Exo" panose="02000503000000000000" pitchFamily="2" charset="77"/>
                  <a:ea typeface="Roboto"/>
                  <a:cs typeface="Roboto"/>
                  <a:sym typeface="Roboto"/>
                </a:rPr>
                <a:t>amet</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consectetur</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adipiscing</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elit</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Nulla</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dapibus</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nunc</a:t>
              </a:r>
              <a:r>
                <a:rPr lang="en" dirty="0">
                  <a:solidFill>
                    <a:schemeClr val="bg1"/>
                  </a:solidFill>
                  <a:latin typeface="Exo" panose="02000503000000000000" pitchFamily="2" charset="77"/>
                  <a:ea typeface="Roboto"/>
                  <a:cs typeface="Roboto"/>
                  <a:sym typeface="Roboto"/>
                </a:rPr>
                <a:t> vitae </a:t>
              </a:r>
              <a:r>
                <a:rPr lang="en" dirty="0" err="1">
                  <a:solidFill>
                    <a:schemeClr val="bg1"/>
                  </a:solidFill>
                  <a:latin typeface="Exo" panose="02000503000000000000" pitchFamily="2" charset="77"/>
                  <a:ea typeface="Roboto"/>
                  <a:cs typeface="Roboto"/>
                  <a:sym typeface="Roboto"/>
                </a:rPr>
                <a:t>velit</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ornare</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pretium</a:t>
              </a:r>
              <a:r>
                <a:rPr lang="en" dirty="0">
                  <a:solidFill>
                    <a:schemeClr val="bg1"/>
                  </a:solidFill>
                  <a:latin typeface="Exo" panose="02000503000000000000" pitchFamily="2" charset="77"/>
                  <a:ea typeface="Roboto"/>
                  <a:cs typeface="Roboto"/>
                  <a:sym typeface="Roboto"/>
                </a:rPr>
                <a:t> </a:t>
              </a:r>
              <a:r>
                <a:rPr lang="en" dirty="0" err="1">
                  <a:solidFill>
                    <a:schemeClr val="bg1"/>
                  </a:solidFill>
                  <a:latin typeface="Exo" panose="02000503000000000000" pitchFamily="2" charset="77"/>
                  <a:ea typeface="Roboto"/>
                  <a:cs typeface="Roboto"/>
                  <a:sym typeface="Roboto"/>
                </a:rPr>
                <a:t>mauris</a:t>
              </a:r>
              <a:r>
                <a:rPr lang="en" dirty="0">
                  <a:solidFill>
                    <a:schemeClr val="bg1"/>
                  </a:solidFill>
                  <a:latin typeface="Exo" panose="02000503000000000000" pitchFamily="2" charset="77"/>
                  <a:ea typeface="Roboto"/>
                  <a:cs typeface="Roboto"/>
                  <a:sym typeface="Roboto"/>
                </a:rPr>
                <a:t>, in </a:t>
              </a:r>
              <a:r>
                <a:rPr lang="en" dirty="0" err="1">
                  <a:solidFill>
                    <a:schemeClr val="bg1"/>
                  </a:solidFill>
                  <a:latin typeface="Exo" panose="02000503000000000000" pitchFamily="2" charset="77"/>
                  <a:ea typeface="Roboto"/>
                  <a:cs typeface="Roboto"/>
                  <a:sym typeface="Roboto"/>
                </a:rPr>
                <a:t>elementum</a:t>
              </a:r>
              <a:r>
                <a:rPr lang="en" dirty="0">
                  <a:solidFill>
                    <a:schemeClr val="bg1"/>
                  </a:solidFill>
                  <a:latin typeface="Exo" panose="02000503000000000000" pitchFamily="2" charset="77"/>
                  <a:ea typeface="Roboto"/>
                  <a:cs typeface="Roboto"/>
                  <a:sym typeface="Roboto"/>
                </a:rPr>
                <a:t>.</a:t>
              </a:r>
            </a:p>
            <a:p>
              <a:pPr>
                <a:spcBef>
                  <a:spcPts val="0"/>
                </a:spcBef>
                <a:buNone/>
              </a:pPr>
              <a:endParaRPr sz="800" dirty="0">
                <a:solidFill>
                  <a:schemeClr val="bg1"/>
                </a:solidFill>
                <a:latin typeface="Roboto"/>
                <a:ea typeface="Roboto"/>
                <a:cs typeface="Roboto"/>
                <a:sym typeface="Roboto"/>
              </a:endParaRPr>
            </a:p>
          </p:txBody>
        </p:sp>
      </p:grpSp>
      <p:sp>
        <p:nvSpPr>
          <p:cNvPr id="12" name="Rettangolo 11">
            <a:extLst>
              <a:ext uri="{FF2B5EF4-FFF2-40B4-BE49-F238E27FC236}">
                <a16:creationId xmlns:a16="http://schemas.microsoft.com/office/drawing/2014/main" id="{3592D032-660C-4766-81A8-D287F2E025AD}"/>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3079" name="Shape 3079"/>
          <p:cNvPicPr preferRelativeResize="0"/>
          <p:nvPr/>
        </p:nvPicPr>
        <p:blipFill>
          <a:blip r:embed="rId3">
            <a:alphaModFix/>
          </a:blip>
          <a:stretch>
            <a:fillRect/>
          </a:stretch>
        </p:blipFill>
        <p:spPr>
          <a:xfrm>
            <a:off x="-84000" y="175455"/>
            <a:ext cx="9291700" cy="788900"/>
          </a:xfrm>
          <a:prstGeom prst="rect">
            <a:avLst/>
          </a:prstGeom>
          <a:noFill/>
          <a:ln>
            <a:noFill/>
          </a:ln>
        </p:spPr>
      </p:pic>
      <p:cxnSp>
        <p:nvCxnSpPr>
          <p:cNvPr id="3084" name="Shape 3084"/>
          <p:cNvCxnSpPr/>
          <p:nvPr/>
        </p:nvCxnSpPr>
        <p:spPr>
          <a:xfrm>
            <a:off x="573375" y="1162518"/>
            <a:ext cx="8083200" cy="0"/>
          </a:xfrm>
          <a:prstGeom prst="straightConnector1">
            <a:avLst/>
          </a:prstGeom>
          <a:noFill/>
          <a:ln w="9525" cap="flat" cmpd="sng">
            <a:noFill/>
            <a:prstDash val="solid"/>
            <a:round/>
            <a:headEnd type="none" w="lg" len="lg"/>
            <a:tailEnd type="none" w="lg" len="lg"/>
          </a:ln>
        </p:spPr>
      </p:cxnSp>
      <p:pic>
        <p:nvPicPr>
          <p:cNvPr id="11" name="Immagine 10">
            <a:extLst>
              <a:ext uri="{FF2B5EF4-FFF2-40B4-BE49-F238E27FC236}">
                <a16:creationId xmlns:a16="http://schemas.microsoft.com/office/drawing/2014/main" id="{FE64DD48-9387-4EF0-8DF2-B40A6C0C4B2A}"/>
              </a:ext>
            </a:extLst>
          </p:cNvPr>
          <p:cNvPicPr>
            <a:picLocks noChangeAspect="1"/>
          </p:cNvPicPr>
          <p:nvPr/>
        </p:nvPicPr>
        <p:blipFill rotWithShape="1">
          <a:blip r:embed="rId4"/>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082" name="Shape 3082"/>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it-IT" sz="1200" b="1" dirty="0">
                <a:solidFill>
                  <a:schemeClr val="accent3"/>
                </a:solidFill>
                <a:latin typeface="Exo" panose="02000503000000000000" pitchFamily="2" charset="77"/>
                <a:ea typeface="Roboto Slab"/>
                <a:cs typeface="Roboto Slab"/>
                <a:sym typeface="Roboto Slab"/>
              </a:rPr>
              <a:t>Chi Siamo</a:t>
            </a:r>
            <a:endParaRPr lang="en" sz="1200" b="1" dirty="0">
              <a:solidFill>
                <a:schemeClr val="accent3"/>
              </a:solidFill>
              <a:latin typeface="Exo" panose="02000503000000000000" pitchFamily="2" charset="77"/>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rtl="0">
              <a:spcBef>
                <a:spcPts val="0"/>
              </a:spcBef>
              <a:buNone/>
            </a:pPr>
            <a:endParaRPr sz="1200" dirty="0"/>
          </a:p>
        </p:txBody>
      </p:sp>
      <p:grpSp>
        <p:nvGrpSpPr>
          <p:cNvPr id="13" name="Shape 806">
            <a:extLst>
              <a:ext uri="{FF2B5EF4-FFF2-40B4-BE49-F238E27FC236}">
                <a16:creationId xmlns:a16="http://schemas.microsoft.com/office/drawing/2014/main" id="{3B615223-A9F6-9946-8618-F48392632950}"/>
              </a:ext>
            </a:extLst>
          </p:cNvPr>
          <p:cNvGrpSpPr/>
          <p:nvPr/>
        </p:nvGrpSpPr>
        <p:grpSpPr>
          <a:xfrm>
            <a:off x="891301" y="1315302"/>
            <a:ext cx="883960" cy="973897"/>
            <a:chOff x="5447984" y="1333479"/>
            <a:chExt cx="883960" cy="973897"/>
          </a:xfrm>
        </p:grpSpPr>
        <p:grpSp>
          <p:nvGrpSpPr>
            <p:cNvPr id="14" name="Shape 807">
              <a:extLst>
                <a:ext uri="{FF2B5EF4-FFF2-40B4-BE49-F238E27FC236}">
                  <a16:creationId xmlns:a16="http://schemas.microsoft.com/office/drawing/2014/main" id="{8CCB9F1B-985B-3948-892E-0EBA1FBC9424}"/>
                </a:ext>
              </a:extLst>
            </p:cNvPr>
            <p:cNvGrpSpPr/>
            <p:nvPr/>
          </p:nvGrpSpPr>
          <p:grpSpPr>
            <a:xfrm>
              <a:off x="5447984" y="1340882"/>
              <a:ext cx="877678" cy="966495"/>
              <a:chOff x="1649600" y="1217575"/>
              <a:chExt cx="995099" cy="1095799"/>
            </a:xfrm>
          </p:grpSpPr>
          <p:sp>
            <p:nvSpPr>
              <p:cNvPr id="17" name="Shape 808">
                <a:extLst>
                  <a:ext uri="{FF2B5EF4-FFF2-40B4-BE49-F238E27FC236}">
                    <a16:creationId xmlns:a16="http://schemas.microsoft.com/office/drawing/2014/main" id="{8E5C8FF5-FEBB-D24A-8156-9BA32830A417}"/>
                  </a:ext>
                </a:extLst>
              </p:cNvPr>
              <p:cNvSpPr/>
              <p:nvPr/>
            </p:nvSpPr>
            <p:spPr>
              <a:xfrm>
                <a:off x="1649600" y="1318275"/>
                <a:ext cx="995099" cy="995099"/>
              </a:xfrm>
              <a:prstGeom prst="roundRect">
                <a:avLst>
                  <a:gd name="adj" fmla="val 16667"/>
                </a:avLst>
              </a:prstGeom>
              <a:solidFill>
                <a:srgbClr val="89AEB0"/>
              </a:solidFill>
              <a:ln>
                <a:noFill/>
              </a:ln>
            </p:spPr>
            <p:txBody>
              <a:bodyPr lIns="91425" tIns="91425" rIns="91425" bIns="91425" anchor="ctr" anchorCtr="0">
                <a:noAutofit/>
              </a:bodyPr>
              <a:lstStyle/>
              <a:p>
                <a:pPr>
                  <a:spcBef>
                    <a:spcPts val="0"/>
                  </a:spcBef>
                  <a:buNone/>
                </a:pPr>
                <a:endParaRPr>
                  <a:solidFill>
                    <a:schemeClr val="bg1"/>
                  </a:solidFill>
                </a:endParaRPr>
              </a:p>
            </p:txBody>
          </p:sp>
          <p:sp>
            <p:nvSpPr>
              <p:cNvPr id="18" name="Shape 809">
                <a:extLst>
                  <a:ext uri="{FF2B5EF4-FFF2-40B4-BE49-F238E27FC236}">
                    <a16:creationId xmlns:a16="http://schemas.microsoft.com/office/drawing/2014/main" id="{CA08846F-5C61-E242-92C1-4B63D919CF70}"/>
                  </a:ext>
                </a:extLst>
              </p:cNvPr>
              <p:cNvSpPr/>
              <p:nvPr/>
            </p:nvSpPr>
            <p:spPr>
              <a:xfrm>
                <a:off x="1649600" y="1217575"/>
                <a:ext cx="995099" cy="995099"/>
              </a:xfrm>
              <a:prstGeom prst="roundRect">
                <a:avLst>
                  <a:gd name="adj" fmla="val 16667"/>
                </a:avLst>
              </a:prstGeom>
              <a:solidFill>
                <a:srgbClr val="A8D5D7"/>
              </a:solidFill>
              <a:ln>
                <a:noFill/>
              </a:ln>
            </p:spPr>
            <p:txBody>
              <a:bodyPr lIns="91425" tIns="91425" rIns="91425" bIns="91425" anchor="ctr" anchorCtr="0">
                <a:noAutofit/>
              </a:bodyPr>
              <a:lstStyle/>
              <a:p>
                <a:pPr>
                  <a:spcBef>
                    <a:spcPts val="0"/>
                  </a:spcBef>
                  <a:buNone/>
                </a:pPr>
                <a:endParaRPr>
                  <a:solidFill>
                    <a:schemeClr val="bg1"/>
                  </a:solidFill>
                </a:endParaRPr>
              </a:p>
            </p:txBody>
          </p:sp>
        </p:grpSp>
        <p:pic>
          <p:nvPicPr>
            <p:cNvPr id="15" name="Shape 810">
              <a:extLst>
                <a:ext uri="{FF2B5EF4-FFF2-40B4-BE49-F238E27FC236}">
                  <a16:creationId xmlns:a16="http://schemas.microsoft.com/office/drawing/2014/main" id="{3D1F3CAF-2E74-E742-99C3-DE4A91463656}"/>
                </a:ext>
              </a:extLst>
            </p:cNvPr>
            <p:cNvPicPr preferRelativeResize="0"/>
            <p:nvPr/>
          </p:nvPicPr>
          <p:blipFill>
            <a:blip r:embed="rId5">
              <a:alphaModFix/>
            </a:blip>
            <a:stretch>
              <a:fillRect/>
            </a:stretch>
          </p:blipFill>
          <p:spPr>
            <a:xfrm>
              <a:off x="5492382" y="1333479"/>
              <a:ext cx="788899" cy="788899"/>
            </a:xfrm>
            <a:prstGeom prst="rect">
              <a:avLst/>
            </a:prstGeom>
            <a:noFill/>
            <a:ln>
              <a:noFill/>
            </a:ln>
          </p:spPr>
        </p:pic>
        <p:sp>
          <p:nvSpPr>
            <p:cNvPr id="16" name="Shape 811">
              <a:extLst>
                <a:ext uri="{FF2B5EF4-FFF2-40B4-BE49-F238E27FC236}">
                  <a16:creationId xmlns:a16="http://schemas.microsoft.com/office/drawing/2014/main" id="{F9891659-DA55-1C43-AD0D-1FBD83BE8563}"/>
                </a:ext>
              </a:extLst>
            </p:cNvPr>
            <p:cNvSpPr txBox="1"/>
            <p:nvPr/>
          </p:nvSpPr>
          <p:spPr>
            <a:xfrm>
              <a:off x="5454144" y="1844502"/>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dirty="0">
                  <a:solidFill>
                    <a:schemeClr val="bg1"/>
                  </a:solidFill>
                  <a:latin typeface="Exo" panose="02000503000000000000" pitchFamily="2" charset="77"/>
                  <a:ea typeface="Roboto Slab"/>
                  <a:cs typeface="Roboto Slab"/>
                  <a:sym typeface="Roboto Slab"/>
                </a:rPr>
                <a:t>smartness</a:t>
              </a:r>
            </a:p>
          </p:txBody>
        </p:sp>
      </p:grpSp>
      <p:grpSp>
        <p:nvGrpSpPr>
          <p:cNvPr id="19" name="Shape 812">
            <a:extLst>
              <a:ext uri="{FF2B5EF4-FFF2-40B4-BE49-F238E27FC236}">
                <a16:creationId xmlns:a16="http://schemas.microsoft.com/office/drawing/2014/main" id="{145A708F-C002-F747-955C-88A86F7F9B6F}"/>
              </a:ext>
            </a:extLst>
          </p:cNvPr>
          <p:cNvGrpSpPr/>
          <p:nvPr/>
        </p:nvGrpSpPr>
        <p:grpSpPr>
          <a:xfrm>
            <a:off x="890567" y="2473333"/>
            <a:ext cx="879154" cy="1069459"/>
            <a:chOff x="5447250" y="2491510"/>
            <a:chExt cx="879154" cy="1069459"/>
          </a:xfrm>
        </p:grpSpPr>
        <p:grpSp>
          <p:nvGrpSpPr>
            <p:cNvPr id="20" name="Shape 813">
              <a:extLst>
                <a:ext uri="{FF2B5EF4-FFF2-40B4-BE49-F238E27FC236}">
                  <a16:creationId xmlns:a16="http://schemas.microsoft.com/office/drawing/2014/main" id="{ADCF2E69-6FC7-DB45-B019-93BBA1EAA039}"/>
                </a:ext>
              </a:extLst>
            </p:cNvPr>
            <p:cNvGrpSpPr/>
            <p:nvPr/>
          </p:nvGrpSpPr>
          <p:grpSpPr>
            <a:xfrm>
              <a:off x="5448726" y="2594473"/>
              <a:ext cx="877678" cy="966495"/>
              <a:chOff x="846550" y="3039175"/>
              <a:chExt cx="995099" cy="1095799"/>
            </a:xfrm>
          </p:grpSpPr>
          <p:sp>
            <p:nvSpPr>
              <p:cNvPr id="23" name="Shape 814">
                <a:extLst>
                  <a:ext uri="{FF2B5EF4-FFF2-40B4-BE49-F238E27FC236}">
                    <a16:creationId xmlns:a16="http://schemas.microsoft.com/office/drawing/2014/main" id="{60C7E1E7-2E69-9649-A71C-07EFFE82AC4C}"/>
                  </a:ext>
                </a:extLst>
              </p:cNvPr>
              <p:cNvSpPr/>
              <p:nvPr/>
            </p:nvSpPr>
            <p:spPr>
              <a:xfrm>
                <a:off x="846550" y="3139875"/>
                <a:ext cx="995099" cy="995099"/>
              </a:xfrm>
              <a:prstGeom prst="roundRect">
                <a:avLst>
                  <a:gd name="adj" fmla="val 16667"/>
                </a:avLst>
              </a:prstGeom>
              <a:solidFill>
                <a:srgbClr val="C06F63"/>
              </a:solidFill>
              <a:ln>
                <a:noFill/>
              </a:ln>
            </p:spPr>
            <p:txBody>
              <a:bodyPr lIns="91425" tIns="91425" rIns="91425" bIns="91425" anchor="ctr" anchorCtr="0">
                <a:noAutofit/>
              </a:bodyPr>
              <a:lstStyle/>
              <a:p>
                <a:pPr>
                  <a:spcBef>
                    <a:spcPts val="0"/>
                  </a:spcBef>
                  <a:buNone/>
                </a:pPr>
                <a:endParaRPr>
                  <a:solidFill>
                    <a:schemeClr val="bg1"/>
                  </a:solidFill>
                </a:endParaRPr>
              </a:p>
            </p:txBody>
          </p:sp>
          <p:sp>
            <p:nvSpPr>
              <p:cNvPr id="24" name="Shape 815">
                <a:extLst>
                  <a:ext uri="{FF2B5EF4-FFF2-40B4-BE49-F238E27FC236}">
                    <a16:creationId xmlns:a16="http://schemas.microsoft.com/office/drawing/2014/main" id="{5DA2AA45-F4F8-9647-9B9A-4B7E1474F968}"/>
                  </a:ext>
                </a:extLst>
              </p:cNvPr>
              <p:cNvSpPr/>
              <p:nvPr/>
            </p:nvSpPr>
            <p:spPr>
              <a:xfrm>
                <a:off x="846550" y="3039175"/>
                <a:ext cx="995099" cy="995099"/>
              </a:xfrm>
              <a:prstGeom prst="roundRect">
                <a:avLst>
                  <a:gd name="adj" fmla="val 16667"/>
                </a:avLst>
              </a:prstGeom>
              <a:solidFill>
                <a:srgbClr val="F08B7C"/>
              </a:solidFill>
              <a:ln>
                <a:noFill/>
              </a:ln>
            </p:spPr>
            <p:txBody>
              <a:bodyPr lIns="91425" tIns="91425" rIns="91425" bIns="91425" anchor="ctr" anchorCtr="0">
                <a:noAutofit/>
              </a:bodyPr>
              <a:lstStyle/>
              <a:p>
                <a:pPr>
                  <a:spcBef>
                    <a:spcPts val="0"/>
                  </a:spcBef>
                  <a:buNone/>
                </a:pPr>
                <a:endParaRPr>
                  <a:solidFill>
                    <a:schemeClr val="bg1"/>
                  </a:solidFill>
                </a:endParaRPr>
              </a:p>
            </p:txBody>
          </p:sp>
        </p:grpSp>
        <p:pic>
          <p:nvPicPr>
            <p:cNvPr id="21" name="Shape 816">
              <a:extLst>
                <a:ext uri="{FF2B5EF4-FFF2-40B4-BE49-F238E27FC236}">
                  <a16:creationId xmlns:a16="http://schemas.microsoft.com/office/drawing/2014/main" id="{8F5D7E6E-189B-2D49-ABF1-806E7AC58C12}"/>
                </a:ext>
              </a:extLst>
            </p:cNvPr>
            <p:cNvPicPr preferRelativeResize="0"/>
            <p:nvPr/>
          </p:nvPicPr>
          <p:blipFill>
            <a:blip r:embed="rId6">
              <a:alphaModFix/>
            </a:blip>
            <a:stretch>
              <a:fillRect/>
            </a:stretch>
          </p:blipFill>
          <p:spPr>
            <a:xfrm>
              <a:off x="5455157" y="2491510"/>
              <a:ext cx="864824" cy="864824"/>
            </a:xfrm>
            <a:prstGeom prst="rect">
              <a:avLst/>
            </a:prstGeom>
            <a:noFill/>
            <a:ln>
              <a:noFill/>
            </a:ln>
          </p:spPr>
        </p:pic>
        <p:sp>
          <p:nvSpPr>
            <p:cNvPr id="22" name="Shape 817">
              <a:extLst>
                <a:ext uri="{FF2B5EF4-FFF2-40B4-BE49-F238E27FC236}">
                  <a16:creationId xmlns:a16="http://schemas.microsoft.com/office/drawing/2014/main" id="{2E073584-AFBD-3C48-8181-7AF0D3BCA26C}"/>
                </a:ext>
              </a:extLst>
            </p:cNvPr>
            <p:cNvSpPr txBox="1"/>
            <p:nvPr/>
          </p:nvSpPr>
          <p:spPr>
            <a:xfrm>
              <a:off x="5447250" y="3129870"/>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dirty="0">
                  <a:solidFill>
                    <a:schemeClr val="bg1"/>
                  </a:solidFill>
                  <a:latin typeface="Exo" panose="02000503000000000000" pitchFamily="2" charset="77"/>
                  <a:ea typeface="Roboto Slab"/>
                  <a:cs typeface="Roboto Slab"/>
                  <a:sym typeface="Roboto Slab"/>
                </a:rPr>
                <a:t>Quality</a:t>
              </a:r>
            </a:p>
          </p:txBody>
        </p:sp>
      </p:grpSp>
      <p:grpSp>
        <p:nvGrpSpPr>
          <p:cNvPr id="34" name="Shape 827">
            <a:extLst>
              <a:ext uri="{FF2B5EF4-FFF2-40B4-BE49-F238E27FC236}">
                <a16:creationId xmlns:a16="http://schemas.microsoft.com/office/drawing/2014/main" id="{01D48AD2-A62A-2C43-8858-0C65B0B1B096}"/>
              </a:ext>
            </a:extLst>
          </p:cNvPr>
          <p:cNvGrpSpPr/>
          <p:nvPr/>
        </p:nvGrpSpPr>
        <p:grpSpPr>
          <a:xfrm>
            <a:off x="895012" y="3755658"/>
            <a:ext cx="882725" cy="1036894"/>
            <a:chOff x="5451695" y="3773835"/>
            <a:chExt cx="882725" cy="1036894"/>
          </a:xfrm>
        </p:grpSpPr>
        <p:grpSp>
          <p:nvGrpSpPr>
            <p:cNvPr id="35" name="Shape 828">
              <a:extLst>
                <a:ext uri="{FF2B5EF4-FFF2-40B4-BE49-F238E27FC236}">
                  <a16:creationId xmlns:a16="http://schemas.microsoft.com/office/drawing/2014/main" id="{66580380-214A-6C46-9BD8-4E834C1E41CC}"/>
                </a:ext>
              </a:extLst>
            </p:cNvPr>
            <p:cNvGrpSpPr/>
            <p:nvPr/>
          </p:nvGrpSpPr>
          <p:grpSpPr>
            <a:xfrm>
              <a:off x="5454200" y="3844234"/>
              <a:ext cx="877678" cy="966495"/>
              <a:chOff x="6955650" y="1444825"/>
              <a:chExt cx="995099" cy="1095799"/>
            </a:xfrm>
          </p:grpSpPr>
          <p:sp>
            <p:nvSpPr>
              <p:cNvPr id="38" name="Shape 829">
                <a:extLst>
                  <a:ext uri="{FF2B5EF4-FFF2-40B4-BE49-F238E27FC236}">
                    <a16:creationId xmlns:a16="http://schemas.microsoft.com/office/drawing/2014/main" id="{96436FB8-6CDE-AD4F-93E7-C212D6887458}"/>
                  </a:ext>
                </a:extLst>
              </p:cNvPr>
              <p:cNvSpPr/>
              <p:nvPr/>
            </p:nvSpPr>
            <p:spPr>
              <a:xfrm>
                <a:off x="6955650" y="1545525"/>
                <a:ext cx="995099" cy="995099"/>
              </a:xfrm>
              <a:prstGeom prst="roundRect">
                <a:avLst>
                  <a:gd name="adj" fmla="val 16667"/>
                </a:avLst>
              </a:prstGeom>
              <a:solidFill>
                <a:srgbClr val="87A54F"/>
              </a:solidFill>
              <a:ln>
                <a:noFill/>
              </a:ln>
            </p:spPr>
            <p:txBody>
              <a:bodyPr lIns="91425" tIns="91425" rIns="91425" bIns="91425" anchor="ctr" anchorCtr="0">
                <a:noAutofit/>
              </a:bodyPr>
              <a:lstStyle/>
              <a:p>
                <a:pPr>
                  <a:spcBef>
                    <a:spcPts val="0"/>
                  </a:spcBef>
                  <a:buNone/>
                </a:pPr>
                <a:endParaRPr>
                  <a:solidFill>
                    <a:schemeClr val="bg1"/>
                  </a:solidFill>
                </a:endParaRPr>
              </a:p>
            </p:txBody>
          </p:sp>
          <p:sp>
            <p:nvSpPr>
              <p:cNvPr id="39" name="Shape 830">
                <a:extLst>
                  <a:ext uri="{FF2B5EF4-FFF2-40B4-BE49-F238E27FC236}">
                    <a16:creationId xmlns:a16="http://schemas.microsoft.com/office/drawing/2014/main" id="{446DD75E-B6A0-F844-8AFD-E37257EDF31A}"/>
                  </a:ext>
                </a:extLst>
              </p:cNvPr>
              <p:cNvSpPr/>
              <p:nvPr/>
            </p:nvSpPr>
            <p:spPr>
              <a:xfrm>
                <a:off x="6955650" y="1444825"/>
                <a:ext cx="995099" cy="995099"/>
              </a:xfrm>
              <a:prstGeom prst="roundRect">
                <a:avLst>
                  <a:gd name="adj" fmla="val 16667"/>
                </a:avLst>
              </a:prstGeom>
              <a:solidFill>
                <a:srgbClr val="A5C961"/>
              </a:solidFill>
              <a:ln>
                <a:noFill/>
              </a:ln>
            </p:spPr>
            <p:txBody>
              <a:bodyPr lIns="91425" tIns="91425" rIns="91425" bIns="91425" anchor="ctr" anchorCtr="0">
                <a:noAutofit/>
              </a:bodyPr>
              <a:lstStyle/>
              <a:p>
                <a:pPr>
                  <a:spcBef>
                    <a:spcPts val="0"/>
                  </a:spcBef>
                  <a:buNone/>
                </a:pPr>
                <a:endParaRPr>
                  <a:solidFill>
                    <a:schemeClr val="bg1"/>
                  </a:solidFill>
                </a:endParaRPr>
              </a:p>
            </p:txBody>
          </p:sp>
        </p:grpSp>
        <p:sp>
          <p:nvSpPr>
            <p:cNvPr id="36" name="Shape 831">
              <a:extLst>
                <a:ext uri="{FF2B5EF4-FFF2-40B4-BE49-F238E27FC236}">
                  <a16:creationId xmlns:a16="http://schemas.microsoft.com/office/drawing/2014/main" id="{007EC086-A08F-7148-8845-3E45B92F6A79}"/>
                </a:ext>
              </a:extLst>
            </p:cNvPr>
            <p:cNvSpPr txBox="1"/>
            <p:nvPr/>
          </p:nvSpPr>
          <p:spPr>
            <a:xfrm>
              <a:off x="5456620" y="4392710"/>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bg1"/>
                  </a:solidFill>
                  <a:latin typeface="Roboto Slab"/>
                  <a:ea typeface="Roboto Slab"/>
                  <a:cs typeface="Roboto Slab"/>
                  <a:sym typeface="Roboto Slab"/>
                </a:rPr>
                <a:t>efficiency</a:t>
              </a:r>
            </a:p>
          </p:txBody>
        </p:sp>
        <p:pic>
          <p:nvPicPr>
            <p:cNvPr id="37" name="Shape 832">
              <a:extLst>
                <a:ext uri="{FF2B5EF4-FFF2-40B4-BE49-F238E27FC236}">
                  <a16:creationId xmlns:a16="http://schemas.microsoft.com/office/drawing/2014/main" id="{0F6A2F64-E98C-B140-89E2-09FFC7EF298A}"/>
                </a:ext>
              </a:extLst>
            </p:cNvPr>
            <p:cNvPicPr preferRelativeResize="0"/>
            <p:nvPr/>
          </p:nvPicPr>
          <p:blipFill>
            <a:blip r:embed="rId7">
              <a:alphaModFix/>
            </a:blip>
            <a:stretch>
              <a:fillRect/>
            </a:stretch>
          </p:blipFill>
          <p:spPr>
            <a:xfrm>
              <a:off x="5451695" y="3773835"/>
              <a:ext cx="877675" cy="877675"/>
            </a:xfrm>
            <a:prstGeom prst="rect">
              <a:avLst/>
            </a:prstGeom>
            <a:noFill/>
            <a:ln>
              <a:noFill/>
            </a:ln>
          </p:spPr>
        </p:pic>
      </p:grpSp>
    </p:spTree>
    <p:extLst>
      <p:ext uri="{BB962C8B-B14F-4D97-AF65-F5344CB8AC3E}">
        <p14:creationId xmlns:p14="http://schemas.microsoft.com/office/powerpoint/2010/main" val="42162738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700"/>
                                        <p:tgtEl>
                                          <p:spTgt spid="13"/>
                                        </p:tgtEl>
                                        <p:attrNameLst>
                                          <p:attrName>ppt_w</p:attrName>
                                        </p:attrNameLst>
                                      </p:cBhvr>
                                      <p:tavLst>
                                        <p:tav tm="0">
                                          <p:val>
                                            <p:strVal val="0"/>
                                          </p:val>
                                        </p:tav>
                                        <p:tav tm="100000">
                                          <p:val>
                                            <p:strVal val="#ppt_w"/>
                                          </p:val>
                                        </p:tav>
                                      </p:tavLst>
                                    </p:anim>
                                    <p:anim calcmode="lin" valueType="num">
                                      <p:cBhvr additive="base">
                                        <p:cTn id="8" dur="700"/>
                                        <p:tgtEl>
                                          <p:spTgt spid="13"/>
                                        </p:tgtEl>
                                        <p:attrNameLst>
                                          <p:attrName>ppt_h</p:attrName>
                                        </p:attrNameLst>
                                      </p:cBhvr>
                                      <p:tavLst>
                                        <p:tav tm="0">
                                          <p:val>
                                            <p:strVal val="0"/>
                                          </p:val>
                                        </p:tav>
                                        <p:tav tm="100000">
                                          <p:val>
                                            <p:strVal val="#ppt_h"/>
                                          </p:val>
                                        </p:tav>
                                      </p:tavLst>
                                    </p:anim>
                                  </p:childTnLst>
                                </p:cTn>
                              </p:par>
                            </p:childTnLst>
                          </p:cTn>
                        </p:par>
                        <p:par>
                          <p:cTn id="9" fill="hold">
                            <p:stCondLst>
                              <p:cond delay="700"/>
                            </p:stCondLst>
                            <p:childTnLst>
                              <p:par>
                                <p:cTn id="10" presetID="23" presetClass="entr" presetSubtype="16" fill="hold"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700"/>
                                        <p:tgtEl>
                                          <p:spTgt spid="19"/>
                                        </p:tgtEl>
                                        <p:attrNameLst>
                                          <p:attrName>ppt_w</p:attrName>
                                        </p:attrNameLst>
                                      </p:cBhvr>
                                      <p:tavLst>
                                        <p:tav tm="0">
                                          <p:val>
                                            <p:strVal val="0"/>
                                          </p:val>
                                        </p:tav>
                                        <p:tav tm="100000">
                                          <p:val>
                                            <p:strVal val="#ppt_w"/>
                                          </p:val>
                                        </p:tav>
                                      </p:tavLst>
                                    </p:anim>
                                    <p:anim calcmode="lin" valueType="num">
                                      <p:cBhvr additive="base">
                                        <p:cTn id="13" dur="700"/>
                                        <p:tgtEl>
                                          <p:spTgt spid="19"/>
                                        </p:tgtEl>
                                        <p:attrNameLst>
                                          <p:attrName>ppt_h</p:attrName>
                                        </p:attrNameLst>
                                      </p:cBhvr>
                                      <p:tavLst>
                                        <p:tav tm="0">
                                          <p:val>
                                            <p:strVal val="0"/>
                                          </p:val>
                                        </p:tav>
                                        <p:tav tm="100000">
                                          <p:val>
                                            <p:strVal val="#ppt_h"/>
                                          </p:val>
                                        </p:tav>
                                      </p:tavLst>
                                    </p:anim>
                                  </p:childTnLst>
                                </p:cTn>
                              </p:par>
                            </p:childTnLst>
                          </p:cTn>
                        </p:par>
                        <p:par>
                          <p:cTn id="14" fill="hold">
                            <p:stCondLst>
                              <p:cond delay="1400"/>
                            </p:stCondLst>
                            <p:childTnLst>
                              <p:par>
                                <p:cTn id="15" presetID="23" presetClass="entr" presetSubtype="16" fill="hold" nodeType="after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600"/>
                                        <p:tgtEl>
                                          <p:spTgt spid="34"/>
                                        </p:tgtEl>
                                        <p:attrNameLst>
                                          <p:attrName>ppt_w</p:attrName>
                                        </p:attrNameLst>
                                      </p:cBhvr>
                                      <p:tavLst>
                                        <p:tav tm="0">
                                          <p:val>
                                            <p:strVal val="0"/>
                                          </p:val>
                                        </p:tav>
                                        <p:tav tm="100000">
                                          <p:val>
                                            <p:strVal val="#ppt_w"/>
                                          </p:val>
                                        </p:tav>
                                      </p:tavLst>
                                    </p:anim>
                                    <p:anim calcmode="lin" valueType="num">
                                      <p:cBhvr additive="base">
                                        <p:cTn id="18" dur="600"/>
                                        <p:tgtEl>
                                          <p:spTgt spid="34"/>
                                        </p:tgtEl>
                                        <p:attrNameLst>
                                          <p:attrName>ppt_h</p:attrName>
                                        </p:attrNameLst>
                                      </p:cBhvr>
                                      <p:tavLst>
                                        <p:tav tm="0">
                                          <p:val>
                                            <p:strVal val="0"/>
                                          </p:val>
                                        </p:tav>
                                        <p:tav tm="100000">
                                          <p:val>
                                            <p:strVal val="#ppt_h"/>
                                          </p:val>
                                        </p:tav>
                                      </p:tavLst>
                                    </p:anim>
                                  </p:childTnLst>
                                </p:cTn>
                              </p:par>
                            </p:childTnLst>
                          </p:cTn>
                        </p:par>
                        <p:par>
                          <p:cTn id="19" fill="hold">
                            <p:stCondLst>
                              <p:cond delay="2000"/>
                            </p:stCondLst>
                            <p:childTnLst>
                              <p:par>
                                <p:cTn id="20" presetID="2" presetClass="entr" presetSubtype="2" fill="hold" nodeType="after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additive="base">
                                        <p:cTn id="22" dur="700"/>
                                        <p:tgtEl>
                                          <p:spTgt spid="25"/>
                                        </p:tgtEl>
                                        <p:attrNameLst>
                                          <p:attrName>ppt_x</p:attrName>
                                        </p:attrNameLst>
                                      </p:cBhvr>
                                      <p:tavLst>
                                        <p:tav tm="0">
                                          <p:val>
                                            <p:strVal val="#ppt_x+1"/>
                                          </p:val>
                                        </p:tav>
                                        <p:tav tm="100000">
                                          <p:val>
                                            <p:strVal val="#ppt_x"/>
                                          </p:val>
                                        </p:tav>
                                      </p:tavLst>
                                    </p:anim>
                                  </p:childTnLst>
                                </p:cTn>
                              </p:par>
                            </p:childTnLst>
                          </p:cTn>
                        </p:par>
                        <p:par>
                          <p:cTn id="23" fill="hold">
                            <p:stCondLst>
                              <p:cond delay="2700"/>
                            </p:stCondLst>
                            <p:childTnLst>
                              <p:par>
                                <p:cTn id="24" presetID="2" presetClass="entr" presetSubtype="2" fill="hold" nodeType="afterEffect">
                                  <p:stCondLst>
                                    <p:cond delay="0"/>
                                  </p:stCondLst>
                                  <p:childTnLst>
                                    <p:set>
                                      <p:cBhvr>
                                        <p:cTn id="25" dur="1" fill="hold">
                                          <p:stCondLst>
                                            <p:cond delay="0"/>
                                          </p:stCondLst>
                                        </p:cTn>
                                        <p:tgtEl>
                                          <p:spTgt spid="66"/>
                                        </p:tgtEl>
                                        <p:attrNameLst>
                                          <p:attrName>style.visibility</p:attrName>
                                        </p:attrNameLst>
                                      </p:cBhvr>
                                      <p:to>
                                        <p:strVal val="visible"/>
                                      </p:to>
                                    </p:set>
                                    <p:anim calcmode="lin" valueType="num">
                                      <p:cBhvr additive="base">
                                        <p:cTn id="26" dur="700"/>
                                        <p:tgtEl>
                                          <p:spTgt spid="66"/>
                                        </p:tgtEl>
                                        <p:attrNameLst>
                                          <p:attrName>ppt_x</p:attrName>
                                        </p:attrNameLst>
                                      </p:cBhvr>
                                      <p:tavLst>
                                        <p:tav tm="0">
                                          <p:val>
                                            <p:strVal val="#ppt_x+1"/>
                                          </p:val>
                                        </p:tav>
                                        <p:tav tm="100000">
                                          <p:val>
                                            <p:strVal val="#ppt_x"/>
                                          </p:val>
                                        </p:tav>
                                      </p:tavLst>
                                    </p:anim>
                                  </p:childTnLst>
                                </p:cTn>
                              </p:par>
                            </p:childTnLst>
                          </p:cTn>
                        </p:par>
                        <p:par>
                          <p:cTn id="27" fill="hold">
                            <p:stCondLst>
                              <p:cond delay="3400"/>
                            </p:stCondLst>
                            <p:childTnLst>
                              <p:par>
                                <p:cTn id="28" presetID="2" presetClass="entr" presetSubtype="2" fill="hold" nodeType="afterEffect">
                                  <p:stCondLst>
                                    <p:cond delay="0"/>
                                  </p:stCondLst>
                                  <p:childTnLst>
                                    <p:set>
                                      <p:cBhvr>
                                        <p:cTn id="29" dur="1" fill="hold">
                                          <p:stCondLst>
                                            <p:cond delay="0"/>
                                          </p:stCondLst>
                                        </p:cTn>
                                        <p:tgtEl>
                                          <p:spTgt spid="69"/>
                                        </p:tgtEl>
                                        <p:attrNameLst>
                                          <p:attrName>style.visibility</p:attrName>
                                        </p:attrNameLst>
                                      </p:cBhvr>
                                      <p:to>
                                        <p:strVal val="visible"/>
                                      </p:to>
                                    </p:set>
                                    <p:anim calcmode="lin" valueType="num">
                                      <p:cBhvr additive="base">
                                        <p:cTn id="30" dur="700"/>
                                        <p:tgtEl>
                                          <p:spTgt spid="6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BB49">
            <a:alpha val="58000"/>
          </a:srgbClr>
        </a:solidFill>
        <a:effectLst/>
      </p:bgPr>
    </p:bg>
    <p:spTree>
      <p:nvGrpSpPr>
        <p:cNvPr id="1" name="Shape 261"/>
        <p:cNvGrpSpPr/>
        <p:nvPr/>
      </p:nvGrpSpPr>
      <p:grpSpPr>
        <a:xfrm>
          <a:off x="0" y="0"/>
          <a:ext cx="0" cy="0"/>
          <a:chOff x="0" y="0"/>
          <a:chExt cx="0" cy="0"/>
        </a:xfrm>
      </p:grpSpPr>
      <p:pic>
        <p:nvPicPr>
          <p:cNvPr id="5" name="Immagine 4">
            <a:extLst>
              <a:ext uri="{FF2B5EF4-FFF2-40B4-BE49-F238E27FC236}">
                <a16:creationId xmlns:a16="http://schemas.microsoft.com/office/drawing/2014/main" id="{E8F32FC0-E96E-EF46-84B9-24CF668B7A0F}"/>
              </a:ext>
            </a:extLst>
          </p:cNvPr>
          <p:cNvPicPr>
            <a:picLocks noChangeAspect="1"/>
          </p:cNvPicPr>
          <p:nvPr/>
        </p:nvPicPr>
        <p:blipFill rotWithShape="1">
          <a:blip r:embed="rId3"/>
          <a:srcRect r="5882"/>
          <a:stretch/>
        </p:blipFill>
        <p:spPr>
          <a:xfrm>
            <a:off x="0" y="285750"/>
            <a:ext cx="9144000" cy="4857750"/>
          </a:xfrm>
          <a:prstGeom prst="rect">
            <a:avLst/>
          </a:prstGeom>
        </p:spPr>
      </p:pic>
      <p:sp>
        <p:nvSpPr>
          <p:cNvPr id="25" name="Rettangolo 24">
            <a:extLst>
              <a:ext uri="{FF2B5EF4-FFF2-40B4-BE49-F238E27FC236}">
                <a16:creationId xmlns:a16="http://schemas.microsoft.com/office/drawing/2014/main" id="{F589C176-09BC-423B-AD5E-058204D1BE73}"/>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262" name="Shape 262"/>
          <p:cNvPicPr preferRelativeResize="0"/>
          <p:nvPr/>
        </p:nvPicPr>
        <p:blipFill>
          <a:blip r:embed="rId4">
            <a:alphaModFix/>
          </a:blip>
          <a:stretch>
            <a:fillRect/>
          </a:stretch>
        </p:blipFill>
        <p:spPr>
          <a:xfrm>
            <a:off x="-84000" y="183075"/>
            <a:ext cx="9291700" cy="788900"/>
          </a:xfrm>
          <a:prstGeom prst="rect">
            <a:avLst/>
          </a:prstGeom>
          <a:noFill/>
          <a:ln>
            <a:noFill/>
          </a:ln>
        </p:spPr>
      </p:pic>
      <p:sp>
        <p:nvSpPr>
          <p:cNvPr id="29" name="Rettangolo 28">
            <a:extLst>
              <a:ext uri="{FF2B5EF4-FFF2-40B4-BE49-F238E27FC236}">
                <a16:creationId xmlns:a16="http://schemas.microsoft.com/office/drawing/2014/main" id="{5F0D0472-5657-F141-AAB0-892A19EAE5B4}"/>
              </a:ext>
            </a:extLst>
          </p:cNvPr>
          <p:cNvSpPr/>
          <p:nvPr/>
        </p:nvSpPr>
        <p:spPr>
          <a:xfrm>
            <a:off x="-10150" y="913271"/>
            <a:ext cx="9144000" cy="4230230"/>
          </a:xfrm>
          <a:prstGeom prst="rect">
            <a:avLst/>
          </a:prstGeom>
          <a:solidFill>
            <a:srgbClr val="FFBB49">
              <a:alpha val="9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65" name="Shape 265"/>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None/>
            </a:pPr>
            <a:r>
              <a:rPr lang="en" sz="1200" b="1" dirty="0">
                <a:solidFill>
                  <a:schemeClr val="accent3"/>
                </a:solidFill>
                <a:latin typeface="Exo" panose="02000503000000000000" pitchFamily="2" charset="77"/>
                <a:ea typeface="Roboto Slab"/>
                <a:cs typeface="Roboto Slab"/>
                <a:sym typeface="Roboto Slab"/>
              </a:rPr>
              <a:t>Market Definition</a:t>
            </a:r>
          </a:p>
          <a:p>
            <a:pPr lvl="0" algn="r" rtl="0">
              <a:spcBef>
                <a:spcPts val="0"/>
              </a:spcBef>
              <a:buNone/>
            </a:pPr>
            <a:endParaRPr sz="1200" dirty="0">
              <a:solidFill>
                <a:schemeClr val="accent3"/>
              </a:solidFill>
              <a:latin typeface="Roboto Slab"/>
              <a:ea typeface="Roboto Slab"/>
              <a:cs typeface="Roboto Slab"/>
              <a:sym typeface="Roboto Slab"/>
            </a:endParaRPr>
          </a:p>
          <a:p>
            <a:pPr lvl="0" rtl="0">
              <a:spcBef>
                <a:spcPts val="0"/>
              </a:spcBef>
              <a:buNone/>
            </a:pPr>
            <a:endParaRPr sz="1200" dirty="0"/>
          </a:p>
        </p:txBody>
      </p:sp>
      <p:grpSp>
        <p:nvGrpSpPr>
          <p:cNvPr id="266" name="Shape 266"/>
          <p:cNvGrpSpPr/>
          <p:nvPr/>
        </p:nvGrpSpPr>
        <p:grpSpPr>
          <a:xfrm>
            <a:off x="1846622" y="1143722"/>
            <a:ext cx="5523675" cy="1058999"/>
            <a:chOff x="1846622" y="1143722"/>
            <a:chExt cx="5523675" cy="1058999"/>
          </a:xfrm>
        </p:grpSpPr>
        <p:pic>
          <p:nvPicPr>
            <p:cNvPr id="267" name="Shape 267"/>
            <p:cNvPicPr preferRelativeResize="0"/>
            <p:nvPr/>
          </p:nvPicPr>
          <p:blipFill>
            <a:blip r:embed="rId5">
              <a:alphaModFix/>
            </a:blip>
            <a:stretch>
              <a:fillRect/>
            </a:stretch>
          </p:blipFill>
          <p:spPr>
            <a:xfrm>
              <a:off x="1846622" y="1143722"/>
              <a:ext cx="5523561" cy="1058999"/>
            </a:xfrm>
            <a:prstGeom prst="rect">
              <a:avLst/>
            </a:prstGeom>
            <a:noFill/>
            <a:ln>
              <a:noFill/>
            </a:ln>
          </p:spPr>
        </p:pic>
        <p:sp>
          <p:nvSpPr>
            <p:cNvPr id="268" name="Shape 268"/>
            <p:cNvSpPr txBox="1"/>
            <p:nvPr/>
          </p:nvSpPr>
          <p:spPr>
            <a:xfrm>
              <a:off x="1846698" y="1294625"/>
              <a:ext cx="5523599" cy="504299"/>
            </a:xfrm>
            <a:prstGeom prst="rect">
              <a:avLst/>
            </a:prstGeom>
            <a:noFill/>
            <a:ln>
              <a:noFill/>
            </a:ln>
          </p:spPr>
          <p:txBody>
            <a:bodyPr lIns="91425" tIns="91425" rIns="91425" bIns="91425" anchor="t" anchorCtr="0">
              <a:noAutofit/>
            </a:bodyPr>
            <a:lstStyle/>
            <a:p>
              <a:pPr lvl="0" algn="ctr" rtl="0">
                <a:spcBef>
                  <a:spcPts val="0"/>
                </a:spcBef>
                <a:buClr>
                  <a:schemeClr val="dk1"/>
                </a:buClr>
                <a:buSzPct val="61111"/>
                <a:buFont typeface="Arial"/>
                <a:buNone/>
              </a:pPr>
              <a:r>
                <a:rPr lang="en" sz="1800" b="1" dirty="0">
                  <a:solidFill>
                    <a:schemeClr val="dk2"/>
                  </a:solidFill>
                  <a:latin typeface="Exo" panose="02000503000000000000" pitchFamily="2" charset="77"/>
                  <a:ea typeface="Roboto Slab"/>
                  <a:cs typeface="Roboto Slab"/>
                  <a:sym typeface="Roboto Slab"/>
                </a:rPr>
                <a:t>43.300.000*  </a:t>
              </a:r>
              <a:r>
                <a:rPr lang="en" sz="1800" dirty="0">
                  <a:solidFill>
                    <a:schemeClr val="dk2"/>
                  </a:solidFill>
                  <a:latin typeface="Exo" panose="02000503000000000000" pitchFamily="2" charset="77"/>
                  <a:ea typeface="Roboto Slab"/>
                  <a:cs typeface="Roboto Slab"/>
                  <a:sym typeface="Roboto Slab"/>
                </a:rPr>
                <a:t>Internet users in Italia</a:t>
              </a:r>
            </a:p>
            <a:p>
              <a:pPr lvl="0" algn="ctr" rtl="0">
                <a:spcBef>
                  <a:spcPts val="0"/>
                </a:spcBef>
                <a:buNone/>
              </a:pPr>
              <a:endParaRPr sz="2400" dirty="0">
                <a:solidFill>
                  <a:srgbClr val="F08B7C"/>
                </a:solidFill>
                <a:latin typeface="Roboto"/>
                <a:ea typeface="Roboto"/>
                <a:cs typeface="Roboto"/>
                <a:sym typeface="Roboto"/>
              </a:endParaRPr>
            </a:p>
            <a:p>
              <a:pPr lvl="0" algn="ctr" rtl="0">
                <a:spcBef>
                  <a:spcPts val="0"/>
                </a:spcBef>
                <a:buNone/>
              </a:pPr>
              <a:endParaRPr sz="800" b="1" dirty="0">
                <a:solidFill>
                  <a:schemeClr val="dk2"/>
                </a:solidFill>
                <a:latin typeface="Roboto Slab"/>
                <a:ea typeface="Roboto Slab"/>
                <a:cs typeface="Roboto Slab"/>
                <a:sym typeface="Roboto Slab"/>
              </a:endParaRPr>
            </a:p>
          </p:txBody>
        </p:sp>
      </p:grpSp>
      <p:grpSp>
        <p:nvGrpSpPr>
          <p:cNvPr id="269" name="Shape 269"/>
          <p:cNvGrpSpPr/>
          <p:nvPr/>
        </p:nvGrpSpPr>
        <p:grpSpPr>
          <a:xfrm>
            <a:off x="1810198" y="3964850"/>
            <a:ext cx="5531025" cy="1031475"/>
            <a:chOff x="1810198" y="3964850"/>
            <a:chExt cx="5531025" cy="1031475"/>
          </a:xfrm>
        </p:grpSpPr>
        <p:pic>
          <p:nvPicPr>
            <p:cNvPr id="270" name="Shape 270"/>
            <p:cNvPicPr preferRelativeResize="0"/>
            <p:nvPr/>
          </p:nvPicPr>
          <p:blipFill>
            <a:blip r:embed="rId6">
              <a:alphaModFix/>
            </a:blip>
            <a:stretch>
              <a:fillRect/>
            </a:stretch>
          </p:blipFill>
          <p:spPr>
            <a:xfrm>
              <a:off x="1846625" y="3964850"/>
              <a:ext cx="5494598" cy="1031475"/>
            </a:xfrm>
            <a:prstGeom prst="rect">
              <a:avLst/>
            </a:prstGeom>
            <a:noFill/>
            <a:ln>
              <a:noFill/>
            </a:ln>
          </p:spPr>
        </p:pic>
        <p:sp>
          <p:nvSpPr>
            <p:cNvPr id="271" name="Shape 271"/>
            <p:cNvSpPr txBox="1"/>
            <p:nvPr/>
          </p:nvSpPr>
          <p:spPr>
            <a:xfrm>
              <a:off x="1810198" y="4296175"/>
              <a:ext cx="5523599" cy="504299"/>
            </a:xfrm>
            <a:prstGeom prst="rect">
              <a:avLst/>
            </a:prstGeom>
            <a:noFill/>
            <a:ln>
              <a:noFill/>
            </a:ln>
          </p:spPr>
          <p:txBody>
            <a:bodyPr lIns="91425" tIns="91425" rIns="91425" bIns="91425" anchor="t" anchorCtr="0">
              <a:noAutofit/>
            </a:bodyPr>
            <a:lstStyle/>
            <a:p>
              <a:pPr lvl="0" algn="ctr" rtl="0">
                <a:spcBef>
                  <a:spcPts val="0"/>
                </a:spcBef>
                <a:buNone/>
              </a:pPr>
              <a:r>
                <a:rPr lang="en" sz="1800" b="1" dirty="0">
                  <a:solidFill>
                    <a:schemeClr val="dk2"/>
                  </a:solidFill>
                  <a:latin typeface="Exo" panose="02000503000000000000" pitchFamily="2" charset="77"/>
                  <a:ea typeface="Roboto Slab"/>
                  <a:cs typeface="Roboto Slab"/>
                  <a:sym typeface="Roboto Slab"/>
                </a:rPr>
                <a:t>1.364.000* </a:t>
              </a:r>
              <a:r>
                <a:rPr lang="en" sz="1800" dirty="0">
                  <a:solidFill>
                    <a:schemeClr val="dk2"/>
                  </a:solidFill>
                  <a:latin typeface="Exo" panose="02000503000000000000" pitchFamily="2" charset="77"/>
                  <a:ea typeface="Roboto Slab"/>
                  <a:cs typeface="Roboto Slab"/>
                  <a:sym typeface="Roboto Slab"/>
                </a:rPr>
                <a:t>di </a:t>
              </a:r>
              <a:r>
                <a:rPr lang="en" sz="1800" dirty="0" err="1">
                  <a:solidFill>
                    <a:schemeClr val="dk2"/>
                  </a:solidFill>
                  <a:latin typeface="Exo" panose="02000503000000000000" pitchFamily="2" charset="77"/>
                  <a:ea typeface="Roboto Slab"/>
                  <a:cs typeface="Roboto Slab"/>
                  <a:sym typeface="Roboto Slab"/>
                </a:rPr>
                <a:t>potenziali</a:t>
              </a:r>
              <a:r>
                <a:rPr lang="en" sz="1800" dirty="0">
                  <a:solidFill>
                    <a:schemeClr val="dk2"/>
                  </a:solidFill>
                  <a:latin typeface="Exo" panose="02000503000000000000" pitchFamily="2" charset="77"/>
                  <a:ea typeface="Roboto Slab"/>
                  <a:cs typeface="Roboto Slab"/>
                  <a:sym typeface="Roboto Slab"/>
                </a:rPr>
                <a:t> </a:t>
              </a:r>
              <a:r>
                <a:rPr lang="en" sz="1800" dirty="0" err="1">
                  <a:solidFill>
                    <a:schemeClr val="dk2"/>
                  </a:solidFill>
                  <a:latin typeface="Exo" panose="02000503000000000000" pitchFamily="2" charset="77"/>
                  <a:ea typeface="Roboto Slab"/>
                  <a:cs typeface="Roboto Slab"/>
                  <a:sym typeface="Roboto Slab"/>
                </a:rPr>
                <a:t>utilizzatori</a:t>
              </a:r>
              <a:r>
                <a:rPr lang="en" sz="1800" dirty="0">
                  <a:solidFill>
                    <a:schemeClr val="dk2"/>
                  </a:solidFill>
                  <a:latin typeface="Exo" panose="02000503000000000000" pitchFamily="2" charset="77"/>
                  <a:ea typeface="Roboto Slab"/>
                  <a:cs typeface="Roboto Slab"/>
                  <a:sym typeface="Roboto Slab"/>
                </a:rPr>
                <a:t> </a:t>
              </a:r>
              <a:r>
                <a:rPr lang="en" sz="1800" dirty="0" err="1">
                  <a:solidFill>
                    <a:schemeClr val="dk2"/>
                  </a:solidFill>
                  <a:latin typeface="Exo" panose="02000503000000000000" pitchFamily="2" charset="77"/>
                  <a:ea typeface="Roboto Slab"/>
                  <a:cs typeface="Roboto Slab"/>
                  <a:sym typeface="Roboto Slab"/>
                </a:rPr>
                <a:t>dell’App</a:t>
              </a:r>
              <a:endParaRPr lang="en" sz="1800" dirty="0">
                <a:solidFill>
                  <a:schemeClr val="dk2"/>
                </a:solidFill>
                <a:latin typeface="Exo" panose="02000503000000000000" pitchFamily="2" charset="77"/>
                <a:ea typeface="Roboto Slab"/>
                <a:cs typeface="Roboto Slab"/>
                <a:sym typeface="Roboto Slab"/>
              </a:endParaRPr>
            </a:p>
            <a:p>
              <a:pPr lvl="0" algn="ctr" rtl="0">
                <a:spcBef>
                  <a:spcPts val="0"/>
                </a:spcBef>
                <a:buNone/>
              </a:pPr>
              <a:endParaRPr sz="1800" b="1" dirty="0">
                <a:solidFill>
                  <a:schemeClr val="dk2"/>
                </a:solidFill>
                <a:latin typeface="Roboto Slab"/>
                <a:ea typeface="Roboto Slab"/>
                <a:cs typeface="Roboto Slab"/>
                <a:sym typeface="Roboto Slab"/>
              </a:endParaRPr>
            </a:p>
            <a:p>
              <a:pPr lvl="0" algn="ctr" rtl="0">
                <a:spcBef>
                  <a:spcPts val="0"/>
                </a:spcBef>
                <a:buNone/>
              </a:pPr>
              <a:endParaRPr sz="2400" b="1" dirty="0">
                <a:solidFill>
                  <a:srgbClr val="F08B7C"/>
                </a:solidFill>
                <a:latin typeface="Roboto"/>
                <a:ea typeface="Roboto"/>
                <a:cs typeface="Roboto"/>
                <a:sym typeface="Roboto"/>
              </a:endParaRPr>
            </a:p>
            <a:p>
              <a:pPr lvl="0" algn="ctr" rtl="0">
                <a:spcBef>
                  <a:spcPts val="0"/>
                </a:spcBef>
                <a:buNone/>
              </a:pPr>
              <a:endParaRPr sz="800" b="1" dirty="0">
                <a:solidFill>
                  <a:schemeClr val="dk2"/>
                </a:solidFill>
                <a:latin typeface="Roboto Slab"/>
                <a:ea typeface="Roboto Slab"/>
                <a:cs typeface="Roboto Slab"/>
                <a:sym typeface="Roboto Slab"/>
              </a:endParaRPr>
            </a:p>
          </p:txBody>
        </p:sp>
      </p:grpSp>
      <p:grpSp>
        <p:nvGrpSpPr>
          <p:cNvPr id="272" name="Shape 272"/>
          <p:cNvGrpSpPr/>
          <p:nvPr/>
        </p:nvGrpSpPr>
        <p:grpSpPr>
          <a:xfrm>
            <a:off x="1660775" y="2247987"/>
            <a:ext cx="1996800" cy="1495012"/>
            <a:chOff x="1660775" y="2247987"/>
            <a:chExt cx="1996800" cy="1495012"/>
          </a:xfrm>
        </p:grpSpPr>
        <p:pic>
          <p:nvPicPr>
            <p:cNvPr id="273" name="Shape 273"/>
            <p:cNvPicPr preferRelativeResize="0"/>
            <p:nvPr/>
          </p:nvPicPr>
          <p:blipFill>
            <a:blip r:embed="rId7">
              <a:alphaModFix/>
            </a:blip>
            <a:stretch>
              <a:fillRect/>
            </a:stretch>
          </p:blipFill>
          <p:spPr>
            <a:xfrm>
              <a:off x="1935935" y="2247987"/>
              <a:ext cx="1161439" cy="1230661"/>
            </a:xfrm>
            <a:prstGeom prst="rect">
              <a:avLst/>
            </a:prstGeom>
            <a:noFill/>
            <a:ln>
              <a:noFill/>
            </a:ln>
          </p:spPr>
        </p:pic>
        <p:sp>
          <p:nvSpPr>
            <p:cNvPr id="274" name="Shape 274"/>
            <p:cNvSpPr txBox="1"/>
            <p:nvPr/>
          </p:nvSpPr>
          <p:spPr>
            <a:xfrm>
              <a:off x="1660775" y="3452300"/>
              <a:ext cx="1996800" cy="290700"/>
            </a:xfrm>
            <a:prstGeom prst="rect">
              <a:avLst/>
            </a:prstGeom>
            <a:noFill/>
            <a:ln>
              <a:noFill/>
            </a:ln>
          </p:spPr>
          <p:txBody>
            <a:bodyPr lIns="91425" tIns="91425" rIns="91425" bIns="91425" anchor="t" anchorCtr="0">
              <a:noAutofit/>
            </a:bodyPr>
            <a:lstStyle/>
            <a:p>
              <a:pPr lvl="0" algn="ctr" rtl="0">
                <a:spcBef>
                  <a:spcPts val="0"/>
                </a:spcBef>
                <a:buNone/>
              </a:pPr>
              <a:r>
                <a:rPr lang="en" sz="1200" b="1" dirty="0">
                  <a:solidFill>
                    <a:schemeClr val="dk2"/>
                  </a:solidFill>
                  <a:latin typeface="Exo" panose="02000503000000000000" pitchFamily="2" charset="77"/>
                  <a:ea typeface="Roboto Slab"/>
                  <a:cs typeface="Roboto Slab"/>
                  <a:sym typeface="Roboto Slab"/>
                </a:rPr>
                <a:t>23% di </a:t>
              </a:r>
              <a:r>
                <a:rPr lang="en" sz="1200" b="1" dirty="0" err="1">
                  <a:solidFill>
                    <a:schemeClr val="dk2"/>
                  </a:solidFill>
                  <a:latin typeface="Exo" panose="02000503000000000000" pitchFamily="2" charset="77"/>
                  <a:ea typeface="Roboto Slab"/>
                  <a:cs typeface="Roboto Slab"/>
                  <a:sym typeface="Roboto Slab"/>
                </a:rPr>
                <a:t>loro</a:t>
              </a:r>
              <a:endParaRPr lang="en" sz="1200" b="1" dirty="0">
                <a:solidFill>
                  <a:schemeClr val="dk2"/>
                </a:solidFill>
                <a:latin typeface="Exo" panose="02000503000000000000" pitchFamily="2" charset="77"/>
                <a:ea typeface="Roboto Slab"/>
                <a:cs typeface="Roboto Slab"/>
                <a:sym typeface="Roboto Slab"/>
              </a:endParaRPr>
            </a:p>
            <a:p>
              <a:pPr lvl="0" algn="ctr" rtl="0">
                <a:spcBef>
                  <a:spcPts val="0"/>
                </a:spcBef>
                <a:buClr>
                  <a:schemeClr val="dk1"/>
                </a:buClr>
                <a:buSzPct val="110000"/>
                <a:buFont typeface="Arial"/>
                <a:buNone/>
              </a:pPr>
              <a:r>
                <a:rPr lang="it-IT" sz="1000" i="1" dirty="0">
                  <a:solidFill>
                    <a:schemeClr val="bg1"/>
                  </a:solidFill>
                  <a:latin typeface="Exo" panose="02000503000000000000" pitchFamily="2" charset="77"/>
                  <a:ea typeface="Roboto"/>
                  <a:cs typeface="Roboto"/>
                  <a:sym typeface="Roboto"/>
                </a:rPr>
                <a:t>si connette da Computer</a:t>
              </a:r>
              <a:endParaRPr lang="en" sz="1000" i="1" dirty="0">
                <a:solidFill>
                  <a:schemeClr val="bg1"/>
                </a:solidFill>
                <a:latin typeface="Exo" panose="02000503000000000000" pitchFamily="2" charset="77"/>
                <a:ea typeface="Roboto"/>
                <a:cs typeface="Roboto"/>
                <a:sym typeface="Roboto"/>
              </a:endParaRPr>
            </a:p>
          </p:txBody>
        </p:sp>
      </p:grpSp>
      <p:grpSp>
        <p:nvGrpSpPr>
          <p:cNvPr id="275" name="Shape 275"/>
          <p:cNvGrpSpPr/>
          <p:nvPr/>
        </p:nvGrpSpPr>
        <p:grpSpPr>
          <a:xfrm>
            <a:off x="3649212" y="2412851"/>
            <a:ext cx="1996800" cy="1330148"/>
            <a:chOff x="3649212" y="2412851"/>
            <a:chExt cx="1996800" cy="1330148"/>
          </a:xfrm>
        </p:grpSpPr>
        <p:pic>
          <p:nvPicPr>
            <p:cNvPr id="276" name="Shape 276"/>
            <p:cNvPicPr preferRelativeResize="0"/>
            <p:nvPr/>
          </p:nvPicPr>
          <p:blipFill>
            <a:blip r:embed="rId8">
              <a:alphaModFix/>
            </a:blip>
            <a:stretch>
              <a:fillRect/>
            </a:stretch>
          </p:blipFill>
          <p:spPr>
            <a:xfrm>
              <a:off x="3855889" y="2412851"/>
              <a:ext cx="1583433" cy="969991"/>
            </a:xfrm>
            <a:prstGeom prst="rect">
              <a:avLst/>
            </a:prstGeom>
            <a:noFill/>
            <a:ln>
              <a:noFill/>
            </a:ln>
          </p:spPr>
        </p:pic>
        <p:sp>
          <p:nvSpPr>
            <p:cNvPr id="277" name="Shape 277"/>
            <p:cNvSpPr txBox="1"/>
            <p:nvPr/>
          </p:nvSpPr>
          <p:spPr>
            <a:xfrm>
              <a:off x="3649212" y="3452300"/>
              <a:ext cx="1996800" cy="290700"/>
            </a:xfrm>
            <a:prstGeom prst="rect">
              <a:avLst/>
            </a:prstGeom>
            <a:noFill/>
            <a:ln>
              <a:noFill/>
            </a:ln>
          </p:spPr>
          <p:txBody>
            <a:bodyPr lIns="91425" tIns="91425" rIns="91425" bIns="91425" anchor="t" anchorCtr="0">
              <a:noAutofit/>
            </a:bodyPr>
            <a:lstStyle/>
            <a:p>
              <a:pPr lvl="0" algn="ctr" rtl="0">
                <a:spcBef>
                  <a:spcPts val="0"/>
                </a:spcBef>
                <a:buNone/>
              </a:pPr>
              <a:r>
                <a:rPr lang="en" sz="1200" b="1" dirty="0">
                  <a:solidFill>
                    <a:schemeClr val="dk2"/>
                  </a:solidFill>
                  <a:latin typeface="Exo" panose="02000503000000000000" pitchFamily="2" charset="77"/>
                  <a:ea typeface="Roboto Slab"/>
                  <a:cs typeface="Roboto Slab"/>
                  <a:sym typeface="Roboto Slab"/>
                </a:rPr>
                <a:t>15 % di </a:t>
              </a:r>
              <a:r>
                <a:rPr lang="en" sz="1200" b="1" dirty="0" err="1">
                  <a:solidFill>
                    <a:schemeClr val="dk2"/>
                  </a:solidFill>
                  <a:latin typeface="Exo" panose="02000503000000000000" pitchFamily="2" charset="77"/>
                  <a:ea typeface="Roboto Slab"/>
                  <a:cs typeface="Roboto Slab"/>
                  <a:sym typeface="Roboto Slab"/>
                </a:rPr>
                <a:t>loro</a:t>
              </a:r>
              <a:endParaRPr lang="en" sz="1200" b="1" dirty="0">
                <a:solidFill>
                  <a:schemeClr val="dk2"/>
                </a:solidFill>
                <a:latin typeface="Exo" panose="02000503000000000000" pitchFamily="2" charset="77"/>
                <a:ea typeface="Roboto Slab"/>
                <a:cs typeface="Roboto Slab"/>
                <a:sym typeface="Roboto Slab"/>
              </a:endParaRPr>
            </a:p>
            <a:p>
              <a:pPr lvl="0" algn="ctr" rtl="0">
                <a:spcBef>
                  <a:spcPts val="0"/>
                </a:spcBef>
                <a:buNone/>
              </a:pPr>
              <a:r>
                <a:rPr lang="it-IT" sz="1000" i="1" dirty="0">
                  <a:solidFill>
                    <a:schemeClr val="bg1"/>
                  </a:solidFill>
                  <a:latin typeface="Exo" panose="02000503000000000000" pitchFamily="2" charset="77"/>
                  <a:ea typeface="Roboto"/>
                  <a:cs typeface="Roboto"/>
                  <a:sym typeface="Roboto"/>
                </a:rPr>
                <a:t>si connette da Tablet</a:t>
              </a:r>
              <a:endParaRPr lang="en" sz="1000" i="1" dirty="0">
                <a:solidFill>
                  <a:schemeClr val="bg1"/>
                </a:solidFill>
                <a:latin typeface="Exo" panose="02000503000000000000" pitchFamily="2" charset="77"/>
                <a:ea typeface="Roboto"/>
                <a:cs typeface="Roboto"/>
                <a:sym typeface="Roboto"/>
              </a:endParaRPr>
            </a:p>
          </p:txBody>
        </p:sp>
      </p:grpSp>
      <p:grpSp>
        <p:nvGrpSpPr>
          <p:cNvPr id="278" name="Shape 278"/>
          <p:cNvGrpSpPr/>
          <p:nvPr/>
        </p:nvGrpSpPr>
        <p:grpSpPr>
          <a:xfrm>
            <a:off x="5683000" y="2202725"/>
            <a:ext cx="1996800" cy="1557574"/>
            <a:chOff x="5683000" y="2202725"/>
            <a:chExt cx="1996800" cy="1557574"/>
          </a:xfrm>
        </p:grpSpPr>
        <p:sp>
          <p:nvSpPr>
            <p:cNvPr id="279" name="Shape 279"/>
            <p:cNvSpPr/>
            <p:nvPr/>
          </p:nvSpPr>
          <p:spPr>
            <a:xfrm>
              <a:off x="6197852" y="2469849"/>
              <a:ext cx="929699" cy="929699"/>
            </a:xfrm>
            <a:prstGeom prst="ellipse">
              <a:avLst/>
            </a:prstGeom>
            <a:noFill/>
            <a:ln w="76200" cap="flat" cmpd="sng">
              <a:solidFill>
                <a:srgbClr val="F08B7C"/>
              </a:solidFill>
              <a:prstDash val="solid"/>
              <a:round/>
              <a:headEnd type="none" w="med" len="med"/>
              <a:tailEnd type="none" w="med" len="med"/>
            </a:ln>
          </p:spPr>
          <p:txBody>
            <a:bodyPr lIns="91425" tIns="91425" rIns="91425" bIns="91425" anchor="ctr" anchorCtr="0">
              <a:noAutofit/>
            </a:bodyPr>
            <a:lstStyle/>
            <a:p>
              <a:pPr>
                <a:spcBef>
                  <a:spcPts val="0"/>
                </a:spcBef>
                <a:buNone/>
              </a:pPr>
              <a:endParaRPr>
                <a:solidFill>
                  <a:srgbClr val="F08B7C"/>
                </a:solidFill>
              </a:endParaRPr>
            </a:p>
          </p:txBody>
        </p:sp>
        <p:pic>
          <p:nvPicPr>
            <p:cNvPr id="280" name="Shape 280"/>
            <p:cNvPicPr preferRelativeResize="0"/>
            <p:nvPr/>
          </p:nvPicPr>
          <p:blipFill>
            <a:blip r:embed="rId9">
              <a:alphaModFix/>
            </a:blip>
            <a:stretch>
              <a:fillRect/>
            </a:stretch>
          </p:blipFill>
          <p:spPr>
            <a:xfrm>
              <a:off x="6430220" y="2202725"/>
              <a:ext cx="464957" cy="1062325"/>
            </a:xfrm>
            <a:prstGeom prst="rect">
              <a:avLst/>
            </a:prstGeom>
            <a:noFill/>
            <a:ln>
              <a:noFill/>
            </a:ln>
          </p:spPr>
        </p:pic>
        <p:sp>
          <p:nvSpPr>
            <p:cNvPr id="281" name="Shape 281"/>
            <p:cNvSpPr txBox="1"/>
            <p:nvPr/>
          </p:nvSpPr>
          <p:spPr>
            <a:xfrm>
              <a:off x="5683000" y="3469600"/>
              <a:ext cx="1996800" cy="290700"/>
            </a:xfrm>
            <a:prstGeom prst="rect">
              <a:avLst/>
            </a:prstGeom>
            <a:noFill/>
            <a:ln>
              <a:noFill/>
            </a:ln>
          </p:spPr>
          <p:txBody>
            <a:bodyPr lIns="91425" tIns="91425" rIns="91425" bIns="91425" anchor="t" anchorCtr="0">
              <a:noAutofit/>
            </a:bodyPr>
            <a:lstStyle/>
            <a:p>
              <a:pPr lvl="0" algn="ctr" rtl="0">
                <a:spcBef>
                  <a:spcPts val="0"/>
                </a:spcBef>
                <a:buNone/>
              </a:pPr>
              <a:r>
                <a:rPr lang="en" sz="1200" b="1" dirty="0">
                  <a:solidFill>
                    <a:schemeClr val="dk2"/>
                  </a:solidFill>
                  <a:latin typeface="Exo" panose="02000503000000000000" pitchFamily="2" charset="77"/>
                  <a:ea typeface="Roboto Slab"/>
                  <a:cs typeface="Roboto Slab"/>
                  <a:sym typeface="Roboto Slab"/>
                </a:rPr>
                <a:t>62% di </a:t>
              </a:r>
              <a:r>
                <a:rPr lang="en" sz="1200" b="1" dirty="0" err="1">
                  <a:solidFill>
                    <a:schemeClr val="dk2"/>
                  </a:solidFill>
                  <a:latin typeface="Exo" panose="02000503000000000000" pitchFamily="2" charset="77"/>
                  <a:ea typeface="Roboto Slab"/>
                  <a:cs typeface="Roboto Slab"/>
                  <a:sym typeface="Roboto Slab"/>
                </a:rPr>
                <a:t>loro</a:t>
              </a:r>
              <a:endParaRPr lang="en" sz="1200" b="1" dirty="0">
                <a:solidFill>
                  <a:schemeClr val="dk2"/>
                </a:solidFill>
                <a:latin typeface="Exo" panose="02000503000000000000" pitchFamily="2" charset="77"/>
                <a:ea typeface="Roboto Slab"/>
                <a:cs typeface="Roboto Slab"/>
                <a:sym typeface="Roboto Slab"/>
              </a:endParaRPr>
            </a:p>
            <a:p>
              <a:pPr lvl="0" algn="ctr" rtl="0">
                <a:spcBef>
                  <a:spcPts val="0"/>
                </a:spcBef>
                <a:buNone/>
              </a:pPr>
              <a:r>
                <a:rPr lang="it-IT" sz="1000" i="1" dirty="0">
                  <a:solidFill>
                    <a:schemeClr val="bg1"/>
                  </a:solidFill>
                  <a:latin typeface="Exo" panose="02000503000000000000" pitchFamily="2" charset="77"/>
                  <a:ea typeface="Roboto"/>
                  <a:cs typeface="Roboto"/>
                  <a:sym typeface="Roboto"/>
                </a:rPr>
                <a:t>si connette da Mobile</a:t>
              </a:r>
              <a:endParaRPr lang="en" sz="1000" i="1" dirty="0">
                <a:solidFill>
                  <a:schemeClr val="bg1"/>
                </a:solidFill>
                <a:latin typeface="Exo" panose="02000503000000000000" pitchFamily="2" charset="77"/>
                <a:ea typeface="Roboto"/>
                <a:cs typeface="Roboto"/>
                <a:sym typeface="Roboto"/>
              </a:endParaRPr>
            </a:p>
          </p:txBody>
        </p:sp>
      </p:grpSp>
      <p:grpSp>
        <p:nvGrpSpPr>
          <p:cNvPr id="282" name="Shape 282"/>
          <p:cNvGrpSpPr/>
          <p:nvPr/>
        </p:nvGrpSpPr>
        <p:grpSpPr>
          <a:xfrm>
            <a:off x="4082463" y="1584425"/>
            <a:ext cx="2053987" cy="290700"/>
            <a:chOff x="4082463" y="1584425"/>
            <a:chExt cx="1714833" cy="290700"/>
          </a:xfrm>
        </p:grpSpPr>
        <p:sp>
          <p:nvSpPr>
            <p:cNvPr id="283" name="Shape 283"/>
            <p:cNvSpPr txBox="1"/>
            <p:nvPr/>
          </p:nvSpPr>
          <p:spPr>
            <a:xfrm>
              <a:off x="4082463" y="1584425"/>
              <a:ext cx="895200" cy="290700"/>
            </a:xfrm>
            <a:prstGeom prst="rect">
              <a:avLst/>
            </a:prstGeom>
            <a:noFill/>
            <a:ln>
              <a:noFill/>
            </a:ln>
          </p:spPr>
          <p:txBody>
            <a:bodyPr lIns="91425" tIns="91425" rIns="91425" bIns="91425" anchor="t" anchorCtr="0">
              <a:noAutofit/>
            </a:bodyPr>
            <a:lstStyle/>
            <a:p>
              <a:pPr lvl="0" algn="l" rtl="0">
                <a:spcBef>
                  <a:spcPts val="0"/>
                </a:spcBef>
                <a:buNone/>
              </a:pPr>
              <a:r>
                <a:rPr lang="en" sz="1100" i="1" dirty="0">
                  <a:latin typeface="Exo" panose="02000503000000000000" pitchFamily="2" charset="77"/>
                  <a:ea typeface="Roboto"/>
                  <a:cs typeface="Roboto"/>
                  <a:sym typeface="Roboto"/>
                </a:rPr>
                <a:t>Source</a:t>
              </a:r>
            </a:p>
          </p:txBody>
        </p:sp>
        <p:sp>
          <p:nvSpPr>
            <p:cNvPr id="284" name="Shape 284"/>
            <p:cNvSpPr txBox="1"/>
            <p:nvPr/>
          </p:nvSpPr>
          <p:spPr>
            <a:xfrm>
              <a:off x="4544112" y="1584425"/>
              <a:ext cx="1253184" cy="290700"/>
            </a:xfrm>
            <a:prstGeom prst="rect">
              <a:avLst/>
            </a:prstGeom>
            <a:noFill/>
            <a:ln>
              <a:noFill/>
            </a:ln>
          </p:spPr>
          <p:txBody>
            <a:bodyPr lIns="91425" tIns="91425" rIns="91425" bIns="91425" anchor="t" anchorCtr="0">
              <a:noAutofit/>
            </a:bodyPr>
            <a:lstStyle/>
            <a:p>
              <a:pPr lvl="0" algn="l" rtl="0">
                <a:spcBef>
                  <a:spcPts val="0"/>
                </a:spcBef>
                <a:buNone/>
              </a:pPr>
              <a:r>
                <a:rPr lang="en" sz="1100" b="1" dirty="0">
                  <a:latin typeface="Exo" panose="02000503000000000000" pitchFamily="2" charset="77"/>
                  <a:ea typeface="Roboto Slab"/>
                  <a:cs typeface="Roboto Slab"/>
                  <a:sym typeface="Roboto Slab"/>
                </a:rPr>
                <a:t>We Are Social 2018</a:t>
              </a:r>
            </a:p>
          </p:txBody>
        </p:sp>
      </p:grpSp>
      <p:pic>
        <p:nvPicPr>
          <p:cNvPr id="26" name="Immagine 25">
            <a:extLst>
              <a:ext uri="{FF2B5EF4-FFF2-40B4-BE49-F238E27FC236}">
                <a16:creationId xmlns:a16="http://schemas.microsoft.com/office/drawing/2014/main" id="{72F75E1E-408D-41CC-BB4A-3F52E11DEDFF}"/>
              </a:ext>
            </a:extLst>
          </p:cNvPr>
          <p:cNvPicPr>
            <a:picLocks noChangeAspect="1"/>
          </p:cNvPicPr>
          <p:nvPr/>
        </p:nvPicPr>
        <p:blipFill rotWithShape="1">
          <a:blip r:embed="rId10"/>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66"/>
                                        </p:tgtEl>
                                        <p:attrNameLst>
                                          <p:attrName>style.visibility</p:attrName>
                                        </p:attrNameLst>
                                      </p:cBhvr>
                                      <p:to>
                                        <p:strVal val="visible"/>
                                      </p:to>
                                    </p:set>
                                    <p:anim calcmode="lin" valueType="num">
                                      <p:cBhvr additive="base">
                                        <p:cTn id="7" dur="700"/>
                                        <p:tgtEl>
                                          <p:spTgt spid="266"/>
                                        </p:tgtEl>
                                        <p:attrNameLst>
                                          <p:attrName>ppt_y</p:attrName>
                                        </p:attrNameLst>
                                      </p:cBhvr>
                                      <p:tavLst>
                                        <p:tav tm="0">
                                          <p:val>
                                            <p:strVal val="#ppt_y+1"/>
                                          </p:val>
                                        </p:tav>
                                        <p:tav tm="100000">
                                          <p:val>
                                            <p:strVal val="#ppt_y"/>
                                          </p:val>
                                        </p:tav>
                                      </p:tavLst>
                                    </p:anim>
                                  </p:childTnLst>
                                </p:cTn>
                              </p:par>
                            </p:childTnLst>
                          </p:cTn>
                        </p:par>
                        <p:par>
                          <p:cTn id="8" fill="hold">
                            <p:stCondLst>
                              <p:cond delay="700"/>
                            </p:stCondLst>
                            <p:childTnLst>
                              <p:par>
                                <p:cTn id="9" presetID="23" presetClass="entr" presetSubtype="16" fill="hold" nodeType="afterEffect">
                                  <p:stCondLst>
                                    <p:cond delay="0"/>
                                  </p:stCondLst>
                                  <p:childTnLst>
                                    <p:set>
                                      <p:cBhvr>
                                        <p:cTn id="10" dur="1" fill="hold">
                                          <p:stCondLst>
                                            <p:cond delay="0"/>
                                          </p:stCondLst>
                                        </p:cTn>
                                        <p:tgtEl>
                                          <p:spTgt spid="282"/>
                                        </p:tgtEl>
                                        <p:attrNameLst>
                                          <p:attrName>style.visibility</p:attrName>
                                        </p:attrNameLst>
                                      </p:cBhvr>
                                      <p:to>
                                        <p:strVal val="visible"/>
                                      </p:to>
                                    </p:set>
                                    <p:anim calcmode="lin" valueType="num">
                                      <p:cBhvr additive="base">
                                        <p:cTn id="11" dur="800"/>
                                        <p:tgtEl>
                                          <p:spTgt spid="282"/>
                                        </p:tgtEl>
                                        <p:attrNameLst>
                                          <p:attrName>ppt_w</p:attrName>
                                        </p:attrNameLst>
                                      </p:cBhvr>
                                      <p:tavLst>
                                        <p:tav tm="0">
                                          <p:val>
                                            <p:strVal val="0"/>
                                          </p:val>
                                        </p:tav>
                                        <p:tav tm="100000">
                                          <p:val>
                                            <p:strVal val="#ppt_w"/>
                                          </p:val>
                                        </p:tav>
                                      </p:tavLst>
                                    </p:anim>
                                    <p:anim calcmode="lin" valueType="num">
                                      <p:cBhvr additive="base">
                                        <p:cTn id="12" dur="800"/>
                                        <p:tgtEl>
                                          <p:spTgt spid="282"/>
                                        </p:tgtEl>
                                        <p:attrNameLst>
                                          <p:attrName>ppt_h</p:attrName>
                                        </p:attrNameLst>
                                      </p:cBhvr>
                                      <p:tavLst>
                                        <p:tav tm="0">
                                          <p:val>
                                            <p:strVal val="0"/>
                                          </p:val>
                                        </p:tav>
                                        <p:tav tm="100000">
                                          <p:val>
                                            <p:strVal val="#ppt_h"/>
                                          </p:val>
                                        </p:tav>
                                      </p:tavLst>
                                    </p:anim>
                                  </p:childTnLst>
                                </p:cTn>
                              </p:par>
                            </p:childTnLst>
                          </p:cTn>
                        </p:par>
                        <p:par>
                          <p:cTn id="13" fill="hold">
                            <p:stCondLst>
                              <p:cond delay="1500"/>
                            </p:stCondLst>
                            <p:childTnLst>
                              <p:par>
                                <p:cTn id="14" presetID="23" presetClass="entr" presetSubtype="16" fill="hold" nodeType="afterEffect">
                                  <p:stCondLst>
                                    <p:cond delay="0"/>
                                  </p:stCondLst>
                                  <p:childTnLst>
                                    <p:set>
                                      <p:cBhvr>
                                        <p:cTn id="15" dur="1" fill="hold">
                                          <p:stCondLst>
                                            <p:cond delay="0"/>
                                          </p:stCondLst>
                                        </p:cTn>
                                        <p:tgtEl>
                                          <p:spTgt spid="272"/>
                                        </p:tgtEl>
                                        <p:attrNameLst>
                                          <p:attrName>style.visibility</p:attrName>
                                        </p:attrNameLst>
                                      </p:cBhvr>
                                      <p:to>
                                        <p:strVal val="visible"/>
                                      </p:to>
                                    </p:set>
                                    <p:anim calcmode="lin" valueType="num">
                                      <p:cBhvr additive="base">
                                        <p:cTn id="16" dur="600"/>
                                        <p:tgtEl>
                                          <p:spTgt spid="272"/>
                                        </p:tgtEl>
                                        <p:attrNameLst>
                                          <p:attrName>ppt_w</p:attrName>
                                        </p:attrNameLst>
                                      </p:cBhvr>
                                      <p:tavLst>
                                        <p:tav tm="0">
                                          <p:val>
                                            <p:strVal val="0"/>
                                          </p:val>
                                        </p:tav>
                                        <p:tav tm="100000">
                                          <p:val>
                                            <p:strVal val="#ppt_w"/>
                                          </p:val>
                                        </p:tav>
                                      </p:tavLst>
                                    </p:anim>
                                    <p:anim calcmode="lin" valueType="num">
                                      <p:cBhvr additive="base">
                                        <p:cTn id="17" dur="600"/>
                                        <p:tgtEl>
                                          <p:spTgt spid="272"/>
                                        </p:tgtEl>
                                        <p:attrNameLst>
                                          <p:attrName>ppt_h</p:attrName>
                                        </p:attrNameLst>
                                      </p:cBhvr>
                                      <p:tavLst>
                                        <p:tav tm="0">
                                          <p:val>
                                            <p:strVal val="0"/>
                                          </p:val>
                                        </p:tav>
                                        <p:tav tm="100000">
                                          <p:val>
                                            <p:strVal val="#ppt_h"/>
                                          </p:val>
                                        </p:tav>
                                      </p:tavLst>
                                    </p:anim>
                                  </p:childTnLst>
                                </p:cTn>
                              </p:par>
                            </p:childTnLst>
                          </p:cTn>
                        </p:par>
                        <p:par>
                          <p:cTn id="18" fill="hold">
                            <p:stCondLst>
                              <p:cond delay="2100"/>
                            </p:stCondLst>
                            <p:childTnLst>
                              <p:par>
                                <p:cTn id="19" presetID="23" presetClass="entr" presetSubtype="16" fill="hold" nodeType="afterEffect">
                                  <p:stCondLst>
                                    <p:cond delay="0"/>
                                  </p:stCondLst>
                                  <p:childTnLst>
                                    <p:set>
                                      <p:cBhvr>
                                        <p:cTn id="20" dur="1" fill="hold">
                                          <p:stCondLst>
                                            <p:cond delay="0"/>
                                          </p:stCondLst>
                                        </p:cTn>
                                        <p:tgtEl>
                                          <p:spTgt spid="275"/>
                                        </p:tgtEl>
                                        <p:attrNameLst>
                                          <p:attrName>style.visibility</p:attrName>
                                        </p:attrNameLst>
                                      </p:cBhvr>
                                      <p:to>
                                        <p:strVal val="visible"/>
                                      </p:to>
                                    </p:set>
                                    <p:anim calcmode="lin" valueType="num">
                                      <p:cBhvr additive="base">
                                        <p:cTn id="21" dur="600"/>
                                        <p:tgtEl>
                                          <p:spTgt spid="275"/>
                                        </p:tgtEl>
                                        <p:attrNameLst>
                                          <p:attrName>ppt_w</p:attrName>
                                        </p:attrNameLst>
                                      </p:cBhvr>
                                      <p:tavLst>
                                        <p:tav tm="0">
                                          <p:val>
                                            <p:strVal val="0"/>
                                          </p:val>
                                        </p:tav>
                                        <p:tav tm="100000">
                                          <p:val>
                                            <p:strVal val="#ppt_w"/>
                                          </p:val>
                                        </p:tav>
                                      </p:tavLst>
                                    </p:anim>
                                    <p:anim calcmode="lin" valueType="num">
                                      <p:cBhvr additive="base">
                                        <p:cTn id="22" dur="600"/>
                                        <p:tgtEl>
                                          <p:spTgt spid="275"/>
                                        </p:tgtEl>
                                        <p:attrNameLst>
                                          <p:attrName>ppt_h</p:attrName>
                                        </p:attrNameLst>
                                      </p:cBhvr>
                                      <p:tavLst>
                                        <p:tav tm="0">
                                          <p:val>
                                            <p:strVal val="0"/>
                                          </p:val>
                                        </p:tav>
                                        <p:tav tm="100000">
                                          <p:val>
                                            <p:strVal val="#ppt_h"/>
                                          </p:val>
                                        </p:tav>
                                      </p:tavLst>
                                    </p:anim>
                                  </p:childTnLst>
                                </p:cTn>
                              </p:par>
                            </p:childTnLst>
                          </p:cTn>
                        </p:par>
                        <p:par>
                          <p:cTn id="23" fill="hold">
                            <p:stCondLst>
                              <p:cond delay="2700"/>
                            </p:stCondLst>
                            <p:childTnLst>
                              <p:par>
                                <p:cTn id="24" presetID="23" presetClass="entr" presetSubtype="16" fill="hold" nodeType="afterEffect">
                                  <p:stCondLst>
                                    <p:cond delay="0"/>
                                  </p:stCondLst>
                                  <p:childTnLst>
                                    <p:set>
                                      <p:cBhvr>
                                        <p:cTn id="25" dur="1" fill="hold">
                                          <p:stCondLst>
                                            <p:cond delay="0"/>
                                          </p:stCondLst>
                                        </p:cTn>
                                        <p:tgtEl>
                                          <p:spTgt spid="278"/>
                                        </p:tgtEl>
                                        <p:attrNameLst>
                                          <p:attrName>style.visibility</p:attrName>
                                        </p:attrNameLst>
                                      </p:cBhvr>
                                      <p:to>
                                        <p:strVal val="visible"/>
                                      </p:to>
                                    </p:set>
                                    <p:anim calcmode="lin" valueType="num">
                                      <p:cBhvr additive="base">
                                        <p:cTn id="26" dur="700"/>
                                        <p:tgtEl>
                                          <p:spTgt spid="278"/>
                                        </p:tgtEl>
                                        <p:attrNameLst>
                                          <p:attrName>ppt_w</p:attrName>
                                        </p:attrNameLst>
                                      </p:cBhvr>
                                      <p:tavLst>
                                        <p:tav tm="0">
                                          <p:val>
                                            <p:strVal val="0"/>
                                          </p:val>
                                        </p:tav>
                                        <p:tav tm="100000">
                                          <p:val>
                                            <p:strVal val="#ppt_w"/>
                                          </p:val>
                                        </p:tav>
                                      </p:tavLst>
                                    </p:anim>
                                    <p:anim calcmode="lin" valueType="num">
                                      <p:cBhvr additive="base">
                                        <p:cTn id="27" dur="700"/>
                                        <p:tgtEl>
                                          <p:spTgt spid="278"/>
                                        </p:tgtEl>
                                        <p:attrNameLst>
                                          <p:attrName>ppt_h</p:attrName>
                                        </p:attrNameLst>
                                      </p:cBhvr>
                                      <p:tavLst>
                                        <p:tav tm="0">
                                          <p:val>
                                            <p:strVal val="0"/>
                                          </p:val>
                                        </p:tav>
                                        <p:tav tm="100000">
                                          <p:val>
                                            <p:strVal val="#ppt_h"/>
                                          </p:val>
                                        </p:tav>
                                      </p:tavLst>
                                    </p:anim>
                                  </p:childTnLst>
                                </p:cTn>
                              </p:par>
                            </p:childTnLst>
                          </p:cTn>
                        </p:par>
                        <p:par>
                          <p:cTn id="28" fill="hold">
                            <p:stCondLst>
                              <p:cond delay="3400"/>
                            </p:stCondLst>
                            <p:childTnLst>
                              <p:par>
                                <p:cTn id="29" presetID="2" presetClass="entr" presetSubtype="4" fill="hold" nodeType="afterEffect">
                                  <p:stCondLst>
                                    <p:cond delay="0"/>
                                  </p:stCondLst>
                                  <p:childTnLst>
                                    <p:set>
                                      <p:cBhvr>
                                        <p:cTn id="30" dur="1" fill="hold">
                                          <p:stCondLst>
                                            <p:cond delay="0"/>
                                          </p:stCondLst>
                                        </p:cTn>
                                        <p:tgtEl>
                                          <p:spTgt spid="269"/>
                                        </p:tgtEl>
                                        <p:attrNameLst>
                                          <p:attrName>style.visibility</p:attrName>
                                        </p:attrNameLst>
                                      </p:cBhvr>
                                      <p:to>
                                        <p:strVal val="visible"/>
                                      </p:to>
                                    </p:set>
                                    <p:anim calcmode="lin" valueType="num">
                                      <p:cBhvr additive="base">
                                        <p:cTn id="31" dur="600"/>
                                        <p:tgtEl>
                                          <p:spTgt spid="26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26"/>
        <p:cNvGrpSpPr/>
        <p:nvPr/>
      </p:nvGrpSpPr>
      <p:grpSpPr>
        <a:xfrm>
          <a:off x="0" y="0"/>
          <a:ext cx="0" cy="0"/>
          <a:chOff x="0" y="0"/>
          <a:chExt cx="0" cy="0"/>
        </a:xfrm>
      </p:grpSpPr>
      <p:sp>
        <p:nvSpPr>
          <p:cNvPr id="45" name="Rettangolo 44">
            <a:extLst>
              <a:ext uri="{FF2B5EF4-FFF2-40B4-BE49-F238E27FC236}">
                <a16:creationId xmlns:a16="http://schemas.microsoft.com/office/drawing/2014/main" id="{41CFAD8A-ED04-4CBA-A8EC-5A44B5F90CCD}"/>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127" name="Shape 127"/>
          <p:cNvPicPr preferRelativeResize="0"/>
          <p:nvPr/>
        </p:nvPicPr>
        <p:blipFill>
          <a:blip r:embed="rId3">
            <a:alphaModFix/>
          </a:blip>
          <a:stretch>
            <a:fillRect/>
          </a:stretch>
        </p:blipFill>
        <p:spPr>
          <a:xfrm>
            <a:off x="-84000" y="183075"/>
            <a:ext cx="9291700" cy="788900"/>
          </a:xfrm>
          <a:prstGeom prst="rect">
            <a:avLst/>
          </a:prstGeom>
          <a:noFill/>
          <a:ln>
            <a:noFill/>
          </a:ln>
        </p:spPr>
      </p:pic>
      <p:sp>
        <p:nvSpPr>
          <p:cNvPr id="130" name="Shape 130"/>
          <p:cNvSpPr txBox="1"/>
          <p:nvPr/>
        </p:nvSpPr>
        <p:spPr>
          <a:xfrm>
            <a:off x="7037350" y="381250"/>
            <a:ext cx="2016300" cy="290700"/>
          </a:xfrm>
          <a:prstGeom prst="rect">
            <a:avLst/>
          </a:prstGeom>
          <a:noFill/>
          <a:ln>
            <a:noFill/>
          </a:ln>
        </p:spPr>
        <p:txBody>
          <a:bodyPr lIns="91425" tIns="91425" rIns="91425" bIns="91425" anchor="t" anchorCtr="0">
            <a:noAutofit/>
          </a:bodyPr>
          <a:lstStyle/>
          <a:p>
            <a:pPr lvl="0" algn="r" rtl="0">
              <a:spcBef>
                <a:spcPts val="0"/>
              </a:spcBef>
              <a:buNone/>
            </a:pPr>
            <a:r>
              <a:rPr lang="en" sz="1200" b="1" dirty="0">
                <a:solidFill>
                  <a:schemeClr val="accent3"/>
                </a:solidFill>
                <a:latin typeface="Exo" panose="02000503000000000000" pitchFamily="2" charset="77"/>
                <a:ea typeface="Roboto Slab"/>
                <a:cs typeface="Roboto Slab"/>
                <a:sym typeface="Roboto Slab"/>
              </a:rPr>
              <a:t>Market Definition</a:t>
            </a:r>
          </a:p>
          <a:p>
            <a:pPr lvl="0" rtl="0">
              <a:spcBef>
                <a:spcPts val="0"/>
              </a:spcBef>
              <a:buNone/>
            </a:pPr>
            <a:endParaRPr sz="1200" dirty="0"/>
          </a:p>
        </p:txBody>
      </p:sp>
      <p:pic>
        <p:nvPicPr>
          <p:cNvPr id="131" name="Shape 131"/>
          <p:cNvPicPr preferRelativeResize="0"/>
          <p:nvPr/>
        </p:nvPicPr>
        <p:blipFill>
          <a:blip r:embed="rId4">
            <a:alphaModFix amt="50000"/>
          </a:blip>
          <a:stretch>
            <a:fillRect/>
          </a:stretch>
        </p:blipFill>
        <p:spPr>
          <a:xfrm>
            <a:off x="269600" y="953924"/>
            <a:ext cx="8672248" cy="3695948"/>
          </a:xfrm>
          <a:prstGeom prst="rect">
            <a:avLst/>
          </a:prstGeom>
          <a:noFill/>
          <a:ln>
            <a:noFill/>
          </a:ln>
        </p:spPr>
      </p:pic>
      <p:pic>
        <p:nvPicPr>
          <p:cNvPr id="132" name="Shape 132"/>
          <p:cNvPicPr preferRelativeResize="0"/>
          <p:nvPr/>
        </p:nvPicPr>
        <p:blipFill>
          <a:blip r:embed="rId5">
            <a:alphaModFix/>
          </a:blip>
          <a:stretch>
            <a:fillRect/>
          </a:stretch>
        </p:blipFill>
        <p:spPr>
          <a:xfrm>
            <a:off x="2849575" y="2259150"/>
            <a:ext cx="3443812" cy="1172143"/>
          </a:xfrm>
          <a:prstGeom prst="rect">
            <a:avLst/>
          </a:prstGeom>
          <a:noFill/>
          <a:ln>
            <a:noFill/>
          </a:ln>
        </p:spPr>
      </p:pic>
      <p:sp>
        <p:nvSpPr>
          <p:cNvPr id="133" name="Shape 133"/>
          <p:cNvSpPr txBox="1"/>
          <p:nvPr/>
        </p:nvSpPr>
        <p:spPr>
          <a:xfrm>
            <a:off x="3051712" y="2549750"/>
            <a:ext cx="3108000" cy="504299"/>
          </a:xfrm>
          <a:prstGeom prst="rect">
            <a:avLst/>
          </a:prstGeom>
          <a:noFill/>
          <a:ln>
            <a:noFill/>
          </a:ln>
        </p:spPr>
        <p:txBody>
          <a:bodyPr lIns="91425" tIns="91425" rIns="91425" bIns="91425" anchor="t" anchorCtr="0">
            <a:noAutofit/>
          </a:bodyPr>
          <a:lstStyle/>
          <a:p>
            <a:pPr algn="ctr" rtl="0">
              <a:spcBef>
                <a:spcPts val="0"/>
              </a:spcBef>
              <a:buNone/>
            </a:pPr>
            <a:r>
              <a:rPr lang="en" sz="2400" b="1" dirty="0">
                <a:solidFill>
                  <a:srgbClr val="F08B7C"/>
                </a:solidFill>
                <a:latin typeface="Exo" panose="02000503000000000000" pitchFamily="2" charset="77"/>
                <a:ea typeface="Roboto"/>
                <a:cs typeface="Roboto"/>
                <a:sym typeface="Roboto"/>
              </a:rPr>
              <a:t>2.200.000</a:t>
            </a:r>
            <a:r>
              <a:rPr lang="en" sz="1000" b="1" dirty="0">
                <a:solidFill>
                  <a:srgbClr val="F08B7C"/>
                </a:solidFill>
                <a:latin typeface="Exo" panose="02000503000000000000" pitchFamily="2" charset="77"/>
                <a:ea typeface="Roboto"/>
                <a:cs typeface="Roboto"/>
                <a:sym typeface="Roboto"/>
              </a:rPr>
              <a:t> </a:t>
            </a:r>
            <a:r>
              <a:rPr lang="en" sz="900" b="1" dirty="0">
                <a:solidFill>
                  <a:srgbClr val="F08B7C"/>
                </a:solidFill>
                <a:latin typeface="Exo" panose="02000503000000000000" pitchFamily="2" charset="77"/>
                <a:ea typeface="Roboto Slab"/>
                <a:cs typeface="Roboto Slab"/>
                <a:sym typeface="Roboto Slab"/>
              </a:rPr>
              <a:t>Potential Customers</a:t>
            </a:r>
          </a:p>
          <a:p>
            <a:pPr lvl="0" algn="ctr" rtl="0">
              <a:spcBef>
                <a:spcPts val="0"/>
              </a:spcBef>
              <a:buNone/>
            </a:pPr>
            <a:endParaRPr sz="2400" b="1" dirty="0">
              <a:solidFill>
                <a:srgbClr val="F08B7C"/>
              </a:solidFill>
              <a:latin typeface="Roboto"/>
              <a:ea typeface="Roboto"/>
              <a:cs typeface="Roboto"/>
              <a:sym typeface="Roboto"/>
            </a:endParaRPr>
          </a:p>
        </p:txBody>
      </p:sp>
      <p:grpSp>
        <p:nvGrpSpPr>
          <p:cNvPr id="134" name="Shape 134"/>
          <p:cNvGrpSpPr/>
          <p:nvPr/>
        </p:nvGrpSpPr>
        <p:grpSpPr>
          <a:xfrm>
            <a:off x="405975" y="1108150"/>
            <a:ext cx="2921975" cy="1447499"/>
            <a:chOff x="405975" y="1108150"/>
            <a:chExt cx="2921975" cy="1447499"/>
          </a:xfrm>
        </p:grpSpPr>
        <p:sp>
          <p:nvSpPr>
            <p:cNvPr id="135" name="Shape 135"/>
            <p:cNvSpPr/>
            <p:nvPr/>
          </p:nvSpPr>
          <p:spPr>
            <a:xfrm>
              <a:off x="405975" y="1108150"/>
              <a:ext cx="2113200" cy="1447499"/>
            </a:xfrm>
            <a:prstGeom prst="roundRect">
              <a:avLst>
                <a:gd name="adj" fmla="val 6250"/>
              </a:avLst>
            </a:prstGeom>
            <a:solidFill>
              <a:srgbClr val="A8D5D7"/>
            </a:solidFill>
            <a:ln>
              <a:noFill/>
            </a:ln>
          </p:spPr>
          <p:txBody>
            <a:bodyPr lIns="91425" tIns="91425" rIns="91425" bIns="91425" anchor="ctr" anchorCtr="0">
              <a:noAutofit/>
            </a:bodyPr>
            <a:lstStyle/>
            <a:p>
              <a:pPr>
                <a:spcBef>
                  <a:spcPts val="0"/>
                </a:spcBef>
                <a:buNone/>
              </a:pPr>
              <a:endParaRPr/>
            </a:p>
          </p:txBody>
        </p:sp>
        <p:cxnSp>
          <p:nvCxnSpPr>
            <p:cNvPr id="136" name="Shape 136"/>
            <p:cNvCxnSpPr/>
            <p:nvPr/>
          </p:nvCxnSpPr>
          <p:spPr>
            <a:xfrm>
              <a:off x="2487950" y="1663475"/>
              <a:ext cx="840000" cy="840000"/>
            </a:xfrm>
            <a:prstGeom prst="straightConnector1">
              <a:avLst/>
            </a:prstGeom>
            <a:noFill/>
            <a:ln w="38100" cap="flat" cmpd="sng">
              <a:solidFill>
                <a:srgbClr val="A8D5D7"/>
              </a:solidFill>
              <a:prstDash val="solid"/>
              <a:round/>
              <a:headEnd type="none" w="lg" len="lg"/>
              <a:tailEnd type="triangle" w="lg" len="lg"/>
            </a:ln>
          </p:spPr>
        </p:cxnSp>
      </p:grpSp>
      <p:grpSp>
        <p:nvGrpSpPr>
          <p:cNvPr id="137" name="Shape 137"/>
          <p:cNvGrpSpPr/>
          <p:nvPr/>
        </p:nvGrpSpPr>
        <p:grpSpPr>
          <a:xfrm>
            <a:off x="405975" y="3081862"/>
            <a:ext cx="2915675" cy="1447499"/>
            <a:chOff x="405975" y="3081862"/>
            <a:chExt cx="2915675" cy="1447499"/>
          </a:xfrm>
        </p:grpSpPr>
        <p:sp>
          <p:nvSpPr>
            <p:cNvPr id="138" name="Shape 138"/>
            <p:cNvSpPr/>
            <p:nvPr/>
          </p:nvSpPr>
          <p:spPr>
            <a:xfrm>
              <a:off x="405975" y="3081862"/>
              <a:ext cx="2113200" cy="1447499"/>
            </a:xfrm>
            <a:prstGeom prst="roundRect">
              <a:avLst>
                <a:gd name="adj" fmla="val 6250"/>
              </a:avLst>
            </a:prstGeom>
            <a:solidFill>
              <a:srgbClr val="7FB3E6"/>
            </a:solidFill>
            <a:ln>
              <a:noFill/>
            </a:ln>
          </p:spPr>
          <p:txBody>
            <a:bodyPr lIns="91425" tIns="91425" rIns="91425" bIns="91425" anchor="ctr" anchorCtr="0">
              <a:noAutofit/>
            </a:bodyPr>
            <a:lstStyle/>
            <a:p>
              <a:pPr>
                <a:spcBef>
                  <a:spcPts val="0"/>
                </a:spcBef>
                <a:buNone/>
              </a:pPr>
              <a:endParaRPr/>
            </a:p>
          </p:txBody>
        </p:sp>
        <p:cxnSp>
          <p:nvCxnSpPr>
            <p:cNvPr id="139" name="Shape 139"/>
            <p:cNvCxnSpPr/>
            <p:nvPr/>
          </p:nvCxnSpPr>
          <p:spPr>
            <a:xfrm rot="10800000" flipH="1">
              <a:off x="2487950" y="3117599"/>
              <a:ext cx="833700" cy="555600"/>
            </a:xfrm>
            <a:prstGeom prst="straightConnector1">
              <a:avLst/>
            </a:prstGeom>
            <a:noFill/>
            <a:ln w="38100" cap="flat" cmpd="sng">
              <a:solidFill>
                <a:srgbClr val="7FB3E6"/>
              </a:solidFill>
              <a:prstDash val="solid"/>
              <a:round/>
              <a:headEnd type="none" w="lg" len="lg"/>
              <a:tailEnd type="triangle" w="lg" len="lg"/>
            </a:ln>
          </p:spPr>
        </p:cxnSp>
      </p:grpSp>
      <p:grpSp>
        <p:nvGrpSpPr>
          <p:cNvPr id="140" name="Shape 140"/>
          <p:cNvGrpSpPr/>
          <p:nvPr/>
        </p:nvGrpSpPr>
        <p:grpSpPr>
          <a:xfrm>
            <a:off x="5887000" y="1108150"/>
            <a:ext cx="2849999" cy="1447499"/>
            <a:chOff x="5887000" y="1108150"/>
            <a:chExt cx="2849999" cy="1447499"/>
          </a:xfrm>
        </p:grpSpPr>
        <p:sp>
          <p:nvSpPr>
            <p:cNvPr id="141" name="Shape 141"/>
            <p:cNvSpPr/>
            <p:nvPr/>
          </p:nvSpPr>
          <p:spPr>
            <a:xfrm>
              <a:off x="6623800" y="1108150"/>
              <a:ext cx="2113200" cy="1447499"/>
            </a:xfrm>
            <a:prstGeom prst="roundRect">
              <a:avLst>
                <a:gd name="adj" fmla="val 6250"/>
              </a:avLst>
            </a:prstGeom>
            <a:solidFill>
              <a:srgbClr val="A5C961"/>
            </a:solidFill>
            <a:ln>
              <a:noFill/>
            </a:ln>
          </p:spPr>
          <p:txBody>
            <a:bodyPr lIns="91425" tIns="91425" rIns="91425" bIns="91425" anchor="ctr" anchorCtr="0">
              <a:noAutofit/>
            </a:bodyPr>
            <a:lstStyle/>
            <a:p>
              <a:pPr>
                <a:spcBef>
                  <a:spcPts val="0"/>
                </a:spcBef>
                <a:buNone/>
              </a:pPr>
              <a:endParaRPr/>
            </a:p>
          </p:txBody>
        </p:sp>
        <p:cxnSp>
          <p:nvCxnSpPr>
            <p:cNvPr id="142" name="Shape 142"/>
            <p:cNvCxnSpPr/>
            <p:nvPr/>
          </p:nvCxnSpPr>
          <p:spPr>
            <a:xfrm flipH="1">
              <a:off x="5887000" y="1818875"/>
              <a:ext cx="785999" cy="723600"/>
            </a:xfrm>
            <a:prstGeom prst="straightConnector1">
              <a:avLst/>
            </a:prstGeom>
            <a:noFill/>
            <a:ln w="38100" cap="flat" cmpd="sng">
              <a:solidFill>
                <a:srgbClr val="A5C961"/>
              </a:solidFill>
              <a:prstDash val="solid"/>
              <a:round/>
              <a:headEnd type="none" w="lg" len="lg"/>
              <a:tailEnd type="triangle" w="lg" len="lg"/>
            </a:ln>
          </p:spPr>
        </p:cxnSp>
      </p:grpSp>
      <p:grpSp>
        <p:nvGrpSpPr>
          <p:cNvPr id="143" name="Shape 143"/>
          <p:cNvGrpSpPr/>
          <p:nvPr/>
        </p:nvGrpSpPr>
        <p:grpSpPr>
          <a:xfrm>
            <a:off x="5945124" y="2943250"/>
            <a:ext cx="2791875" cy="1586124"/>
            <a:chOff x="5945124" y="2943250"/>
            <a:chExt cx="2791875" cy="1586124"/>
          </a:xfrm>
        </p:grpSpPr>
        <p:sp>
          <p:nvSpPr>
            <p:cNvPr id="144" name="Shape 144"/>
            <p:cNvSpPr/>
            <p:nvPr/>
          </p:nvSpPr>
          <p:spPr>
            <a:xfrm>
              <a:off x="6623800" y="3081875"/>
              <a:ext cx="2113200" cy="1447499"/>
            </a:xfrm>
            <a:prstGeom prst="roundRect">
              <a:avLst>
                <a:gd name="adj" fmla="val 6250"/>
              </a:avLst>
            </a:prstGeom>
            <a:solidFill>
              <a:srgbClr val="F08B7C"/>
            </a:solidFill>
            <a:ln>
              <a:noFill/>
            </a:ln>
          </p:spPr>
          <p:txBody>
            <a:bodyPr lIns="91425" tIns="91425" rIns="91425" bIns="91425" anchor="ctr" anchorCtr="0">
              <a:noAutofit/>
            </a:bodyPr>
            <a:lstStyle/>
            <a:p>
              <a:pPr>
                <a:spcBef>
                  <a:spcPts val="0"/>
                </a:spcBef>
                <a:buNone/>
              </a:pPr>
              <a:endParaRPr/>
            </a:p>
          </p:txBody>
        </p:sp>
        <p:cxnSp>
          <p:nvCxnSpPr>
            <p:cNvPr id="145" name="Shape 145"/>
            <p:cNvCxnSpPr/>
            <p:nvPr/>
          </p:nvCxnSpPr>
          <p:spPr>
            <a:xfrm rot="10800000">
              <a:off x="5945124" y="2943250"/>
              <a:ext cx="820800" cy="930299"/>
            </a:xfrm>
            <a:prstGeom prst="straightConnector1">
              <a:avLst/>
            </a:prstGeom>
            <a:noFill/>
            <a:ln w="38100" cap="flat" cmpd="sng">
              <a:solidFill>
                <a:srgbClr val="F08B7C"/>
              </a:solidFill>
              <a:prstDash val="solid"/>
              <a:round/>
              <a:headEnd type="none" w="lg" len="lg"/>
              <a:tailEnd type="triangle" w="lg" len="lg"/>
            </a:ln>
          </p:spPr>
        </p:cxnSp>
      </p:grpSp>
      <p:grpSp>
        <p:nvGrpSpPr>
          <p:cNvPr id="146" name="Shape 146"/>
          <p:cNvGrpSpPr/>
          <p:nvPr/>
        </p:nvGrpSpPr>
        <p:grpSpPr>
          <a:xfrm>
            <a:off x="581600" y="1210110"/>
            <a:ext cx="1764300" cy="982853"/>
            <a:chOff x="581600" y="1210110"/>
            <a:chExt cx="1764300" cy="982853"/>
          </a:xfrm>
        </p:grpSpPr>
        <p:sp>
          <p:nvSpPr>
            <p:cNvPr id="147" name="Shape 147"/>
            <p:cNvSpPr txBox="1"/>
            <p:nvPr/>
          </p:nvSpPr>
          <p:spPr>
            <a:xfrm>
              <a:off x="581600" y="1210110"/>
              <a:ext cx="1764300" cy="555600"/>
            </a:xfrm>
            <a:prstGeom prst="rect">
              <a:avLst/>
            </a:prstGeom>
            <a:noFill/>
            <a:ln>
              <a:noFill/>
            </a:ln>
          </p:spPr>
          <p:txBody>
            <a:bodyPr lIns="91425" tIns="91425" rIns="91425" bIns="91425" anchor="t" anchorCtr="0">
              <a:noAutofit/>
            </a:bodyPr>
            <a:lstStyle/>
            <a:p>
              <a:pPr lvl="0" rtl="0">
                <a:spcBef>
                  <a:spcPts val="0"/>
                </a:spcBef>
                <a:buClr>
                  <a:schemeClr val="dk1"/>
                </a:buClr>
                <a:buSzPct val="100000"/>
                <a:buFont typeface="Arial"/>
                <a:buNone/>
              </a:pPr>
              <a:r>
                <a:rPr lang="en" sz="1100" b="1" dirty="0">
                  <a:solidFill>
                    <a:schemeClr val="lt1"/>
                  </a:solidFill>
                  <a:latin typeface="Exo" panose="02000503000000000000" pitchFamily="2" charset="77"/>
                  <a:ea typeface="Roboto"/>
                  <a:cs typeface="Roboto"/>
                  <a:sym typeface="Roboto"/>
                </a:rPr>
                <a:t>40% </a:t>
              </a:r>
              <a:r>
                <a:rPr lang="it-IT" sz="1100" b="1" dirty="0">
                  <a:solidFill>
                    <a:schemeClr val="lt1"/>
                  </a:solidFill>
                  <a:latin typeface="Exo" panose="02000503000000000000" pitchFamily="2" charset="77"/>
                  <a:ea typeface="Roboto"/>
                  <a:cs typeface="Roboto"/>
                  <a:sym typeface="Roboto"/>
                </a:rPr>
                <a:t>del mercato italiano del gioco è rappresentato dalle scommesse sportive</a:t>
              </a:r>
              <a:endParaRPr lang="en" sz="1100" b="1" dirty="0">
                <a:solidFill>
                  <a:schemeClr val="lt1"/>
                </a:solidFill>
                <a:latin typeface="Exo" panose="02000503000000000000" pitchFamily="2" charset="77"/>
                <a:ea typeface="Roboto"/>
                <a:cs typeface="Roboto"/>
                <a:sym typeface="Roboto"/>
              </a:endParaRPr>
            </a:p>
            <a:p>
              <a:pPr>
                <a:spcBef>
                  <a:spcPts val="0"/>
                </a:spcBef>
                <a:buNone/>
              </a:pPr>
              <a:endParaRPr sz="1100" dirty="0">
                <a:solidFill>
                  <a:schemeClr val="lt1"/>
                </a:solidFill>
                <a:latin typeface="Roboto"/>
                <a:ea typeface="Roboto"/>
                <a:cs typeface="Roboto"/>
                <a:sym typeface="Roboto"/>
              </a:endParaRPr>
            </a:p>
          </p:txBody>
        </p:sp>
        <p:sp>
          <p:nvSpPr>
            <p:cNvPr id="148" name="Shape 148"/>
            <p:cNvSpPr txBox="1"/>
            <p:nvPr/>
          </p:nvSpPr>
          <p:spPr>
            <a:xfrm>
              <a:off x="581600" y="2051964"/>
              <a:ext cx="1693200" cy="140999"/>
            </a:xfrm>
            <a:prstGeom prst="rect">
              <a:avLst/>
            </a:prstGeom>
            <a:noFill/>
            <a:ln>
              <a:noFill/>
            </a:ln>
          </p:spPr>
          <p:txBody>
            <a:bodyPr lIns="91425" tIns="91425" rIns="91425" bIns="91425" anchor="t" anchorCtr="0">
              <a:noAutofit/>
            </a:bodyPr>
            <a:lstStyle/>
            <a:p>
              <a:pPr lvl="0" rtl="0">
                <a:spcBef>
                  <a:spcPts val="0"/>
                </a:spcBef>
                <a:buClr>
                  <a:schemeClr val="dk1"/>
                </a:buClr>
                <a:buSzPct val="122222"/>
                <a:buFont typeface="Arial"/>
                <a:buNone/>
              </a:pPr>
              <a:r>
                <a:rPr lang="it-IT" sz="900" dirty="0">
                  <a:solidFill>
                    <a:schemeClr val="lt1"/>
                  </a:solidFill>
                  <a:latin typeface="Exo" panose="02000503000000000000" pitchFamily="2" charset="77"/>
                  <a:ea typeface="Roboto"/>
                  <a:cs typeface="Roboto"/>
                  <a:sym typeface="Roboto"/>
                </a:rPr>
                <a:t>Dato 2017, in crescita del 59% rispetto al 2016 in cu.</a:t>
              </a:r>
              <a:endParaRPr lang="en" sz="900" dirty="0">
                <a:solidFill>
                  <a:schemeClr val="lt1"/>
                </a:solidFill>
                <a:latin typeface="Exo" panose="02000503000000000000" pitchFamily="2" charset="77"/>
                <a:ea typeface="Roboto"/>
                <a:cs typeface="Roboto"/>
                <a:sym typeface="Roboto"/>
              </a:endParaRPr>
            </a:p>
            <a:p>
              <a:pPr>
                <a:spcBef>
                  <a:spcPts val="0"/>
                </a:spcBef>
                <a:buNone/>
              </a:pPr>
              <a:endParaRPr sz="900" dirty="0">
                <a:solidFill>
                  <a:schemeClr val="lt1"/>
                </a:solidFill>
                <a:latin typeface="Roboto"/>
                <a:ea typeface="Roboto"/>
                <a:cs typeface="Roboto"/>
                <a:sym typeface="Roboto"/>
              </a:endParaRPr>
            </a:p>
          </p:txBody>
        </p:sp>
      </p:grpSp>
      <p:grpSp>
        <p:nvGrpSpPr>
          <p:cNvPr id="149" name="Shape 149"/>
          <p:cNvGrpSpPr/>
          <p:nvPr/>
        </p:nvGrpSpPr>
        <p:grpSpPr>
          <a:xfrm>
            <a:off x="580039" y="3148377"/>
            <a:ext cx="1764686" cy="1377442"/>
            <a:chOff x="580039" y="3148377"/>
            <a:chExt cx="1764686" cy="1377442"/>
          </a:xfrm>
        </p:grpSpPr>
        <p:sp>
          <p:nvSpPr>
            <p:cNvPr id="150" name="Shape 150"/>
            <p:cNvSpPr txBox="1"/>
            <p:nvPr/>
          </p:nvSpPr>
          <p:spPr>
            <a:xfrm>
              <a:off x="580425" y="3148377"/>
              <a:ext cx="1764300" cy="555600"/>
            </a:xfrm>
            <a:prstGeom prst="rect">
              <a:avLst/>
            </a:prstGeom>
            <a:noFill/>
            <a:ln>
              <a:noFill/>
            </a:ln>
          </p:spPr>
          <p:txBody>
            <a:bodyPr lIns="91425" tIns="91425" rIns="91425" bIns="91425" anchor="t" anchorCtr="0">
              <a:noAutofit/>
            </a:bodyPr>
            <a:lstStyle/>
            <a:p>
              <a:pPr lvl="0" rtl="0">
                <a:spcBef>
                  <a:spcPts val="0"/>
                </a:spcBef>
                <a:buClr>
                  <a:schemeClr val="dk1"/>
                </a:buClr>
                <a:buSzPct val="100000"/>
                <a:buFont typeface="Arial"/>
                <a:buNone/>
              </a:pPr>
              <a:r>
                <a:rPr lang="en" sz="1100" b="1" dirty="0">
                  <a:solidFill>
                    <a:schemeClr val="lt1"/>
                  </a:solidFill>
                  <a:latin typeface="Exo" panose="02000503000000000000" pitchFamily="2" charset="77"/>
                </a:rPr>
                <a:t>7% </a:t>
              </a:r>
              <a:r>
                <a:rPr lang="it-IT" sz="1100" b="1" dirty="0">
                  <a:solidFill>
                    <a:schemeClr val="lt1"/>
                  </a:solidFill>
                  <a:latin typeface="Exo" panose="02000503000000000000" pitchFamily="2" charset="77"/>
                </a:rPr>
                <a:t>del bacino del gioco online è rappresentato da Internet Users con più di 18 anni.*</a:t>
              </a:r>
              <a:endParaRPr lang="en" sz="1100" b="1" dirty="0">
                <a:solidFill>
                  <a:schemeClr val="lt1"/>
                </a:solidFill>
                <a:latin typeface="Exo" panose="02000503000000000000" pitchFamily="2" charset="77"/>
              </a:endParaRPr>
            </a:p>
            <a:p>
              <a:pPr lvl="0" rtl="0">
                <a:spcBef>
                  <a:spcPts val="0"/>
                </a:spcBef>
                <a:buNone/>
              </a:pPr>
              <a:endParaRPr sz="1100" b="1" dirty="0">
                <a:solidFill>
                  <a:schemeClr val="lt1"/>
                </a:solidFill>
                <a:latin typeface="Roboto"/>
                <a:ea typeface="Roboto"/>
                <a:cs typeface="Roboto"/>
                <a:sym typeface="Roboto"/>
              </a:endParaRPr>
            </a:p>
          </p:txBody>
        </p:sp>
        <p:sp>
          <p:nvSpPr>
            <p:cNvPr id="151" name="Shape 151"/>
            <p:cNvSpPr txBox="1"/>
            <p:nvPr/>
          </p:nvSpPr>
          <p:spPr>
            <a:xfrm>
              <a:off x="580039" y="3931219"/>
              <a:ext cx="1764300" cy="594600"/>
            </a:xfrm>
            <a:prstGeom prst="rect">
              <a:avLst/>
            </a:prstGeom>
            <a:noFill/>
            <a:ln>
              <a:noFill/>
            </a:ln>
          </p:spPr>
          <p:txBody>
            <a:bodyPr lIns="91425" tIns="91425" rIns="91425" bIns="91425" anchor="t" anchorCtr="0">
              <a:noAutofit/>
            </a:bodyPr>
            <a:lstStyle/>
            <a:p>
              <a:pPr lvl="0">
                <a:buClr>
                  <a:schemeClr val="dk1"/>
                </a:buClr>
              </a:pPr>
              <a:r>
                <a:rPr lang="it-IT" sz="900" dirty="0">
                  <a:solidFill>
                    <a:schemeClr val="lt1"/>
                  </a:solidFill>
                  <a:latin typeface="Exo" panose="02000503000000000000" pitchFamily="2" charset="77"/>
                  <a:ea typeface="Roboto"/>
                  <a:cs typeface="Roboto"/>
                  <a:sym typeface="Roboto"/>
                </a:rPr>
                <a:t>*Internet User maggiorenni in Italia pari a 32,3 milioni, fonte: ISTAT.</a:t>
              </a:r>
              <a:endParaRPr sz="900" dirty="0">
                <a:solidFill>
                  <a:schemeClr val="lt1"/>
                </a:solidFill>
                <a:latin typeface="Exo" panose="02000503000000000000" pitchFamily="2" charset="77"/>
                <a:ea typeface="Roboto"/>
                <a:cs typeface="Roboto"/>
                <a:sym typeface="Roboto"/>
              </a:endParaRPr>
            </a:p>
            <a:p>
              <a:pPr>
                <a:spcBef>
                  <a:spcPts val="0"/>
                </a:spcBef>
                <a:buNone/>
              </a:pPr>
              <a:endParaRPr sz="900" dirty="0">
                <a:solidFill>
                  <a:schemeClr val="lt1"/>
                </a:solidFill>
                <a:latin typeface="Roboto"/>
                <a:ea typeface="Roboto"/>
                <a:cs typeface="Roboto"/>
                <a:sym typeface="Roboto"/>
              </a:endParaRPr>
            </a:p>
          </p:txBody>
        </p:sp>
      </p:grpSp>
      <p:grpSp>
        <p:nvGrpSpPr>
          <p:cNvPr id="152" name="Shape 152"/>
          <p:cNvGrpSpPr/>
          <p:nvPr/>
        </p:nvGrpSpPr>
        <p:grpSpPr>
          <a:xfrm>
            <a:off x="6857525" y="1222109"/>
            <a:ext cx="1826250" cy="1104549"/>
            <a:chOff x="6857525" y="1263275"/>
            <a:chExt cx="1826250" cy="1104549"/>
          </a:xfrm>
        </p:grpSpPr>
        <p:sp>
          <p:nvSpPr>
            <p:cNvPr id="153" name="Shape 153"/>
            <p:cNvSpPr txBox="1"/>
            <p:nvPr/>
          </p:nvSpPr>
          <p:spPr>
            <a:xfrm>
              <a:off x="6857525" y="1263275"/>
              <a:ext cx="1826250" cy="555600"/>
            </a:xfrm>
            <a:prstGeom prst="rect">
              <a:avLst/>
            </a:prstGeom>
            <a:noFill/>
            <a:ln>
              <a:noFill/>
            </a:ln>
          </p:spPr>
          <p:txBody>
            <a:bodyPr lIns="91425" tIns="91425" rIns="91425" bIns="91425" anchor="t" anchorCtr="0">
              <a:noAutofit/>
            </a:bodyPr>
            <a:lstStyle/>
            <a:p>
              <a:pPr lvl="0" algn="r" rtl="0">
                <a:spcBef>
                  <a:spcPts val="0"/>
                </a:spcBef>
                <a:buNone/>
              </a:pPr>
              <a:r>
                <a:rPr lang="en" sz="1100" b="1" dirty="0">
                  <a:solidFill>
                    <a:schemeClr val="lt1"/>
                  </a:solidFill>
                  <a:latin typeface="Exo" panose="02000503000000000000" pitchFamily="2" charset="77"/>
                </a:rPr>
                <a:t>959.000 </a:t>
              </a:r>
              <a:r>
                <a:rPr lang="it-IT" sz="1100" b="1" dirty="0">
                  <a:solidFill>
                    <a:schemeClr val="lt1"/>
                  </a:solidFill>
                  <a:latin typeface="Exo" panose="02000503000000000000" pitchFamily="2" charset="77"/>
                </a:rPr>
                <a:t>sono i giocatori attivi unici ogni mese</a:t>
              </a:r>
              <a:endParaRPr lang="en" sz="1100" b="1" dirty="0">
                <a:solidFill>
                  <a:schemeClr val="lt1"/>
                </a:solidFill>
                <a:latin typeface="Exo" panose="02000503000000000000" pitchFamily="2" charset="77"/>
              </a:endParaRPr>
            </a:p>
            <a:p>
              <a:pPr lvl="0" algn="r" rtl="0">
                <a:spcBef>
                  <a:spcPts val="0"/>
                </a:spcBef>
                <a:buNone/>
              </a:pPr>
              <a:endParaRPr sz="1100" b="1" dirty="0">
                <a:solidFill>
                  <a:schemeClr val="lt1"/>
                </a:solidFill>
                <a:latin typeface="Roboto"/>
                <a:ea typeface="Roboto"/>
                <a:cs typeface="Roboto"/>
                <a:sym typeface="Roboto"/>
              </a:endParaRPr>
            </a:p>
            <a:p>
              <a:pPr lvl="0" algn="r" rtl="0">
                <a:spcBef>
                  <a:spcPts val="0"/>
                </a:spcBef>
                <a:buNone/>
              </a:pPr>
              <a:endParaRPr sz="1100" dirty="0">
                <a:solidFill>
                  <a:schemeClr val="lt1"/>
                </a:solidFill>
                <a:latin typeface="Roboto"/>
                <a:ea typeface="Roboto"/>
                <a:cs typeface="Roboto"/>
                <a:sym typeface="Roboto"/>
              </a:endParaRPr>
            </a:p>
          </p:txBody>
        </p:sp>
        <p:sp>
          <p:nvSpPr>
            <p:cNvPr id="154" name="Shape 154"/>
            <p:cNvSpPr txBox="1"/>
            <p:nvPr/>
          </p:nvSpPr>
          <p:spPr>
            <a:xfrm>
              <a:off x="6945350" y="1721625"/>
              <a:ext cx="1693200" cy="646199"/>
            </a:xfrm>
            <a:prstGeom prst="rect">
              <a:avLst/>
            </a:prstGeom>
            <a:noFill/>
            <a:ln>
              <a:noFill/>
            </a:ln>
          </p:spPr>
          <p:txBody>
            <a:bodyPr lIns="91425" tIns="91425" rIns="91425" bIns="91425" anchor="t" anchorCtr="0">
              <a:noAutofit/>
            </a:bodyPr>
            <a:lstStyle/>
            <a:p>
              <a:pPr lvl="0" algn="r" rtl="0">
                <a:spcBef>
                  <a:spcPts val="0"/>
                </a:spcBef>
                <a:buNone/>
              </a:pPr>
              <a:r>
                <a:rPr lang="it-IT" sz="900" dirty="0">
                  <a:solidFill>
                    <a:schemeClr val="lt1"/>
                  </a:solidFill>
                  <a:latin typeface="Exo" panose="02000503000000000000" pitchFamily="2" charset="77"/>
                  <a:ea typeface="Roboto"/>
                  <a:cs typeface="Roboto"/>
                  <a:sym typeface="Roboto"/>
                </a:rPr>
                <a:t>L’ampliamento della base utenti mensile è in crescita del 25% rispetto ai 766.000 circa del 2016.</a:t>
              </a:r>
              <a:endParaRPr lang="en" sz="900" dirty="0">
                <a:solidFill>
                  <a:schemeClr val="lt1"/>
                </a:solidFill>
                <a:latin typeface="Exo" panose="02000503000000000000" pitchFamily="2" charset="77"/>
                <a:ea typeface="Roboto"/>
                <a:cs typeface="Roboto"/>
                <a:sym typeface="Roboto"/>
              </a:endParaRPr>
            </a:p>
            <a:p>
              <a:pPr lvl="0" algn="r" rtl="0">
                <a:spcBef>
                  <a:spcPts val="0"/>
                </a:spcBef>
                <a:buNone/>
              </a:pPr>
              <a:endParaRPr sz="900" dirty="0">
                <a:solidFill>
                  <a:schemeClr val="lt1"/>
                </a:solidFill>
                <a:latin typeface="Roboto"/>
                <a:ea typeface="Roboto"/>
                <a:cs typeface="Roboto"/>
                <a:sym typeface="Roboto"/>
              </a:endParaRPr>
            </a:p>
            <a:p>
              <a:pPr lvl="0" algn="r" rtl="0">
                <a:spcBef>
                  <a:spcPts val="0"/>
                </a:spcBef>
                <a:buNone/>
              </a:pPr>
              <a:endParaRPr sz="900" dirty="0">
                <a:solidFill>
                  <a:schemeClr val="lt1"/>
                </a:solidFill>
                <a:latin typeface="Roboto"/>
                <a:ea typeface="Roboto"/>
                <a:cs typeface="Roboto"/>
                <a:sym typeface="Roboto"/>
              </a:endParaRPr>
            </a:p>
          </p:txBody>
        </p:sp>
      </p:grpSp>
      <p:grpSp>
        <p:nvGrpSpPr>
          <p:cNvPr id="155" name="Shape 155"/>
          <p:cNvGrpSpPr/>
          <p:nvPr/>
        </p:nvGrpSpPr>
        <p:grpSpPr>
          <a:xfrm>
            <a:off x="6703625" y="3212175"/>
            <a:ext cx="1847100" cy="1259499"/>
            <a:chOff x="6703625" y="3212175"/>
            <a:chExt cx="1847100" cy="1259499"/>
          </a:xfrm>
        </p:grpSpPr>
        <p:sp>
          <p:nvSpPr>
            <p:cNvPr id="156" name="Shape 156"/>
            <p:cNvSpPr txBox="1"/>
            <p:nvPr/>
          </p:nvSpPr>
          <p:spPr>
            <a:xfrm>
              <a:off x="6703625" y="3212175"/>
              <a:ext cx="1847100" cy="555600"/>
            </a:xfrm>
            <a:prstGeom prst="rect">
              <a:avLst/>
            </a:prstGeom>
            <a:noFill/>
            <a:ln>
              <a:noFill/>
            </a:ln>
          </p:spPr>
          <p:txBody>
            <a:bodyPr lIns="91425" tIns="91425" rIns="91425" bIns="91425" anchor="t" anchorCtr="0">
              <a:noAutofit/>
            </a:bodyPr>
            <a:lstStyle/>
            <a:p>
              <a:pPr lvl="0" algn="r" rtl="0">
                <a:spcBef>
                  <a:spcPts val="0"/>
                </a:spcBef>
                <a:buNone/>
              </a:pPr>
              <a:r>
                <a:rPr lang="en" sz="1100" b="1" dirty="0" err="1">
                  <a:solidFill>
                    <a:schemeClr val="lt1"/>
                  </a:solidFill>
                  <a:latin typeface="Exo" panose="02000503000000000000" pitchFamily="2" charset="77"/>
                </a:rPr>
                <a:t>Questo</a:t>
              </a:r>
              <a:r>
                <a:rPr lang="en" sz="1100" b="1" dirty="0">
                  <a:solidFill>
                    <a:schemeClr val="lt1"/>
                  </a:solidFill>
                  <a:latin typeface="Exo" panose="02000503000000000000" pitchFamily="2" charset="77"/>
                </a:rPr>
                <a:t> </a:t>
              </a:r>
              <a:r>
                <a:rPr lang="en" sz="1100" b="1" dirty="0" err="1">
                  <a:solidFill>
                    <a:schemeClr val="lt1"/>
                  </a:solidFill>
                  <a:latin typeface="Exo" panose="02000503000000000000" pitchFamily="2" charset="77"/>
                </a:rPr>
                <a:t>è</a:t>
              </a:r>
              <a:r>
                <a:rPr lang="en" sz="1100" b="1" dirty="0">
                  <a:solidFill>
                    <a:schemeClr val="lt1"/>
                  </a:solidFill>
                  <a:latin typeface="Exo" panose="02000503000000000000" pitchFamily="2" charset="77"/>
                </a:rPr>
                <a:t> lo </a:t>
              </a:r>
              <a:r>
                <a:rPr lang="en" sz="1100" b="1" dirty="0" err="1">
                  <a:solidFill>
                    <a:schemeClr val="lt1"/>
                  </a:solidFill>
                  <a:latin typeface="Exo" panose="02000503000000000000" pitchFamily="2" charset="77"/>
                </a:rPr>
                <a:t>spaccato</a:t>
              </a:r>
              <a:r>
                <a:rPr lang="en" sz="1100" b="1" dirty="0">
                  <a:solidFill>
                    <a:schemeClr val="lt1"/>
                  </a:solidFill>
                  <a:latin typeface="Exo" panose="02000503000000000000" pitchFamily="2" charset="77"/>
                </a:rPr>
                <a:t> </a:t>
              </a:r>
              <a:r>
                <a:rPr lang="en" sz="1100" b="1" dirty="0" err="1">
                  <a:solidFill>
                    <a:schemeClr val="lt1"/>
                  </a:solidFill>
                  <a:latin typeface="Exo" panose="02000503000000000000" pitchFamily="2" charset="77"/>
                </a:rPr>
                <a:t>dei</a:t>
              </a:r>
              <a:r>
                <a:rPr lang="en" sz="1100" b="1" dirty="0">
                  <a:solidFill>
                    <a:schemeClr val="lt1"/>
                  </a:solidFill>
                  <a:latin typeface="Exo" panose="02000503000000000000" pitchFamily="2" charset="77"/>
                </a:rPr>
                <a:t> </a:t>
              </a:r>
              <a:r>
                <a:rPr lang="en" sz="1100" b="1" dirty="0" err="1">
                  <a:solidFill>
                    <a:schemeClr val="lt1"/>
                  </a:solidFill>
                  <a:latin typeface="Exo" panose="02000503000000000000" pitchFamily="2" charset="77"/>
                </a:rPr>
                <a:t>giocatori</a:t>
              </a:r>
              <a:r>
                <a:rPr lang="en" sz="1100" b="1" dirty="0">
                  <a:solidFill>
                    <a:schemeClr val="lt1"/>
                  </a:solidFill>
                  <a:latin typeface="Exo" panose="02000503000000000000" pitchFamily="2" charset="77"/>
                </a:rPr>
                <a:t> </a:t>
              </a:r>
              <a:r>
                <a:rPr lang="en" sz="1100" b="1" dirty="0" err="1">
                  <a:solidFill>
                    <a:schemeClr val="lt1"/>
                  </a:solidFill>
                  <a:latin typeface="Exo" panose="02000503000000000000" pitchFamily="2" charset="77"/>
                </a:rPr>
                <a:t>italiani</a:t>
              </a:r>
              <a:r>
                <a:rPr lang="en" sz="1100" b="1" dirty="0">
                  <a:solidFill>
                    <a:schemeClr val="lt1"/>
                  </a:solidFill>
                  <a:latin typeface="Exo" panose="02000503000000000000" pitchFamily="2" charset="77"/>
                </a:rPr>
                <a:t> ‘</a:t>
              </a:r>
              <a:r>
                <a:rPr lang="en" sz="1100" b="1" dirty="0" err="1">
                  <a:solidFill>
                    <a:schemeClr val="lt1"/>
                  </a:solidFill>
                  <a:latin typeface="Exo" panose="02000503000000000000" pitchFamily="2" charset="77"/>
                </a:rPr>
                <a:t>fedeli</a:t>
              </a:r>
              <a:r>
                <a:rPr lang="en" sz="1100" b="1" dirty="0">
                  <a:solidFill>
                    <a:schemeClr val="lt1"/>
                  </a:solidFill>
                  <a:latin typeface="Exo" panose="02000503000000000000" pitchFamily="2" charset="77"/>
                </a:rPr>
                <a:t>’ </a:t>
              </a:r>
              <a:r>
                <a:rPr lang="en" sz="1100" b="1" dirty="0" err="1">
                  <a:solidFill>
                    <a:schemeClr val="lt1"/>
                  </a:solidFill>
                  <a:latin typeface="Exo" panose="02000503000000000000" pitchFamily="2" charset="77"/>
                </a:rPr>
                <a:t>alle</a:t>
              </a:r>
              <a:r>
                <a:rPr lang="en" sz="1100" b="1" dirty="0">
                  <a:solidFill>
                    <a:schemeClr val="lt1"/>
                  </a:solidFill>
                  <a:latin typeface="Exo" panose="02000503000000000000" pitchFamily="2" charset="77"/>
                </a:rPr>
                <a:t> </a:t>
              </a:r>
              <a:r>
                <a:rPr lang="en" sz="1100" b="1" dirty="0" err="1">
                  <a:solidFill>
                    <a:schemeClr val="lt1"/>
                  </a:solidFill>
                  <a:latin typeface="Exo" panose="02000503000000000000" pitchFamily="2" charset="77"/>
                </a:rPr>
                <a:t>scommesse</a:t>
              </a:r>
              <a:r>
                <a:rPr lang="en" sz="1100" b="1" dirty="0">
                  <a:solidFill>
                    <a:schemeClr val="lt1"/>
                  </a:solidFill>
                  <a:latin typeface="Exo" panose="02000503000000000000" pitchFamily="2" charset="77"/>
                </a:rPr>
                <a:t> sportive</a:t>
              </a:r>
            </a:p>
            <a:p>
              <a:pPr lvl="0" algn="r" rtl="0">
                <a:spcBef>
                  <a:spcPts val="0"/>
                </a:spcBef>
                <a:buNone/>
              </a:pPr>
              <a:endParaRPr sz="1100" b="1" dirty="0">
                <a:solidFill>
                  <a:schemeClr val="lt1"/>
                </a:solidFill>
                <a:latin typeface="Roboto"/>
                <a:ea typeface="Roboto"/>
                <a:cs typeface="Roboto"/>
                <a:sym typeface="Roboto"/>
              </a:endParaRPr>
            </a:p>
            <a:p>
              <a:pPr lvl="0" rtl="0">
                <a:spcBef>
                  <a:spcPts val="0"/>
                </a:spcBef>
                <a:buNone/>
              </a:pPr>
              <a:endParaRPr sz="1100" dirty="0">
                <a:solidFill>
                  <a:schemeClr val="lt1"/>
                </a:solidFill>
                <a:latin typeface="Roboto"/>
                <a:ea typeface="Roboto"/>
                <a:cs typeface="Roboto"/>
                <a:sym typeface="Roboto"/>
              </a:endParaRPr>
            </a:p>
          </p:txBody>
        </p:sp>
        <p:sp>
          <p:nvSpPr>
            <p:cNvPr id="157" name="Shape 157"/>
            <p:cNvSpPr txBox="1"/>
            <p:nvPr/>
          </p:nvSpPr>
          <p:spPr>
            <a:xfrm>
              <a:off x="6857525" y="3825475"/>
              <a:ext cx="1693200" cy="646199"/>
            </a:xfrm>
            <a:prstGeom prst="rect">
              <a:avLst/>
            </a:prstGeom>
            <a:noFill/>
            <a:ln>
              <a:noFill/>
            </a:ln>
          </p:spPr>
          <p:txBody>
            <a:bodyPr lIns="91425" tIns="91425" rIns="91425" bIns="91425" anchor="t" anchorCtr="0">
              <a:noAutofit/>
            </a:bodyPr>
            <a:lstStyle/>
            <a:p>
              <a:pPr lvl="0" algn="r" rtl="0">
                <a:spcBef>
                  <a:spcPts val="0"/>
                </a:spcBef>
                <a:buNone/>
              </a:pPr>
              <a:r>
                <a:rPr lang="it-IT" sz="900" dirty="0">
                  <a:solidFill>
                    <a:schemeClr val="lt1"/>
                  </a:solidFill>
                  <a:latin typeface="Exo" panose="02000503000000000000" pitchFamily="2" charset="77"/>
                  <a:ea typeface="Roboto"/>
                  <a:cs typeface="Roboto"/>
                  <a:sym typeface="Roboto"/>
                </a:rPr>
                <a:t>D</a:t>
              </a:r>
              <a:r>
                <a:rPr lang="en" sz="900" dirty="0">
                  <a:solidFill>
                    <a:schemeClr val="lt1"/>
                  </a:solidFill>
                  <a:latin typeface="Exo" panose="02000503000000000000" pitchFamily="2" charset="77"/>
                  <a:ea typeface="Roboto"/>
                  <a:cs typeface="Roboto"/>
                  <a:sym typeface="Roboto"/>
                </a:rPr>
                <a:t>a </a:t>
              </a:r>
              <a:r>
                <a:rPr lang="en" sz="900" dirty="0" err="1">
                  <a:solidFill>
                    <a:schemeClr val="lt1"/>
                  </a:solidFill>
                  <a:latin typeface="Exo" panose="02000503000000000000" pitchFamily="2" charset="77"/>
                  <a:ea typeface="Roboto"/>
                  <a:cs typeface="Roboto"/>
                  <a:sym typeface="Roboto"/>
                </a:rPr>
                <a:t>aggiungere</a:t>
              </a:r>
              <a:r>
                <a:rPr lang="en" sz="900" dirty="0">
                  <a:solidFill>
                    <a:schemeClr val="lt1"/>
                  </a:solidFill>
                  <a:latin typeface="Exo" panose="02000503000000000000" pitchFamily="2" charset="77"/>
                  <a:ea typeface="Roboto"/>
                  <a:cs typeface="Roboto"/>
                  <a:sym typeface="Roboto"/>
                </a:rPr>
                <a:t> </a:t>
              </a:r>
              <a:r>
                <a:rPr lang="en" sz="900" dirty="0" err="1">
                  <a:solidFill>
                    <a:schemeClr val="lt1"/>
                  </a:solidFill>
                  <a:latin typeface="Exo" panose="02000503000000000000" pitchFamily="2" charset="77"/>
                  <a:ea typeface="Roboto"/>
                  <a:cs typeface="Roboto"/>
                  <a:sym typeface="Roboto"/>
                </a:rPr>
                <a:t>una</a:t>
              </a:r>
              <a:r>
                <a:rPr lang="en" sz="900" dirty="0">
                  <a:solidFill>
                    <a:schemeClr val="lt1"/>
                  </a:solidFill>
                  <a:latin typeface="Exo" panose="02000503000000000000" pitchFamily="2" charset="77"/>
                  <a:ea typeface="Roboto"/>
                  <a:cs typeface="Roboto"/>
                  <a:sym typeface="Roboto"/>
                </a:rPr>
                <a:t> </a:t>
              </a:r>
              <a:r>
                <a:rPr lang="en" sz="900" dirty="0" err="1">
                  <a:solidFill>
                    <a:schemeClr val="lt1"/>
                  </a:solidFill>
                  <a:latin typeface="Exo" panose="02000503000000000000" pitchFamily="2" charset="77"/>
                  <a:ea typeface="Roboto"/>
                  <a:cs typeface="Roboto"/>
                  <a:sym typeface="Roboto"/>
                </a:rPr>
                <a:t>nuova</a:t>
              </a:r>
              <a:r>
                <a:rPr lang="en" sz="900" dirty="0">
                  <a:solidFill>
                    <a:schemeClr val="lt1"/>
                  </a:solidFill>
                  <a:latin typeface="Exo" panose="02000503000000000000" pitchFamily="2" charset="77"/>
                  <a:ea typeface="Roboto"/>
                  <a:cs typeface="Roboto"/>
                  <a:sym typeface="Roboto"/>
                </a:rPr>
                <a:t> </a:t>
              </a:r>
              <a:r>
                <a:rPr lang="en" sz="900" dirty="0" err="1">
                  <a:solidFill>
                    <a:schemeClr val="lt1"/>
                  </a:solidFill>
                  <a:latin typeface="Exo" panose="02000503000000000000" pitchFamily="2" charset="77"/>
                  <a:ea typeface="Roboto"/>
                  <a:cs typeface="Roboto"/>
                  <a:sym typeface="Roboto"/>
                </a:rPr>
                <a:t>descrizione</a:t>
              </a:r>
              <a:r>
                <a:rPr lang="en" sz="900" dirty="0">
                  <a:solidFill>
                    <a:schemeClr val="lt1"/>
                  </a:solidFill>
                  <a:latin typeface="Exo" panose="02000503000000000000" pitchFamily="2" charset="77"/>
                  <a:ea typeface="Roboto"/>
                  <a:cs typeface="Roboto"/>
                  <a:sym typeface="Roboto"/>
                </a:rPr>
                <a:t>.</a:t>
              </a:r>
            </a:p>
            <a:p>
              <a:pPr lvl="0" algn="r" rtl="0">
                <a:spcBef>
                  <a:spcPts val="0"/>
                </a:spcBef>
                <a:buNone/>
              </a:pPr>
              <a:endParaRPr sz="900" dirty="0">
                <a:solidFill>
                  <a:schemeClr val="lt1"/>
                </a:solidFill>
                <a:latin typeface="Roboto"/>
                <a:ea typeface="Roboto"/>
                <a:cs typeface="Roboto"/>
                <a:sym typeface="Roboto"/>
              </a:endParaRPr>
            </a:p>
            <a:p>
              <a:pPr lvl="0" algn="r" rtl="0">
                <a:spcBef>
                  <a:spcPts val="0"/>
                </a:spcBef>
                <a:buNone/>
              </a:pPr>
              <a:endParaRPr sz="900" dirty="0">
                <a:solidFill>
                  <a:schemeClr val="lt1"/>
                </a:solidFill>
                <a:latin typeface="Roboto"/>
                <a:ea typeface="Roboto"/>
                <a:cs typeface="Roboto"/>
                <a:sym typeface="Roboto"/>
              </a:endParaRPr>
            </a:p>
          </p:txBody>
        </p:sp>
      </p:grpSp>
      <p:grpSp>
        <p:nvGrpSpPr>
          <p:cNvPr id="158" name="Shape 158"/>
          <p:cNvGrpSpPr/>
          <p:nvPr/>
        </p:nvGrpSpPr>
        <p:grpSpPr>
          <a:xfrm>
            <a:off x="639750" y="4656000"/>
            <a:ext cx="1637106" cy="315775"/>
            <a:chOff x="639750" y="4656000"/>
            <a:chExt cx="1637106" cy="315775"/>
          </a:xfrm>
        </p:grpSpPr>
        <p:sp>
          <p:nvSpPr>
            <p:cNvPr id="159" name="Shape 159"/>
            <p:cNvSpPr/>
            <p:nvPr/>
          </p:nvSpPr>
          <p:spPr>
            <a:xfrm>
              <a:off x="639750" y="4726075"/>
              <a:ext cx="245700" cy="245700"/>
            </a:xfrm>
            <a:prstGeom prst="ellipse">
              <a:avLst/>
            </a:prstGeom>
            <a:solidFill>
              <a:srgbClr val="A8D5D7"/>
            </a:solidFill>
            <a:ln>
              <a:noFill/>
            </a:ln>
          </p:spPr>
          <p:txBody>
            <a:bodyPr lIns="91425" tIns="91425" rIns="91425" bIns="91425" anchor="ctr" anchorCtr="0">
              <a:noAutofit/>
            </a:bodyPr>
            <a:lstStyle/>
            <a:p>
              <a:pPr>
                <a:spcBef>
                  <a:spcPts val="0"/>
                </a:spcBef>
                <a:buNone/>
              </a:pPr>
              <a:endParaRPr/>
            </a:p>
          </p:txBody>
        </p:sp>
        <p:sp>
          <p:nvSpPr>
            <p:cNvPr id="160" name="Shape 160"/>
            <p:cNvSpPr txBox="1"/>
            <p:nvPr/>
          </p:nvSpPr>
          <p:spPr>
            <a:xfrm>
              <a:off x="885456" y="4656000"/>
              <a:ext cx="1391400" cy="290700"/>
            </a:xfrm>
            <a:prstGeom prst="rect">
              <a:avLst/>
            </a:prstGeom>
            <a:noFill/>
            <a:ln>
              <a:noFill/>
            </a:ln>
          </p:spPr>
          <p:txBody>
            <a:bodyPr lIns="91425" tIns="91425" rIns="91425" bIns="91425" anchor="t" anchorCtr="0">
              <a:noAutofit/>
            </a:bodyPr>
            <a:lstStyle/>
            <a:p>
              <a:pPr lvl="0" algn="l" rtl="0">
                <a:spcBef>
                  <a:spcPts val="0"/>
                </a:spcBef>
                <a:buNone/>
              </a:pPr>
              <a:r>
                <a:rPr lang="en" sz="1100" b="1" dirty="0">
                  <a:solidFill>
                    <a:srgbClr val="A8D5D7"/>
                  </a:solidFill>
                  <a:latin typeface="Exo" panose="02000503000000000000" pitchFamily="2" charset="77"/>
                  <a:ea typeface="Roboto Slab"/>
                  <a:cs typeface="Roboto Slab"/>
                  <a:sym typeface="Roboto Slab"/>
                </a:rPr>
                <a:t>Potential Market</a:t>
              </a:r>
            </a:p>
          </p:txBody>
        </p:sp>
      </p:grpSp>
      <p:grpSp>
        <p:nvGrpSpPr>
          <p:cNvPr id="161" name="Shape 161"/>
          <p:cNvGrpSpPr/>
          <p:nvPr/>
        </p:nvGrpSpPr>
        <p:grpSpPr>
          <a:xfrm>
            <a:off x="2706600" y="4656000"/>
            <a:ext cx="1637106" cy="315775"/>
            <a:chOff x="2706600" y="4656000"/>
            <a:chExt cx="1637106" cy="315775"/>
          </a:xfrm>
        </p:grpSpPr>
        <p:sp>
          <p:nvSpPr>
            <p:cNvPr id="162" name="Shape 162"/>
            <p:cNvSpPr/>
            <p:nvPr/>
          </p:nvSpPr>
          <p:spPr>
            <a:xfrm>
              <a:off x="2706600" y="4726075"/>
              <a:ext cx="245700" cy="245700"/>
            </a:xfrm>
            <a:prstGeom prst="ellipse">
              <a:avLst/>
            </a:prstGeom>
            <a:solidFill>
              <a:srgbClr val="7FB3E6"/>
            </a:solidFill>
            <a:ln>
              <a:noFill/>
            </a:ln>
          </p:spPr>
          <p:txBody>
            <a:bodyPr lIns="91425" tIns="91425" rIns="91425" bIns="91425" anchor="ctr" anchorCtr="0">
              <a:noAutofit/>
            </a:bodyPr>
            <a:lstStyle/>
            <a:p>
              <a:pPr>
                <a:spcBef>
                  <a:spcPts val="0"/>
                </a:spcBef>
                <a:buNone/>
              </a:pPr>
              <a:endParaRPr/>
            </a:p>
          </p:txBody>
        </p:sp>
        <p:sp>
          <p:nvSpPr>
            <p:cNvPr id="163" name="Shape 163"/>
            <p:cNvSpPr txBox="1"/>
            <p:nvPr/>
          </p:nvSpPr>
          <p:spPr>
            <a:xfrm>
              <a:off x="2952306" y="4656000"/>
              <a:ext cx="1391400" cy="290700"/>
            </a:xfrm>
            <a:prstGeom prst="rect">
              <a:avLst/>
            </a:prstGeom>
            <a:noFill/>
            <a:ln>
              <a:noFill/>
            </a:ln>
          </p:spPr>
          <p:txBody>
            <a:bodyPr lIns="91425" tIns="91425" rIns="91425" bIns="91425" anchor="t" anchorCtr="0">
              <a:noAutofit/>
            </a:bodyPr>
            <a:lstStyle/>
            <a:p>
              <a:pPr lvl="0" algn="l" rtl="0">
                <a:spcBef>
                  <a:spcPts val="0"/>
                </a:spcBef>
                <a:buNone/>
              </a:pPr>
              <a:r>
                <a:rPr lang="en" sz="1100" b="1" dirty="0">
                  <a:solidFill>
                    <a:srgbClr val="7FB3E6"/>
                  </a:solidFill>
                  <a:latin typeface="Exo" panose="02000503000000000000" pitchFamily="2" charset="77"/>
                  <a:ea typeface="Roboto Slab"/>
                  <a:cs typeface="Roboto Slab"/>
                  <a:sym typeface="Roboto Slab"/>
                </a:rPr>
                <a:t>Available Market</a:t>
              </a:r>
            </a:p>
          </p:txBody>
        </p:sp>
      </p:grpSp>
      <p:grpSp>
        <p:nvGrpSpPr>
          <p:cNvPr id="164" name="Shape 164"/>
          <p:cNvGrpSpPr/>
          <p:nvPr/>
        </p:nvGrpSpPr>
        <p:grpSpPr>
          <a:xfrm>
            <a:off x="4687775" y="4656000"/>
            <a:ext cx="1605631" cy="315775"/>
            <a:chOff x="4687775" y="4656000"/>
            <a:chExt cx="1605631" cy="315775"/>
          </a:xfrm>
        </p:grpSpPr>
        <p:sp>
          <p:nvSpPr>
            <p:cNvPr id="165" name="Shape 165"/>
            <p:cNvSpPr/>
            <p:nvPr/>
          </p:nvSpPr>
          <p:spPr>
            <a:xfrm>
              <a:off x="4687775" y="4726075"/>
              <a:ext cx="245700" cy="245700"/>
            </a:xfrm>
            <a:prstGeom prst="ellipse">
              <a:avLst/>
            </a:prstGeom>
            <a:solidFill>
              <a:srgbClr val="A5C961"/>
            </a:solidFill>
            <a:ln>
              <a:noFill/>
            </a:ln>
          </p:spPr>
          <p:txBody>
            <a:bodyPr lIns="91425" tIns="91425" rIns="91425" bIns="91425" anchor="ctr" anchorCtr="0">
              <a:noAutofit/>
            </a:bodyPr>
            <a:lstStyle/>
            <a:p>
              <a:pPr>
                <a:spcBef>
                  <a:spcPts val="0"/>
                </a:spcBef>
                <a:buNone/>
              </a:pPr>
              <a:endParaRPr/>
            </a:p>
          </p:txBody>
        </p:sp>
        <p:sp>
          <p:nvSpPr>
            <p:cNvPr id="166" name="Shape 166"/>
            <p:cNvSpPr txBox="1"/>
            <p:nvPr/>
          </p:nvSpPr>
          <p:spPr>
            <a:xfrm>
              <a:off x="4902006" y="4656000"/>
              <a:ext cx="1391400" cy="290700"/>
            </a:xfrm>
            <a:prstGeom prst="rect">
              <a:avLst/>
            </a:prstGeom>
            <a:noFill/>
            <a:ln>
              <a:noFill/>
            </a:ln>
          </p:spPr>
          <p:txBody>
            <a:bodyPr lIns="91425" tIns="91425" rIns="91425" bIns="91425" anchor="t" anchorCtr="0">
              <a:noAutofit/>
            </a:bodyPr>
            <a:lstStyle/>
            <a:p>
              <a:pPr lvl="0" algn="l" rtl="0">
                <a:spcBef>
                  <a:spcPts val="0"/>
                </a:spcBef>
                <a:buNone/>
              </a:pPr>
              <a:r>
                <a:rPr lang="en" sz="1100" b="1" dirty="0">
                  <a:solidFill>
                    <a:srgbClr val="A5C961"/>
                  </a:solidFill>
                  <a:latin typeface="Exo" panose="02000503000000000000" pitchFamily="2" charset="77"/>
                  <a:ea typeface="Roboto Slab"/>
                  <a:cs typeface="Roboto Slab"/>
                  <a:sym typeface="Roboto Slab"/>
                </a:rPr>
                <a:t>Qualified Market</a:t>
              </a:r>
            </a:p>
          </p:txBody>
        </p:sp>
      </p:grpSp>
      <p:grpSp>
        <p:nvGrpSpPr>
          <p:cNvPr id="167" name="Shape 167"/>
          <p:cNvGrpSpPr/>
          <p:nvPr/>
        </p:nvGrpSpPr>
        <p:grpSpPr>
          <a:xfrm>
            <a:off x="6703625" y="4656000"/>
            <a:ext cx="1619256" cy="315775"/>
            <a:chOff x="6703625" y="4656000"/>
            <a:chExt cx="1619256" cy="315775"/>
          </a:xfrm>
        </p:grpSpPr>
        <p:sp>
          <p:nvSpPr>
            <p:cNvPr id="168" name="Shape 168"/>
            <p:cNvSpPr/>
            <p:nvPr/>
          </p:nvSpPr>
          <p:spPr>
            <a:xfrm>
              <a:off x="6703625" y="4726075"/>
              <a:ext cx="245700" cy="245700"/>
            </a:xfrm>
            <a:prstGeom prst="ellipse">
              <a:avLst/>
            </a:prstGeom>
            <a:solidFill>
              <a:srgbClr val="F08B7C"/>
            </a:solidFill>
            <a:ln>
              <a:noFill/>
            </a:ln>
          </p:spPr>
          <p:txBody>
            <a:bodyPr lIns="91425" tIns="91425" rIns="91425" bIns="91425" anchor="ctr" anchorCtr="0">
              <a:noAutofit/>
            </a:bodyPr>
            <a:lstStyle/>
            <a:p>
              <a:pPr>
                <a:spcBef>
                  <a:spcPts val="0"/>
                </a:spcBef>
                <a:buNone/>
              </a:pPr>
              <a:endParaRPr/>
            </a:p>
          </p:txBody>
        </p:sp>
        <p:sp>
          <p:nvSpPr>
            <p:cNvPr id="169" name="Shape 169"/>
            <p:cNvSpPr txBox="1"/>
            <p:nvPr/>
          </p:nvSpPr>
          <p:spPr>
            <a:xfrm>
              <a:off x="6931481" y="4656000"/>
              <a:ext cx="1391400" cy="290700"/>
            </a:xfrm>
            <a:prstGeom prst="rect">
              <a:avLst/>
            </a:prstGeom>
            <a:noFill/>
            <a:ln>
              <a:noFill/>
            </a:ln>
          </p:spPr>
          <p:txBody>
            <a:bodyPr lIns="91425" tIns="91425" rIns="91425" bIns="91425" anchor="t" anchorCtr="0">
              <a:noAutofit/>
            </a:bodyPr>
            <a:lstStyle/>
            <a:p>
              <a:pPr lvl="0" algn="l" rtl="0">
                <a:spcBef>
                  <a:spcPts val="0"/>
                </a:spcBef>
                <a:buNone/>
              </a:pPr>
              <a:r>
                <a:rPr lang="en" sz="1100" b="1" dirty="0">
                  <a:solidFill>
                    <a:srgbClr val="F08B7C"/>
                  </a:solidFill>
                  <a:latin typeface="Exo" panose="02000503000000000000" pitchFamily="2" charset="77"/>
                  <a:ea typeface="Roboto Slab"/>
                  <a:cs typeface="Roboto Slab"/>
                  <a:sym typeface="Roboto Slab"/>
                </a:rPr>
                <a:t>Target Market</a:t>
              </a:r>
            </a:p>
          </p:txBody>
        </p:sp>
      </p:grpSp>
      <p:pic>
        <p:nvPicPr>
          <p:cNvPr id="46" name="Immagine 45">
            <a:extLst>
              <a:ext uri="{FF2B5EF4-FFF2-40B4-BE49-F238E27FC236}">
                <a16:creationId xmlns:a16="http://schemas.microsoft.com/office/drawing/2014/main" id="{FCC2180B-A54D-42C8-9543-5477756771C5}"/>
              </a:ext>
            </a:extLst>
          </p:cNvPr>
          <p:cNvPicPr>
            <a:picLocks noChangeAspect="1"/>
          </p:cNvPicPr>
          <p:nvPr/>
        </p:nvPicPr>
        <p:blipFill rotWithShape="1">
          <a:blip r:embed="rId6"/>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31"/>
                                        </p:tgtEl>
                                        <p:attrNameLst>
                                          <p:attrName>style.visibility</p:attrName>
                                        </p:attrNameLst>
                                      </p:cBhvr>
                                      <p:to>
                                        <p:strVal val="visible"/>
                                      </p:to>
                                    </p:set>
                                    <p:anim calcmode="lin" valueType="num">
                                      <p:cBhvr additive="base">
                                        <p:cTn id="7" dur="400"/>
                                        <p:tgtEl>
                                          <p:spTgt spid="131"/>
                                        </p:tgtEl>
                                        <p:attrNameLst>
                                          <p:attrName>ppt_w</p:attrName>
                                        </p:attrNameLst>
                                      </p:cBhvr>
                                      <p:tavLst>
                                        <p:tav tm="0">
                                          <p:val>
                                            <p:strVal val="0"/>
                                          </p:val>
                                        </p:tav>
                                        <p:tav tm="100000">
                                          <p:val>
                                            <p:strVal val="#ppt_w"/>
                                          </p:val>
                                        </p:tav>
                                      </p:tavLst>
                                    </p:anim>
                                    <p:anim calcmode="lin" valueType="num">
                                      <p:cBhvr additive="base">
                                        <p:cTn id="8" dur="400"/>
                                        <p:tgtEl>
                                          <p:spTgt spid="131"/>
                                        </p:tgtEl>
                                        <p:attrNameLst>
                                          <p:attrName>ppt_h</p:attrName>
                                        </p:attrNameLst>
                                      </p:cBhvr>
                                      <p:tavLst>
                                        <p:tav tm="0">
                                          <p:val>
                                            <p:strVal val="0"/>
                                          </p:val>
                                        </p:tav>
                                        <p:tav tm="100000">
                                          <p:val>
                                            <p:strVal val="#ppt_h"/>
                                          </p:val>
                                        </p:tav>
                                      </p:tavLst>
                                    </p:anim>
                                  </p:childTnLst>
                                </p:cTn>
                              </p:par>
                            </p:childTnLst>
                          </p:cTn>
                        </p:par>
                        <p:par>
                          <p:cTn id="9" fill="hold">
                            <p:stCondLst>
                              <p:cond delay="400"/>
                            </p:stCondLst>
                            <p:childTnLst>
                              <p:par>
                                <p:cTn id="10" presetID="2" presetClass="entr" presetSubtype="8" fill="hold" nodeType="afterEffect">
                                  <p:stCondLst>
                                    <p:cond delay="0"/>
                                  </p:stCondLst>
                                  <p:childTnLst>
                                    <p:set>
                                      <p:cBhvr>
                                        <p:cTn id="11" dur="1" fill="hold">
                                          <p:stCondLst>
                                            <p:cond delay="0"/>
                                          </p:stCondLst>
                                        </p:cTn>
                                        <p:tgtEl>
                                          <p:spTgt spid="134"/>
                                        </p:tgtEl>
                                        <p:attrNameLst>
                                          <p:attrName>style.visibility</p:attrName>
                                        </p:attrNameLst>
                                      </p:cBhvr>
                                      <p:to>
                                        <p:strVal val="visible"/>
                                      </p:to>
                                    </p:set>
                                    <p:anim calcmode="lin" valueType="num">
                                      <p:cBhvr additive="base">
                                        <p:cTn id="12" dur="700"/>
                                        <p:tgtEl>
                                          <p:spTgt spid="134"/>
                                        </p:tgtEl>
                                        <p:attrNameLst>
                                          <p:attrName>ppt_x</p:attrName>
                                        </p:attrNameLst>
                                      </p:cBhvr>
                                      <p:tavLst>
                                        <p:tav tm="0">
                                          <p:val>
                                            <p:strVal val="#ppt_x-1"/>
                                          </p:val>
                                        </p:tav>
                                        <p:tav tm="100000">
                                          <p:val>
                                            <p:strVal val="#ppt_x"/>
                                          </p:val>
                                        </p:tav>
                                      </p:tavLst>
                                    </p:anim>
                                  </p:childTnLst>
                                </p:cTn>
                              </p:par>
                            </p:childTnLst>
                          </p:cTn>
                        </p:par>
                        <p:par>
                          <p:cTn id="13" fill="hold">
                            <p:stCondLst>
                              <p:cond delay="1100"/>
                            </p:stCondLst>
                            <p:childTnLst>
                              <p:par>
                                <p:cTn id="14" presetID="10" presetClass="entr" presetSubtype="0" fill="hold" nodeType="afterEffect">
                                  <p:stCondLst>
                                    <p:cond delay="0"/>
                                  </p:stCondLst>
                                  <p:childTnLst>
                                    <p:set>
                                      <p:cBhvr>
                                        <p:cTn id="15" dur="1" fill="hold">
                                          <p:stCondLst>
                                            <p:cond delay="0"/>
                                          </p:stCondLst>
                                        </p:cTn>
                                        <p:tgtEl>
                                          <p:spTgt spid="146"/>
                                        </p:tgtEl>
                                        <p:attrNameLst>
                                          <p:attrName>style.visibility</p:attrName>
                                        </p:attrNameLst>
                                      </p:cBhvr>
                                      <p:to>
                                        <p:strVal val="visible"/>
                                      </p:to>
                                    </p:set>
                                    <p:animEffect transition="in" filter="fade">
                                      <p:cBhvr>
                                        <p:cTn id="16" dur="500"/>
                                        <p:tgtEl>
                                          <p:spTgt spid="146"/>
                                        </p:tgtEl>
                                      </p:cBhvr>
                                    </p:animEffect>
                                  </p:childTnLst>
                                </p:cTn>
                              </p:par>
                            </p:childTnLst>
                          </p:cTn>
                        </p:par>
                        <p:par>
                          <p:cTn id="17" fill="hold">
                            <p:stCondLst>
                              <p:cond delay="1600"/>
                            </p:stCondLst>
                            <p:childTnLst>
                              <p:par>
                                <p:cTn id="18" presetID="2" presetClass="entr" presetSubtype="8" fill="hold" nodeType="afterEffect">
                                  <p:stCondLst>
                                    <p:cond delay="0"/>
                                  </p:stCondLst>
                                  <p:childTnLst>
                                    <p:set>
                                      <p:cBhvr>
                                        <p:cTn id="19" dur="1" fill="hold">
                                          <p:stCondLst>
                                            <p:cond delay="0"/>
                                          </p:stCondLst>
                                        </p:cTn>
                                        <p:tgtEl>
                                          <p:spTgt spid="137"/>
                                        </p:tgtEl>
                                        <p:attrNameLst>
                                          <p:attrName>style.visibility</p:attrName>
                                        </p:attrNameLst>
                                      </p:cBhvr>
                                      <p:to>
                                        <p:strVal val="visible"/>
                                      </p:to>
                                    </p:set>
                                    <p:anim calcmode="lin" valueType="num">
                                      <p:cBhvr additive="base">
                                        <p:cTn id="20" dur="700"/>
                                        <p:tgtEl>
                                          <p:spTgt spid="137"/>
                                        </p:tgtEl>
                                        <p:attrNameLst>
                                          <p:attrName>ppt_x</p:attrName>
                                        </p:attrNameLst>
                                      </p:cBhvr>
                                      <p:tavLst>
                                        <p:tav tm="0">
                                          <p:val>
                                            <p:strVal val="#ppt_x-1"/>
                                          </p:val>
                                        </p:tav>
                                        <p:tav tm="100000">
                                          <p:val>
                                            <p:strVal val="#ppt_x"/>
                                          </p:val>
                                        </p:tav>
                                      </p:tavLst>
                                    </p:anim>
                                  </p:childTnLst>
                                </p:cTn>
                              </p:par>
                            </p:childTnLst>
                          </p:cTn>
                        </p:par>
                        <p:par>
                          <p:cTn id="21" fill="hold">
                            <p:stCondLst>
                              <p:cond delay="2300"/>
                            </p:stCondLst>
                            <p:childTnLst>
                              <p:par>
                                <p:cTn id="22" presetID="10" presetClass="entr" presetSubtype="0" fill="hold" nodeType="afterEffect">
                                  <p:stCondLst>
                                    <p:cond delay="0"/>
                                  </p:stCondLst>
                                  <p:childTnLst>
                                    <p:set>
                                      <p:cBhvr>
                                        <p:cTn id="23" dur="1" fill="hold">
                                          <p:stCondLst>
                                            <p:cond delay="0"/>
                                          </p:stCondLst>
                                        </p:cTn>
                                        <p:tgtEl>
                                          <p:spTgt spid="149"/>
                                        </p:tgtEl>
                                        <p:attrNameLst>
                                          <p:attrName>style.visibility</p:attrName>
                                        </p:attrNameLst>
                                      </p:cBhvr>
                                      <p:to>
                                        <p:strVal val="visible"/>
                                      </p:to>
                                    </p:set>
                                    <p:animEffect transition="in" filter="fade">
                                      <p:cBhvr>
                                        <p:cTn id="24" dur="1000"/>
                                        <p:tgtEl>
                                          <p:spTgt spid="149"/>
                                        </p:tgtEl>
                                      </p:cBhvr>
                                    </p:animEffect>
                                  </p:childTnLst>
                                </p:cTn>
                              </p:par>
                            </p:childTnLst>
                          </p:cTn>
                        </p:par>
                        <p:par>
                          <p:cTn id="25" fill="hold">
                            <p:stCondLst>
                              <p:cond delay="3300"/>
                            </p:stCondLst>
                            <p:childTnLst>
                              <p:par>
                                <p:cTn id="26" presetID="2" presetClass="entr" presetSubtype="2" fill="hold" nodeType="afterEffect">
                                  <p:stCondLst>
                                    <p:cond delay="0"/>
                                  </p:stCondLst>
                                  <p:childTnLst>
                                    <p:set>
                                      <p:cBhvr>
                                        <p:cTn id="27" dur="1" fill="hold">
                                          <p:stCondLst>
                                            <p:cond delay="0"/>
                                          </p:stCondLst>
                                        </p:cTn>
                                        <p:tgtEl>
                                          <p:spTgt spid="140"/>
                                        </p:tgtEl>
                                        <p:attrNameLst>
                                          <p:attrName>style.visibility</p:attrName>
                                        </p:attrNameLst>
                                      </p:cBhvr>
                                      <p:to>
                                        <p:strVal val="visible"/>
                                      </p:to>
                                    </p:set>
                                    <p:anim calcmode="lin" valueType="num">
                                      <p:cBhvr additive="base">
                                        <p:cTn id="28" dur="600"/>
                                        <p:tgtEl>
                                          <p:spTgt spid="140"/>
                                        </p:tgtEl>
                                        <p:attrNameLst>
                                          <p:attrName>ppt_x</p:attrName>
                                        </p:attrNameLst>
                                      </p:cBhvr>
                                      <p:tavLst>
                                        <p:tav tm="0">
                                          <p:val>
                                            <p:strVal val="#ppt_x+1"/>
                                          </p:val>
                                        </p:tav>
                                        <p:tav tm="100000">
                                          <p:val>
                                            <p:strVal val="#ppt_x"/>
                                          </p:val>
                                        </p:tav>
                                      </p:tavLst>
                                    </p:anim>
                                  </p:childTnLst>
                                </p:cTn>
                              </p:par>
                            </p:childTnLst>
                          </p:cTn>
                        </p:par>
                        <p:par>
                          <p:cTn id="29" fill="hold">
                            <p:stCondLst>
                              <p:cond delay="3900"/>
                            </p:stCondLst>
                            <p:childTnLst>
                              <p:par>
                                <p:cTn id="30" presetID="10" presetClass="entr" presetSubtype="0" fill="hold" nodeType="afterEffect">
                                  <p:stCondLst>
                                    <p:cond delay="0"/>
                                  </p:stCondLst>
                                  <p:childTnLst>
                                    <p:set>
                                      <p:cBhvr>
                                        <p:cTn id="31" dur="1" fill="hold">
                                          <p:stCondLst>
                                            <p:cond delay="0"/>
                                          </p:stCondLst>
                                        </p:cTn>
                                        <p:tgtEl>
                                          <p:spTgt spid="152"/>
                                        </p:tgtEl>
                                        <p:attrNameLst>
                                          <p:attrName>style.visibility</p:attrName>
                                        </p:attrNameLst>
                                      </p:cBhvr>
                                      <p:to>
                                        <p:strVal val="visible"/>
                                      </p:to>
                                    </p:set>
                                    <p:animEffect transition="in" filter="fade">
                                      <p:cBhvr>
                                        <p:cTn id="32" dur="700"/>
                                        <p:tgtEl>
                                          <p:spTgt spid="152"/>
                                        </p:tgtEl>
                                      </p:cBhvr>
                                    </p:animEffect>
                                  </p:childTnLst>
                                </p:cTn>
                              </p:par>
                            </p:childTnLst>
                          </p:cTn>
                        </p:par>
                        <p:par>
                          <p:cTn id="33" fill="hold">
                            <p:stCondLst>
                              <p:cond delay="4600"/>
                            </p:stCondLst>
                            <p:childTnLst>
                              <p:par>
                                <p:cTn id="34" presetID="2" presetClass="entr" presetSubtype="2" fill="hold" nodeType="afterEffect">
                                  <p:stCondLst>
                                    <p:cond delay="0"/>
                                  </p:stCondLst>
                                  <p:childTnLst>
                                    <p:set>
                                      <p:cBhvr>
                                        <p:cTn id="35" dur="1" fill="hold">
                                          <p:stCondLst>
                                            <p:cond delay="0"/>
                                          </p:stCondLst>
                                        </p:cTn>
                                        <p:tgtEl>
                                          <p:spTgt spid="143"/>
                                        </p:tgtEl>
                                        <p:attrNameLst>
                                          <p:attrName>style.visibility</p:attrName>
                                        </p:attrNameLst>
                                      </p:cBhvr>
                                      <p:to>
                                        <p:strVal val="visible"/>
                                      </p:to>
                                    </p:set>
                                    <p:anim calcmode="lin" valueType="num">
                                      <p:cBhvr additive="base">
                                        <p:cTn id="36" dur="700"/>
                                        <p:tgtEl>
                                          <p:spTgt spid="143"/>
                                        </p:tgtEl>
                                        <p:attrNameLst>
                                          <p:attrName>ppt_x</p:attrName>
                                        </p:attrNameLst>
                                      </p:cBhvr>
                                      <p:tavLst>
                                        <p:tav tm="0">
                                          <p:val>
                                            <p:strVal val="#ppt_x+1"/>
                                          </p:val>
                                        </p:tav>
                                        <p:tav tm="100000">
                                          <p:val>
                                            <p:strVal val="#ppt_x"/>
                                          </p:val>
                                        </p:tav>
                                      </p:tavLst>
                                    </p:anim>
                                  </p:childTnLst>
                                </p:cTn>
                              </p:par>
                            </p:childTnLst>
                          </p:cTn>
                        </p:par>
                        <p:par>
                          <p:cTn id="37" fill="hold">
                            <p:stCondLst>
                              <p:cond delay="5300"/>
                            </p:stCondLst>
                            <p:childTnLst>
                              <p:par>
                                <p:cTn id="38" presetID="10" presetClass="entr" presetSubtype="0" fill="hold" nodeType="afterEffect">
                                  <p:stCondLst>
                                    <p:cond delay="0"/>
                                  </p:stCondLst>
                                  <p:childTnLst>
                                    <p:set>
                                      <p:cBhvr>
                                        <p:cTn id="39" dur="1" fill="hold">
                                          <p:stCondLst>
                                            <p:cond delay="0"/>
                                          </p:stCondLst>
                                        </p:cTn>
                                        <p:tgtEl>
                                          <p:spTgt spid="155"/>
                                        </p:tgtEl>
                                        <p:attrNameLst>
                                          <p:attrName>style.visibility</p:attrName>
                                        </p:attrNameLst>
                                      </p:cBhvr>
                                      <p:to>
                                        <p:strVal val="visible"/>
                                      </p:to>
                                    </p:set>
                                    <p:animEffect transition="in" filter="fade">
                                      <p:cBhvr>
                                        <p:cTn id="40" dur="700"/>
                                        <p:tgtEl>
                                          <p:spTgt spid="155"/>
                                        </p:tgtEl>
                                      </p:cBhvr>
                                    </p:animEffect>
                                  </p:childTnLst>
                                </p:cTn>
                              </p:par>
                            </p:childTnLst>
                          </p:cTn>
                        </p:par>
                        <p:par>
                          <p:cTn id="41" fill="hold">
                            <p:stCondLst>
                              <p:cond delay="6000"/>
                            </p:stCondLst>
                            <p:childTnLst>
                              <p:par>
                                <p:cTn id="42" presetID="23" presetClass="entr" presetSubtype="16" fill="hold" nodeType="afterEffect">
                                  <p:stCondLst>
                                    <p:cond delay="0"/>
                                  </p:stCondLst>
                                  <p:childTnLst>
                                    <p:set>
                                      <p:cBhvr>
                                        <p:cTn id="43" dur="1" fill="hold">
                                          <p:stCondLst>
                                            <p:cond delay="0"/>
                                          </p:stCondLst>
                                        </p:cTn>
                                        <p:tgtEl>
                                          <p:spTgt spid="132"/>
                                        </p:tgtEl>
                                        <p:attrNameLst>
                                          <p:attrName>style.visibility</p:attrName>
                                        </p:attrNameLst>
                                      </p:cBhvr>
                                      <p:to>
                                        <p:strVal val="visible"/>
                                      </p:to>
                                    </p:set>
                                    <p:anim calcmode="lin" valueType="num">
                                      <p:cBhvr additive="base">
                                        <p:cTn id="44" dur="700"/>
                                        <p:tgtEl>
                                          <p:spTgt spid="132"/>
                                        </p:tgtEl>
                                        <p:attrNameLst>
                                          <p:attrName>ppt_w</p:attrName>
                                        </p:attrNameLst>
                                      </p:cBhvr>
                                      <p:tavLst>
                                        <p:tav tm="0">
                                          <p:val>
                                            <p:strVal val="0"/>
                                          </p:val>
                                        </p:tav>
                                        <p:tav tm="100000">
                                          <p:val>
                                            <p:strVal val="#ppt_w"/>
                                          </p:val>
                                        </p:tav>
                                      </p:tavLst>
                                    </p:anim>
                                    <p:anim calcmode="lin" valueType="num">
                                      <p:cBhvr additive="base">
                                        <p:cTn id="45" dur="700"/>
                                        <p:tgtEl>
                                          <p:spTgt spid="132"/>
                                        </p:tgtEl>
                                        <p:attrNameLst>
                                          <p:attrName>ppt_h</p:attrName>
                                        </p:attrNameLst>
                                      </p:cBhvr>
                                      <p:tavLst>
                                        <p:tav tm="0">
                                          <p:val>
                                            <p:strVal val="0"/>
                                          </p:val>
                                        </p:tav>
                                        <p:tav tm="100000">
                                          <p:val>
                                            <p:strVal val="#ppt_h"/>
                                          </p:val>
                                        </p:tav>
                                      </p:tavLst>
                                    </p:anim>
                                  </p:childTnLst>
                                </p:cTn>
                              </p:par>
                            </p:childTnLst>
                          </p:cTn>
                        </p:par>
                        <p:par>
                          <p:cTn id="46" fill="hold">
                            <p:stCondLst>
                              <p:cond delay="6700"/>
                            </p:stCondLst>
                            <p:childTnLst>
                              <p:par>
                                <p:cTn id="47" presetID="23" presetClass="entr" presetSubtype="16" fill="hold" nodeType="afterEffect">
                                  <p:stCondLst>
                                    <p:cond delay="0"/>
                                  </p:stCondLst>
                                  <p:childTnLst>
                                    <p:set>
                                      <p:cBhvr>
                                        <p:cTn id="48" dur="1" fill="hold">
                                          <p:stCondLst>
                                            <p:cond delay="0"/>
                                          </p:stCondLst>
                                        </p:cTn>
                                        <p:tgtEl>
                                          <p:spTgt spid="133"/>
                                        </p:tgtEl>
                                        <p:attrNameLst>
                                          <p:attrName>style.visibility</p:attrName>
                                        </p:attrNameLst>
                                      </p:cBhvr>
                                      <p:to>
                                        <p:strVal val="visible"/>
                                      </p:to>
                                    </p:set>
                                    <p:anim calcmode="lin" valueType="num">
                                      <p:cBhvr additive="base">
                                        <p:cTn id="49" dur="600"/>
                                        <p:tgtEl>
                                          <p:spTgt spid="133"/>
                                        </p:tgtEl>
                                        <p:attrNameLst>
                                          <p:attrName>ppt_w</p:attrName>
                                        </p:attrNameLst>
                                      </p:cBhvr>
                                      <p:tavLst>
                                        <p:tav tm="0">
                                          <p:val>
                                            <p:strVal val="0"/>
                                          </p:val>
                                        </p:tav>
                                        <p:tav tm="100000">
                                          <p:val>
                                            <p:strVal val="#ppt_w"/>
                                          </p:val>
                                        </p:tav>
                                      </p:tavLst>
                                    </p:anim>
                                    <p:anim calcmode="lin" valueType="num">
                                      <p:cBhvr additive="base">
                                        <p:cTn id="50" dur="600"/>
                                        <p:tgtEl>
                                          <p:spTgt spid="133"/>
                                        </p:tgtEl>
                                        <p:attrNameLst>
                                          <p:attrName>ppt_h</p:attrName>
                                        </p:attrNameLst>
                                      </p:cBhvr>
                                      <p:tavLst>
                                        <p:tav tm="0">
                                          <p:val>
                                            <p:strVal val="0"/>
                                          </p:val>
                                        </p:tav>
                                        <p:tav tm="100000">
                                          <p:val>
                                            <p:strVal val="#ppt_h"/>
                                          </p:val>
                                        </p:tav>
                                      </p:tavLst>
                                    </p:anim>
                                  </p:childTnLst>
                                </p:cTn>
                              </p:par>
                            </p:childTnLst>
                          </p:cTn>
                        </p:par>
                        <p:par>
                          <p:cTn id="51" fill="hold">
                            <p:stCondLst>
                              <p:cond delay="7300"/>
                            </p:stCondLst>
                            <p:childTnLst>
                              <p:par>
                                <p:cTn id="52" presetID="2" presetClass="entr" presetSubtype="4" fill="hold" nodeType="afterEffect">
                                  <p:stCondLst>
                                    <p:cond delay="0"/>
                                  </p:stCondLst>
                                  <p:childTnLst>
                                    <p:set>
                                      <p:cBhvr>
                                        <p:cTn id="53" dur="1" fill="hold">
                                          <p:stCondLst>
                                            <p:cond delay="0"/>
                                          </p:stCondLst>
                                        </p:cTn>
                                        <p:tgtEl>
                                          <p:spTgt spid="158"/>
                                        </p:tgtEl>
                                        <p:attrNameLst>
                                          <p:attrName>style.visibility</p:attrName>
                                        </p:attrNameLst>
                                      </p:cBhvr>
                                      <p:to>
                                        <p:strVal val="visible"/>
                                      </p:to>
                                    </p:set>
                                    <p:anim calcmode="lin" valueType="num">
                                      <p:cBhvr additive="base">
                                        <p:cTn id="54" dur="700"/>
                                        <p:tgtEl>
                                          <p:spTgt spid="158"/>
                                        </p:tgtEl>
                                        <p:attrNameLst>
                                          <p:attrName>ppt_y</p:attrName>
                                        </p:attrNameLst>
                                      </p:cBhvr>
                                      <p:tavLst>
                                        <p:tav tm="0">
                                          <p:val>
                                            <p:strVal val="#ppt_y+1"/>
                                          </p:val>
                                        </p:tav>
                                        <p:tav tm="100000">
                                          <p:val>
                                            <p:strVal val="#ppt_y"/>
                                          </p:val>
                                        </p:tav>
                                      </p:tavLst>
                                    </p:anim>
                                  </p:childTnLst>
                                </p:cTn>
                              </p:par>
                            </p:childTnLst>
                          </p:cTn>
                        </p:par>
                        <p:par>
                          <p:cTn id="55" fill="hold">
                            <p:stCondLst>
                              <p:cond delay="8000"/>
                            </p:stCondLst>
                            <p:childTnLst>
                              <p:par>
                                <p:cTn id="56" presetID="10" presetClass="entr" presetSubtype="0" fill="hold" nodeType="afterEffect">
                                  <p:stCondLst>
                                    <p:cond delay="0"/>
                                  </p:stCondLst>
                                  <p:childTnLst>
                                    <p:set>
                                      <p:cBhvr>
                                        <p:cTn id="57" dur="1" fill="hold">
                                          <p:stCondLst>
                                            <p:cond delay="0"/>
                                          </p:stCondLst>
                                        </p:cTn>
                                        <p:tgtEl>
                                          <p:spTgt spid="161"/>
                                        </p:tgtEl>
                                        <p:attrNameLst>
                                          <p:attrName>style.visibility</p:attrName>
                                        </p:attrNameLst>
                                      </p:cBhvr>
                                      <p:to>
                                        <p:strVal val="visible"/>
                                      </p:to>
                                    </p:set>
                                    <p:animEffect transition="in" filter="fade">
                                      <p:cBhvr>
                                        <p:cTn id="58" dur="700"/>
                                        <p:tgtEl>
                                          <p:spTgt spid="161"/>
                                        </p:tgtEl>
                                      </p:cBhvr>
                                    </p:animEffect>
                                  </p:childTnLst>
                                </p:cTn>
                              </p:par>
                            </p:childTnLst>
                          </p:cTn>
                        </p:par>
                        <p:par>
                          <p:cTn id="59" fill="hold">
                            <p:stCondLst>
                              <p:cond delay="8700"/>
                            </p:stCondLst>
                            <p:childTnLst>
                              <p:par>
                                <p:cTn id="60" presetID="10" presetClass="entr" presetSubtype="0" fill="hold" nodeType="afterEffect">
                                  <p:stCondLst>
                                    <p:cond delay="0"/>
                                  </p:stCondLst>
                                  <p:childTnLst>
                                    <p:set>
                                      <p:cBhvr>
                                        <p:cTn id="61" dur="1" fill="hold">
                                          <p:stCondLst>
                                            <p:cond delay="0"/>
                                          </p:stCondLst>
                                        </p:cTn>
                                        <p:tgtEl>
                                          <p:spTgt spid="164"/>
                                        </p:tgtEl>
                                        <p:attrNameLst>
                                          <p:attrName>style.visibility</p:attrName>
                                        </p:attrNameLst>
                                      </p:cBhvr>
                                      <p:to>
                                        <p:strVal val="visible"/>
                                      </p:to>
                                    </p:set>
                                    <p:animEffect transition="in" filter="fade">
                                      <p:cBhvr>
                                        <p:cTn id="62" dur="900"/>
                                        <p:tgtEl>
                                          <p:spTgt spid="164"/>
                                        </p:tgtEl>
                                      </p:cBhvr>
                                    </p:animEffect>
                                  </p:childTnLst>
                                </p:cTn>
                              </p:par>
                            </p:childTnLst>
                          </p:cTn>
                        </p:par>
                        <p:par>
                          <p:cTn id="63" fill="hold">
                            <p:stCondLst>
                              <p:cond delay="9600"/>
                            </p:stCondLst>
                            <p:childTnLst>
                              <p:par>
                                <p:cTn id="64" presetID="10" presetClass="entr" presetSubtype="0" fill="hold" nodeType="afterEffect">
                                  <p:stCondLst>
                                    <p:cond delay="0"/>
                                  </p:stCondLst>
                                  <p:childTnLst>
                                    <p:set>
                                      <p:cBhvr>
                                        <p:cTn id="65" dur="1" fill="hold">
                                          <p:stCondLst>
                                            <p:cond delay="0"/>
                                          </p:stCondLst>
                                        </p:cTn>
                                        <p:tgtEl>
                                          <p:spTgt spid="167"/>
                                        </p:tgtEl>
                                        <p:attrNameLst>
                                          <p:attrName>style.visibility</p:attrName>
                                        </p:attrNameLst>
                                      </p:cBhvr>
                                      <p:to>
                                        <p:strVal val="visible"/>
                                      </p:to>
                                    </p:set>
                                    <p:animEffect transition="in" filter="fade">
                                      <p:cBhvr>
                                        <p:cTn id="66" dur="700"/>
                                        <p:tgtEl>
                                          <p:spTgt spid="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7" name="Rettangolo 6">
            <a:extLst>
              <a:ext uri="{FF2B5EF4-FFF2-40B4-BE49-F238E27FC236}">
                <a16:creationId xmlns:a16="http://schemas.microsoft.com/office/drawing/2014/main" id="{757440B8-369E-4DD3-A801-24457FB5348B}"/>
              </a:ext>
            </a:extLst>
          </p:cNvPr>
          <p:cNvSpPr/>
          <p:nvPr/>
        </p:nvSpPr>
        <p:spPr>
          <a:xfrm>
            <a:off x="0" y="2774227"/>
            <a:ext cx="9144000" cy="620399"/>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sp>
        <p:nvSpPr>
          <p:cNvPr id="32" name="Shape 32"/>
          <p:cNvSpPr txBox="1"/>
          <p:nvPr/>
        </p:nvSpPr>
        <p:spPr>
          <a:xfrm>
            <a:off x="3240750" y="4349050"/>
            <a:ext cx="2662499" cy="290700"/>
          </a:xfrm>
          <a:prstGeom prst="rect">
            <a:avLst/>
          </a:prstGeom>
          <a:noFill/>
          <a:ln>
            <a:noFill/>
          </a:ln>
        </p:spPr>
        <p:txBody>
          <a:bodyPr lIns="91425" tIns="91425" rIns="91425" bIns="91425" anchor="t" anchorCtr="0">
            <a:noAutofit/>
          </a:bodyPr>
          <a:lstStyle/>
          <a:p>
            <a:pPr algn="ctr">
              <a:spcBef>
                <a:spcPts val="0"/>
              </a:spcBef>
              <a:buNone/>
            </a:pPr>
            <a:r>
              <a:rPr lang="en" sz="1000" dirty="0">
                <a:latin typeface="Roboto Slab"/>
                <a:ea typeface="Roboto Slab"/>
                <a:cs typeface="Roboto Slab"/>
                <a:sym typeface="Roboto Slab"/>
              </a:rPr>
              <a:t>www.startupwebsite.com</a:t>
            </a:r>
          </a:p>
        </p:txBody>
      </p:sp>
      <p:sp>
        <p:nvSpPr>
          <p:cNvPr id="33" name="Shape 33"/>
          <p:cNvSpPr txBox="1"/>
          <p:nvPr/>
        </p:nvSpPr>
        <p:spPr>
          <a:xfrm>
            <a:off x="242325" y="2831150"/>
            <a:ext cx="4329675" cy="620399"/>
          </a:xfrm>
          <a:prstGeom prst="rect">
            <a:avLst/>
          </a:prstGeom>
          <a:noFill/>
          <a:ln>
            <a:noFill/>
          </a:ln>
        </p:spPr>
        <p:txBody>
          <a:bodyPr lIns="91425" tIns="91425" rIns="91425" bIns="91425" anchor="t" anchorCtr="0">
            <a:noAutofit/>
          </a:bodyPr>
          <a:lstStyle/>
          <a:p>
            <a:pPr lvl="0" rtl="0">
              <a:spcBef>
                <a:spcPts val="0"/>
              </a:spcBef>
              <a:buClr>
                <a:schemeClr val="dk1"/>
              </a:buClr>
              <a:buSzPct val="55000"/>
              <a:buFont typeface="Arial"/>
              <a:buNone/>
            </a:pPr>
            <a:r>
              <a:rPr lang="en" sz="2800" b="1" dirty="0">
                <a:solidFill>
                  <a:schemeClr val="lt1"/>
                </a:solidFill>
                <a:latin typeface="Exo" panose="02000503000000000000" pitchFamily="2" charset="77"/>
                <a:ea typeface="Roboto Slab"/>
                <a:cs typeface="Roboto Slab"/>
                <a:sym typeface="Roboto Slab"/>
              </a:rPr>
              <a:t>KNOW YOUR TARGET</a:t>
            </a:r>
          </a:p>
          <a:p>
            <a:pPr>
              <a:spcBef>
                <a:spcPts val="0"/>
              </a:spcBef>
              <a:buNone/>
            </a:pPr>
            <a:endParaRPr dirty="0"/>
          </a:p>
        </p:txBody>
      </p:sp>
      <p:sp>
        <p:nvSpPr>
          <p:cNvPr id="34" name="Shape 34"/>
          <p:cNvSpPr txBox="1"/>
          <p:nvPr/>
        </p:nvSpPr>
        <p:spPr>
          <a:xfrm>
            <a:off x="4373750" y="2889275"/>
            <a:ext cx="4604400" cy="430500"/>
          </a:xfrm>
          <a:prstGeom prst="rect">
            <a:avLst/>
          </a:prstGeom>
          <a:noFill/>
          <a:ln>
            <a:noFill/>
          </a:ln>
        </p:spPr>
        <p:txBody>
          <a:bodyPr lIns="91425" tIns="91425" rIns="91425" bIns="91425" anchor="t" anchorCtr="0">
            <a:noAutofit/>
          </a:bodyPr>
          <a:lstStyle/>
          <a:p>
            <a:pPr lvl="0" algn="r" rtl="0">
              <a:spcBef>
                <a:spcPts val="0"/>
              </a:spcBef>
              <a:buNone/>
            </a:pPr>
            <a:r>
              <a:rPr lang="en" b="1" dirty="0">
                <a:solidFill>
                  <a:schemeClr val="lt1"/>
                </a:solidFill>
                <a:latin typeface="Exo" panose="02000503000000000000" pitchFamily="2" charset="77"/>
                <a:ea typeface="Roboto"/>
                <a:cs typeface="Roboto"/>
                <a:sym typeface="Roboto"/>
              </a:rPr>
              <a:t>Chi </a:t>
            </a:r>
            <a:r>
              <a:rPr lang="en" b="1" dirty="0" err="1">
                <a:solidFill>
                  <a:schemeClr val="lt1"/>
                </a:solidFill>
                <a:latin typeface="Exo" panose="02000503000000000000" pitchFamily="2" charset="77"/>
                <a:ea typeface="Roboto"/>
                <a:cs typeface="Roboto"/>
                <a:sym typeface="Roboto"/>
              </a:rPr>
              <a:t>sono</a:t>
            </a:r>
            <a:r>
              <a:rPr lang="en" b="1" dirty="0">
                <a:solidFill>
                  <a:schemeClr val="lt1"/>
                </a:solidFill>
                <a:latin typeface="Exo" panose="02000503000000000000" pitchFamily="2" charset="77"/>
                <a:ea typeface="Roboto"/>
                <a:cs typeface="Roboto"/>
                <a:sym typeface="Roboto"/>
              </a:rPr>
              <a:t> </a:t>
            </a:r>
            <a:r>
              <a:rPr lang="it-IT" b="1" dirty="0">
                <a:solidFill>
                  <a:schemeClr val="lt1"/>
                </a:solidFill>
                <a:latin typeface="Exo" panose="02000503000000000000" pitchFamily="2" charset="77"/>
                <a:ea typeface="Roboto"/>
                <a:cs typeface="Roboto"/>
                <a:sym typeface="Roboto"/>
              </a:rPr>
              <a:t>i</a:t>
            </a:r>
            <a:r>
              <a:rPr lang="en" b="1" dirty="0">
                <a:solidFill>
                  <a:schemeClr val="lt1"/>
                </a:solidFill>
                <a:latin typeface="Exo" panose="02000503000000000000" pitchFamily="2" charset="77"/>
                <a:ea typeface="Roboto"/>
                <a:cs typeface="Roboto"/>
                <a:sym typeface="Roboto"/>
              </a:rPr>
              <a:t> nostri utenti?</a:t>
            </a:r>
          </a:p>
          <a:p>
            <a:pPr lvl="0" rtl="0">
              <a:spcBef>
                <a:spcPts val="0"/>
              </a:spcBef>
              <a:buNone/>
            </a:pPr>
            <a:endParaRPr dirty="0"/>
          </a:p>
        </p:txBody>
      </p:sp>
      <p:pic>
        <p:nvPicPr>
          <p:cNvPr id="3" name="Immagine 2">
            <a:extLst>
              <a:ext uri="{FF2B5EF4-FFF2-40B4-BE49-F238E27FC236}">
                <a16:creationId xmlns:a16="http://schemas.microsoft.com/office/drawing/2014/main" id="{0DA18343-295D-48A2-9447-D43C713212AD}"/>
              </a:ext>
            </a:extLst>
          </p:cNvPr>
          <p:cNvPicPr>
            <a:picLocks noChangeAspect="1"/>
          </p:cNvPicPr>
          <p:nvPr/>
        </p:nvPicPr>
        <p:blipFill rotWithShape="1">
          <a:blip r:embed="rId3"/>
          <a:srcRect t="42749" b="42199"/>
          <a:stretch/>
        </p:blipFill>
        <p:spPr>
          <a:xfrm>
            <a:off x="1283546" y="1069126"/>
            <a:ext cx="6576908" cy="989948"/>
          </a:xfrm>
          <a:prstGeom prst="rect">
            <a:avLst/>
          </a:prstGeom>
        </p:spPr>
      </p:pic>
    </p:spTree>
    <p:extLst>
      <p:ext uri="{BB962C8B-B14F-4D97-AF65-F5344CB8AC3E}">
        <p14:creationId xmlns:p14="http://schemas.microsoft.com/office/powerpoint/2010/main" val="2689620914"/>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1000"/>
                                        <p:tgtEl>
                                          <p:spTgt spid="33"/>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1000"/>
                                        <p:tgtEl>
                                          <p:spTgt spid="34"/>
                                        </p:tgtEl>
                                        <p:attrNameLst>
                                          <p:attrName>ppt_x</p:attrName>
                                        </p:attrNameLst>
                                      </p:cBhvr>
                                      <p:tavLst>
                                        <p:tav tm="0">
                                          <p:val>
                                            <p:strVal val="#ppt_x+1"/>
                                          </p:val>
                                        </p:tav>
                                        <p:tav tm="100000">
                                          <p:val>
                                            <p:strVal val="#ppt_x"/>
                                          </p:val>
                                        </p:tav>
                                      </p:tavLst>
                                    </p:anim>
                                  </p:childTnLst>
                                </p:cTn>
                              </p:par>
                            </p:childTnLst>
                          </p:cTn>
                        </p:par>
                        <p:par>
                          <p:cTn id="12" fill="hold">
                            <p:stCondLst>
                              <p:cond delay="2000"/>
                            </p:stCondLst>
                            <p:childTnLst>
                              <p:par>
                                <p:cTn id="13" presetID="23" presetClass="entr" presetSubtype="16"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additive="base">
                                        <p:cTn id="15" dur="1000"/>
                                        <p:tgtEl>
                                          <p:spTgt spid="32"/>
                                        </p:tgtEl>
                                        <p:attrNameLst>
                                          <p:attrName>ppt_w</p:attrName>
                                        </p:attrNameLst>
                                      </p:cBhvr>
                                      <p:tavLst>
                                        <p:tav tm="0">
                                          <p:val>
                                            <p:strVal val="0"/>
                                          </p:val>
                                        </p:tav>
                                        <p:tav tm="100000">
                                          <p:val>
                                            <p:strVal val="#ppt_w"/>
                                          </p:val>
                                        </p:tav>
                                      </p:tavLst>
                                    </p:anim>
                                    <p:anim calcmode="lin" valueType="num">
                                      <p:cBhvr additive="base">
                                        <p:cTn id="16" dur="1000"/>
                                        <p:tgtEl>
                                          <p:spTgt spid="3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37" name="Rettangolo 36">
            <a:extLst>
              <a:ext uri="{FF2B5EF4-FFF2-40B4-BE49-F238E27FC236}">
                <a16:creationId xmlns:a16="http://schemas.microsoft.com/office/drawing/2014/main" id="{2313732A-F578-44D0-9B93-285AF8972262}"/>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798" name="Shape 798"/>
          <p:cNvPicPr preferRelativeResize="0"/>
          <p:nvPr/>
        </p:nvPicPr>
        <p:blipFill>
          <a:blip r:embed="rId3">
            <a:alphaModFix/>
          </a:blip>
          <a:stretch>
            <a:fillRect/>
          </a:stretch>
        </p:blipFill>
        <p:spPr>
          <a:xfrm>
            <a:off x="-84000" y="183075"/>
            <a:ext cx="9291700" cy="788900"/>
          </a:xfrm>
          <a:prstGeom prst="rect">
            <a:avLst/>
          </a:prstGeom>
          <a:noFill/>
          <a:ln>
            <a:noFill/>
          </a:ln>
        </p:spPr>
      </p:pic>
      <p:sp>
        <p:nvSpPr>
          <p:cNvPr id="801" name="Shape 801"/>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b="1" dirty="0">
                <a:solidFill>
                  <a:schemeClr val="accent3"/>
                </a:solidFill>
                <a:latin typeface="Exo" panose="02000503000000000000" pitchFamily="2" charset="77"/>
                <a:ea typeface="Roboto Slab"/>
                <a:cs typeface="Roboto Slab"/>
                <a:sym typeface="Roboto Slab"/>
              </a:rPr>
              <a:t>Target audience</a:t>
            </a: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rtl="0">
              <a:spcBef>
                <a:spcPts val="0"/>
              </a:spcBef>
              <a:buNone/>
            </a:pPr>
            <a:endParaRPr sz="1200" dirty="0"/>
          </a:p>
        </p:txBody>
      </p:sp>
      <p:sp>
        <p:nvSpPr>
          <p:cNvPr id="805" name="Shape 805"/>
          <p:cNvSpPr/>
          <p:nvPr/>
        </p:nvSpPr>
        <p:spPr>
          <a:xfrm rot="5400000">
            <a:off x="5387399" y="1394525"/>
            <a:ext cx="4229100" cy="3284099"/>
          </a:xfrm>
          <a:prstGeom prst="rect">
            <a:avLst/>
          </a:prstGeom>
          <a:solidFill>
            <a:srgbClr val="708E90"/>
          </a:solidFill>
          <a:ln>
            <a:noFill/>
          </a:ln>
        </p:spPr>
        <p:txBody>
          <a:bodyPr lIns="91425" tIns="91425" rIns="91425" bIns="91425" anchor="ctr" anchorCtr="0">
            <a:noAutofit/>
          </a:bodyPr>
          <a:lstStyle/>
          <a:p>
            <a:pPr>
              <a:spcBef>
                <a:spcPts val="0"/>
              </a:spcBef>
              <a:buNone/>
            </a:pPr>
            <a:endParaRPr/>
          </a:p>
        </p:txBody>
      </p:sp>
      <p:grpSp>
        <p:nvGrpSpPr>
          <p:cNvPr id="806" name="Shape 806"/>
          <p:cNvGrpSpPr/>
          <p:nvPr/>
        </p:nvGrpSpPr>
        <p:grpSpPr>
          <a:xfrm>
            <a:off x="5447984" y="1333479"/>
            <a:ext cx="883960" cy="973897"/>
            <a:chOff x="5447984" y="1333479"/>
            <a:chExt cx="883960" cy="973897"/>
          </a:xfrm>
        </p:grpSpPr>
        <p:grpSp>
          <p:nvGrpSpPr>
            <p:cNvPr id="807" name="Shape 807"/>
            <p:cNvGrpSpPr/>
            <p:nvPr/>
          </p:nvGrpSpPr>
          <p:grpSpPr>
            <a:xfrm>
              <a:off x="5447984" y="1340882"/>
              <a:ext cx="877678" cy="966495"/>
              <a:chOff x="1649600" y="1217575"/>
              <a:chExt cx="995099" cy="1095799"/>
            </a:xfrm>
          </p:grpSpPr>
          <p:sp>
            <p:nvSpPr>
              <p:cNvPr id="808" name="Shape 808"/>
              <p:cNvSpPr/>
              <p:nvPr/>
            </p:nvSpPr>
            <p:spPr>
              <a:xfrm>
                <a:off x="1649600" y="1318275"/>
                <a:ext cx="995099" cy="995099"/>
              </a:xfrm>
              <a:prstGeom prst="roundRect">
                <a:avLst>
                  <a:gd name="adj" fmla="val 16667"/>
                </a:avLst>
              </a:prstGeom>
              <a:solidFill>
                <a:srgbClr val="89AEB0"/>
              </a:solidFill>
              <a:ln>
                <a:noFill/>
              </a:ln>
            </p:spPr>
            <p:txBody>
              <a:bodyPr lIns="91425" tIns="91425" rIns="91425" bIns="91425" anchor="ctr" anchorCtr="0">
                <a:noAutofit/>
              </a:bodyPr>
              <a:lstStyle/>
              <a:p>
                <a:pPr>
                  <a:spcBef>
                    <a:spcPts val="0"/>
                  </a:spcBef>
                  <a:buNone/>
                </a:pPr>
                <a:endParaRPr/>
              </a:p>
            </p:txBody>
          </p:sp>
          <p:sp>
            <p:nvSpPr>
              <p:cNvPr id="809" name="Shape 809"/>
              <p:cNvSpPr/>
              <p:nvPr/>
            </p:nvSpPr>
            <p:spPr>
              <a:xfrm>
                <a:off x="1649600" y="1217575"/>
                <a:ext cx="995099" cy="995099"/>
              </a:xfrm>
              <a:prstGeom prst="roundRect">
                <a:avLst>
                  <a:gd name="adj" fmla="val 16667"/>
                </a:avLst>
              </a:prstGeom>
              <a:solidFill>
                <a:srgbClr val="A8D5D7"/>
              </a:solidFill>
              <a:ln>
                <a:noFill/>
              </a:ln>
            </p:spPr>
            <p:txBody>
              <a:bodyPr lIns="91425" tIns="91425" rIns="91425" bIns="91425" anchor="ctr" anchorCtr="0">
                <a:noAutofit/>
              </a:bodyPr>
              <a:lstStyle/>
              <a:p>
                <a:pPr>
                  <a:spcBef>
                    <a:spcPts val="0"/>
                  </a:spcBef>
                  <a:buNone/>
                </a:pPr>
                <a:endParaRPr/>
              </a:p>
            </p:txBody>
          </p:sp>
        </p:grpSp>
        <p:pic>
          <p:nvPicPr>
            <p:cNvPr id="810" name="Shape 810"/>
            <p:cNvPicPr preferRelativeResize="0"/>
            <p:nvPr/>
          </p:nvPicPr>
          <p:blipFill>
            <a:blip r:embed="rId4">
              <a:alphaModFix/>
            </a:blip>
            <a:stretch>
              <a:fillRect/>
            </a:stretch>
          </p:blipFill>
          <p:spPr>
            <a:xfrm>
              <a:off x="5492382" y="1333479"/>
              <a:ext cx="788899" cy="788899"/>
            </a:xfrm>
            <a:prstGeom prst="rect">
              <a:avLst/>
            </a:prstGeom>
            <a:noFill/>
            <a:ln>
              <a:noFill/>
            </a:ln>
          </p:spPr>
        </p:pic>
        <p:sp>
          <p:nvSpPr>
            <p:cNvPr id="811" name="Shape 811"/>
            <p:cNvSpPr txBox="1"/>
            <p:nvPr/>
          </p:nvSpPr>
          <p:spPr>
            <a:xfrm>
              <a:off x="5454144" y="1844502"/>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dirty="0">
                  <a:solidFill>
                    <a:schemeClr val="lt1"/>
                  </a:solidFill>
                  <a:latin typeface="Exo" panose="02000503000000000000" pitchFamily="2" charset="77"/>
                  <a:ea typeface="Roboto Slab"/>
                  <a:cs typeface="Roboto Slab"/>
                  <a:sym typeface="Roboto Slab"/>
                </a:rPr>
                <a:t>smartness</a:t>
              </a:r>
            </a:p>
          </p:txBody>
        </p:sp>
      </p:grpSp>
      <p:grpSp>
        <p:nvGrpSpPr>
          <p:cNvPr id="812" name="Shape 812"/>
          <p:cNvGrpSpPr/>
          <p:nvPr/>
        </p:nvGrpSpPr>
        <p:grpSpPr>
          <a:xfrm>
            <a:off x="5447250" y="2491510"/>
            <a:ext cx="879154" cy="1069459"/>
            <a:chOff x="5447250" y="2491510"/>
            <a:chExt cx="879154" cy="1069459"/>
          </a:xfrm>
        </p:grpSpPr>
        <p:grpSp>
          <p:nvGrpSpPr>
            <p:cNvPr id="813" name="Shape 813"/>
            <p:cNvGrpSpPr/>
            <p:nvPr/>
          </p:nvGrpSpPr>
          <p:grpSpPr>
            <a:xfrm>
              <a:off x="5448726" y="2594473"/>
              <a:ext cx="877678" cy="966495"/>
              <a:chOff x="846550" y="3039175"/>
              <a:chExt cx="995099" cy="1095799"/>
            </a:xfrm>
          </p:grpSpPr>
          <p:sp>
            <p:nvSpPr>
              <p:cNvPr id="814" name="Shape 814"/>
              <p:cNvSpPr/>
              <p:nvPr/>
            </p:nvSpPr>
            <p:spPr>
              <a:xfrm>
                <a:off x="846550" y="3139875"/>
                <a:ext cx="995099" cy="995099"/>
              </a:xfrm>
              <a:prstGeom prst="roundRect">
                <a:avLst>
                  <a:gd name="adj" fmla="val 16667"/>
                </a:avLst>
              </a:prstGeom>
              <a:solidFill>
                <a:srgbClr val="C06F63"/>
              </a:solidFill>
              <a:ln>
                <a:noFill/>
              </a:ln>
            </p:spPr>
            <p:txBody>
              <a:bodyPr lIns="91425" tIns="91425" rIns="91425" bIns="91425" anchor="ctr" anchorCtr="0">
                <a:noAutofit/>
              </a:bodyPr>
              <a:lstStyle/>
              <a:p>
                <a:pPr>
                  <a:spcBef>
                    <a:spcPts val="0"/>
                  </a:spcBef>
                  <a:buNone/>
                </a:pPr>
                <a:endParaRPr/>
              </a:p>
            </p:txBody>
          </p:sp>
          <p:sp>
            <p:nvSpPr>
              <p:cNvPr id="815" name="Shape 815"/>
              <p:cNvSpPr/>
              <p:nvPr/>
            </p:nvSpPr>
            <p:spPr>
              <a:xfrm>
                <a:off x="846550" y="3039175"/>
                <a:ext cx="995099" cy="995099"/>
              </a:xfrm>
              <a:prstGeom prst="roundRect">
                <a:avLst>
                  <a:gd name="adj" fmla="val 16667"/>
                </a:avLst>
              </a:prstGeom>
              <a:solidFill>
                <a:srgbClr val="F08B7C"/>
              </a:solidFill>
              <a:ln>
                <a:noFill/>
              </a:ln>
            </p:spPr>
            <p:txBody>
              <a:bodyPr lIns="91425" tIns="91425" rIns="91425" bIns="91425" anchor="ctr" anchorCtr="0">
                <a:noAutofit/>
              </a:bodyPr>
              <a:lstStyle/>
              <a:p>
                <a:pPr>
                  <a:spcBef>
                    <a:spcPts val="0"/>
                  </a:spcBef>
                  <a:buNone/>
                </a:pPr>
                <a:endParaRPr/>
              </a:p>
            </p:txBody>
          </p:sp>
        </p:grpSp>
        <p:pic>
          <p:nvPicPr>
            <p:cNvPr id="816" name="Shape 816"/>
            <p:cNvPicPr preferRelativeResize="0"/>
            <p:nvPr/>
          </p:nvPicPr>
          <p:blipFill>
            <a:blip r:embed="rId5">
              <a:alphaModFix/>
            </a:blip>
            <a:stretch>
              <a:fillRect/>
            </a:stretch>
          </p:blipFill>
          <p:spPr>
            <a:xfrm>
              <a:off x="5455157" y="2491510"/>
              <a:ext cx="864824" cy="864824"/>
            </a:xfrm>
            <a:prstGeom prst="rect">
              <a:avLst/>
            </a:prstGeom>
            <a:noFill/>
            <a:ln>
              <a:noFill/>
            </a:ln>
          </p:spPr>
        </p:pic>
        <p:sp>
          <p:nvSpPr>
            <p:cNvPr id="817" name="Shape 817"/>
            <p:cNvSpPr txBox="1"/>
            <p:nvPr/>
          </p:nvSpPr>
          <p:spPr>
            <a:xfrm>
              <a:off x="5447250" y="3129870"/>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dirty="0">
                  <a:solidFill>
                    <a:schemeClr val="lt1"/>
                  </a:solidFill>
                  <a:latin typeface="Exo" panose="02000503000000000000" pitchFamily="2" charset="77"/>
                  <a:ea typeface="Roboto Slab"/>
                  <a:cs typeface="Roboto Slab"/>
                  <a:sym typeface="Roboto Slab"/>
                </a:rPr>
                <a:t>Quality</a:t>
              </a:r>
            </a:p>
          </p:txBody>
        </p:sp>
      </p:grpSp>
      <p:grpSp>
        <p:nvGrpSpPr>
          <p:cNvPr id="818" name="Shape 818"/>
          <p:cNvGrpSpPr/>
          <p:nvPr/>
        </p:nvGrpSpPr>
        <p:grpSpPr>
          <a:xfrm>
            <a:off x="6377083" y="1363959"/>
            <a:ext cx="2751600" cy="759280"/>
            <a:chOff x="6377083" y="1363959"/>
            <a:chExt cx="2751600" cy="759280"/>
          </a:xfrm>
        </p:grpSpPr>
        <p:sp>
          <p:nvSpPr>
            <p:cNvPr id="819" name="Shape 819"/>
            <p:cNvSpPr txBox="1"/>
            <p:nvPr/>
          </p:nvSpPr>
          <p:spPr>
            <a:xfrm>
              <a:off x="6377083" y="1363959"/>
              <a:ext cx="2751600" cy="365399"/>
            </a:xfrm>
            <a:prstGeom prst="rect">
              <a:avLst/>
            </a:prstGeom>
            <a:noFill/>
            <a:ln>
              <a:noFill/>
            </a:ln>
          </p:spPr>
          <p:txBody>
            <a:bodyPr lIns="91425" tIns="91425" rIns="91425" bIns="91425" anchor="t" anchorCtr="0">
              <a:noAutofit/>
            </a:bodyPr>
            <a:lstStyle/>
            <a:p>
              <a:pPr lvl="0" rtl="0">
                <a:lnSpc>
                  <a:spcPct val="115000"/>
                </a:lnSpc>
                <a:spcBef>
                  <a:spcPts val="0"/>
                </a:spcBef>
                <a:buClr>
                  <a:schemeClr val="dk1"/>
                </a:buClr>
                <a:buSzPct val="78571"/>
                <a:buFont typeface="Arial"/>
                <a:buNone/>
              </a:pPr>
              <a:r>
                <a:rPr lang="en" b="1" dirty="0">
                  <a:solidFill>
                    <a:schemeClr val="lt1"/>
                  </a:solidFill>
                  <a:latin typeface="Exo" panose="02000503000000000000" pitchFamily="2" charset="77"/>
                  <a:ea typeface="Roboto Slab"/>
                  <a:cs typeface="Roboto Slab"/>
                  <a:sym typeface="Roboto Slab"/>
                </a:rPr>
                <a:t>GEN-Z (</a:t>
              </a:r>
              <a:r>
                <a:rPr lang="en" b="1" dirty="0" err="1">
                  <a:solidFill>
                    <a:schemeClr val="lt1"/>
                  </a:solidFill>
                  <a:latin typeface="Exo" panose="02000503000000000000" pitchFamily="2" charset="77"/>
                  <a:ea typeface="Roboto Slab"/>
                  <a:cs typeface="Roboto Slab"/>
                  <a:sym typeface="Roboto Slab"/>
                </a:rPr>
                <a:t>Nati</a:t>
              </a:r>
              <a:r>
                <a:rPr lang="en" b="1" dirty="0">
                  <a:solidFill>
                    <a:schemeClr val="lt1"/>
                  </a:solidFill>
                  <a:latin typeface="Exo" panose="02000503000000000000" pitchFamily="2" charset="77"/>
                  <a:ea typeface="Roboto Slab"/>
                  <a:cs typeface="Roboto Slab"/>
                  <a:sym typeface="Roboto Slab"/>
                </a:rPr>
                <a:t> 1995-2010)</a:t>
              </a:r>
            </a:p>
            <a:p>
              <a:pPr lvl="0" rtl="0">
                <a:lnSpc>
                  <a:spcPct val="115000"/>
                </a:lnSpc>
                <a:spcBef>
                  <a:spcPts val="0"/>
                </a:spcBef>
                <a:buClr>
                  <a:schemeClr val="dk1"/>
                </a:buClr>
                <a:buFont typeface="Arial"/>
                <a:buNone/>
              </a:pPr>
              <a:endParaRPr sz="1800" dirty="0">
                <a:solidFill>
                  <a:schemeClr val="lt1"/>
                </a:solidFill>
                <a:latin typeface="Roboto Slab"/>
                <a:ea typeface="Roboto Slab"/>
                <a:cs typeface="Roboto Slab"/>
                <a:sym typeface="Roboto Slab"/>
              </a:endParaRPr>
            </a:p>
            <a:p>
              <a:pPr lvl="0" rtl="0">
                <a:lnSpc>
                  <a:spcPct val="115000"/>
                </a:lnSpc>
                <a:spcBef>
                  <a:spcPts val="0"/>
                </a:spcBef>
                <a:buNone/>
              </a:pPr>
              <a:endParaRPr sz="1800" dirty="0">
                <a:solidFill>
                  <a:schemeClr val="lt1"/>
                </a:solidFill>
                <a:latin typeface="Roboto Slab"/>
                <a:ea typeface="Roboto Slab"/>
                <a:cs typeface="Roboto Slab"/>
                <a:sym typeface="Roboto Slab"/>
              </a:endParaRPr>
            </a:p>
            <a:p>
              <a:pPr lvl="0" rtl="0">
                <a:spcBef>
                  <a:spcPts val="0"/>
                </a:spcBef>
                <a:buNone/>
              </a:pPr>
              <a:endParaRPr sz="1800" dirty="0">
                <a:latin typeface="Roboto Slab"/>
                <a:ea typeface="Roboto Slab"/>
                <a:cs typeface="Roboto Slab"/>
                <a:sym typeface="Roboto Slab"/>
              </a:endParaRPr>
            </a:p>
          </p:txBody>
        </p:sp>
        <p:sp>
          <p:nvSpPr>
            <p:cNvPr id="820" name="Shape 820"/>
            <p:cNvSpPr txBox="1"/>
            <p:nvPr/>
          </p:nvSpPr>
          <p:spPr>
            <a:xfrm>
              <a:off x="6377085" y="1635440"/>
              <a:ext cx="2593179" cy="487799"/>
            </a:xfrm>
            <a:prstGeom prst="rect">
              <a:avLst/>
            </a:prstGeom>
            <a:noFill/>
            <a:ln>
              <a:noFill/>
            </a:ln>
          </p:spPr>
          <p:txBody>
            <a:bodyPr lIns="91425" tIns="91425" rIns="91425" bIns="91425" anchor="t" anchorCtr="0">
              <a:noAutofit/>
            </a:bodyPr>
            <a:lstStyle/>
            <a:p>
              <a:pPr lvl="0">
                <a:buClr>
                  <a:schemeClr val="dk1"/>
                </a:buClr>
                <a:buSzPct val="137500"/>
              </a:pPr>
              <a:r>
                <a:rPr lang="it-IT" sz="800" dirty="0">
                  <a:solidFill>
                    <a:schemeClr val="lt1"/>
                  </a:solidFill>
                  <a:latin typeface="Exo" panose="02000503000000000000" pitchFamily="2" charset="77"/>
                  <a:ea typeface="Roboto"/>
                  <a:cs typeface="Roboto"/>
                  <a:sym typeface="Roboto"/>
                </a:rPr>
                <a:t>I giovani della Generazione </a:t>
              </a:r>
              <a:r>
                <a:rPr lang="it-IT" sz="800" dirty="0" err="1">
                  <a:solidFill>
                    <a:schemeClr val="lt1"/>
                  </a:solidFill>
                  <a:latin typeface="Exo" panose="02000503000000000000" pitchFamily="2" charset="77"/>
                  <a:ea typeface="Roboto"/>
                  <a:cs typeface="Roboto"/>
                  <a:sym typeface="Roboto"/>
                </a:rPr>
                <a:t>Z</a:t>
              </a:r>
              <a:r>
                <a:rPr lang="it-IT" sz="800" dirty="0">
                  <a:solidFill>
                    <a:schemeClr val="lt1"/>
                  </a:solidFill>
                  <a:latin typeface="Exo" panose="02000503000000000000" pitchFamily="2" charset="77"/>
                  <a:ea typeface="Roboto"/>
                  <a:cs typeface="Roboto"/>
                  <a:sym typeface="Roboto"/>
                </a:rPr>
                <a:t> presto saranno influenti nelle scelte di consumo e rilevanti per le strategie di marketing aziendali. Quasi il 90% è sempre a costante contatto con il proprio </a:t>
              </a:r>
              <a:r>
                <a:rPr lang="it-IT" sz="800" dirty="0" err="1">
                  <a:solidFill>
                    <a:schemeClr val="lt1"/>
                  </a:solidFill>
                  <a:latin typeface="Exo" panose="02000503000000000000" pitchFamily="2" charset="77"/>
                  <a:ea typeface="Roboto"/>
                  <a:cs typeface="Roboto"/>
                  <a:sym typeface="Roboto"/>
                </a:rPr>
                <a:t>smartphone</a:t>
              </a:r>
              <a:r>
                <a:rPr lang="it-IT" sz="800" dirty="0">
                  <a:solidFill>
                    <a:schemeClr val="lt1"/>
                  </a:solidFill>
                  <a:latin typeface="Exo" panose="02000503000000000000" pitchFamily="2" charset="77"/>
                  <a:ea typeface="Roboto"/>
                  <a:cs typeface="Roboto"/>
                  <a:sym typeface="Roboto"/>
                </a:rPr>
                <a:t>.</a:t>
              </a:r>
              <a:endParaRPr sz="800" dirty="0">
                <a:solidFill>
                  <a:schemeClr val="lt1"/>
                </a:solidFill>
                <a:latin typeface="Roboto"/>
                <a:ea typeface="Roboto"/>
                <a:cs typeface="Roboto"/>
                <a:sym typeface="Roboto"/>
              </a:endParaRPr>
            </a:p>
          </p:txBody>
        </p:sp>
      </p:grpSp>
      <p:grpSp>
        <p:nvGrpSpPr>
          <p:cNvPr id="821" name="Shape 821"/>
          <p:cNvGrpSpPr/>
          <p:nvPr/>
        </p:nvGrpSpPr>
        <p:grpSpPr>
          <a:xfrm>
            <a:off x="6377083" y="2657375"/>
            <a:ext cx="2751600" cy="741874"/>
            <a:chOff x="6377083" y="2657375"/>
            <a:chExt cx="2751600" cy="741874"/>
          </a:xfrm>
        </p:grpSpPr>
        <p:sp>
          <p:nvSpPr>
            <p:cNvPr id="822" name="Shape 822"/>
            <p:cNvSpPr txBox="1"/>
            <p:nvPr/>
          </p:nvSpPr>
          <p:spPr>
            <a:xfrm>
              <a:off x="6377083" y="2657375"/>
              <a:ext cx="2751600" cy="365399"/>
            </a:xfrm>
            <a:prstGeom prst="rect">
              <a:avLst/>
            </a:prstGeom>
            <a:noFill/>
            <a:ln>
              <a:noFill/>
            </a:ln>
          </p:spPr>
          <p:txBody>
            <a:bodyPr lIns="91425" tIns="91425" rIns="91425" bIns="91425" anchor="t" anchorCtr="0">
              <a:noAutofit/>
            </a:bodyPr>
            <a:lstStyle/>
            <a:p>
              <a:pPr lvl="0" rtl="0">
                <a:lnSpc>
                  <a:spcPct val="115000"/>
                </a:lnSpc>
                <a:spcBef>
                  <a:spcPts val="0"/>
                </a:spcBef>
                <a:buClr>
                  <a:schemeClr val="dk1"/>
                </a:buClr>
                <a:buSzPct val="78571"/>
                <a:buFont typeface="Arial"/>
                <a:buNone/>
              </a:pPr>
              <a:r>
                <a:rPr lang="en" b="1" dirty="0">
                  <a:solidFill>
                    <a:schemeClr val="lt1"/>
                  </a:solidFill>
                  <a:latin typeface="Exo" panose="02000503000000000000" pitchFamily="2" charset="77"/>
                  <a:ea typeface="Roboto Slab"/>
                  <a:cs typeface="Roboto Slab"/>
                  <a:sym typeface="Roboto Slab"/>
                </a:rPr>
                <a:t>MILLENIALS (</a:t>
              </a:r>
              <a:r>
                <a:rPr lang="en" b="1" dirty="0" err="1">
                  <a:solidFill>
                    <a:schemeClr val="lt1"/>
                  </a:solidFill>
                  <a:latin typeface="Exo" panose="02000503000000000000" pitchFamily="2" charset="77"/>
                  <a:ea typeface="Roboto Slab"/>
                  <a:cs typeface="Roboto Slab"/>
                  <a:sym typeface="Roboto Slab"/>
                </a:rPr>
                <a:t>Nati</a:t>
              </a:r>
              <a:r>
                <a:rPr lang="en" b="1" dirty="0">
                  <a:solidFill>
                    <a:schemeClr val="lt1"/>
                  </a:solidFill>
                  <a:latin typeface="Exo" panose="02000503000000000000" pitchFamily="2" charset="77"/>
                  <a:ea typeface="Roboto Slab"/>
                  <a:cs typeface="Roboto Slab"/>
                  <a:sym typeface="Roboto Slab"/>
                </a:rPr>
                <a:t> 1985-2000)</a:t>
              </a:r>
            </a:p>
            <a:p>
              <a:pPr lvl="0" rtl="0">
                <a:lnSpc>
                  <a:spcPct val="115000"/>
                </a:lnSpc>
                <a:spcBef>
                  <a:spcPts val="0"/>
                </a:spcBef>
                <a:buClr>
                  <a:schemeClr val="dk1"/>
                </a:buClr>
                <a:buFont typeface="Arial"/>
                <a:buNone/>
              </a:pPr>
              <a:endParaRPr sz="1800" dirty="0">
                <a:solidFill>
                  <a:schemeClr val="lt1"/>
                </a:solidFill>
                <a:latin typeface="Roboto Slab"/>
                <a:ea typeface="Roboto Slab"/>
                <a:cs typeface="Roboto Slab"/>
                <a:sym typeface="Roboto Slab"/>
              </a:endParaRPr>
            </a:p>
            <a:p>
              <a:pPr lvl="0" rtl="0">
                <a:lnSpc>
                  <a:spcPct val="115000"/>
                </a:lnSpc>
                <a:spcBef>
                  <a:spcPts val="0"/>
                </a:spcBef>
                <a:buNone/>
              </a:pPr>
              <a:endParaRPr sz="1800" dirty="0">
                <a:solidFill>
                  <a:schemeClr val="lt1"/>
                </a:solidFill>
                <a:latin typeface="Roboto Slab"/>
                <a:ea typeface="Roboto Slab"/>
                <a:cs typeface="Roboto Slab"/>
                <a:sym typeface="Roboto Slab"/>
              </a:endParaRPr>
            </a:p>
            <a:p>
              <a:pPr lvl="0" rtl="0">
                <a:spcBef>
                  <a:spcPts val="0"/>
                </a:spcBef>
                <a:buNone/>
              </a:pPr>
              <a:endParaRPr sz="1800" dirty="0">
                <a:latin typeface="Roboto Slab"/>
                <a:ea typeface="Roboto Slab"/>
                <a:cs typeface="Roboto Slab"/>
                <a:sym typeface="Roboto Slab"/>
              </a:endParaRPr>
            </a:p>
          </p:txBody>
        </p:sp>
        <p:sp>
          <p:nvSpPr>
            <p:cNvPr id="823" name="Shape 823"/>
            <p:cNvSpPr txBox="1"/>
            <p:nvPr/>
          </p:nvSpPr>
          <p:spPr>
            <a:xfrm>
              <a:off x="6399944" y="2911450"/>
              <a:ext cx="2570320" cy="487799"/>
            </a:xfrm>
            <a:prstGeom prst="rect">
              <a:avLst/>
            </a:prstGeom>
            <a:noFill/>
            <a:ln>
              <a:noFill/>
            </a:ln>
          </p:spPr>
          <p:txBody>
            <a:bodyPr lIns="91425" tIns="91425" rIns="91425" bIns="91425" anchor="t" anchorCtr="0">
              <a:noAutofit/>
            </a:bodyPr>
            <a:lstStyle/>
            <a:p>
              <a:pPr lvl="0"/>
              <a:r>
                <a:rPr lang="it-IT" sz="800" dirty="0">
                  <a:solidFill>
                    <a:schemeClr val="lt1"/>
                  </a:solidFill>
                  <a:latin typeface="Exo" panose="02000503000000000000" pitchFamily="2" charset="77"/>
                  <a:ea typeface="Roboto"/>
                  <a:cs typeface="Roboto"/>
                  <a:sym typeface="Roboto"/>
                </a:rPr>
                <a:t>Grandi utilizzatori dei social network (il 76%), sullo </a:t>
              </a:r>
              <a:r>
                <a:rPr lang="it-IT" sz="800" dirty="0" err="1">
                  <a:solidFill>
                    <a:schemeClr val="lt1"/>
                  </a:solidFill>
                  <a:latin typeface="Exo" panose="02000503000000000000" pitchFamily="2" charset="77"/>
                  <a:ea typeface="Roboto"/>
                  <a:cs typeface="Roboto"/>
                  <a:sym typeface="Roboto"/>
                </a:rPr>
                <a:t>smartphone</a:t>
              </a:r>
              <a:r>
                <a:rPr lang="it-IT" sz="800" dirty="0">
                  <a:solidFill>
                    <a:schemeClr val="lt1"/>
                  </a:solidFill>
                  <a:latin typeface="Exo" panose="02000503000000000000" pitchFamily="2" charset="77"/>
                  <a:ea typeface="Roboto"/>
                  <a:cs typeface="Roboto"/>
                  <a:sym typeface="Roboto"/>
                </a:rPr>
                <a:t> trascorrono mediamente 2 ore e 41 minuti al giorno. Per i giovani di questa fascia d’età stanno online 66 ore e 34 minuti al mese.</a:t>
              </a:r>
              <a:endParaRPr sz="800" dirty="0">
                <a:solidFill>
                  <a:schemeClr val="lt1"/>
                </a:solidFill>
                <a:latin typeface="Roboto"/>
                <a:ea typeface="Roboto"/>
                <a:cs typeface="Roboto"/>
                <a:sym typeface="Roboto"/>
              </a:endParaRPr>
            </a:p>
          </p:txBody>
        </p:sp>
      </p:grpSp>
      <p:grpSp>
        <p:nvGrpSpPr>
          <p:cNvPr id="824" name="Shape 824"/>
          <p:cNvGrpSpPr/>
          <p:nvPr/>
        </p:nvGrpSpPr>
        <p:grpSpPr>
          <a:xfrm>
            <a:off x="6361843" y="3869952"/>
            <a:ext cx="2751600" cy="751977"/>
            <a:chOff x="6361843" y="3869952"/>
            <a:chExt cx="2751600" cy="751977"/>
          </a:xfrm>
        </p:grpSpPr>
        <p:sp>
          <p:nvSpPr>
            <p:cNvPr id="825" name="Shape 825"/>
            <p:cNvSpPr txBox="1"/>
            <p:nvPr/>
          </p:nvSpPr>
          <p:spPr>
            <a:xfrm>
              <a:off x="6361843" y="3869952"/>
              <a:ext cx="2751600" cy="365399"/>
            </a:xfrm>
            <a:prstGeom prst="rect">
              <a:avLst/>
            </a:prstGeom>
            <a:noFill/>
            <a:ln>
              <a:noFill/>
            </a:ln>
          </p:spPr>
          <p:txBody>
            <a:bodyPr lIns="91425" tIns="91425" rIns="91425" bIns="91425" anchor="t" anchorCtr="0">
              <a:noAutofit/>
            </a:bodyPr>
            <a:lstStyle/>
            <a:p>
              <a:pPr lvl="0" rtl="0">
                <a:lnSpc>
                  <a:spcPct val="115000"/>
                </a:lnSpc>
                <a:spcBef>
                  <a:spcPts val="0"/>
                </a:spcBef>
                <a:buClr>
                  <a:schemeClr val="dk1"/>
                </a:buClr>
                <a:buSzPct val="78571"/>
                <a:buFont typeface="Arial"/>
                <a:buNone/>
              </a:pPr>
              <a:r>
                <a:rPr lang="en" b="1" dirty="0">
                  <a:solidFill>
                    <a:schemeClr val="lt1"/>
                  </a:solidFill>
                  <a:latin typeface="Exo" panose="02000503000000000000" pitchFamily="2" charset="77"/>
                  <a:ea typeface="Roboto Slab"/>
                  <a:cs typeface="Roboto Slab"/>
                  <a:sym typeface="Roboto Slab"/>
                </a:rPr>
                <a:t>OVER 40</a:t>
              </a:r>
            </a:p>
            <a:p>
              <a:pPr lvl="0" rtl="0">
                <a:lnSpc>
                  <a:spcPct val="115000"/>
                </a:lnSpc>
                <a:spcBef>
                  <a:spcPts val="0"/>
                </a:spcBef>
                <a:buClr>
                  <a:schemeClr val="dk1"/>
                </a:buClr>
                <a:buFont typeface="Arial"/>
                <a:buNone/>
              </a:pPr>
              <a:endParaRPr sz="1800" dirty="0">
                <a:solidFill>
                  <a:schemeClr val="lt1"/>
                </a:solidFill>
                <a:latin typeface="Roboto Slab"/>
                <a:ea typeface="Roboto Slab"/>
                <a:cs typeface="Roboto Slab"/>
                <a:sym typeface="Roboto Slab"/>
              </a:endParaRPr>
            </a:p>
            <a:p>
              <a:pPr lvl="0" rtl="0">
                <a:lnSpc>
                  <a:spcPct val="115000"/>
                </a:lnSpc>
                <a:spcBef>
                  <a:spcPts val="0"/>
                </a:spcBef>
                <a:buNone/>
              </a:pPr>
              <a:endParaRPr sz="1800" dirty="0">
                <a:solidFill>
                  <a:schemeClr val="lt1"/>
                </a:solidFill>
                <a:latin typeface="Roboto Slab"/>
                <a:ea typeface="Roboto Slab"/>
                <a:cs typeface="Roboto Slab"/>
                <a:sym typeface="Roboto Slab"/>
              </a:endParaRPr>
            </a:p>
            <a:p>
              <a:pPr lvl="0" rtl="0">
                <a:spcBef>
                  <a:spcPts val="0"/>
                </a:spcBef>
                <a:buNone/>
              </a:pPr>
              <a:endParaRPr sz="1800" dirty="0">
                <a:latin typeface="Roboto Slab"/>
                <a:ea typeface="Roboto Slab"/>
                <a:cs typeface="Roboto Slab"/>
                <a:sym typeface="Roboto Slab"/>
              </a:endParaRPr>
            </a:p>
          </p:txBody>
        </p:sp>
        <p:sp>
          <p:nvSpPr>
            <p:cNvPr id="826" name="Shape 826"/>
            <p:cNvSpPr txBox="1"/>
            <p:nvPr/>
          </p:nvSpPr>
          <p:spPr>
            <a:xfrm>
              <a:off x="6392325" y="4134130"/>
              <a:ext cx="2186999" cy="487799"/>
            </a:xfrm>
            <a:prstGeom prst="rect">
              <a:avLst/>
            </a:prstGeom>
            <a:noFill/>
            <a:ln>
              <a:noFill/>
            </a:ln>
          </p:spPr>
          <p:txBody>
            <a:bodyPr lIns="91425" tIns="91425" rIns="91425" bIns="91425" anchor="t" anchorCtr="0">
              <a:noAutofit/>
            </a:bodyPr>
            <a:lstStyle/>
            <a:p>
              <a:pPr lvl="0" rtl="0">
                <a:spcBef>
                  <a:spcPts val="0"/>
                </a:spcBef>
                <a:buNone/>
              </a:pPr>
              <a:r>
                <a:rPr lang="en" sz="800" dirty="0">
                  <a:solidFill>
                    <a:schemeClr val="lt1"/>
                  </a:solidFill>
                  <a:latin typeface="Exo" panose="02000503000000000000" pitchFamily="2" charset="77"/>
                  <a:ea typeface="Roboto"/>
                  <a:cs typeface="Roboto"/>
                  <a:sym typeface="Roboto"/>
                </a:rPr>
                <a:t>Lorem ipsum dolor sit </a:t>
              </a:r>
              <a:r>
                <a:rPr lang="en" sz="800" dirty="0" err="1">
                  <a:solidFill>
                    <a:schemeClr val="lt1"/>
                  </a:solidFill>
                  <a:latin typeface="Exo" panose="02000503000000000000" pitchFamily="2" charset="77"/>
                  <a:ea typeface="Roboto"/>
                  <a:cs typeface="Roboto"/>
                  <a:sym typeface="Roboto"/>
                </a:rPr>
                <a:t>amet</a:t>
              </a:r>
              <a:r>
                <a:rPr lang="en" sz="800" dirty="0">
                  <a:solidFill>
                    <a:schemeClr val="lt1"/>
                  </a:solidFill>
                  <a:latin typeface="Exo" panose="02000503000000000000" pitchFamily="2" charset="77"/>
                  <a:ea typeface="Roboto"/>
                  <a:cs typeface="Roboto"/>
                  <a:sym typeface="Roboto"/>
                </a:rPr>
                <a:t>, </a:t>
              </a:r>
              <a:r>
                <a:rPr lang="en" sz="800" dirty="0" err="1">
                  <a:solidFill>
                    <a:schemeClr val="lt1"/>
                  </a:solidFill>
                  <a:latin typeface="Exo" panose="02000503000000000000" pitchFamily="2" charset="77"/>
                  <a:ea typeface="Roboto"/>
                  <a:cs typeface="Roboto"/>
                  <a:sym typeface="Roboto"/>
                </a:rPr>
                <a:t>consectetur</a:t>
              </a:r>
              <a:r>
                <a:rPr lang="en" sz="800" dirty="0">
                  <a:solidFill>
                    <a:schemeClr val="lt1"/>
                  </a:solidFill>
                  <a:latin typeface="Exo" panose="02000503000000000000" pitchFamily="2" charset="77"/>
                  <a:ea typeface="Roboto"/>
                  <a:cs typeface="Roboto"/>
                  <a:sym typeface="Roboto"/>
                </a:rPr>
                <a:t> </a:t>
              </a:r>
              <a:r>
                <a:rPr lang="en" sz="800" dirty="0" err="1">
                  <a:solidFill>
                    <a:schemeClr val="lt1"/>
                  </a:solidFill>
                  <a:latin typeface="Exo" panose="02000503000000000000" pitchFamily="2" charset="77"/>
                  <a:ea typeface="Roboto"/>
                  <a:cs typeface="Roboto"/>
                  <a:sym typeface="Roboto"/>
                </a:rPr>
                <a:t>adipiscing</a:t>
              </a:r>
              <a:r>
                <a:rPr lang="en" sz="800" dirty="0">
                  <a:solidFill>
                    <a:schemeClr val="lt1"/>
                  </a:solidFill>
                  <a:latin typeface="Exo" panose="02000503000000000000" pitchFamily="2" charset="77"/>
                  <a:ea typeface="Roboto"/>
                  <a:cs typeface="Roboto"/>
                  <a:sym typeface="Roboto"/>
                </a:rPr>
                <a:t> </a:t>
              </a:r>
              <a:r>
                <a:rPr lang="en" sz="800" dirty="0" err="1">
                  <a:solidFill>
                    <a:schemeClr val="lt1"/>
                  </a:solidFill>
                  <a:latin typeface="Exo" panose="02000503000000000000" pitchFamily="2" charset="77"/>
                  <a:ea typeface="Roboto"/>
                  <a:cs typeface="Roboto"/>
                  <a:sym typeface="Roboto"/>
                </a:rPr>
                <a:t>elit</a:t>
              </a:r>
              <a:r>
                <a:rPr lang="en" sz="800" dirty="0">
                  <a:solidFill>
                    <a:schemeClr val="lt1"/>
                  </a:solidFill>
                  <a:latin typeface="Exo" panose="02000503000000000000" pitchFamily="2" charset="77"/>
                  <a:ea typeface="Roboto"/>
                  <a:cs typeface="Roboto"/>
                  <a:sym typeface="Roboto"/>
                </a:rPr>
                <a:t>. </a:t>
              </a:r>
              <a:r>
                <a:rPr lang="en" sz="800" dirty="0" err="1">
                  <a:solidFill>
                    <a:schemeClr val="lt1"/>
                  </a:solidFill>
                  <a:latin typeface="Exo" panose="02000503000000000000" pitchFamily="2" charset="77"/>
                  <a:ea typeface="Roboto"/>
                  <a:cs typeface="Roboto"/>
                  <a:sym typeface="Roboto"/>
                </a:rPr>
                <a:t>Nulla</a:t>
              </a:r>
              <a:r>
                <a:rPr lang="en" sz="800" dirty="0">
                  <a:solidFill>
                    <a:schemeClr val="lt1"/>
                  </a:solidFill>
                  <a:latin typeface="Exo" panose="02000503000000000000" pitchFamily="2" charset="77"/>
                  <a:ea typeface="Roboto"/>
                  <a:cs typeface="Roboto"/>
                  <a:sym typeface="Roboto"/>
                </a:rPr>
                <a:t> </a:t>
              </a:r>
              <a:r>
                <a:rPr lang="en" sz="800" dirty="0" err="1">
                  <a:solidFill>
                    <a:schemeClr val="lt1"/>
                  </a:solidFill>
                  <a:latin typeface="Exo" panose="02000503000000000000" pitchFamily="2" charset="77"/>
                  <a:ea typeface="Roboto"/>
                  <a:cs typeface="Roboto"/>
                  <a:sym typeface="Roboto"/>
                </a:rPr>
                <a:t>dapibus</a:t>
              </a:r>
              <a:r>
                <a:rPr lang="en" sz="800" dirty="0">
                  <a:solidFill>
                    <a:schemeClr val="lt1"/>
                  </a:solidFill>
                  <a:latin typeface="Exo" panose="02000503000000000000" pitchFamily="2" charset="77"/>
                  <a:ea typeface="Roboto"/>
                  <a:cs typeface="Roboto"/>
                  <a:sym typeface="Roboto"/>
                </a:rPr>
                <a:t> </a:t>
              </a:r>
              <a:r>
                <a:rPr lang="en" sz="800" dirty="0" err="1">
                  <a:solidFill>
                    <a:schemeClr val="lt1"/>
                  </a:solidFill>
                  <a:latin typeface="Exo" panose="02000503000000000000" pitchFamily="2" charset="77"/>
                  <a:ea typeface="Roboto"/>
                  <a:cs typeface="Roboto"/>
                  <a:sym typeface="Roboto"/>
                </a:rPr>
                <a:t>nunc</a:t>
              </a:r>
              <a:r>
                <a:rPr lang="en" sz="800" dirty="0">
                  <a:solidFill>
                    <a:schemeClr val="lt1"/>
                  </a:solidFill>
                  <a:latin typeface="Exo" panose="02000503000000000000" pitchFamily="2" charset="77"/>
                  <a:ea typeface="Roboto"/>
                  <a:cs typeface="Roboto"/>
                  <a:sym typeface="Roboto"/>
                </a:rPr>
                <a:t> vitae </a:t>
              </a:r>
              <a:r>
                <a:rPr lang="en" sz="800" dirty="0" err="1">
                  <a:solidFill>
                    <a:schemeClr val="lt1"/>
                  </a:solidFill>
                  <a:latin typeface="Exo" panose="02000503000000000000" pitchFamily="2" charset="77"/>
                  <a:ea typeface="Roboto"/>
                  <a:cs typeface="Roboto"/>
                  <a:sym typeface="Roboto"/>
                </a:rPr>
                <a:t>velit</a:t>
              </a:r>
              <a:r>
                <a:rPr lang="en" sz="800" dirty="0">
                  <a:solidFill>
                    <a:schemeClr val="lt1"/>
                  </a:solidFill>
                  <a:latin typeface="Exo" panose="02000503000000000000" pitchFamily="2" charset="77"/>
                  <a:ea typeface="Roboto"/>
                  <a:cs typeface="Roboto"/>
                  <a:sym typeface="Roboto"/>
                </a:rPr>
                <a:t> </a:t>
              </a:r>
              <a:r>
                <a:rPr lang="en" sz="800" dirty="0" err="1">
                  <a:solidFill>
                    <a:schemeClr val="lt1"/>
                  </a:solidFill>
                  <a:latin typeface="Exo" panose="02000503000000000000" pitchFamily="2" charset="77"/>
                  <a:ea typeface="Roboto"/>
                  <a:cs typeface="Roboto"/>
                  <a:sym typeface="Roboto"/>
                </a:rPr>
                <a:t>ornare</a:t>
              </a:r>
              <a:r>
                <a:rPr lang="en" sz="800" dirty="0">
                  <a:solidFill>
                    <a:schemeClr val="lt1"/>
                  </a:solidFill>
                  <a:latin typeface="Exo" panose="02000503000000000000" pitchFamily="2" charset="77"/>
                  <a:ea typeface="Roboto"/>
                  <a:cs typeface="Roboto"/>
                  <a:sym typeface="Roboto"/>
                </a:rPr>
                <a:t>, </a:t>
              </a:r>
              <a:r>
                <a:rPr lang="en" sz="800" dirty="0" err="1">
                  <a:solidFill>
                    <a:schemeClr val="lt1"/>
                  </a:solidFill>
                  <a:latin typeface="Exo" panose="02000503000000000000" pitchFamily="2" charset="77"/>
                  <a:ea typeface="Roboto"/>
                  <a:cs typeface="Roboto"/>
                  <a:sym typeface="Roboto"/>
                </a:rPr>
                <a:t>pretium</a:t>
              </a:r>
              <a:r>
                <a:rPr lang="en" sz="800" dirty="0">
                  <a:solidFill>
                    <a:schemeClr val="lt1"/>
                  </a:solidFill>
                  <a:latin typeface="Exo" panose="02000503000000000000" pitchFamily="2" charset="77"/>
                  <a:ea typeface="Roboto"/>
                  <a:cs typeface="Roboto"/>
                  <a:sym typeface="Roboto"/>
                </a:rPr>
                <a:t> </a:t>
              </a:r>
              <a:r>
                <a:rPr lang="en" sz="800" dirty="0" err="1">
                  <a:solidFill>
                    <a:schemeClr val="lt1"/>
                  </a:solidFill>
                  <a:latin typeface="Exo" panose="02000503000000000000" pitchFamily="2" charset="77"/>
                  <a:ea typeface="Roboto"/>
                  <a:cs typeface="Roboto"/>
                  <a:sym typeface="Roboto"/>
                </a:rPr>
                <a:t>mauris</a:t>
              </a:r>
              <a:r>
                <a:rPr lang="en" sz="800" dirty="0">
                  <a:solidFill>
                    <a:schemeClr val="lt1"/>
                  </a:solidFill>
                  <a:latin typeface="Exo" panose="02000503000000000000" pitchFamily="2" charset="77"/>
                  <a:ea typeface="Roboto"/>
                  <a:cs typeface="Roboto"/>
                  <a:sym typeface="Roboto"/>
                </a:rPr>
                <a:t>, in </a:t>
              </a:r>
              <a:r>
                <a:rPr lang="en" sz="800" dirty="0" err="1">
                  <a:solidFill>
                    <a:schemeClr val="lt1"/>
                  </a:solidFill>
                  <a:latin typeface="Exo" panose="02000503000000000000" pitchFamily="2" charset="77"/>
                  <a:ea typeface="Roboto"/>
                  <a:cs typeface="Roboto"/>
                  <a:sym typeface="Roboto"/>
                </a:rPr>
                <a:t>elementum</a:t>
              </a:r>
              <a:r>
                <a:rPr lang="en" sz="800" dirty="0">
                  <a:solidFill>
                    <a:schemeClr val="lt1"/>
                  </a:solidFill>
                  <a:latin typeface="Exo" panose="02000503000000000000" pitchFamily="2" charset="77"/>
                  <a:ea typeface="Roboto"/>
                  <a:cs typeface="Roboto"/>
                  <a:sym typeface="Roboto"/>
                </a:rPr>
                <a:t>.</a:t>
              </a:r>
            </a:p>
            <a:p>
              <a:pPr lvl="0" rtl="0">
                <a:spcBef>
                  <a:spcPts val="0"/>
                </a:spcBef>
                <a:buNone/>
              </a:pPr>
              <a:endParaRPr sz="800" dirty="0">
                <a:solidFill>
                  <a:schemeClr val="lt1"/>
                </a:solidFill>
                <a:latin typeface="Roboto"/>
                <a:ea typeface="Roboto"/>
                <a:cs typeface="Roboto"/>
                <a:sym typeface="Roboto"/>
              </a:endParaRPr>
            </a:p>
          </p:txBody>
        </p:sp>
      </p:grpSp>
      <p:grpSp>
        <p:nvGrpSpPr>
          <p:cNvPr id="827" name="Shape 827"/>
          <p:cNvGrpSpPr/>
          <p:nvPr/>
        </p:nvGrpSpPr>
        <p:grpSpPr>
          <a:xfrm>
            <a:off x="5451695" y="3773835"/>
            <a:ext cx="882725" cy="1036894"/>
            <a:chOff x="5451695" y="3773835"/>
            <a:chExt cx="882725" cy="1036894"/>
          </a:xfrm>
        </p:grpSpPr>
        <p:grpSp>
          <p:nvGrpSpPr>
            <p:cNvPr id="828" name="Shape 828"/>
            <p:cNvGrpSpPr/>
            <p:nvPr/>
          </p:nvGrpSpPr>
          <p:grpSpPr>
            <a:xfrm>
              <a:off x="5454200" y="3844234"/>
              <a:ext cx="877678" cy="966495"/>
              <a:chOff x="6955650" y="1444825"/>
              <a:chExt cx="995099" cy="1095799"/>
            </a:xfrm>
          </p:grpSpPr>
          <p:sp>
            <p:nvSpPr>
              <p:cNvPr id="829" name="Shape 829"/>
              <p:cNvSpPr/>
              <p:nvPr/>
            </p:nvSpPr>
            <p:spPr>
              <a:xfrm>
                <a:off x="6955650" y="1545525"/>
                <a:ext cx="995099" cy="995099"/>
              </a:xfrm>
              <a:prstGeom prst="roundRect">
                <a:avLst>
                  <a:gd name="adj" fmla="val 16667"/>
                </a:avLst>
              </a:prstGeom>
              <a:solidFill>
                <a:srgbClr val="87A54F"/>
              </a:solidFill>
              <a:ln>
                <a:noFill/>
              </a:ln>
            </p:spPr>
            <p:txBody>
              <a:bodyPr lIns="91425" tIns="91425" rIns="91425" bIns="91425" anchor="ctr" anchorCtr="0">
                <a:noAutofit/>
              </a:bodyPr>
              <a:lstStyle/>
              <a:p>
                <a:pPr>
                  <a:spcBef>
                    <a:spcPts val="0"/>
                  </a:spcBef>
                  <a:buNone/>
                </a:pPr>
                <a:endParaRPr/>
              </a:p>
            </p:txBody>
          </p:sp>
          <p:sp>
            <p:nvSpPr>
              <p:cNvPr id="830" name="Shape 830"/>
              <p:cNvSpPr/>
              <p:nvPr/>
            </p:nvSpPr>
            <p:spPr>
              <a:xfrm>
                <a:off x="6955650" y="1444825"/>
                <a:ext cx="995099" cy="995099"/>
              </a:xfrm>
              <a:prstGeom prst="roundRect">
                <a:avLst>
                  <a:gd name="adj" fmla="val 16667"/>
                </a:avLst>
              </a:prstGeom>
              <a:solidFill>
                <a:srgbClr val="A5C961"/>
              </a:solidFill>
              <a:ln>
                <a:noFill/>
              </a:ln>
            </p:spPr>
            <p:txBody>
              <a:bodyPr lIns="91425" tIns="91425" rIns="91425" bIns="91425" anchor="ctr" anchorCtr="0">
                <a:noAutofit/>
              </a:bodyPr>
              <a:lstStyle/>
              <a:p>
                <a:pPr>
                  <a:spcBef>
                    <a:spcPts val="0"/>
                  </a:spcBef>
                  <a:buNone/>
                </a:pPr>
                <a:endParaRPr/>
              </a:p>
            </p:txBody>
          </p:sp>
        </p:grpSp>
        <p:sp>
          <p:nvSpPr>
            <p:cNvPr id="831" name="Shape 831"/>
            <p:cNvSpPr txBox="1"/>
            <p:nvPr/>
          </p:nvSpPr>
          <p:spPr>
            <a:xfrm>
              <a:off x="5456620" y="4392710"/>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lt1"/>
                  </a:solidFill>
                  <a:latin typeface="Roboto Slab"/>
                  <a:ea typeface="Roboto Slab"/>
                  <a:cs typeface="Roboto Slab"/>
                  <a:sym typeface="Roboto Slab"/>
                </a:rPr>
                <a:t>efficiency</a:t>
              </a:r>
            </a:p>
          </p:txBody>
        </p:sp>
        <p:pic>
          <p:nvPicPr>
            <p:cNvPr id="832" name="Shape 832"/>
            <p:cNvPicPr preferRelativeResize="0"/>
            <p:nvPr/>
          </p:nvPicPr>
          <p:blipFill>
            <a:blip r:embed="rId6">
              <a:alphaModFix/>
            </a:blip>
            <a:stretch>
              <a:fillRect/>
            </a:stretch>
          </p:blipFill>
          <p:spPr>
            <a:xfrm>
              <a:off x="5451695" y="3773835"/>
              <a:ext cx="877675" cy="877675"/>
            </a:xfrm>
            <a:prstGeom prst="rect">
              <a:avLst/>
            </a:prstGeom>
            <a:noFill/>
            <a:ln>
              <a:noFill/>
            </a:ln>
          </p:spPr>
        </p:pic>
      </p:grpSp>
      <p:pic>
        <p:nvPicPr>
          <p:cNvPr id="38" name="Immagine 37">
            <a:extLst>
              <a:ext uri="{FF2B5EF4-FFF2-40B4-BE49-F238E27FC236}">
                <a16:creationId xmlns:a16="http://schemas.microsoft.com/office/drawing/2014/main" id="{331530AA-3B17-42AB-BB2E-7D36808DE7CF}"/>
              </a:ext>
            </a:extLst>
          </p:cNvPr>
          <p:cNvPicPr>
            <a:picLocks noChangeAspect="1"/>
          </p:cNvPicPr>
          <p:nvPr/>
        </p:nvPicPr>
        <p:blipFill rotWithShape="1">
          <a:blip r:embed="rId7"/>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CasellaDiTesto 1">
            <a:extLst>
              <a:ext uri="{FF2B5EF4-FFF2-40B4-BE49-F238E27FC236}">
                <a16:creationId xmlns:a16="http://schemas.microsoft.com/office/drawing/2014/main" id="{E4B1A3C2-8521-EE47-BECD-4C70FBEECF46}"/>
              </a:ext>
            </a:extLst>
          </p:cNvPr>
          <p:cNvSpPr txBox="1"/>
          <p:nvPr/>
        </p:nvSpPr>
        <p:spPr>
          <a:xfrm>
            <a:off x="173736" y="1363959"/>
            <a:ext cx="5166360" cy="3354765"/>
          </a:xfrm>
          <a:prstGeom prst="rect">
            <a:avLst/>
          </a:prstGeom>
          <a:noFill/>
        </p:spPr>
        <p:txBody>
          <a:bodyPr wrap="square" rtlCol="0">
            <a:spAutoFit/>
          </a:bodyPr>
          <a:lstStyle/>
          <a:p>
            <a:pPr algn="ctr"/>
            <a:r>
              <a:rPr lang="it-IT" sz="1800" dirty="0">
                <a:latin typeface="Exo" panose="02000503000000000000" pitchFamily="2" charset="77"/>
              </a:rPr>
              <a:t>La nostra target audience, anche in base ai dati raccolti dai principali competitor, è formata da chiunque sia in grado di ricordare la finale dei Mondiali 2006 (e Cannavaro che alza la Coppa del Mondo) ma giovane per sapere chi sia </a:t>
            </a:r>
            <a:r>
              <a:rPr lang="it-IT" sz="1800" dirty="0">
                <a:highlight>
                  <a:srgbClr val="FF0000"/>
                </a:highlight>
                <a:latin typeface="Exo" panose="02000503000000000000" pitchFamily="2" charset="77"/>
              </a:rPr>
              <a:t>Anastasio (ultimo vincitore di X-</a:t>
            </a:r>
            <a:r>
              <a:rPr lang="it-IT" sz="1800" dirty="0" err="1">
                <a:highlight>
                  <a:srgbClr val="FF0000"/>
                </a:highlight>
                <a:latin typeface="Exo" panose="02000503000000000000" pitchFamily="2" charset="77"/>
              </a:rPr>
              <a:t>Factor</a:t>
            </a:r>
            <a:r>
              <a:rPr lang="it-IT" sz="1800" dirty="0">
                <a:latin typeface="Exo" panose="02000503000000000000" pitchFamily="2" charset="77"/>
              </a:rPr>
              <a:t>).</a:t>
            </a:r>
          </a:p>
          <a:p>
            <a:pPr algn="ctr"/>
            <a:endParaRPr lang="it-IT" sz="1800" dirty="0">
              <a:latin typeface="Exo" panose="02000503000000000000" pitchFamily="2" charset="77"/>
            </a:endParaRPr>
          </a:p>
          <a:p>
            <a:pPr algn="ctr"/>
            <a:r>
              <a:rPr lang="it-IT" sz="1800" dirty="0">
                <a:latin typeface="Exo" panose="02000503000000000000" pitchFamily="2" charset="77"/>
              </a:rPr>
              <a:t>12.2 sono i </a:t>
            </a:r>
            <a:r>
              <a:rPr lang="it-IT" sz="1800" dirty="0" err="1">
                <a:latin typeface="Exo" panose="02000503000000000000" pitchFamily="2" charset="77"/>
              </a:rPr>
              <a:t>Millenials</a:t>
            </a:r>
            <a:r>
              <a:rPr lang="it-IT" sz="1800" dirty="0">
                <a:latin typeface="Exo" panose="02000503000000000000" pitchFamily="2" charset="77"/>
              </a:rPr>
              <a:t> in Italia: il 39,5% lavora, il 18,9% studia, il 16,5% studia e lavora contemporaneamente e il 10,5% è alla ricerca di una occupazione. </a:t>
            </a:r>
          </a:p>
          <a:p>
            <a:endParaRPr lang="it-IT" dirty="0"/>
          </a:p>
        </p:txBody>
      </p:sp>
    </p:spTree>
    <p:extLst>
      <p:ext uri="{BB962C8B-B14F-4D97-AF65-F5344CB8AC3E}">
        <p14:creationId xmlns:p14="http://schemas.microsoft.com/office/powerpoint/2010/main" val="2879302615"/>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805"/>
                                        </p:tgtEl>
                                        <p:attrNameLst>
                                          <p:attrName>style.visibility</p:attrName>
                                        </p:attrNameLst>
                                      </p:cBhvr>
                                      <p:to>
                                        <p:strVal val="visible"/>
                                      </p:to>
                                    </p:set>
                                    <p:anim calcmode="lin" valueType="num">
                                      <p:cBhvr additive="base">
                                        <p:cTn id="7" dur="700"/>
                                        <p:tgtEl>
                                          <p:spTgt spid="805"/>
                                        </p:tgtEl>
                                        <p:attrNameLst>
                                          <p:attrName>ppt_x</p:attrName>
                                        </p:attrNameLst>
                                      </p:cBhvr>
                                      <p:tavLst>
                                        <p:tav tm="0">
                                          <p:val>
                                            <p:strVal val="#ppt_x+1"/>
                                          </p:val>
                                        </p:tav>
                                        <p:tav tm="100000">
                                          <p:val>
                                            <p:strVal val="#ppt_x"/>
                                          </p:val>
                                        </p:tav>
                                      </p:tavLst>
                                    </p:anim>
                                  </p:childTnLst>
                                </p:cTn>
                              </p:par>
                            </p:childTnLst>
                          </p:cTn>
                        </p:par>
                        <p:par>
                          <p:cTn id="8" fill="hold">
                            <p:stCondLst>
                              <p:cond delay="700"/>
                            </p:stCondLst>
                            <p:childTnLst>
                              <p:par>
                                <p:cTn id="9" presetID="23" presetClass="entr" presetSubtype="16" fill="hold" nodeType="afterEffect">
                                  <p:stCondLst>
                                    <p:cond delay="0"/>
                                  </p:stCondLst>
                                  <p:childTnLst>
                                    <p:set>
                                      <p:cBhvr>
                                        <p:cTn id="10" dur="1" fill="hold">
                                          <p:stCondLst>
                                            <p:cond delay="0"/>
                                          </p:stCondLst>
                                        </p:cTn>
                                        <p:tgtEl>
                                          <p:spTgt spid="806"/>
                                        </p:tgtEl>
                                        <p:attrNameLst>
                                          <p:attrName>style.visibility</p:attrName>
                                        </p:attrNameLst>
                                      </p:cBhvr>
                                      <p:to>
                                        <p:strVal val="visible"/>
                                      </p:to>
                                    </p:set>
                                    <p:anim calcmode="lin" valueType="num">
                                      <p:cBhvr additive="base">
                                        <p:cTn id="11" dur="700"/>
                                        <p:tgtEl>
                                          <p:spTgt spid="806"/>
                                        </p:tgtEl>
                                        <p:attrNameLst>
                                          <p:attrName>ppt_w</p:attrName>
                                        </p:attrNameLst>
                                      </p:cBhvr>
                                      <p:tavLst>
                                        <p:tav tm="0">
                                          <p:val>
                                            <p:strVal val="0"/>
                                          </p:val>
                                        </p:tav>
                                        <p:tav tm="100000">
                                          <p:val>
                                            <p:strVal val="#ppt_w"/>
                                          </p:val>
                                        </p:tav>
                                      </p:tavLst>
                                    </p:anim>
                                    <p:anim calcmode="lin" valueType="num">
                                      <p:cBhvr additive="base">
                                        <p:cTn id="12" dur="700"/>
                                        <p:tgtEl>
                                          <p:spTgt spid="806"/>
                                        </p:tgtEl>
                                        <p:attrNameLst>
                                          <p:attrName>ppt_h</p:attrName>
                                        </p:attrNameLst>
                                      </p:cBhvr>
                                      <p:tavLst>
                                        <p:tav tm="0">
                                          <p:val>
                                            <p:strVal val="0"/>
                                          </p:val>
                                        </p:tav>
                                        <p:tav tm="100000">
                                          <p:val>
                                            <p:strVal val="#ppt_h"/>
                                          </p:val>
                                        </p:tav>
                                      </p:tavLst>
                                    </p:anim>
                                  </p:childTnLst>
                                </p:cTn>
                              </p:par>
                            </p:childTnLst>
                          </p:cTn>
                        </p:par>
                        <p:par>
                          <p:cTn id="13" fill="hold">
                            <p:stCondLst>
                              <p:cond delay="1400"/>
                            </p:stCondLst>
                            <p:childTnLst>
                              <p:par>
                                <p:cTn id="14" presetID="23" presetClass="entr" presetSubtype="16" fill="hold" nodeType="afterEffect">
                                  <p:stCondLst>
                                    <p:cond delay="0"/>
                                  </p:stCondLst>
                                  <p:childTnLst>
                                    <p:set>
                                      <p:cBhvr>
                                        <p:cTn id="15" dur="1" fill="hold">
                                          <p:stCondLst>
                                            <p:cond delay="0"/>
                                          </p:stCondLst>
                                        </p:cTn>
                                        <p:tgtEl>
                                          <p:spTgt spid="812"/>
                                        </p:tgtEl>
                                        <p:attrNameLst>
                                          <p:attrName>style.visibility</p:attrName>
                                        </p:attrNameLst>
                                      </p:cBhvr>
                                      <p:to>
                                        <p:strVal val="visible"/>
                                      </p:to>
                                    </p:set>
                                    <p:anim calcmode="lin" valueType="num">
                                      <p:cBhvr additive="base">
                                        <p:cTn id="16" dur="700"/>
                                        <p:tgtEl>
                                          <p:spTgt spid="812"/>
                                        </p:tgtEl>
                                        <p:attrNameLst>
                                          <p:attrName>ppt_w</p:attrName>
                                        </p:attrNameLst>
                                      </p:cBhvr>
                                      <p:tavLst>
                                        <p:tav tm="0">
                                          <p:val>
                                            <p:strVal val="0"/>
                                          </p:val>
                                        </p:tav>
                                        <p:tav tm="100000">
                                          <p:val>
                                            <p:strVal val="#ppt_w"/>
                                          </p:val>
                                        </p:tav>
                                      </p:tavLst>
                                    </p:anim>
                                    <p:anim calcmode="lin" valueType="num">
                                      <p:cBhvr additive="base">
                                        <p:cTn id="17" dur="700"/>
                                        <p:tgtEl>
                                          <p:spTgt spid="812"/>
                                        </p:tgtEl>
                                        <p:attrNameLst>
                                          <p:attrName>ppt_h</p:attrName>
                                        </p:attrNameLst>
                                      </p:cBhvr>
                                      <p:tavLst>
                                        <p:tav tm="0">
                                          <p:val>
                                            <p:strVal val="0"/>
                                          </p:val>
                                        </p:tav>
                                        <p:tav tm="100000">
                                          <p:val>
                                            <p:strVal val="#ppt_h"/>
                                          </p:val>
                                        </p:tav>
                                      </p:tavLst>
                                    </p:anim>
                                  </p:childTnLst>
                                </p:cTn>
                              </p:par>
                            </p:childTnLst>
                          </p:cTn>
                        </p:par>
                        <p:par>
                          <p:cTn id="18" fill="hold">
                            <p:stCondLst>
                              <p:cond delay="2100"/>
                            </p:stCondLst>
                            <p:childTnLst>
                              <p:par>
                                <p:cTn id="19" presetID="23" presetClass="entr" presetSubtype="16" fill="hold" nodeType="afterEffect">
                                  <p:stCondLst>
                                    <p:cond delay="0"/>
                                  </p:stCondLst>
                                  <p:childTnLst>
                                    <p:set>
                                      <p:cBhvr>
                                        <p:cTn id="20" dur="1" fill="hold">
                                          <p:stCondLst>
                                            <p:cond delay="0"/>
                                          </p:stCondLst>
                                        </p:cTn>
                                        <p:tgtEl>
                                          <p:spTgt spid="827"/>
                                        </p:tgtEl>
                                        <p:attrNameLst>
                                          <p:attrName>style.visibility</p:attrName>
                                        </p:attrNameLst>
                                      </p:cBhvr>
                                      <p:to>
                                        <p:strVal val="visible"/>
                                      </p:to>
                                    </p:set>
                                    <p:anim calcmode="lin" valueType="num">
                                      <p:cBhvr additive="base">
                                        <p:cTn id="21" dur="600"/>
                                        <p:tgtEl>
                                          <p:spTgt spid="827"/>
                                        </p:tgtEl>
                                        <p:attrNameLst>
                                          <p:attrName>ppt_w</p:attrName>
                                        </p:attrNameLst>
                                      </p:cBhvr>
                                      <p:tavLst>
                                        <p:tav tm="0">
                                          <p:val>
                                            <p:strVal val="0"/>
                                          </p:val>
                                        </p:tav>
                                        <p:tav tm="100000">
                                          <p:val>
                                            <p:strVal val="#ppt_w"/>
                                          </p:val>
                                        </p:tav>
                                      </p:tavLst>
                                    </p:anim>
                                    <p:anim calcmode="lin" valueType="num">
                                      <p:cBhvr additive="base">
                                        <p:cTn id="22" dur="600"/>
                                        <p:tgtEl>
                                          <p:spTgt spid="827"/>
                                        </p:tgtEl>
                                        <p:attrNameLst>
                                          <p:attrName>ppt_h</p:attrName>
                                        </p:attrNameLst>
                                      </p:cBhvr>
                                      <p:tavLst>
                                        <p:tav tm="0">
                                          <p:val>
                                            <p:strVal val="0"/>
                                          </p:val>
                                        </p:tav>
                                        <p:tav tm="100000">
                                          <p:val>
                                            <p:strVal val="#ppt_h"/>
                                          </p:val>
                                        </p:tav>
                                      </p:tavLst>
                                    </p:anim>
                                  </p:childTnLst>
                                </p:cTn>
                              </p:par>
                            </p:childTnLst>
                          </p:cTn>
                        </p:par>
                        <p:par>
                          <p:cTn id="23" fill="hold">
                            <p:stCondLst>
                              <p:cond delay="2700"/>
                            </p:stCondLst>
                            <p:childTnLst>
                              <p:par>
                                <p:cTn id="24" presetID="2" presetClass="entr" presetSubtype="2" fill="hold" nodeType="afterEffect">
                                  <p:stCondLst>
                                    <p:cond delay="0"/>
                                  </p:stCondLst>
                                  <p:childTnLst>
                                    <p:set>
                                      <p:cBhvr>
                                        <p:cTn id="25" dur="1" fill="hold">
                                          <p:stCondLst>
                                            <p:cond delay="0"/>
                                          </p:stCondLst>
                                        </p:cTn>
                                        <p:tgtEl>
                                          <p:spTgt spid="818"/>
                                        </p:tgtEl>
                                        <p:attrNameLst>
                                          <p:attrName>style.visibility</p:attrName>
                                        </p:attrNameLst>
                                      </p:cBhvr>
                                      <p:to>
                                        <p:strVal val="visible"/>
                                      </p:to>
                                    </p:set>
                                    <p:anim calcmode="lin" valueType="num">
                                      <p:cBhvr additive="base">
                                        <p:cTn id="26" dur="700"/>
                                        <p:tgtEl>
                                          <p:spTgt spid="818"/>
                                        </p:tgtEl>
                                        <p:attrNameLst>
                                          <p:attrName>ppt_x</p:attrName>
                                        </p:attrNameLst>
                                      </p:cBhvr>
                                      <p:tavLst>
                                        <p:tav tm="0">
                                          <p:val>
                                            <p:strVal val="#ppt_x+1"/>
                                          </p:val>
                                        </p:tav>
                                        <p:tav tm="100000">
                                          <p:val>
                                            <p:strVal val="#ppt_x"/>
                                          </p:val>
                                        </p:tav>
                                      </p:tavLst>
                                    </p:anim>
                                  </p:childTnLst>
                                </p:cTn>
                              </p:par>
                            </p:childTnLst>
                          </p:cTn>
                        </p:par>
                        <p:par>
                          <p:cTn id="27" fill="hold">
                            <p:stCondLst>
                              <p:cond delay="3400"/>
                            </p:stCondLst>
                            <p:childTnLst>
                              <p:par>
                                <p:cTn id="28" presetID="2" presetClass="entr" presetSubtype="2" fill="hold" nodeType="afterEffect">
                                  <p:stCondLst>
                                    <p:cond delay="0"/>
                                  </p:stCondLst>
                                  <p:childTnLst>
                                    <p:set>
                                      <p:cBhvr>
                                        <p:cTn id="29" dur="1" fill="hold">
                                          <p:stCondLst>
                                            <p:cond delay="0"/>
                                          </p:stCondLst>
                                        </p:cTn>
                                        <p:tgtEl>
                                          <p:spTgt spid="821"/>
                                        </p:tgtEl>
                                        <p:attrNameLst>
                                          <p:attrName>style.visibility</p:attrName>
                                        </p:attrNameLst>
                                      </p:cBhvr>
                                      <p:to>
                                        <p:strVal val="visible"/>
                                      </p:to>
                                    </p:set>
                                    <p:anim calcmode="lin" valueType="num">
                                      <p:cBhvr additive="base">
                                        <p:cTn id="30" dur="700"/>
                                        <p:tgtEl>
                                          <p:spTgt spid="821"/>
                                        </p:tgtEl>
                                        <p:attrNameLst>
                                          <p:attrName>ppt_x</p:attrName>
                                        </p:attrNameLst>
                                      </p:cBhvr>
                                      <p:tavLst>
                                        <p:tav tm="0">
                                          <p:val>
                                            <p:strVal val="#ppt_x+1"/>
                                          </p:val>
                                        </p:tav>
                                        <p:tav tm="100000">
                                          <p:val>
                                            <p:strVal val="#ppt_x"/>
                                          </p:val>
                                        </p:tav>
                                      </p:tavLst>
                                    </p:anim>
                                  </p:childTnLst>
                                </p:cTn>
                              </p:par>
                            </p:childTnLst>
                          </p:cTn>
                        </p:par>
                        <p:par>
                          <p:cTn id="31" fill="hold">
                            <p:stCondLst>
                              <p:cond delay="4100"/>
                            </p:stCondLst>
                            <p:childTnLst>
                              <p:par>
                                <p:cTn id="32" presetID="2" presetClass="entr" presetSubtype="2" fill="hold" nodeType="afterEffect">
                                  <p:stCondLst>
                                    <p:cond delay="0"/>
                                  </p:stCondLst>
                                  <p:childTnLst>
                                    <p:set>
                                      <p:cBhvr>
                                        <p:cTn id="33" dur="1" fill="hold">
                                          <p:stCondLst>
                                            <p:cond delay="0"/>
                                          </p:stCondLst>
                                        </p:cTn>
                                        <p:tgtEl>
                                          <p:spTgt spid="824"/>
                                        </p:tgtEl>
                                        <p:attrNameLst>
                                          <p:attrName>style.visibility</p:attrName>
                                        </p:attrNameLst>
                                      </p:cBhvr>
                                      <p:to>
                                        <p:strVal val="visible"/>
                                      </p:to>
                                    </p:set>
                                    <p:anim calcmode="lin" valueType="num">
                                      <p:cBhvr additive="base">
                                        <p:cTn id="34" dur="700"/>
                                        <p:tgtEl>
                                          <p:spTgt spid="82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22" name="Rettangolo 21">
            <a:extLst>
              <a:ext uri="{FF2B5EF4-FFF2-40B4-BE49-F238E27FC236}">
                <a16:creationId xmlns:a16="http://schemas.microsoft.com/office/drawing/2014/main" id="{440579BD-4CF6-4E90-918A-49F8DED839BD}"/>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323" name="Shape 323"/>
          <p:cNvPicPr preferRelativeResize="0"/>
          <p:nvPr/>
        </p:nvPicPr>
        <p:blipFill>
          <a:blip r:embed="rId3">
            <a:alphaModFix/>
          </a:blip>
          <a:stretch>
            <a:fillRect/>
          </a:stretch>
        </p:blipFill>
        <p:spPr>
          <a:xfrm>
            <a:off x="6178753" y="933887"/>
            <a:ext cx="3028950" cy="4257675"/>
          </a:xfrm>
          <a:prstGeom prst="rect">
            <a:avLst/>
          </a:prstGeom>
          <a:noFill/>
          <a:ln>
            <a:noFill/>
          </a:ln>
        </p:spPr>
      </p:pic>
      <p:pic>
        <p:nvPicPr>
          <p:cNvPr id="324" name="Shape 324"/>
          <p:cNvPicPr preferRelativeResize="0"/>
          <p:nvPr/>
        </p:nvPicPr>
        <p:blipFill>
          <a:blip r:embed="rId4">
            <a:alphaModFix/>
          </a:blip>
          <a:stretch>
            <a:fillRect/>
          </a:stretch>
        </p:blipFill>
        <p:spPr>
          <a:xfrm>
            <a:off x="-84000" y="183075"/>
            <a:ext cx="9291700" cy="788900"/>
          </a:xfrm>
          <a:prstGeom prst="rect">
            <a:avLst/>
          </a:prstGeom>
          <a:noFill/>
          <a:ln>
            <a:noFill/>
          </a:ln>
        </p:spPr>
      </p:pic>
      <p:sp>
        <p:nvSpPr>
          <p:cNvPr id="327" name="Shape 327"/>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None/>
            </a:pPr>
            <a:r>
              <a:rPr lang="en" sz="1200" dirty="0">
                <a:solidFill>
                  <a:schemeClr val="accent3"/>
                </a:solidFill>
                <a:latin typeface="Exo" panose="02000503000000000000" pitchFamily="2" charset="77"/>
                <a:ea typeface="Roboto Slab"/>
                <a:cs typeface="Roboto Slab"/>
                <a:sym typeface="Roboto Slab"/>
              </a:rPr>
              <a:t>Target ID</a:t>
            </a: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rtl="0">
              <a:spcBef>
                <a:spcPts val="0"/>
              </a:spcBef>
              <a:buNone/>
            </a:pPr>
            <a:endParaRPr sz="1200" dirty="0"/>
          </a:p>
        </p:txBody>
      </p:sp>
      <p:grpSp>
        <p:nvGrpSpPr>
          <p:cNvPr id="328" name="Shape 328"/>
          <p:cNvGrpSpPr/>
          <p:nvPr/>
        </p:nvGrpSpPr>
        <p:grpSpPr>
          <a:xfrm>
            <a:off x="239725" y="933900"/>
            <a:ext cx="2533500" cy="5454149"/>
            <a:chOff x="239725" y="933900"/>
            <a:chExt cx="2533500" cy="5454149"/>
          </a:xfrm>
        </p:grpSpPr>
        <p:pic>
          <p:nvPicPr>
            <p:cNvPr id="329" name="Shape 329"/>
            <p:cNvPicPr preferRelativeResize="0"/>
            <p:nvPr/>
          </p:nvPicPr>
          <p:blipFill>
            <a:blip r:embed="rId5">
              <a:alphaModFix/>
            </a:blip>
            <a:stretch>
              <a:fillRect/>
            </a:stretch>
          </p:blipFill>
          <p:spPr>
            <a:xfrm>
              <a:off x="239725" y="4081198"/>
              <a:ext cx="2533500" cy="2306851"/>
            </a:xfrm>
            <a:prstGeom prst="rect">
              <a:avLst/>
            </a:prstGeom>
            <a:noFill/>
            <a:ln>
              <a:noFill/>
            </a:ln>
          </p:spPr>
        </p:pic>
        <p:sp>
          <p:nvSpPr>
            <p:cNvPr id="330" name="Shape 330"/>
            <p:cNvSpPr/>
            <p:nvPr/>
          </p:nvSpPr>
          <p:spPr>
            <a:xfrm>
              <a:off x="674550" y="933900"/>
              <a:ext cx="1658099" cy="3147300"/>
            </a:xfrm>
            <a:prstGeom prst="rect">
              <a:avLst/>
            </a:prstGeom>
            <a:solidFill>
              <a:srgbClr val="FFBC49"/>
            </a:solidFill>
            <a:ln>
              <a:noFill/>
            </a:ln>
          </p:spPr>
          <p:txBody>
            <a:bodyPr lIns="91425" tIns="91425" rIns="91425" bIns="91425" anchor="ctr" anchorCtr="0">
              <a:noAutofit/>
            </a:bodyPr>
            <a:lstStyle/>
            <a:p>
              <a:pPr>
                <a:spcBef>
                  <a:spcPts val="0"/>
                </a:spcBef>
                <a:buNone/>
              </a:pPr>
              <a:endParaRPr dirty="0"/>
            </a:p>
          </p:txBody>
        </p:sp>
        <p:sp>
          <p:nvSpPr>
            <p:cNvPr id="331" name="Shape 331"/>
            <p:cNvSpPr txBox="1"/>
            <p:nvPr/>
          </p:nvSpPr>
          <p:spPr>
            <a:xfrm>
              <a:off x="876925" y="1237350"/>
              <a:ext cx="1259099" cy="2668799"/>
            </a:xfrm>
            <a:prstGeom prst="rect">
              <a:avLst/>
            </a:prstGeom>
            <a:noFill/>
            <a:ln>
              <a:noFill/>
            </a:ln>
          </p:spPr>
          <p:txBody>
            <a:bodyPr lIns="91425" tIns="91425" rIns="91425" bIns="91425" anchor="t" anchorCtr="0">
              <a:noAutofit/>
            </a:bodyPr>
            <a:lstStyle/>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Name: </a:t>
              </a:r>
            </a:p>
            <a:p>
              <a:pPr lvl="0" rtl="0">
                <a:lnSpc>
                  <a:spcPct val="115000"/>
                </a:lnSpc>
                <a:spcBef>
                  <a:spcPts val="0"/>
                </a:spcBef>
                <a:buClr>
                  <a:schemeClr val="dk1"/>
                </a:buClr>
                <a:buSzPct val="100000"/>
                <a:buFont typeface="Arial"/>
                <a:buNone/>
              </a:pPr>
              <a:r>
                <a:rPr lang="en" sz="1100" dirty="0">
                  <a:solidFill>
                    <a:schemeClr val="dk2"/>
                  </a:solidFill>
                  <a:latin typeface="Exo" panose="02000503000000000000" pitchFamily="2" charset="77"/>
                  <a:ea typeface="Roboto Slab"/>
                  <a:cs typeface="Roboto Slab"/>
                  <a:sym typeface="Roboto Slab"/>
                </a:rPr>
                <a:t>Alberto</a:t>
              </a: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Age: </a:t>
              </a:r>
            </a:p>
            <a:p>
              <a:pPr lvl="0" rtl="0">
                <a:lnSpc>
                  <a:spcPct val="115000"/>
                </a:lnSpc>
                <a:spcBef>
                  <a:spcPts val="0"/>
                </a:spcBef>
                <a:buClr>
                  <a:schemeClr val="dk1"/>
                </a:buClr>
                <a:buSzPct val="100000"/>
                <a:buFont typeface="Arial"/>
                <a:buNone/>
              </a:pPr>
              <a:r>
                <a:rPr lang="en" sz="1100" dirty="0">
                  <a:solidFill>
                    <a:schemeClr val="dk2"/>
                  </a:solidFill>
                  <a:latin typeface="Exo" panose="02000503000000000000" pitchFamily="2" charset="77"/>
                  <a:ea typeface="Roboto Slab"/>
                  <a:cs typeface="Roboto Slab"/>
                  <a:sym typeface="Roboto Slab"/>
                </a:rPr>
                <a:t>18</a:t>
              </a: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Marital Status: </a:t>
              </a:r>
            </a:p>
            <a:p>
              <a:pPr lvl="0" rtl="0">
                <a:lnSpc>
                  <a:spcPct val="115000"/>
                </a:lnSpc>
                <a:spcBef>
                  <a:spcPts val="0"/>
                </a:spcBef>
                <a:buClr>
                  <a:schemeClr val="dk1"/>
                </a:buClr>
                <a:buSzPct val="100000"/>
                <a:buFont typeface="Arial"/>
                <a:buNone/>
              </a:pPr>
              <a:r>
                <a:rPr lang="en" sz="1100" dirty="0">
                  <a:solidFill>
                    <a:schemeClr val="dk2"/>
                  </a:solidFill>
                  <a:latin typeface="Exo" panose="02000503000000000000" pitchFamily="2" charset="77"/>
                  <a:ea typeface="Roboto Slab"/>
                  <a:cs typeface="Roboto Slab"/>
                  <a:sym typeface="Roboto Slab"/>
                </a:rPr>
                <a:t>Single</a:t>
              </a: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Education: </a:t>
              </a:r>
            </a:p>
            <a:p>
              <a:pPr lvl="0" rtl="0">
                <a:lnSpc>
                  <a:spcPct val="115000"/>
                </a:lnSpc>
                <a:spcBef>
                  <a:spcPts val="0"/>
                </a:spcBef>
                <a:buClr>
                  <a:schemeClr val="dk1"/>
                </a:buClr>
                <a:buSzPct val="100000"/>
                <a:buFont typeface="Arial"/>
                <a:buNone/>
              </a:pPr>
              <a:r>
                <a:rPr lang="en" sz="1100" dirty="0">
                  <a:solidFill>
                    <a:schemeClr val="dk2"/>
                  </a:solidFill>
                  <a:latin typeface="Exo" panose="02000503000000000000" pitchFamily="2" charset="77"/>
                  <a:ea typeface="Roboto Slab"/>
                  <a:cs typeface="Roboto Slab"/>
                  <a:sym typeface="Roboto Slab"/>
                </a:rPr>
                <a:t>Diploma</a:t>
              </a: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Location: </a:t>
              </a:r>
            </a:p>
            <a:p>
              <a:pPr lvl="0" rtl="0">
                <a:lnSpc>
                  <a:spcPct val="115000"/>
                </a:lnSpc>
                <a:spcBef>
                  <a:spcPts val="0"/>
                </a:spcBef>
                <a:buClr>
                  <a:schemeClr val="dk1"/>
                </a:buClr>
                <a:buSzPct val="100000"/>
                <a:buFont typeface="Arial"/>
                <a:buNone/>
              </a:pPr>
              <a:r>
                <a:rPr lang="en" sz="1100" dirty="0">
                  <a:solidFill>
                    <a:schemeClr val="dk2"/>
                  </a:solidFill>
                  <a:latin typeface="Exo" panose="02000503000000000000" pitchFamily="2" charset="77"/>
                  <a:ea typeface="Roboto Slab"/>
                  <a:cs typeface="Roboto Slab"/>
                  <a:sym typeface="Roboto Slab"/>
                </a:rPr>
                <a:t>Roma, Italy</a:t>
              </a: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Occupation: </a:t>
              </a:r>
            </a:p>
            <a:p>
              <a:pPr lvl="0" rtl="0">
                <a:lnSpc>
                  <a:spcPct val="115000"/>
                </a:lnSpc>
                <a:spcBef>
                  <a:spcPts val="0"/>
                </a:spcBef>
                <a:buClr>
                  <a:schemeClr val="dk1"/>
                </a:buClr>
                <a:buSzPct val="100000"/>
                <a:buFont typeface="Arial"/>
                <a:buNone/>
              </a:pPr>
              <a:r>
                <a:rPr lang="en" sz="1100" dirty="0" err="1">
                  <a:solidFill>
                    <a:schemeClr val="dk2"/>
                  </a:solidFill>
                  <a:latin typeface="Exo" panose="02000503000000000000" pitchFamily="2" charset="77"/>
                  <a:ea typeface="Roboto Slab"/>
                  <a:cs typeface="Roboto Slab"/>
                  <a:sym typeface="Roboto Slab"/>
                </a:rPr>
                <a:t>Studente</a:t>
              </a:r>
              <a:endParaRPr lang="en" sz="1100" dirty="0">
                <a:solidFill>
                  <a:schemeClr val="dk2"/>
                </a:solidFill>
                <a:latin typeface="Exo" panose="02000503000000000000" pitchFamily="2" charset="77"/>
                <a:ea typeface="Roboto Slab"/>
                <a:cs typeface="Roboto Slab"/>
                <a:sym typeface="Roboto Slab"/>
              </a:endParaRPr>
            </a:p>
            <a:p>
              <a:pPr lvl="0" rtl="0">
                <a:lnSpc>
                  <a:spcPct val="115000"/>
                </a:lnSpc>
                <a:spcBef>
                  <a:spcPts val="0"/>
                </a:spcBef>
                <a:buNone/>
              </a:pPr>
              <a:endParaRPr dirty="0">
                <a:solidFill>
                  <a:schemeClr val="lt1"/>
                </a:solidFill>
                <a:latin typeface="Roboto Slab"/>
                <a:ea typeface="Roboto Slab"/>
                <a:cs typeface="Roboto Slab"/>
                <a:sym typeface="Roboto Slab"/>
              </a:endParaRPr>
            </a:p>
          </p:txBody>
        </p:sp>
        <p:sp>
          <p:nvSpPr>
            <p:cNvPr id="332" name="Shape 332"/>
            <p:cNvSpPr txBox="1"/>
            <p:nvPr/>
          </p:nvSpPr>
          <p:spPr>
            <a:xfrm>
              <a:off x="789775" y="4539000"/>
              <a:ext cx="1433400" cy="365399"/>
            </a:xfrm>
            <a:prstGeom prst="rect">
              <a:avLst/>
            </a:prstGeom>
            <a:noFill/>
            <a:ln>
              <a:noFill/>
            </a:ln>
          </p:spPr>
          <p:txBody>
            <a:bodyPr lIns="91425" tIns="91425" rIns="91425" bIns="91425" anchor="t" anchorCtr="0">
              <a:noAutofit/>
            </a:bodyPr>
            <a:lstStyle/>
            <a:p>
              <a:pPr lvl="0" algn="ctr" rtl="0">
                <a:lnSpc>
                  <a:spcPct val="115000"/>
                </a:lnSpc>
                <a:spcBef>
                  <a:spcPts val="0"/>
                </a:spcBef>
                <a:buClr>
                  <a:schemeClr val="dk1"/>
                </a:buClr>
                <a:buSzPct val="61111"/>
                <a:buFont typeface="Arial"/>
                <a:buNone/>
              </a:pPr>
              <a:r>
                <a:rPr lang="en" sz="1800" b="1" dirty="0">
                  <a:solidFill>
                    <a:schemeClr val="lt1"/>
                  </a:solidFill>
                  <a:latin typeface="Exo" panose="02000503000000000000" pitchFamily="2" charset="77"/>
                  <a:ea typeface="Roboto Slab"/>
                  <a:cs typeface="Roboto Slab"/>
                  <a:sym typeface="Roboto Slab"/>
                </a:rPr>
                <a:t>GEN-Z</a:t>
              </a:r>
            </a:p>
            <a:p>
              <a:pPr lvl="0" rtl="0">
                <a:spcBef>
                  <a:spcPts val="0"/>
                </a:spcBef>
                <a:buNone/>
              </a:pPr>
              <a:endParaRPr sz="1800" dirty="0"/>
            </a:p>
          </p:txBody>
        </p:sp>
        <p:pic>
          <p:nvPicPr>
            <p:cNvPr id="333" name="Shape 333"/>
            <p:cNvPicPr preferRelativeResize="0"/>
            <p:nvPr/>
          </p:nvPicPr>
          <p:blipFill>
            <a:blip r:embed="rId6">
              <a:alphaModFix/>
            </a:blip>
            <a:stretch>
              <a:fillRect/>
            </a:stretch>
          </p:blipFill>
          <p:spPr>
            <a:xfrm>
              <a:off x="1190625" y="4115325"/>
              <a:ext cx="566025" cy="566025"/>
            </a:xfrm>
            <a:prstGeom prst="rect">
              <a:avLst/>
            </a:prstGeom>
            <a:noFill/>
            <a:ln>
              <a:noFill/>
            </a:ln>
          </p:spPr>
        </p:pic>
      </p:grpSp>
      <p:grpSp>
        <p:nvGrpSpPr>
          <p:cNvPr id="334" name="Shape 334"/>
          <p:cNvGrpSpPr/>
          <p:nvPr/>
        </p:nvGrpSpPr>
        <p:grpSpPr>
          <a:xfrm>
            <a:off x="2516561" y="1327370"/>
            <a:ext cx="3309000" cy="1578005"/>
            <a:chOff x="2516561" y="1327370"/>
            <a:chExt cx="3309000" cy="1578005"/>
          </a:xfrm>
        </p:grpSpPr>
        <p:sp>
          <p:nvSpPr>
            <p:cNvPr id="335" name="Shape 335"/>
            <p:cNvSpPr txBox="1"/>
            <p:nvPr/>
          </p:nvSpPr>
          <p:spPr>
            <a:xfrm>
              <a:off x="2516561" y="1426029"/>
              <a:ext cx="3309000" cy="504299"/>
            </a:xfrm>
            <a:prstGeom prst="rect">
              <a:avLst/>
            </a:prstGeom>
            <a:noFill/>
            <a:ln>
              <a:noFill/>
            </a:ln>
          </p:spPr>
          <p:txBody>
            <a:bodyPr lIns="91425" tIns="91425" rIns="91425" bIns="91425" anchor="t" anchorCtr="0">
              <a:noAutofit/>
            </a:bodyPr>
            <a:lstStyle/>
            <a:p>
              <a:pPr lvl="0" algn="ctr" rtl="0">
                <a:spcBef>
                  <a:spcPts val="0"/>
                </a:spcBef>
                <a:buNone/>
              </a:pPr>
              <a:r>
                <a:rPr lang="en" sz="1600" b="1">
                  <a:solidFill>
                    <a:srgbClr val="A5C961"/>
                  </a:solidFill>
                  <a:latin typeface="Exo" panose="02000503000000000000" pitchFamily="2" charset="77"/>
                  <a:ea typeface="Roboto Slab"/>
                  <a:cs typeface="Roboto Slab"/>
                  <a:sym typeface="Roboto Slab"/>
                </a:rPr>
                <a:t>Target Problem</a:t>
              </a:r>
            </a:p>
            <a:p>
              <a:pPr lvl="0" algn="ctr" rtl="0">
                <a:spcBef>
                  <a:spcPts val="0"/>
                </a:spcBef>
                <a:buNone/>
              </a:pPr>
              <a:endParaRPr sz="800" b="1">
                <a:solidFill>
                  <a:schemeClr val="dk2"/>
                </a:solidFill>
                <a:latin typeface="Exo" panose="02000503000000000000" pitchFamily="2" charset="77"/>
                <a:ea typeface="Roboto Slab"/>
                <a:cs typeface="Roboto Slab"/>
                <a:sym typeface="Roboto Slab"/>
              </a:endParaRPr>
            </a:p>
          </p:txBody>
        </p:sp>
        <p:sp>
          <p:nvSpPr>
            <p:cNvPr id="336" name="Shape 336"/>
            <p:cNvSpPr txBox="1"/>
            <p:nvPr/>
          </p:nvSpPr>
          <p:spPr>
            <a:xfrm>
              <a:off x="2920500" y="1747375"/>
              <a:ext cx="2501100" cy="1158000"/>
            </a:xfrm>
            <a:prstGeom prst="rect">
              <a:avLst/>
            </a:prstGeom>
            <a:noFill/>
            <a:ln>
              <a:noFill/>
            </a:ln>
          </p:spPr>
          <p:txBody>
            <a:bodyPr lIns="91425" tIns="91425" rIns="91425" bIns="91425" anchor="t" anchorCtr="0">
              <a:noAutofit/>
            </a:bodyPr>
            <a:lstStyle/>
            <a:p>
              <a:pPr lvl="0" algn="ctr" rtl="0">
                <a:spcBef>
                  <a:spcPts val="0"/>
                </a:spcBef>
                <a:buClr>
                  <a:schemeClr val="dk1"/>
                </a:buClr>
                <a:buSzPct val="100000"/>
                <a:buFont typeface="Arial"/>
                <a:buNone/>
              </a:pPr>
              <a:r>
                <a:rPr lang="en" sz="1100" i="1" dirty="0">
                  <a:solidFill>
                    <a:schemeClr val="dk1"/>
                  </a:solidFill>
                  <a:latin typeface="Exo" panose="02000503000000000000" pitchFamily="2" charset="77"/>
                  <a:ea typeface="Roboto"/>
                  <a:cs typeface="Roboto"/>
                  <a:sym typeface="Roboto"/>
                </a:rPr>
                <a:t>Da appassionato di </a:t>
              </a:r>
              <a:r>
                <a:rPr lang="en" sz="1100" i="1" dirty="0" err="1">
                  <a:solidFill>
                    <a:schemeClr val="dk1"/>
                  </a:solidFill>
                  <a:latin typeface="Exo" panose="02000503000000000000" pitchFamily="2" charset="77"/>
                  <a:ea typeface="Roboto"/>
                  <a:cs typeface="Roboto"/>
                  <a:sym typeface="Roboto"/>
                </a:rPr>
                <a:t>scommesse</a:t>
              </a:r>
              <a:r>
                <a:rPr lang="en" sz="1100" i="1" dirty="0">
                  <a:solidFill>
                    <a:schemeClr val="dk1"/>
                  </a:solidFill>
                  <a:latin typeface="Exo" panose="02000503000000000000" pitchFamily="2" charset="77"/>
                  <a:ea typeface="Roboto"/>
                  <a:cs typeface="Roboto"/>
                  <a:sym typeface="Roboto"/>
                </a:rPr>
                <a:t> sportive mi </a:t>
              </a:r>
              <a:r>
                <a:rPr lang="en" sz="1100" i="1" dirty="0" err="1">
                  <a:solidFill>
                    <a:schemeClr val="dk1"/>
                  </a:solidFill>
                  <a:latin typeface="Exo" panose="02000503000000000000" pitchFamily="2" charset="77"/>
                  <a:ea typeface="Roboto"/>
                  <a:cs typeface="Roboto"/>
                  <a:sym typeface="Roboto"/>
                </a:rPr>
                <a:t>piacerebbe</a:t>
              </a:r>
              <a:r>
                <a:rPr lang="en" sz="1100" i="1" dirty="0">
                  <a:solidFill>
                    <a:schemeClr val="dk1"/>
                  </a:solidFill>
                  <a:latin typeface="Exo" panose="02000503000000000000" pitchFamily="2" charset="77"/>
                  <a:ea typeface="Roboto"/>
                  <a:cs typeface="Roboto"/>
                  <a:sym typeface="Roboto"/>
                </a:rPr>
                <a:t> </a:t>
              </a:r>
              <a:r>
                <a:rPr lang="en" sz="1100" i="1" dirty="0" err="1">
                  <a:solidFill>
                    <a:schemeClr val="dk1"/>
                  </a:solidFill>
                  <a:latin typeface="Exo" panose="02000503000000000000" pitchFamily="2" charset="77"/>
                  <a:ea typeface="Roboto"/>
                  <a:cs typeface="Roboto"/>
                  <a:sym typeface="Roboto"/>
                </a:rPr>
                <a:t>continuare</a:t>
              </a:r>
              <a:r>
                <a:rPr lang="en" sz="1100" i="1" dirty="0">
                  <a:solidFill>
                    <a:schemeClr val="dk1"/>
                  </a:solidFill>
                  <a:latin typeface="Exo" panose="02000503000000000000" pitchFamily="2" charset="77"/>
                  <a:ea typeface="Roboto"/>
                  <a:cs typeface="Roboto"/>
                  <a:sym typeface="Roboto"/>
                </a:rPr>
                <a:t> a </a:t>
              </a:r>
              <a:r>
                <a:rPr lang="en" sz="1100" i="1" dirty="0" err="1">
                  <a:solidFill>
                    <a:schemeClr val="dk1"/>
                  </a:solidFill>
                  <a:latin typeface="Exo" panose="02000503000000000000" pitchFamily="2" charset="77"/>
                  <a:ea typeface="Roboto"/>
                  <a:cs typeface="Roboto"/>
                  <a:sym typeface="Roboto"/>
                </a:rPr>
                <a:t>scommettere</a:t>
              </a:r>
              <a:r>
                <a:rPr lang="en" sz="1100" i="1" dirty="0">
                  <a:solidFill>
                    <a:schemeClr val="dk1"/>
                  </a:solidFill>
                  <a:latin typeface="Exo" panose="02000503000000000000" pitchFamily="2" charset="77"/>
                  <a:ea typeface="Roboto"/>
                  <a:cs typeface="Roboto"/>
                  <a:sym typeface="Roboto"/>
                </a:rPr>
                <a:t> senza </a:t>
              </a:r>
              <a:r>
                <a:rPr lang="en" sz="1100" i="1" dirty="0" err="1">
                  <a:solidFill>
                    <a:schemeClr val="dk1"/>
                  </a:solidFill>
                  <a:latin typeface="Exo" panose="02000503000000000000" pitchFamily="2" charset="77"/>
                  <a:ea typeface="Roboto"/>
                  <a:cs typeface="Roboto"/>
                  <a:sym typeface="Roboto"/>
                </a:rPr>
                <a:t>intaccare</a:t>
              </a:r>
              <a:r>
                <a:rPr lang="en" sz="1100" i="1" dirty="0">
                  <a:solidFill>
                    <a:schemeClr val="dk1"/>
                  </a:solidFill>
                  <a:latin typeface="Exo" panose="02000503000000000000" pitchFamily="2" charset="77"/>
                  <a:ea typeface="Roboto"/>
                  <a:cs typeface="Roboto"/>
                  <a:sym typeface="Roboto"/>
                </a:rPr>
                <a:t> </a:t>
              </a:r>
              <a:r>
                <a:rPr lang="en" sz="1100" i="1" dirty="0" err="1">
                  <a:solidFill>
                    <a:schemeClr val="dk1"/>
                  </a:solidFill>
                  <a:latin typeface="Exo" panose="02000503000000000000" pitchFamily="2" charset="77"/>
                  <a:ea typeface="Roboto"/>
                  <a:cs typeface="Roboto"/>
                  <a:sym typeface="Roboto"/>
                </a:rPr>
                <a:t>il</a:t>
              </a:r>
              <a:r>
                <a:rPr lang="en" sz="1100" i="1" dirty="0">
                  <a:solidFill>
                    <a:schemeClr val="dk1"/>
                  </a:solidFill>
                  <a:latin typeface="Exo" panose="02000503000000000000" pitchFamily="2" charset="77"/>
                  <a:ea typeface="Roboto"/>
                  <a:cs typeface="Roboto"/>
                  <a:sym typeface="Roboto"/>
                </a:rPr>
                <a:t> </a:t>
              </a:r>
              <a:r>
                <a:rPr lang="en" sz="1100" i="1" dirty="0" err="1">
                  <a:solidFill>
                    <a:schemeClr val="dk1"/>
                  </a:solidFill>
                  <a:latin typeface="Exo" panose="02000503000000000000" pitchFamily="2" charset="77"/>
                  <a:ea typeface="Roboto"/>
                  <a:cs typeface="Roboto"/>
                  <a:sym typeface="Roboto"/>
                </a:rPr>
                <a:t>mio</a:t>
              </a:r>
              <a:r>
                <a:rPr lang="en" sz="1100" i="1" dirty="0">
                  <a:solidFill>
                    <a:schemeClr val="dk1"/>
                  </a:solidFill>
                  <a:latin typeface="Exo" panose="02000503000000000000" pitchFamily="2" charset="77"/>
                  <a:ea typeface="Roboto"/>
                  <a:cs typeface="Roboto"/>
                  <a:sym typeface="Roboto"/>
                </a:rPr>
                <a:t> </a:t>
              </a:r>
              <a:r>
                <a:rPr lang="en" sz="1100" i="1" dirty="0" err="1">
                  <a:solidFill>
                    <a:schemeClr val="dk1"/>
                  </a:solidFill>
                  <a:latin typeface="Exo" panose="02000503000000000000" pitchFamily="2" charset="77"/>
                  <a:ea typeface="Roboto"/>
                  <a:cs typeface="Roboto"/>
                  <a:sym typeface="Roboto"/>
                </a:rPr>
                <a:t>conto</a:t>
              </a:r>
              <a:r>
                <a:rPr lang="en" sz="1100" i="1" dirty="0">
                  <a:solidFill>
                    <a:schemeClr val="dk1"/>
                  </a:solidFill>
                  <a:latin typeface="Exo" panose="02000503000000000000" pitchFamily="2" charset="77"/>
                  <a:ea typeface="Roboto"/>
                  <a:cs typeface="Roboto"/>
                  <a:sym typeface="Roboto"/>
                </a:rPr>
                <a:t> in </a:t>
              </a:r>
              <a:r>
                <a:rPr lang="en" sz="1100" i="1" dirty="0" err="1">
                  <a:solidFill>
                    <a:schemeClr val="dk1"/>
                  </a:solidFill>
                  <a:latin typeface="Exo" panose="02000503000000000000" pitchFamily="2" charset="77"/>
                  <a:ea typeface="Roboto"/>
                  <a:cs typeface="Roboto"/>
                  <a:sym typeface="Roboto"/>
                </a:rPr>
                <a:t>banca</a:t>
              </a:r>
              <a:endParaRPr lang="en" sz="1100" i="1" dirty="0">
                <a:solidFill>
                  <a:schemeClr val="dk1"/>
                </a:solidFill>
                <a:latin typeface="Exo" panose="02000503000000000000" pitchFamily="2" charset="77"/>
                <a:ea typeface="Roboto"/>
                <a:cs typeface="Roboto"/>
                <a:sym typeface="Roboto"/>
              </a:endParaRPr>
            </a:p>
            <a:p>
              <a:pPr lvl="0" rtl="0">
                <a:spcBef>
                  <a:spcPts val="0"/>
                </a:spcBef>
                <a:buNone/>
              </a:pPr>
              <a:endParaRPr dirty="0">
                <a:latin typeface="Exo" panose="02000503000000000000" pitchFamily="2" charset="77"/>
                <a:ea typeface="Roboto"/>
                <a:cs typeface="Roboto"/>
                <a:sym typeface="Roboto"/>
              </a:endParaRPr>
            </a:p>
          </p:txBody>
        </p:sp>
        <p:sp>
          <p:nvSpPr>
            <p:cNvPr id="337" name="Shape 337"/>
            <p:cNvSpPr txBox="1"/>
            <p:nvPr/>
          </p:nvSpPr>
          <p:spPr>
            <a:xfrm>
              <a:off x="2906028" y="1327370"/>
              <a:ext cx="792600" cy="566100"/>
            </a:xfrm>
            <a:prstGeom prst="rect">
              <a:avLst/>
            </a:prstGeom>
            <a:noFill/>
            <a:ln>
              <a:noFill/>
            </a:ln>
          </p:spPr>
          <p:txBody>
            <a:bodyPr lIns="91425" tIns="91425" rIns="91425" bIns="91425" anchor="ctr" anchorCtr="0">
              <a:noAutofit/>
            </a:bodyPr>
            <a:lstStyle/>
            <a:p>
              <a:pPr lvl="0" rtl="0">
                <a:spcBef>
                  <a:spcPts val="0"/>
                </a:spcBef>
                <a:buNone/>
              </a:pPr>
              <a:r>
                <a:rPr lang="en" sz="6000">
                  <a:solidFill>
                    <a:srgbClr val="A5C961"/>
                  </a:solidFill>
                  <a:latin typeface="Exo" panose="02000503000000000000" pitchFamily="2" charset="77"/>
                </a:rPr>
                <a:t>“</a:t>
              </a:r>
            </a:p>
          </p:txBody>
        </p:sp>
        <p:sp>
          <p:nvSpPr>
            <p:cNvPr id="338" name="Shape 338"/>
            <p:cNvSpPr txBox="1"/>
            <p:nvPr/>
          </p:nvSpPr>
          <p:spPr>
            <a:xfrm rot="10800000">
              <a:off x="4733267" y="2116120"/>
              <a:ext cx="792600" cy="566100"/>
            </a:xfrm>
            <a:prstGeom prst="rect">
              <a:avLst/>
            </a:prstGeom>
            <a:noFill/>
            <a:ln>
              <a:noFill/>
            </a:ln>
          </p:spPr>
          <p:txBody>
            <a:bodyPr lIns="91425" tIns="91425" rIns="91425" bIns="91425" anchor="ctr" anchorCtr="0">
              <a:noAutofit/>
            </a:bodyPr>
            <a:lstStyle/>
            <a:p>
              <a:pPr lvl="0" rtl="0">
                <a:spcBef>
                  <a:spcPts val="0"/>
                </a:spcBef>
                <a:buNone/>
              </a:pPr>
              <a:r>
                <a:rPr lang="en" sz="6000">
                  <a:solidFill>
                    <a:srgbClr val="A5C961"/>
                  </a:solidFill>
                  <a:latin typeface="Exo" panose="02000503000000000000" pitchFamily="2" charset="77"/>
                </a:rPr>
                <a:t>“</a:t>
              </a:r>
            </a:p>
          </p:txBody>
        </p:sp>
      </p:grpSp>
      <p:grpSp>
        <p:nvGrpSpPr>
          <p:cNvPr id="339" name="Shape 339"/>
          <p:cNvGrpSpPr/>
          <p:nvPr/>
        </p:nvGrpSpPr>
        <p:grpSpPr>
          <a:xfrm>
            <a:off x="2949187" y="2778600"/>
            <a:ext cx="3045649" cy="1829236"/>
            <a:chOff x="2949187" y="2778600"/>
            <a:chExt cx="3045649" cy="1829236"/>
          </a:xfrm>
        </p:grpSpPr>
        <p:sp>
          <p:nvSpPr>
            <p:cNvPr id="340" name="Shape 340"/>
            <p:cNvSpPr txBox="1"/>
            <p:nvPr/>
          </p:nvSpPr>
          <p:spPr>
            <a:xfrm>
              <a:off x="2949187" y="2778600"/>
              <a:ext cx="2533500" cy="365399"/>
            </a:xfrm>
            <a:prstGeom prst="rect">
              <a:avLst/>
            </a:prstGeom>
            <a:noFill/>
            <a:ln>
              <a:noFill/>
            </a:ln>
          </p:spPr>
          <p:txBody>
            <a:bodyPr lIns="91425" tIns="91425" rIns="91425" bIns="91425" anchor="t" anchorCtr="0">
              <a:noAutofit/>
            </a:bodyPr>
            <a:lstStyle/>
            <a:p>
              <a:pPr lvl="0" rtl="0">
                <a:lnSpc>
                  <a:spcPct val="115000"/>
                </a:lnSpc>
                <a:spcBef>
                  <a:spcPts val="0"/>
                </a:spcBef>
                <a:buNone/>
              </a:pPr>
              <a:r>
                <a:rPr lang="en" sz="1800">
                  <a:solidFill>
                    <a:srgbClr val="A5C961"/>
                  </a:solidFill>
                  <a:latin typeface="Exo" panose="02000503000000000000" pitchFamily="2" charset="77"/>
                  <a:ea typeface="Roboto Slab"/>
                  <a:cs typeface="Roboto Slab"/>
                  <a:sym typeface="Roboto Slab"/>
                </a:rPr>
                <a:t>Target Needs</a:t>
              </a:r>
            </a:p>
            <a:p>
              <a:pPr lvl="0" rtl="0">
                <a:spcBef>
                  <a:spcPts val="0"/>
                </a:spcBef>
                <a:buNone/>
              </a:pPr>
              <a:endParaRPr sz="1800">
                <a:latin typeface="Exo" panose="02000503000000000000" pitchFamily="2" charset="77"/>
              </a:endParaRPr>
            </a:p>
          </p:txBody>
        </p:sp>
        <p:sp>
          <p:nvSpPr>
            <p:cNvPr id="341" name="Shape 341"/>
            <p:cNvSpPr txBox="1"/>
            <p:nvPr/>
          </p:nvSpPr>
          <p:spPr>
            <a:xfrm>
              <a:off x="2965737" y="3157937"/>
              <a:ext cx="3029099" cy="536100"/>
            </a:xfrm>
            <a:prstGeom prst="rect">
              <a:avLst/>
            </a:prstGeom>
            <a:noFill/>
            <a:ln>
              <a:noFill/>
            </a:ln>
          </p:spPr>
          <p:txBody>
            <a:bodyPr lIns="91425" tIns="91425" rIns="91425" bIns="91425" anchor="t" anchorCtr="0">
              <a:noAutofit/>
            </a:bodyPr>
            <a:lstStyle/>
            <a:p>
              <a:pPr lvl="0" rtl="0">
                <a:spcBef>
                  <a:spcPts val="0"/>
                </a:spcBef>
                <a:buClr>
                  <a:schemeClr val="dk1"/>
                </a:buClr>
                <a:buSzPct val="110000"/>
                <a:buFont typeface="Arial"/>
                <a:buNone/>
              </a:pPr>
              <a:r>
                <a:rPr lang="en" sz="1000" b="1" dirty="0" err="1">
                  <a:solidFill>
                    <a:schemeClr val="dk2"/>
                  </a:solidFill>
                  <a:latin typeface="Exo" panose="02000503000000000000" pitchFamily="2" charset="77"/>
                  <a:ea typeface="Roboto"/>
                  <a:cs typeface="Roboto"/>
                  <a:sym typeface="Roboto"/>
                </a:rPr>
                <a:t>Descrivere</a:t>
              </a:r>
              <a:r>
                <a:rPr lang="en" sz="1000" b="1" dirty="0">
                  <a:solidFill>
                    <a:schemeClr val="dk2"/>
                  </a:solidFill>
                  <a:latin typeface="Exo" panose="02000503000000000000" pitchFamily="2" charset="77"/>
                  <a:ea typeface="Roboto"/>
                  <a:cs typeface="Roboto"/>
                  <a:sym typeface="Roboto"/>
                </a:rPr>
                <a:t> qui </a:t>
              </a:r>
              <a:r>
                <a:rPr lang="en" sz="1000" b="1" dirty="0" err="1">
                  <a:solidFill>
                    <a:schemeClr val="dk2"/>
                  </a:solidFill>
                  <a:latin typeface="Exo" panose="02000503000000000000" pitchFamily="2" charset="77"/>
                  <a:ea typeface="Roboto"/>
                  <a:cs typeface="Roboto"/>
                  <a:sym typeface="Roboto"/>
                </a:rPr>
                <a:t>il</a:t>
              </a:r>
              <a:r>
                <a:rPr lang="en" sz="1000" b="1" dirty="0">
                  <a:solidFill>
                    <a:schemeClr val="dk2"/>
                  </a:solidFill>
                  <a:latin typeface="Exo" panose="02000503000000000000" pitchFamily="2" charset="77"/>
                  <a:ea typeface="Roboto"/>
                  <a:cs typeface="Roboto"/>
                  <a:sym typeface="Roboto"/>
                </a:rPr>
                <a:t> </a:t>
              </a:r>
              <a:r>
                <a:rPr lang="en" sz="1000" b="1" dirty="0" err="1">
                  <a:solidFill>
                    <a:schemeClr val="dk2"/>
                  </a:solidFill>
                  <a:latin typeface="Exo" panose="02000503000000000000" pitchFamily="2" charset="77"/>
                  <a:ea typeface="Roboto"/>
                  <a:cs typeface="Roboto"/>
                  <a:sym typeface="Roboto"/>
                </a:rPr>
                <a:t>problema</a:t>
              </a:r>
              <a:r>
                <a:rPr lang="en" sz="1000" b="1" dirty="0">
                  <a:solidFill>
                    <a:schemeClr val="dk2"/>
                  </a:solidFill>
                  <a:latin typeface="Exo" panose="02000503000000000000" pitchFamily="2" charset="77"/>
                  <a:ea typeface="Roboto"/>
                  <a:cs typeface="Roboto"/>
                  <a:sym typeface="Roboto"/>
                </a:rPr>
                <a:t> di Alberto,</a:t>
              </a:r>
            </a:p>
            <a:p>
              <a:pPr lvl="0" rtl="0">
                <a:spcBef>
                  <a:spcPts val="0"/>
                </a:spcBef>
                <a:buClr>
                  <a:schemeClr val="dk1"/>
                </a:buClr>
                <a:buSzPct val="110000"/>
                <a:buFont typeface="Arial"/>
                <a:buNone/>
              </a:pPr>
              <a:r>
                <a:rPr lang="it-IT" sz="1000" b="1" dirty="0">
                  <a:solidFill>
                    <a:schemeClr val="dk2"/>
                  </a:solidFill>
                  <a:latin typeface="Exo" panose="02000503000000000000" pitchFamily="2" charset="77"/>
                  <a:ea typeface="Roboto"/>
                  <a:cs typeface="Roboto"/>
                  <a:sym typeface="Roboto"/>
                </a:rPr>
                <a:t>e i propri bisogni</a:t>
              </a:r>
              <a:r>
                <a:rPr lang="en" sz="1000" b="1" dirty="0">
                  <a:solidFill>
                    <a:schemeClr val="dk2"/>
                  </a:solidFill>
                  <a:latin typeface="Exo" panose="02000503000000000000" pitchFamily="2" charset="77"/>
                  <a:ea typeface="Roboto"/>
                  <a:cs typeface="Roboto"/>
                  <a:sym typeface="Roboto"/>
                </a:rPr>
                <a:t>.</a:t>
              </a:r>
            </a:p>
            <a:p>
              <a:pPr lvl="0" rtl="0">
                <a:spcBef>
                  <a:spcPts val="0"/>
                </a:spcBef>
                <a:buClr>
                  <a:schemeClr val="dk1"/>
                </a:buClr>
                <a:buFont typeface="Arial"/>
                <a:buNone/>
              </a:pPr>
              <a:endParaRPr sz="900" dirty="0">
                <a:solidFill>
                  <a:srgbClr val="666666"/>
                </a:solidFill>
                <a:latin typeface="Exo" panose="02000503000000000000" pitchFamily="2" charset="77"/>
                <a:ea typeface="Roboto"/>
                <a:cs typeface="Roboto"/>
                <a:sym typeface="Roboto"/>
              </a:endParaRPr>
            </a:p>
            <a:p>
              <a:pPr lvl="0" rtl="0">
                <a:spcBef>
                  <a:spcPts val="0"/>
                </a:spcBef>
                <a:buNone/>
              </a:pPr>
              <a:endParaRPr sz="900" dirty="0">
                <a:solidFill>
                  <a:srgbClr val="666666"/>
                </a:solidFill>
                <a:latin typeface="Exo" panose="02000503000000000000" pitchFamily="2" charset="77"/>
                <a:ea typeface="Roboto"/>
                <a:cs typeface="Roboto"/>
                <a:sym typeface="Roboto"/>
              </a:endParaRPr>
            </a:p>
          </p:txBody>
        </p:sp>
        <p:sp>
          <p:nvSpPr>
            <p:cNvPr id="342" name="Shape 342"/>
            <p:cNvSpPr txBox="1"/>
            <p:nvPr/>
          </p:nvSpPr>
          <p:spPr>
            <a:xfrm>
              <a:off x="2965737" y="3612736"/>
              <a:ext cx="2662499" cy="995099"/>
            </a:xfrm>
            <a:prstGeom prst="rect">
              <a:avLst/>
            </a:prstGeom>
            <a:noFill/>
            <a:ln>
              <a:noFill/>
            </a:ln>
          </p:spPr>
          <p:txBody>
            <a:bodyPr lIns="91425" tIns="91425" rIns="91425" bIns="91425" anchor="t" anchorCtr="0">
              <a:noAutofit/>
            </a:bodyPr>
            <a:lstStyle/>
            <a:p>
              <a:pPr lvl="0" rtl="0">
                <a:spcBef>
                  <a:spcPts val="0"/>
                </a:spcBef>
                <a:buClr>
                  <a:schemeClr val="dk1"/>
                </a:buClr>
                <a:buSzPct val="100000"/>
                <a:buFont typeface="Arial"/>
                <a:buNone/>
              </a:pPr>
              <a:r>
                <a:rPr lang="it-IT" sz="1100" dirty="0">
                  <a:solidFill>
                    <a:srgbClr val="666666"/>
                  </a:solidFill>
                  <a:latin typeface="Exo" panose="02000503000000000000" pitchFamily="2" charset="77"/>
                  <a:ea typeface="Roboto"/>
                  <a:cs typeface="Roboto"/>
                  <a:sym typeface="Roboto"/>
                </a:rPr>
                <a:t>C</a:t>
              </a:r>
              <a:r>
                <a:rPr lang="en" sz="1100" dirty="0">
                  <a:solidFill>
                    <a:srgbClr val="666666"/>
                  </a:solidFill>
                  <a:latin typeface="Exo" panose="02000503000000000000" pitchFamily="2" charset="77"/>
                  <a:ea typeface="Roboto"/>
                  <a:cs typeface="Roboto"/>
                  <a:sym typeface="Roboto"/>
                </a:rPr>
                <a:t>’</a:t>
              </a:r>
              <a:r>
                <a:rPr lang="en" sz="1100" dirty="0" err="1">
                  <a:solidFill>
                    <a:srgbClr val="666666"/>
                  </a:solidFill>
                  <a:latin typeface="Exo" panose="02000503000000000000" pitchFamily="2" charset="77"/>
                  <a:ea typeface="Roboto"/>
                  <a:cs typeface="Roboto"/>
                  <a:sym typeface="Roboto"/>
                </a:rPr>
                <a:t>è</a:t>
              </a:r>
              <a:r>
                <a:rPr lang="en" sz="1100" dirty="0">
                  <a:solidFill>
                    <a:srgbClr val="666666"/>
                  </a:solidFill>
                  <a:latin typeface="Exo" panose="02000503000000000000" pitchFamily="2" charset="77"/>
                  <a:ea typeface="Roboto"/>
                  <a:cs typeface="Roboto"/>
                  <a:sym typeface="Roboto"/>
                </a:rPr>
                <a:t> </a:t>
              </a:r>
              <a:r>
                <a:rPr lang="en" sz="1100" dirty="0" err="1">
                  <a:solidFill>
                    <a:srgbClr val="666666"/>
                  </a:solidFill>
                  <a:latin typeface="Exo" panose="02000503000000000000" pitchFamily="2" charset="77"/>
                  <a:ea typeface="Roboto"/>
                  <a:cs typeface="Roboto"/>
                  <a:sym typeface="Roboto"/>
                </a:rPr>
                <a:t>soluzione</a:t>
              </a:r>
              <a:r>
                <a:rPr lang="en" sz="1100" dirty="0">
                  <a:solidFill>
                    <a:srgbClr val="666666"/>
                  </a:solidFill>
                  <a:latin typeface="Exo" panose="02000503000000000000" pitchFamily="2" charset="77"/>
                  <a:ea typeface="Roboto"/>
                  <a:cs typeface="Roboto"/>
                  <a:sym typeface="Roboto"/>
                </a:rPr>
                <a:t>?</a:t>
              </a:r>
            </a:p>
            <a:p>
              <a:pPr lvl="0" rtl="0">
                <a:spcBef>
                  <a:spcPts val="0"/>
                </a:spcBef>
                <a:buNone/>
              </a:pPr>
              <a:endParaRPr sz="1100" dirty="0">
                <a:solidFill>
                  <a:srgbClr val="666666"/>
                </a:solidFill>
                <a:latin typeface="Exo" panose="02000503000000000000" pitchFamily="2" charset="77"/>
                <a:ea typeface="Roboto"/>
                <a:cs typeface="Roboto"/>
                <a:sym typeface="Roboto"/>
              </a:endParaRPr>
            </a:p>
          </p:txBody>
        </p:sp>
      </p:grpSp>
      <p:pic>
        <p:nvPicPr>
          <p:cNvPr id="23" name="Immagine 22">
            <a:extLst>
              <a:ext uri="{FF2B5EF4-FFF2-40B4-BE49-F238E27FC236}">
                <a16:creationId xmlns:a16="http://schemas.microsoft.com/office/drawing/2014/main" id="{19FB1F9F-CF88-4352-B373-D5A436388C00}"/>
              </a:ext>
            </a:extLst>
          </p:cNvPr>
          <p:cNvPicPr>
            <a:picLocks noChangeAspect="1"/>
          </p:cNvPicPr>
          <p:nvPr/>
        </p:nvPicPr>
        <p:blipFill rotWithShape="1">
          <a:blip r:embed="rId7"/>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Rettangolo 1">
            <a:extLst>
              <a:ext uri="{FF2B5EF4-FFF2-40B4-BE49-F238E27FC236}">
                <a16:creationId xmlns:a16="http://schemas.microsoft.com/office/drawing/2014/main" id="{7DA9CFF6-93E6-5947-81C0-881A3D596EA7}"/>
              </a:ext>
            </a:extLst>
          </p:cNvPr>
          <p:cNvSpPr/>
          <p:nvPr/>
        </p:nvSpPr>
        <p:spPr>
          <a:xfrm>
            <a:off x="6803136" y="2514600"/>
            <a:ext cx="1865376" cy="1179437"/>
          </a:xfrm>
          <a:prstGeom prst="rect">
            <a:avLst/>
          </a:prstGeom>
          <a:solidFill>
            <a:srgbClr val="575757"/>
          </a:solidFill>
          <a:ln>
            <a:solidFill>
              <a:srgbClr val="57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5" name="Immagine 4">
            <a:extLst>
              <a:ext uri="{FF2B5EF4-FFF2-40B4-BE49-F238E27FC236}">
                <a16:creationId xmlns:a16="http://schemas.microsoft.com/office/drawing/2014/main" id="{5A3DAE41-C75B-004A-BAE0-1BC8B41B8345}"/>
              </a:ext>
            </a:extLst>
          </p:cNvPr>
          <p:cNvPicPr>
            <a:picLocks noChangeAspect="1"/>
          </p:cNvPicPr>
          <p:nvPr/>
        </p:nvPicPr>
        <p:blipFill>
          <a:blip r:embed="rId8"/>
          <a:stretch>
            <a:fillRect/>
          </a:stretch>
        </p:blipFill>
        <p:spPr>
          <a:xfrm>
            <a:off x="5902603" y="1150425"/>
            <a:ext cx="3810000" cy="3810000"/>
          </a:xfrm>
          <a:prstGeom prst="rect">
            <a:avLst/>
          </a:prstGeom>
        </p:spPr>
      </p:pic>
    </p:spTree>
    <p:extLst>
      <p:ext uri="{BB962C8B-B14F-4D97-AF65-F5344CB8AC3E}">
        <p14:creationId xmlns:p14="http://schemas.microsoft.com/office/powerpoint/2010/main" val="8325828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28"/>
                                        </p:tgtEl>
                                        <p:attrNameLst>
                                          <p:attrName>style.visibility</p:attrName>
                                        </p:attrNameLst>
                                      </p:cBhvr>
                                      <p:to>
                                        <p:strVal val="visible"/>
                                      </p:to>
                                    </p:set>
                                    <p:anim calcmode="lin" valueType="num">
                                      <p:cBhvr additive="base">
                                        <p:cTn id="7" dur="1000"/>
                                        <p:tgtEl>
                                          <p:spTgt spid="328"/>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323"/>
                                        </p:tgtEl>
                                        <p:attrNameLst>
                                          <p:attrName>style.visibility</p:attrName>
                                        </p:attrNameLst>
                                      </p:cBhvr>
                                      <p:to>
                                        <p:strVal val="visible"/>
                                      </p:to>
                                    </p:set>
                                    <p:anim calcmode="lin" valueType="num">
                                      <p:cBhvr additive="base">
                                        <p:cTn id="11" dur="600"/>
                                        <p:tgtEl>
                                          <p:spTgt spid="323"/>
                                        </p:tgtEl>
                                        <p:attrNameLst>
                                          <p:attrName>ppt_x</p:attrName>
                                        </p:attrNameLst>
                                      </p:cBhvr>
                                      <p:tavLst>
                                        <p:tav tm="0">
                                          <p:val>
                                            <p:strVal val="#ppt_x+1"/>
                                          </p:val>
                                        </p:tav>
                                        <p:tav tm="100000">
                                          <p:val>
                                            <p:strVal val="#ppt_x"/>
                                          </p:val>
                                        </p:tav>
                                      </p:tavLst>
                                    </p:anim>
                                  </p:childTnLst>
                                </p:cTn>
                              </p:par>
                            </p:childTnLst>
                          </p:cTn>
                        </p:par>
                        <p:par>
                          <p:cTn id="12" fill="hold">
                            <p:stCondLst>
                              <p:cond delay="1600"/>
                            </p:stCondLst>
                            <p:childTnLst>
                              <p:par>
                                <p:cTn id="13" presetID="23" presetClass="entr" presetSubtype="16" fill="hold" nodeType="afterEffect">
                                  <p:stCondLst>
                                    <p:cond delay="0"/>
                                  </p:stCondLst>
                                  <p:childTnLst>
                                    <p:set>
                                      <p:cBhvr>
                                        <p:cTn id="14" dur="1" fill="hold">
                                          <p:stCondLst>
                                            <p:cond delay="0"/>
                                          </p:stCondLst>
                                        </p:cTn>
                                        <p:tgtEl>
                                          <p:spTgt spid="334"/>
                                        </p:tgtEl>
                                        <p:attrNameLst>
                                          <p:attrName>style.visibility</p:attrName>
                                        </p:attrNameLst>
                                      </p:cBhvr>
                                      <p:to>
                                        <p:strVal val="visible"/>
                                      </p:to>
                                    </p:set>
                                    <p:anim calcmode="lin" valueType="num">
                                      <p:cBhvr additive="base">
                                        <p:cTn id="15" dur="600"/>
                                        <p:tgtEl>
                                          <p:spTgt spid="334"/>
                                        </p:tgtEl>
                                        <p:attrNameLst>
                                          <p:attrName>ppt_w</p:attrName>
                                        </p:attrNameLst>
                                      </p:cBhvr>
                                      <p:tavLst>
                                        <p:tav tm="0">
                                          <p:val>
                                            <p:strVal val="0"/>
                                          </p:val>
                                        </p:tav>
                                        <p:tav tm="100000">
                                          <p:val>
                                            <p:strVal val="#ppt_w"/>
                                          </p:val>
                                        </p:tav>
                                      </p:tavLst>
                                    </p:anim>
                                    <p:anim calcmode="lin" valueType="num">
                                      <p:cBhvr additive="base">
                                        <p:cTn id="16" dur="600"/>
                                        <p:tgtEl>
                                          <p:spTgt spid="334"/>
                                        </p:tgtEl>
                                        <p:attrNameLst>
                                          <p:attrName>ppt_h</p:attrName>
                                        </p:attrNameLst>
                                      </p:cBhvr>
                                      <p:tavLst>
                                        <p:tav tm="0">
                                          <p:val>
                                            <p:strVal val="0"/>
                                          </p:val>
                                        </p:tav>
                                        <p:tav tm="100000">
                                          <p:val>
                                            <p:strVal val="#ppt_h"/>
                                          </p:val>
                                        </p:tav>
                                      </p:tavLst>
                                    </p:anim>
                                  </p:childTnLst>
                                </p:cTn>
                              </p:par>
                            </p:childTnLst>
                          </p:cTn>
                        </p:par>
                        <p:par>
                          <p:cTn id="17" fill="hold">
                            <p:stCondLst>
                              <p:cond delay="2200"/>
                            </p:stCondLst>
                            <p:childTnLst>
                              <p:par>
                                <p:cTn id="18" presetID="2" presetClass="entr" presetSubtype="4" fill="hold" nodeType="afterEffect">
                                  <p:stCondLst>
                                    <p:cond delay="0"/>
                                  </p:stCondLst>
                                  <p:childTnLst>
                                    <p:set>
                                      <p:cBhvr>
                                        <p:cTn id="19" dur="1" fill="hold">
                                          <p:stCondLst>
                                            <p:cond delay="0"/>
                                          </p:stCondLst>
                                        </p:cTn>
                                        <p:tgtEl>
                                          <p:spTgt spid="339"/>
                                        </p:tgtEl>
                                        <p:attrNameLst>
                                          <p:attrName>style.visibility</p:attrName>
                                        </p:attrNameLst>
                                      </p:cBhvr>
                                      <p:to>
                                        <p:strVal val="visible"/>
                                      </p:to>
                                    </p:set>
                                    <p:anim calcmode="lin" valueType="num">
                                      <p:cBhvr additive="base">
                                        <p:cTn id="20" dur="1000"/>
                                        <p:tgtEl>
                                          <p:spTgt spid="3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98"/>
        <p:cNvGrpSpPr/>
        <p:nvPr/>
      </p:nvGrpSpPr>
      <p:grpSpPr>
        <a:xfrm>
          <a:off x="0" y="0"/>
          <a:ext cx="0" cy="0"/>
          <a:chOff x="0" y="0"/>
          <a:chExt cx="0" cy="0"/>
        </a:xfrm>
      </p:grpSpPr>
      <p:sp>
        <p:nvSpPr>
          <p:cNvPr id="22" name="Rettangolo 21">
            <a:extLst>
              <a:ext uri="{FF2B5EF4-FFF2-40B4-BE49-F238E27FC236}">
                <a16:creationId xmlns:a16="http://schemas.microsoft.com/office/drawing/2014/main" id="{F3814F8E-8251-42F8-88E5-BC5756BD8506}"/>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299" name="Shape 299"/>
          <p:cNvPicPr preferRelativeResize="0"/>
          <p:nvPr/>
        </p:nvPicPr>
        <p:blipFill>
          <a:blip r:embed="rId3">
            <a:alphaModFix/>
          </a:blip>
          <a:stretch>
            <a:fillRect/>
          </a:stretch>
        </p:blipFill>
        <p:spPr>
          <a:xfrm>
            <a:off x="0" y="933887"/>
            <a:ext cx="3028950" cy="4257675"/>
          </a:xfrm>
          <a:prstGeom prst="rect">
            <a:avLst/>
          </a:prstGeom>
          <a:noFill/>
          <a:ln>
            <a:noFill/>
          </a:ln>
        </p:spPr>
      </p:pic>
      <p:pic>
        <p:nvPicPr>
          <p:cNvPr id="300" name="Shape 300"/>
          <p:cNvPicPr preferRelativeResize="0"/>
          <p:nvPr/>
        </p:nvPicPr>
        <p:blipFill>
          <a:blip r:embed="rId4">
            <a:alphaModFix/>
          </a:blip>
          <a:stretch>
            <a:fillRect/>
          </a:stretch>
        </p:blipFill>
        <p:spPr>
          <a:xfrm>
            <a:off x="-84000" y="183075"/>
            <a:ext cx="9291700" cy="788900"/>
          </a:xfrm>
          <a:prstGeom prst="rect">
            <a:avLst/>
          </a:prstGeom>
          <a:noFill/>
          <a:ln>
            <a:noFill/>
          </a:ln>
        </p:spPr>
      </p:pic>
      <p:sp>
        <p:nvSpPr>
          <p:cNvPr id="303" name="Shape 303"/>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None/>
            </a:pPr>
            <a:r>
              <a:rPr lang="en" sz="1200" dirty="0">
                <a:solidFill>
                  <a:schemeClr val="accent3"/>
                </a:solidFill>
                <a:latin typeface="Exo" panose="02000503000000000000" pitchFamily="2" charset="77"/>
                <a:ea typeface="Roboto Slab"/>
                <a:cs typeface="Roboto Slab"/>
                <a:sym typeface="Roboto Slab"/>
              </a:rPr>
              <a:t>Target ID</a:t>
            </a: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rtl="0">
              <a:spcBef>
                <a:spcPts val="0"/>
              </a:spcBef>
              <a:buNone/>
            </a:pPr>
            <a:endParaRPr sz="1200" dirty="0"/>
          </a:p>
        </p:txBody>
      </p:sp>
      <p:grpSp>
        <p:nvGrpSpPr>
          <p:cNvPr id="304" name="Shape 304"/>
          <p:cNvGrpSpPr/>
          <p:nvPr/>
        </p:nvGrpSpPr>
        <p:grpSpPr>
          <a:xfrm>
            <a:off x="6136448" y="933900"/>
            <a:ext cx="2533400" cy="5446248"/>
            <a:chOff x="6136448" y="933900"/>
            <a:chExt cx="2533400" cy="5446248"/>
          </a:xfrm>
        </p:grpSpPr>
        <p:pic>
          <p:nvPicPr>
            <p:cNvPr id="305" name="Shape 305"/>
            <p:cNvPicPr preferRelativeResize="0"/>
            <p:nvPr/>
          </p:nvPicPr>
          <p:blipFill>
            <a:blip r:embed="rId5">
              <a:alphaModFix/>
            </a:blip>
            <a:stretch>
              <a:fillRect/>
            </a:stretch>
          </p:blipFill>
          <p:spPr>
            <a:xfrm>
              <a:off x="6136448" y="4073373"/>
              <a:ext cx="2533400" cy="2306775"/>
            </a:xfrm>
            <a:prstGeom prst="rect">
              <a:avLst/>
            </a:prstGeom>
            <a:noFill/>
            <a:ln>
              <a:noFill/>
            </a:ln>
          </p:spPr>
        </p:pic>
        <p:sp>
          <p:nvSpPr>
            <p:cNvPr id="306" name="Shape 306"/>
            <p:cNvSpPr/>
            <p:nvPr/>
          </p:nvSpPr>
          <p:spPr>
            <a:xfrm>
              <a:off x="6560075" y="933900"/>
              <a:ext cx="1658099" cy="3147300"/>
            </a:xfrm>
            <a:prstGeom prst="rect">
              <a:avLst/>
            </a:prstGeom>
            <a:solidFill>
              <a:srgbClr val="A8D5D7"/>
            </a:solidFill>
            <a:ln>
              <a:noFill/>
            </a:ln>
          </p:spPr>
          <p:txBody>
            <a:bodyPr lIns="91425" tIns="91425" rIns="91425" bIns="91425" anchor="ctr" anchorCtr="0">
              <a:noAutofit/>
            </a:bodyPr>
            <a:lstStyle/>
            <a:p>
              <a:pPr>
                <a:spcBef>
                  <a:spcPts val="0"/>
                </a:spcBef>
                <a:buNone/>
              </a:pPr>
              <a:endParaRPr>
                <a:latin typeface="Exo" panose="02000503000000000000" pitchFamily="2" charset="77"/>
              </a:endParaRPr>
            </a:p>
          </p:txBody>
        </p:sp>
        <p:sp>
          <p:nvSpPr>
            <p:cNvPr id="307" name="Shape 307"/>
            <p:cNvSpPr txBox="1"/>
            <p:nvPr/>
          </p:nvSpPr>
          <p:spPr>
            <a:xfrm>
              <a:off x="6762450" y="1237350"/>
              <a:ext cx="1259099" cy="2668799"/>
            </a:xfrm>
            <a:prstGeom prst="rect">
              <a:avLst/>
            </a:prstGeom>
            <a:noFill/>
            <a:ln>
              <a:noFill/>
            </a:ln>
          </p:spPr>
          <p:txBody>
            <a:bodyPr lIns="91425" tIns="91425" rIns="91425" bIns="91425" anchor="t" anchorCtr="0">
              <a:noAutofit/>
            </a:bodyPr>
            <a:lstStyle/>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Name: </a:t>
              </a:r>
            </a:p>
            <a:p>
              <a:pPr lvl="0" rtl="0">
                <a:lnSpc>
                  <a:spcPct val="115000"/>
                </a:lnSpc>
                <a:spcBef>
                  <a:spcPts val="0"/>
                </a:spcBef>
                <a:buClr>
                  <a:schemeClr val="dk1"/>
                </a:buClr>
                <a:buSzPct val="100000"/>
                <a:buFont typeface="Arial"/>
                <a:buNone/>
              </a:pPr>
              <a:r>
                <a:rPr lang="en" sz="1100" dirty="0">
                  <a:solidFill>
                    <a:schemeClr val="dk2"/>
                  </a:solidFill>
                  <a:latin typeface="Exo" panose="02000503000000000000" pitchFamily="2" charset="77"/>
                  <a:ea typeface="Roboto Slab"/>
                  <a:cs typeface="Roboto Slab"/>
                  <a:sym typeface="Roboto Slab"/>
                </a:rPr>
                <a:t>Giacomo</a:t>
              </a: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Age: </a:t>
              </a:r>
            </a:p>
            <a:p>
              <a:pPr lvl="0" rtl="0">
                <a:lnSpc>
                  <a:spcPct val="115000"/>
                </a:lnSpc>
                <a:spcBef>
                  <a:spcPts val="0"/>
                </a:spcBef>
                <a:buClr>
                  <a:schemeClr val="dk1"/>
                </a:buClr>
                <a:buSzPct val="100000"/>
                <a:buFont typeface="Arial"/>
                <a:buNone/>
              </a:pPr>
              <a:r>
                <a:rPr lang="en" sz="1100" dirty="0">
                  <a:solidFill>
                    <a:schemeClr val="dk2"/>
                  </a:solidFill>
                  <a:latin typeface="Exo" panose="02000503000000000000" pitchFamily="2" charset="77"/>
                  <a:ea typeface="Roboto Slab"/>
                  <a:cs typeface="Roboto Slab"/>
                  <a:sym typeface="Roboto Slab"/>
                </a:rPr>
                <a:t>25</a:t>
              </a: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Marital Status: </a:t>
              </a:r>
            </a:p>
            <a:p>
              <a:pPr lvl="0" rtl="0">
                <a:lnSpc>
                  <a:spcPct val="115000"/>
                </a:lnSpc>
                <a:spcBef>
                  <a:spcPts val="0"/>
                </a:spcBef>
                <a:buClr>
                  <a:schemeClr val="dk1"/>
                </a:buClr>
                <a:buSzPct val="100000"/>
                <a:buFont typeface="Arial"/>
                <a:buNone/>
              </a:pPr>
              <a:r>
                <a:rPr lang="en" sz="1100" dirty="0">
                  <a:solidFill>
                    <a:schemeClr val="dk2"/>
                  </a:solidFill>
                  <a:latin typeface="Exo" panose="02000503000000000000" pitchFamily="2" charset="77"/>
                  <a:ea typeface="Roboto Slab"/>
                  <a:cs typeface="Roboto Slab"/>
                  <a:sym typeface="Roboto Slab"/>
                </a:rPr>
                <a:t>Single</a:t>
              </a: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Education: </a:t>
              </a:r>
            </a:p>
            <a:p>
              <a:pPr lvl="0" rtl="0">
                <a:lnSpc>
                  <a:spcPct val="115000"/>
                </a:lnSpc>
                <a:spcBef>
                  <a:spcPts val="0"/>
                </a:spcBef>
                <a:buClr>
                  <a:schemeClr val="dk1"/>
                </a:buClr>
                <a:buSzPct val="100000"/>
                <a:buFont typeface="Arial"/>
                <a:buNone/>
              </a:pPr>
              <a:r>
                <a:rPr lang="en" sz="1100" dirty="0" err="1">
                  <a:solidFill>
                    <a:schemeClr val="dk2"/>
                  </a:solidFill>
                  <a:latin typeface="Exo" panose="02000503000000000000" pitchFamily="2" charset="77"/>
                  <a:ea typeface="Roboto Slab"/>
                  <a:cs typeface="Roboto Slab"/>
                  <a:sym typeface="Roboto Slab"/>
                </a:rPr>
                <a:t>Università</a:t>
              </a:r>
              <a:endParaRPr lang="en" sz="1100" dirty="0">
                <a:solidFill>
                  <a:schemeClr val="dk2"/>
                </a:solidFill>
                <a:latin typeface="Exo" panose="02000503000000000000" pitchFamily="2" charset="77"/>
                <a:ea typeface="Roboto Slab"/>
                <a:cs typeface="Roboto Slab"/>
                <a:sym typeface="Roboto Slab"/>
              </a:endParaRP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Location: </a:t>
              </a:r>
            </a:p>
            <a:p>
              <a:pPr lvl="0" rtl="0">
                <a:lnSpc>
                  <a:spcPct val="115000"/>
                </a:lnSpc>
                <a:spcBef>
                  <a:spcPts val="0"/>
                </a:spcBef>
                <a:buClr>
                  <a:schemeClr val="dk1"/>
                </a:buClr>
                <a:buSzPct val="100000"/>
                <a:buFont typeface="Arial"/>
                <a:buNone/>
              </a:pPr>
              <a:r>
                <a:rPr lang="en" sz="1100" dirty="0">
                  <a:solidFill>
                    <a:schemeClr val="dk2"/>
                  </a:solidFill>
                  <a:latin typeface="Exo" panose="02000503000000000000" pitchFamily="2" charset="77"/>
                  <a:ea typeface="Roboto Slab"/>
                  <a:cs typeface="Roboto Slab"/>
                  <a:sym typeface="Roboto Slab"/>
                </a:rPr>
                <a:t>Rome, Italy</a:t>
              </a: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Occupation: </a:t>
              </a:r>
            </a:p>
            <a:p>
              <a:pPr lvl="0" rtl="0">
                <a:lnSpc>
                  <a:spcPct val="115000"/>
                </a:lnSpc>
                <a:spcBef>
                  <a:spcPts val="0"/>
                </a:spcBef>
                <a:buClr>
                  <a:schemeClr val="dk1"/>
                </a:buClr>
                <a:buSzPct val="100000"/>
                <a:buFont typeface="Arial"/>
                <a:buNone/>
              </a:pPr>
              <a:r>
                <a:rPr lang="en" sz="1100" dirty="0" err="1">
                  <a:solidFill>
                    <a:schemeClr val="dk2"/>
                  </a:solidFill>
                  <a:latin typeface="Exo" panose="02000503000000000000" pitchFamily="2" charset="77"/>
                  <a:ea typeface="Roboto Slab"/>
                  <a:cs typeface="Roboto Slab"/>
                  <a:sym typeface="Roboto Slab"/>
                </a:rPr>
                <a:t>Studente</a:t>
              </a:r>
              <a:endParaRPr lang="en" sz="1100" dirty="0">
                <a:solidFill>
                  <a:schemeClr val="dk2"/>
                </a:solidFill>
                <a:latin typeface="Exo" panose="02000503000000000000" pitchFamily="2" charset="77"/>
                <a:ea typeface="Roboto Slab"/>
                <a:cs typeface="Roboto Slab"/>
                <a:sym typeface="Roboto Slab"/>
              </a:endParaRPr>
            </a:p>
            <a:p>
              <a:pPr>
                <a:lnSpc>
                  <a:spcPct val="115000"/>
                </a:lnSpc>
                <a:spcBef>
                  <a:spcPts val="0"/>
                </a:spcBef>
                <a:buNone/>
              </a:pPr>
              <a:endParaRPr dirty="0">
                <a:solidFill>
                  <a:schemeClr val="lt1"/>
                </a:solidFill>
                <a:latin typeface="Exo" panose="02000503000000000000" pitchFamily="2" charset="77"/>
                <a:ea typeface="Roboto Slab"/>
                <a:cs typeface="Roboto Slab"/>
                <a:sym typeface="Roboto Slab"/>
              </a:endParaRPr>
            </a:p>
          </p:txBody>
        </p:sp>
        <p:sp>
          <p:nvSpPr>
            <p:cNvPr id="308" name="Shape 308"/>
            <p:cNvSpPr txBox="1"/>
            <p:nvPr/>
          </p:nvSpPr>
          <p:spPr>
            <a:xfrm>
              <a:off x="6560075" y="4539000"/>
              <a:ext cx="1568300" cy="365399"/>
            </a:xfrm>
            <a:prstGeom prst="rect">
              <a:avLst/>
            </a:prstGeom>
            <a:noFill/>
            <a:ln>
              <a:noFill/>
            </a:ln>
          </p:spPr>
          <p:txBody>
            <a:bodyPr lIns="91425" tIns="91425" rIns="91425" bIns="91425" anchor="t" anchorCtr="0">
              <a:noAutofit/>
            </a:bodyPr>
            <a:lstStyle/>
            <a:p>
              <a:pPr lvl="0" algn="ctr" rtl="0">
                <a:lnSpc>
                  <a:spcPct val="115000"/>
                </a:lnSpc>
                <a:spcBef>
                  <a:spcPts val="0"/>
                </a:spcBef>
                <a:buClr>
                  <a:schemeClr val="dk1"/>
                </a:buClr>
                <a:buSzPct val="61111"/>
                <a:buFont typeface="Arial"/>
                <a:buNone/>
              </a:pPr>
              <a:r>
                <a:rPr lang="en" sz="1800" b="1" dirty="0">
                  <a:solidFill>
                    <a:schemeClr val="lt1"/>
                  </a:solidFill>
                  <a:latin typeface="Exo" panose="02000503000000000000" pitchFamily="2" charset="77"/>
                  <a:ea typeface="Roboto Slab"/>
                  <a:cs typeface="Roboto Slab"/>
                  <a:sym typeface="Roboto Slab"/>
                </a:rPr>
                <a:t>MILLENIALS</a:t>
              </a:r>
            </a:p>
            <a:p>
              <a:pPr>
                <a:spcBef>
                  <a:spcPts val="0"/>
                </a:spcBef>
                <a:buNone/>
              </a:pPr>
              <a:endParaRPr sz="1800" dirty="0">
                <a:latin typeface="Exo" panose="02000503000000000000" pitchFamily="2" charset="77"/>
              </a:endParaRPr>
            </a:p>
          </p:txBody>
        </p:sp>
        <p:pic>
          <p:nvPicPr>
            <p:cNvPr id="309" name="Shape 309"/>
            <p:cNvPicPr preferRelativeResize="0"/>
            <p:nvPr/>
          </p:nvPicPr>
          <p:blipFill>
            <a:blip r:embed="rId6">
              <a:alphaModFix/>
            </a:blip>
            <a:stretch>
              <a:fillRect/>
            </a:stretch>
          </p:blipFill>
          <p:spPr>
            <a:xfrm>
              <a:off x="7095825" y="4115325"/>
              <a:ext cx="566025" cy="566025"/>
            </a:xfrm>
            <a:prstGeom prst="rect">
              <a:avLst/>
            </a:prstGeom>
            <a:noFill/>
            <a:ln>
              <a:noFill/>
            </a:ln>
          </p:spPr>
        </p:pic>
      </p:grpSp>
      <p:grpSp>
        <p:nvGrpSpPr>
          <p:cNvPr id="310" name="Shape 310"/>
          <p:cNvGrpSpPr/>
          <p:nvPr/>
        </p:nvGrpSpPr>
        <p:grpSpPr>
          <a:xfrm>
            <a:off x="3461575" y="2778600"/>
            <a:ext cx="3045649" cy="1943099"/>
            <a:chOff x="3461575" y="2778600"/>
            <a:chExt cx="3045649" cy="1943099"/>
          </a:xfrm>
        </p:grpSpPr>
        <p:sp>
          <p:nvSpPr>
            <p:cNvPr id="311" name="Shape 311"/>
            <p:cNvSpPr txBox="1"/>
            <p:nvPr/>
          </p:nvSpPr>
          <p:spPr>
            <a:xfrm>
              <a:off x="3461575" y="2778600"/>
              <a:ext cx="2533500" cy="365399"/>
            </a:xfrm>
            <a:prstGeom prst="rect">
              <a:avLst/>
            </a:prstGeom>
            <a:noFill/>
            <a:ln>
              <a:noFill/>
            </a:ln>
          </p:spPr>
          <p:txBody>
            <a:bodyPr lIns="91425" tIns="91425" rIns="91425" bIns="91425" anchor="t" anchorCtr="0">
              <a:noAutofit/>
            </a:bodyPr>
            <a:lstStyle/>
            <a:p>
              <a:pPr lvl="0" rtl="0">
                <a:lnSpc>
                  <a:spcPct val="115000"/>
                </a:lnSpc>
                <a:spcBef>
                  <a:spcPts val="0"/>
                </a:spcBef>
                <a:buNone/>
              </a:pPr>
              <a:r>
                <a:rPr lang="en" sz="1800">
                  <a:solidFill>
                    <a:srgbClr val="A8D5D7"/>
                  </a:solidFill>
                  <a:latin typeface="Exo" panose="02000503000000000000" pitchFamily="2" charset="77"/>
                  <a:ea typeface="Roboto Slab"/>
                  <a:cs typeface="Roboto Slab"/>
                  <a:sym typeface="Roboto Slab"/>
                </a:rPr>
                <a:t>Target Needs</a:t>
              </a:r>
            </a:p>
            <a:p>
              <a:pPr lvl="0" rtl="0">
                <a:spcBef>
                  <a:spcPts val="0"/>
                </a:spcBef>
                <a:buNone/>
              </a:pPr>
              <a:endParaRPr sz="1800">
                <a:latin typeface="Exo" panose="02000503000000000000" pitchFamily="2" charset="77"/>
              </a:endParaRPr>
            </a:p>
          </p:txBody>
        </p:sp>
        <p:sp>
          <p:nvSpPr>
            <p:cNvPr id="312" name="Shape 312"/>
            <p:cNvSpPr txBox="1"/>
            <p:nvPr/>
          </p:nvSpPr>
          <p:spPr>
            <a:xfrm>
              <a:off x="3478125" y="3157937"/>
              <a:ext cx="3029099" cy="536100"/>
            </a:xfrm>
            <a:prstGeom prst="rect">
              <a:avLst/>
            </a:prstGeom>
            <a:noFill/>
            <a:ln>
              <a:noFill/>
            </a:ln>
          </p:spPr>
          <p:txBody>
            <a:bodyPr lIns="91425" tIns="91425" rIns="91425" bIns="91425" anchor="t" anchorCtr="0">
              <a:noAutofit/>
            </a:bodyPr>
            <a:lstStyle/>
            <a:p>
              <a:pPr lvl="0" rtl="0">
                <a:spcBef>
                  <a:spcPts val="0"/>
                </a:spcBef>
                <a:buClr>
                  <a:schemeClr val="dk1"/>
                </a:buClr>
                <a:buSzPct val="110000"/>
                <a:buFont typeface="Arial"/>
                <a:buNone/>
              </a:pPr>
              <a:r>
                <a:rPr lang="en" sz="1000" b="1" dirty="0">
                  <a:solidFill>
                    <a:schemeClr val="dk2"/>
                  </a:solidFill>
                  <a:latin typeface="Exo" panose="02000503000000000000" pitchFamily="2" charset="77"/>
                  <a:ea typeface="Roboto"/>
                  <a:cs typeface="Roboto"/>
                  <a:sym typeface="Roboto"/>
                </a:rPr>
                <a:t>Giacomo </a:t>
              </a:r>
              <a:r>
                <a:rPr lang="en" sz="1000" b="1" dirty="0" err="1">
                  <a:solidFill>
                    <a:schemeClr val="dk2"/>
                  </a:solidFill>
                  <a:latin typeface="Exo" panose="02000503000000000000" pitchFamily="2" charset="77"/>
                  <a:ea typeface="Roboto"/>
                  <a:cs typeface="Roboto"/>
                  <a:sym typeface="Roboto"/>
                </a:rPr>
                <a:t>vuole</a:t>
              </a:r>
              <a:r>
                <a:rPr lang="en" sz="1000" b="1" dirty="0">
                  <a:solidFill>
                    <a:schemeClr val="dk2"/>
                  </a:solidFill>
                  <a:latin typeface="Exo" panose="02000503000000000000" pitchFamily="2" charset="77"/>
                  <a:ea typeface="Roboto"/>
                  <a:cs typeface="Roboto"/>
                  <a:sym typeface="Roboto"/>
                </a:rPr>
                <a:t> </a:t>
              </a:r>
              <a:r>
                <a:rPr lang="en" sz="1000" b="1" dirty="0" err="1">
                  <a:solidFill>
                    <a:schemeClr val="dk2"/>
                  </a:solidFill>
                  <a:latin typeface="Exo" panose="02000503000000000000" pitchFamily="2" charset="77"/>
                  <a:ea typeface="Roboto"/>
                  <a:cs typeface="Roboto"/>
                  <a:sym typeface="Roboto"/>
                </a:rPr>
                <a:t>divertirsi</a:t>
              </a:r>
              <a:r>
                <a:rPr lang="en" sz="1000" b="1" dirty="0">
                  <a:solidFill>
                    <a:schemeClr val="dk2"/>
                  </a:solidFill>
                  <a:latin typeface="Exo" panose="02000503000000000000" pitchFamily="2" charset="77"/>
                  <a:ea typeface="Roboto"/>
                  <a:cs typeface="Roboto"/>
                  <a:sym typeface="Roboto"/>
                </a:rPr>
                <a:t> con </a:t>
              </a:r>
              <a:r>
                <a:rPr lang="en" sz="1000" b="1" dirty="0" err="1">
                  <a:solidFill>
                    <a:schemeClr val="dk2"/>
                  </a:solidFill>
                  <a:latin typeface="Exo" panose="02000503000000000000" pitchFamily="2" charset="77"/>
                  <a:ea typeface="Roboto"/>
                  <a:cs typeface="Roboto"/>
                  <a:sym typeface="Roboto"/>
                </a:rPr>
                <a:t>gli</a:t>
              </a:r>
              <a:r>
                <a:rPr lang="en" sz="1000" b="1" dirty="0">
                  <a:solidFill>
                    <a:schemeClr val="dk2"/>
                  </a:solidFill>
                  <a:latin typeface="Exo" panose="02000503000000000000" pitchFamily="2" charset="77"/>
                  <a:ea typeface="Roboto"/>
                  <a:cs typeface="Roboto"/>
                  <a:sym typeface="Roboto"/>
                </a:rPr>
                <a:t> amici, ma senza </a:t>
              </a:r>
              <a:r>
                <a:rPr lang="en" sz="1000" b="1" dirty="0" err="1">
                  <a:solidFill>
                    <a:schemeClr val="dk2"/>
                  </a:solidFill>
                  <a:latin typeface="Exo" panose="02000503000000000000" pitchFamily="2" charset="77"/>
                  <a:ea typeface="Roboto"/>
                  <a:cs typeface="Roboto"/>
                  <a:sym typeface="Roboto"/>
                </a:rPr>
                <a:t>limitare</a:t>
              </a:r>
              <a:r>
                <a:rPr lang="en" sz="1000" b="1" dirty="0">
                  <a:solidFill>
                    <a:schemeClr val="dk2"/>
                  </a:solidFill>
                  <a:latin typeface="Exo" panose="02000503000000000000" pitchFamily="2" charset="77"/>
                  <a:ea typeface="Roboto"/>
                  <a:cs typeface="Roboto"/>
                  <a:sym typeface="Roboto"/>
                </a:rPr>
                <a:t> </a:t>
              </a:r>
              <a:r>
                <a:rPr lang="en" sz="1000" b="1" dirty="0" err="1">
                  <a:solidFill>
                    <a:schemeClr val="dk2"/>
                  </a:solidFill>
                  <a:latin typeface="Exo" panose="02000503000000000000" pitchFamily="2" charset="77"/>
                  <a:ea typeface="Roboto"/>
                  <a:cs typeface="Roboto"/>
                  <a:sym typeface="Roboto"/>
                </a:rPr>
                <a:t>il</a:t>
              </a:r>
              <a:r>
                <a:rPr lang="en" sz="1000" b="1" dirty="0">
                  <a:solidFill>
                    <a:schemeClr val="dk2"/>
                  </a:solidFill>
                  <a:latin typeface="Exo" panose="02000503000000000000" pitchFamily="2" charset="77"/>
                  <a:ea typeface="Roboto"/>
                  <a:cs typeface="Roboto"/>
                  <a:sym typeface="Roboto"/>
                </a:rPr>
                <a:t> </a:t>
              </a:r>
              <a:r>
                <a:rPr lang="en" sz="1000" b="1" dirty="0" err="1">
                  <a:solidFill>
                    <a:schemeClr val="dk2"/>
                  </a:solidFill>
                  <a:latin typeface="Exo" panose="02000503000000000000" pitchFamily="2" charset="77"/>
                  <a:ea typeface="Roboto"/>
                  <a:cs typeface="Roboto"/>
                  <a:sym typeface="Roboto"/>
                </a:rPr>
                <a:t>suo</a:t>
              </a:r>
              <a:r>
                <a:rPr lang="en" sz="1000" b="1" dirty="0">
                  <a:solidFill>
                    <a:schemeClr val="dk2"/>
                  </a:solidFill>
                  <a:latin typeface="Exo" panose="02000503000000000000" pitchFamily="2" charset="77"/>
                  <a:ea typeface="Roboto"/>
                  <a:cs typeface="Roboto"/>
                  <a:sym typeface="Roboto"/>
                </a:rPr>
                <a:t> budget </a:t>
              </a:r>
              <a:r>
                <a:rPr lang="en" sz="1000" b="1" dirty="0" err="1">
                  <a:solidFill>
                    <a:schemeClr val="dk2"/>
                  </a:solidFill>
                  <a:latin typeface="Exo" panose="02000503000000000000" pitchFamily="2" charset="77"/>
                  <a:ea typeface="Roboto"/>
                  <a:cs typeface="Roboto"/>
                  <a:sym typeface="Roboto"/>
                </a:rPr>
                <a:t>mensile</a:t>
              </a:r>
              <a:r>
                <a:rPr lang="en" sz="1000" b="1" dirty="0">
                  <a:solidFill>
                    <a:schemeClr val="dk2"/>
                  </a:solidFill>
                  <a:latin typeface="Exo" panose="02000503000000000000" pitchFamily="2" charset="77"/>
                  <a:ea typeface="Roboto"/>
                  <a:cs typeface="Roboto"/>
                  <a:sym typeface="Roboto"/>
                </a:rPr>
                <a:t> in </a:t>
              </a:r>
              <a:r>
                <a:rPr lang="en" sz="1000" b="1" dirty="0" err="1">
                  <a:solidFill>
                    <a:schemeClr val="dk2"/>
                  </a:solidFill>
                  <a:latin typeface="Exo" panose="02000503000000000000" pitchFamily="2" charset="77"/>
                  <a:ea typeface="Roboto"/>
                  <a:cs typeface="Roboto"/>
                  <a:sym typeface="Roboto"/>
                </a:rPr>
                <a:t>alcun</a:t>
              </a:r>
              <a:r>
                <a:rPr lang="en" sz="1000" b="1" dirty="0">
                  <a:solidFill>
                    <a:schemeClr val="dk2"/>
                  </a:solidFill>
                  <a:latin typeface="Exo" panose="02000503000000000000" pitchFamily="2" charset="77"/>
                  <a:ea typeface="Roboto"/>
                  <a:cs typeface="Roboto"/>
                  <a:sym typeface="Roboto"/>
                </a:rPr>
                <a:t> </a:t>
              </a:r>
              <a:r>
                <a:rPr lang="en" sz="1000" b="1" dirty="0" err="1">
                  <a:solidFill>
                    <a:schemeClr val="dk2"/>
                  </a:solidFill>
                  <a:latin typeface="Exo" panose="02000503000000000000" pitchFamily="2" charset="77"/>
                  <a:ea typeface="Roboto"/>
                  <a:cs typeface="Roboto"/>
                  <a:sym typeface="Roboto"/>
                </a:rPr>
                <a:t>modo</a:t>
              </a:r>
              <a:r>
                <a:rPr lang="en" sz="1000" b="1" dirty="0">
                  <a:solidFill>
                    <a:schemeClr val="dk2"/>
                  </a:solidFill>
                  <a:latin typeface="Exo" panose="02000503000000000000" pitchFamily="2" charset="77"/>
                  <a:ea typeface="Roboto"/>
                  <a:cs typeface="Roboto"/>
                  <a:sym typeface="Roboto"/>
                </a:rPr>
                <a:t>.</a:t>
              </a:r>
              <a:endParaRPr sz="900" dirty="0">
                <a:solidFill>
                  <a:srgbClr val="666666"/>
                </a:solidFill>
                <a:latin typeface="Exo" panose="02000503000000000000" pitchFamily="2" charset="77"/>
                <a:ea typeface="Roboto"/>
                <a:cs typeface="Roboto"/>
                <a:sym typeface="Roboto"/>
              </a:endParaRPr>
            </a:p>
            <a:p>
              <a:pPr lvl="0" rtl="0">
                <a:spcBef>
                  <a:spcPts val="0"/>
                </a:spcBef>
                <a:buNone/>
              </a:pPr>
              <a:endParaRPr sz="900" dirty="0">
                <a:solidFill>
                  <a:srgbClr val="666666"/>
                </a:solidFill>
                <a:latin typeface="Exo" panose="02000503000000000000" pitchFamily="2" charset="77"/>
                <a:ea typeface="Roboto"/>
                <a:cs typeface="Roboto"/>
                <a:sym typeface="Roboto"/>
              </a:endParaRPr>
            </a:p>
          </p:txBody>
        </p:sp>
        <p:sp>
          <p:nvSpPr>
            <p:cNvPr id="313" name="Shape 313"/>
            <p:cNvSpPr txBox="1"/>
            <p:nvPr/>
          </p:nvSpPr>
          <p:spPr>
            <a:xfrm>
              <a:off x="3478125" y="3726600"/>
              <a:ext cx="2662499" cy="995099"/>
            </a:xfrm>
            <a:prstGeom prst="rect">
              <a:avLst/>
            </a:prstGeom>
            <a:noFill/>
            <a:ln>
              <a:noFill/>
            </a:ln>
          </p:spPr>
          <p:txBody>
            <a:bodyPr lIns="91425" tIns="91425" rIns="91425" bIns="91425" anchor="t" anchorCtr="0">
              <a:noAutofit/>
            </a:bodyPr>
            <a:lstStyle/>
            <a:p>
              <a:pPr lvl="0" rtl="0">
                <a:spcBef>
                  <a:spcPts val="0"/>
                </a:spcBef>
                <a:buClr>
                  <a:schemeClr val="dk1"/>
                </a:buClr>
                <a:buSzPct val="100000"/>
                <a:buFont typeface="Arial"/>
                <a:buNone/>
              </a:pPr>
              <a:r>
                <a:rPr lang="en" sz="1100" dirty="0">
                  <a:solidFill>
                    <a:srgbClr val="666666"/>
                  </a:solidFill>
                  <a:latin typeface="Exo" panose="02000503000000000000" pitchFamily="2" charset="77"/>
                  <a:ea typeface="Roboto"/>
                  <a:cs typeface="Roboto"/>
                  <a:sym typeface="Roboto"/>
                </a:rPr>
                <a:t>Giacomo </a:t>
              </a:r>
              <a:r>
                <a:rPr lang="en" sz="1100" dirty="0" err="1">
                  <a:solidFill>
                    <a:srgbClr val="666666"/>
                  </a:solidFill>
                  <a:latin typeface="Exo" panose="02000503000000000000" pitchFamily="2" charset="77"/>
                  <a:ea typeface="Roboto"/>
                  <a:cs typeface="Roboto"/>
                  <a:sym typeface="Roboto"/>
                </a:rPr>
                <a:t>può</a:t>
              </a:r>
              <a:r>
                <a:rPr lang="en" sz="1100" dirty="0">
                  <a:solidFill>
                    <a:srgbClr val="666666"/>
                  </a:solidFill>
                  <a:latin typeface="Exo" panose="02000503000000000000" pitchFamily="2" charset="77"/>
                  <a:ea typeface="Roboto"/>
                  <a:cs typeface="Roboto"/>
                  <a:sym typeface="Roboto"/>
                </a:rPr>
                <a:t> </a:t>
              </a:r>
              <a:r>
                <a:rPr lang="en" sz="1100" dirty="0" err="1">
                  <a:solidFill>
                    <a:srgbClr val="666666"/>
                  </a:solidFill>
                  <a:latin typeface="Exo" panose="02000503000000000000" pitchFamily="2" charset="77"/>
                  <a:ea typeface="Roboto"/>
                  <a:cs typeface="Roboto"/>
                  <a:sym typeface="Roboto"/>
                </a:rPr>
                <a:t>semplicemente</a:t>
              </a:r>
              <a:r>
                <a:rPr lang="en" sz="1100" dirty="0">
                  <a:solidFill>
                    <a:srgbClr val="666666"/>
                  </a:solidFill>
                  <a:latin typeface="Exo" panose="02000503000000000000" pitchFamily="2" charset="77"/>
                  <a:ea typeface="Roboto"/>
                  <a:cs typeface="Roboto"/>
                  <a:sym typeface="Roboto"/>
                </a:rPr>
                <a:t> </a:t>
              </a:r>
              <a:r>
                <a:rPr lang="en" sz="1100" dirty="0" err="1">
                  <a:solidFill>
                    <a:srgbClr val="666666"/>
                  </a:solidFill>
                  <a:latin typeface="Exo" panose="02000503000000000000" pitchFamily="2" charset="77"/>
                  <a:ea typeface="Roboto"/>
                  <a:cs typeface="Roboto"/>
                  <a:sym typeface="Roboto"/>
                </a:rPr>
                <a:t>creare</a:t>
              </a:r>
              <a:r>
                <a:rPr lang="en" sz="1100" dirty="0">
                  <a:solidFill>
                    <a:srgbClr val="666666"/>
                  </a:solidFill>
                  <a:latin typeface="Exo" panose="02000503000000000000" pitchFamily="2" charset="77"/>
                  <a:ea typeface="Roboto"/>
                  <a:cs typeface="Roboto"/>
                  <a:sym typeface="Roboto"/>
                </a:rPr>
                <a:t> </a:t>
              </a:r>
              <a:r>
                <a:rPr lang="en" sz="1100" dirty="0" err="1">
                  <a:solidFill>
                    <a:srgbClr val="666666"/>
                  </a:solidFill>
                  <a:latin typeface="Exo" panose="02000503000000000000" pitchFamily="2" charset="77"/>
                  <a:ea typeface="Roboto"/>
                  <a:cs typeface="Roboto"/>
                  <a:sym typeface="Roboto"/>
                </a:rPr>
                <a:t>una</a:t>
              </a:r>
              <a:r>
                <a:rPr lang="en" sz="1100" dirty="0">
                  <a:solidFill>
                    <a:srgbClr val="666666"/>
                  </a:solidFill>
                  <a:latin typeface="Exo" panose="02000503000000000000" pitchFamily="2" charset="77"/>
                  <a:ea typeface="Roboto"/>
                  <a:cs typeface="Roboto"/>
                  <a:sym typeface="Roboto"/>
                </a:rPr>
                <a:t> </a:t>
              </a:r>
              <a:r>
                <a:rPr lang="en" sz="1100" dirty="0" err="1">
                  <a:solidFill>
                    <a:srgbClr val="666666"/>
                  </a:solidFill>
                  <a:latin typeface="Exo" panose="02000503000000000000" pitchFamily="2" charset="77"/>
                  <a:ea typeface="Roboto"/>
                  <a:cs typeface="Roboto"/>
                  <a:sym typeface="Roboto"/>
                </a:rPr>
                <a:t>lega</a:t>
              </a:r>
              <a:r>
                <a:rPr lang="en" sz="1100" dirty="0">
                  <a:solidFill>
                    <a:srgbClr val="666666"/>
                  </a:solidFill>
                  <a:latin typeface="Exo" panose="02000503000000000000" pitchFamily="2" charset="77"/>
                  <a:ea typeface="Roboto"/>
                  <a:cs typeface="Roboto"/>
                  <a:sym typeface="Roboto"/>
                </a:rPr>
                <a:t> </a:t>
              </a:r>
              <a:r>
                <a:rPr lang="en" sz="1100" dirty="0" err="1">
                  <a:solidFill>
                    <a:srgbClr val="666666"/>
                  </a:solidFill>
                  <a:latin typeface="Exo" panose="02000503000000000000" pitchFamily="2" charset="77"/>
                  <a:ea typeface="Roboto"/>
                  <a:cs typeface="Roboto"/>
                  <a:sym typeface="Roboto"/>
                </a:rPr>
                <a:t>all’interno</a:t>
              </a:r>
              <a:r>
                <a:rPr lang="en" sz="1100" dirty="0">
                  <a:solidFill>
                    <a:srgbClr val="666666"/>
                  </a:solidFill>
                  <a:latin typeface="Exo" panose="02000503000000000000" pitchFamily="2" charset="77"/>
                  <a:ea typeface="Roboto"/>
                  <a:cs typeface="Roboto"/>
                  <a:sym typeface="Roboto"/>
                </a:rPr>
                <a:t> di Bet4Fun dove </a:t>
              </a:r>
              <a:r>
                <a:rPr lang="en" sz="1100" dirty="0" err="1">
                  <a:solidFill>
                    <a:srgbClr val="666666"/>
                  </a:solidFill>
                  <a:latin typeface="Exo" panose="02000503000000000000" pitchFamily="2" charset="77"/>
                  <a:ea typeface="Roboto"/>
                  <a:cs typeface="Roboto"/>
                  <a:sym typeface="Roboto"/>
                </a:rPr>
                <a:t>inviterà</a:t>
              </a:r>
              <a:r>
                <a:rPr lang="en" sz="1100" dirty="0">
                  <a:solidFill>
                    <a:srgbClr val="666666"/>
                  </a:solidFill>
                  <a:latin typeface="Exo" panose="02000503000000000000" pitchFamily="2" charset="77"/>
                  <a:ea typeface="Roboto"/>
                  <a:cs typeface="Roboto"/>
                  <a:sym typeface="Roboto"/>
                </a:rPr>
                <a:t> </a:t>
              </a:r>
              <a:r>
                <a:rPr lang="it-IT" sz="1100" dirty="0">
                  <a:solidFill>
                    <a:srgbClr val="666666"/>
                  </a:solidFill>
                  <a:latin typeface="Exo" panose="02000503000000000000" pitchFamily="2" charset="77"/>
                  <a:ea typeface="Roboto"/>
                  <a:cs typeface="Roboto"/>
                  <a:sym typeface="Roboto"/>
                </a:rPr>
                <a:t>i</a:t>
              </a:r>
              <a:r>
                <a:rPr lang="en" sz="1100" dirty="0">
                  <a:solidFill>
                    <a:srgbClr val="666666"/>
                  </a:solidFill>
                  <a:latin typeface="Exo" panose="02000503000000000000" pitchFamily="2" charset="77"/>
                  <a:ea typeface="Roboto"/>
                  <a:cs typeface="Roboto"/>
                  <a:sym typeface="Roboto"/>
                </a:rPr>
                <a:t> </a:t>
              </a:r>
              <a:r>
                <a:rPr lang="en" sz="1100" dirty="0" err="1">
                  <a:solidFill>
                    <a:srgbClr val="666666"/>
                  </a:solidFill>
                  <a:latin typeface="Exo" panose="02000503000000000000" pitchFamily="2" charset="77"/>
                  <a:ea typeface="Roboto"/>
                  <a:cs typeface="Roboto"/>
                  <a:sym typeface="Roboto"/>
                </a:rPr>
                <a:t>suoi</a:t>
              </a:r>
              <a:r>
                <a:rPr lang="en" sz="1100" dirty="0">
                  <a:solidFill>
                    <a:srgbClr val="666666"/>
                  </a:solidFill>
                  <a:latin typeface="Exo" panose="02000503000000000000" pitchFamily="2" charset="77"/>
                  <a:ea typeface="Roboto"/>
                  <a:cs typeface="Roboto"/>
                  <a:sym typeface="Roboto"/>
                </a:rPr>
                <a:t> amici dove </a:t>
              </a:r>
              <a:r>
                <a:rPr lang="en" sz="1100" dirty="0" err="1">
                  <a:solidFill>
                    <a:srgbClr val="666666"/>
                  </a:solidFill>
                  <a:latin typeface="Exo" panose="02000503000000000000" pitchFamily="2" charset="77"/>
                  <a:ea typeface="Roboto"/>
                  <a:cs typeface="Roboto"/>
                  <a:sym typeface="Roboto"/>
                </a:rPr>
                <a:t>si</a:t>
              </a:r>
              <a:r>
                <a:rPr lang="en" sz="1100" dirty="0">
                  <a:solidFill>
                    <a:srgbClr val="666666"/>
                  </a:solidFill>
                  <a:latin typeface="Exo" panose="02000503000000000000" pitchFamily="2" charset="77"/>
                  <a:ea typeface="Roboto"/>
                  <a:cs typeface="Roboto"/>
                  <a:sym typeface="Roboto"/>
                </a:rPr>
                <a:t> </a:t>
              </a:r>
              <a:r>
                <a:rPr lang="en" sz="1100" dirty="0" err="1">
                  <a:solidFill>
                    <a:srgbClr val="666666"/>
                  </a:solidFill>
                  <a:latin typeface="Exo" panose="02000503000000000000" pitchFamily="2" charset="77"/>
                  <a:ea typeface="Roboto"/>
                  <a:cs typeface="Roboto"/>
                  <a:sym typeface="Roboto"/>
                </a:rPr>
                <a:t>contenderanno</a:t>
              </a:r>
              <a:r>
                <a:rPr lang="en" sz="1100" dirty="0">
                  <a:solidFill>
                    <a:srgbClr val="666666"/>
                  </a:solidFill>
                  <a:latin typeface="Exo" panose="02000503000000000000" pitchFamily="2" charset="77"/>
                  <a:ea typeface="Roboto"/>
                  <a:cs typeface="Roboto"/>
                  <a:sym typeface="Roboto"/>
                </a:rPr>
                <a:t> </a:t>
              </a:r>
              <a:r>
                <a:rPr lang="en" sz="1100" dirty="0" err="1">
                  <a:solidFill>
                    <a:srgbClr val="666666"/>
                  </a:solidFill>
                  <a:latin typeface="Exo" panose="02000503000000000000" pitchFamily="2" charset="77"/>
                  <a:ea typeface="Roboto"/>
                  <a:cs typeface="Roboto"/>
                  <a:sym typeface="Roboto"/>
                </a:rPr>
                <a:t>il</a:t>
              </a:r>
              <a:r>
                <a:rPr lang="en" sz="1100" dirty="0">
                  <a:solidFill>
                    <a:srgbClr val="666666"/>
                  </a:solidFill>
                  <a:latin typeface="Exo" panose="02000503000000000000" pitchFamily="2" charset="77"/>
                  <a:ea typeface="Roboto"/>
                  <a:cs typeface="Roboto"/>
                  <a:sym typeface="Roboto"/>
                </a:rPr>
                <a:t> </a:t>
              </a:r>
              <a:r>
                <a:rPr lang="en" sz="1100" dirty="0" err="1">
                  <a:solidFill>
                    <a:srgbClr val="666666"/>
                  </a:solidFill>
                  <a:latin typeface="Exo" panose="02000503000000000000" pitchFamily="2" charset="77"/>
                  <a:ea typeface="Roboto"/>
                  <a:cs typeface="Roboto"/>
                  <a:sym typeface="Roboto"/>
                </a:rPr>
                <a:t>ruolo</a:t>
              </a:r>
              <a:r>
                <a:rPr lang="en" sz="1100" dirty="0">
                  <a:solidFill>
                    <a:srgbClr val="666666"/>
                  </a:solidFill>
                  <a:latin typeface="Exo" panose="02000503000000000000" pitchFamily="2" charset="77"/>
                  <a:ea typeface="Roboto"/>
                  <a:cs typeface="Roboto"/>
                  <a:sym typeface="Roboto"/>
                </a:rPr>
                <a:t> di </a:t>
              </a:r>
              <a:r>
                <a:rPr lang="en" sz="1100" dirty="0" err="1">
                  <a:solidFill>
                    <a:srgbClr val="666666"/>
                  </a:solidFill>
                  <a:latin typeface="Exo" panose="02000503000000000000" pitchFamily="2" charset="77"/>
                  <a:ea typeface="Roboto"/>
                  <a:cs typeface="Roboto"/>
                  <a:sym typeface="Roboto"/>
                </a:rPr>
                <a:t>più</a:t>
              </a:r>
              <a:r>
                <a:rPr lang="en" sz="1100" dirty="0">
                  <a:solidFill>
                    <a:srgbClr val="666666"/>
                  </a:solidFill>
                  <a:latin typeface="Exo" panose="02000503000000000000" pitchFamily="2" charset="77"/>
                  <a:ea typeface="Roboto"/>
                  <a:cs typeface="Roboto"/>
                  <a:sym typeface="Roboto"/>
                </a:rPr>
                <a:t> forte. Il </a:t>
              </a:r>
              <a:r>
                <a:rPr lang="en" sz="1100" dirty="0" err="1">
                  <a:solidFill>
                    <a:srgbClr val="666666"/>
                  </a:solidFill>
                  <a:latin typeface="Exo" panose="02000503000000000000" pitchFamily="2" charset="77"/>
                  <a:ea typeface="Roboto"/>
                  <a:cs typeface="Roboto"/>
                  <a:sym typeface="Roboto"/>
                </a:rPr>
                <a:t>montepremi</a:t>
              </a:r>
              <a:r>
                <a:rPr lang="en" sz="1100" dirty="0">
                  <a:solidFill>
                    <a:srgbClr val="666666"/>
                  </a:solidFill>
                  <a:latin typeface="Exo" panose="02000503000000000000" pitchFamily="2" charset="77"/>
                  <a:ea typeface="Roboto"/>
                  <a:cs typeface="Roboto"/>
                  <a:sym typeface="Roboto"/>
                </a:rPr>
                <a:t> </a:t>
              </a:r>
              <a:r>
                <a:rPr lang="en" sz="1100" dirty="0" err="1">
                  <a:solidFill>
                    <a:srgbClr val="666666"/>
                  </a:solidFill>
                  <a:latin typeface="Exo" panose="02000503000000000000" pitchFamily="2" charset="77"/>
                  <a:ea typeface="Roboto"/>
                  <a:cs typeface="Roboto"/>
                  <a:sym typeface="Roboto"/>
                </a:rPr>
                <a:t>sarà</a:t>
              </a:r>
              <a:r>
                <a:rPr lang="en" sz="1100" dirty="0">
                  <a:solidFill>
                    <a:srgbClr val="666666"/>
                  </a:solidFill>
                  <a:latin typeface="Exo" panose="02000503000000000000" pitchFamily="2" charset="77"/>
                  <a:ea typeface="Roboto"/>
                  <a:cs typeface="Roboto"/>
                  <a:sym typeface="Roboto"/>
                </a:rPr>
                <a:t> in ”</a:t>
              </a:r>
              <a:r>
                <a:rPr lang="en" sz="1100" dirty="0" err="1">
                  <a:solidFill>
                    <a:srgbClr val="666666"/>
                  </a:solidFill>
                  <a:latin typeface="Exo" panose="02000503000000000000" pitchFamily="2" charset="77"/>
                  <a:ea typeface="Roboto"/>
                  <a:cs typeface="Roboto"/>
                  <a:sym typeface="Roboto"/>
                </a:rPr>
                <a:t>boneys</a:t>
              </a:r>
              <a:r>
                <a:rPr lang="en" sz="1100" dirty="0">
                  <a:solidFill>
                    <a:srgbClr val="666666"/>
                  </a:solidFill>
                  <a:latin typeface="Exo" panose="02000503000000000000" pitchFamily="2" charset="77"/>
                  <a:ea typeface="Roboto"/>
                  <a:cs typeface="Roboto"/>
                  <a:sym typeface="Roboto"/>
                </a:rPr>
                <a:t>”.</a:t>
              </a:r>
            </a:p>
            <a:p>
              <a:pPr lvl="0" rtl="0">
                <a:spcBef>
                  <a:spcPts val="0"/>
                </a:spcBef>
                <a:buNone/>
              </a:pPr>
              <a:endParaRPr sz="1100" dirty="0">
                <a:solidFill>
                  <a:srgbClr val="666666"/>
                </a:solidFill>
                <a:latin typeface="Exo" panose="02000503000000000000" pitchFamily="2" charset="77"/>
                <a:ea typeface="Roboto"/>
                <a:cs typeface="Roboto"/>
                <a:sym typeface="Roboto"/>
              </a:endParaRPr>
            </a:p>
          </p:txBody>
        </p:sp>
      </p:grpSp>
      <p:grpSp>
        <p:nvGrpSpPr>
          <p:cNvPr id="314" name="Shape 314"/>
          <p:cNvGrpSpPr/>
          <p:nvPr/>
        </p:nvGrpSpPr>
        <p:grpSpPr>
          <a:xfrm>
            <a:off x="3028949" y="1206413"/>
            <a:ext cx="3309000" cy="1648387"/>
            <a:chOff x="3028949" y="1206413"/>
            <a:chExt cx="3309000" cy="1648387"/>
          </a:xfrm>
        </p:grpSpPr>
        <p:sp>
          <p:nvSpPr>
            <p:cNvPr id="315" name="Shape 315"/>
            <p:cNvSpPr txBox="1"/>
            <p:nvPr/>
          </p:nvSpPr>
          <p:spPr>
            <a:xfrm>
              <a:off x="3028949" y="1375454"/>
              <a:ext cx="3309000" cy="504299"/>
            </a:xfrm>
            <a:prstGeom prst="rect">
              <a:avLst/>
            </a:prstGeom>
            <a:noFill/>
            <a:ln>
              <a:noFill/>
            </a:ln>
          </p:spPr>
          <p:txBody>
            <a:bodyPr lIns="91425" tIns="91425" rIns="91425" bIns="91425" anchor="t" anchorCtr="0">
              <a:noAutofit/>
            </a:bodyPr>
            <a:lstStyle/>
            <a:p>
              <a:pPr lvl="0" algn="ctr" rtl="0">
                <a:spcBef>
                  <a:spcPts val="0"/>
                </a:spcBef>
                <a:buNone/>
              </a:pPr>
              <a:r>
                <a:rPr lang="en" sz="1600" b="1" dirty="0">
                  <a:solidFill>
                    <a:srgbClr val="A8D5D7"/>
                  </a:solidFill>
                  <a:latin typeface="Exo" panose="02000503000000000000" pitchFamily="2" charset="77"/>
                  <a:ea typeface="Roboto Slab"/>
                  <a:cs typeface="Roboto Slab"/>
                  <a:sym typeface="Roboto Slab"/>
                </a:rPr>
                <a:t>Target Problem</a:t>
              </a:r>
            </a:p>
            <a:p>
              <a:pPr lvl="0" algn="ctr" rtl="0">
                <a:spcBef>
                  <a:spcPts val="0"/>
                </a:spcBef>
                <a:buNone/>
              </a:pPr>
              <a:endParaRPr sz="800" b="1" dirty="0">
                <a:solidFill>
                  <a:schemeClr val="dk2"/>
                </a:solidFill>
                <a:latin typeface="Exo" panose="02000503000000000000" pitchFamily="2" charset="77"/>
                <a:ea typeface="Roboto Slab"/>
                <a:cs typeface="Roboto Slab"/>
                <a:sym typeface="Roboto Slab"/>
              </a:endParaRPr>
            </a:p>
          </p:txBody>
        </p:sp>
        <p:sp>
          <p:nvSpPr>
            <p:cNvPr id="316" name="Shape 316"/>
            <p:cNvSpPr txBox="1"/>
            <p:nvPr/>
          </p:nvSpPr>
          <p:spPr>
            <a:xfrm>
              <a:off x="3432887" y="1696800"/>
              <a:ext cx="2501100" cy="1158000"/>
            </a:xfrm>
            <a:prstGeom prst="rect">
              <a:avLst/>
            </a:prstGeom>
            <a:noFill/>
            <a:ln>
              <a:noFill/>
            </a:ln>
          </p:spPr>
          <p:txBody>
            <a:bodyPr lIns="91425" tIns="91425" rIns="91425" bIns="91425" anchor="t" anchorCtr="0">
              <a:noAutofit/>
            </a:bodyPr>
            <a:lstStyle/>
            <a:p>
              <a:pPr lvl="0" algn="ctr" rtl="0">
                <a:spcBef>
                  <a:spcPts val="0"/>
                </a:spcBef>
                <a:buClr>
                  <a:schemeClr val="dk1"/>
                </a:buClr>
                <a:buSzPct val="100000"/>
                <a:buFont typeface="Arial"/>
                <a:buNone/>
              </a:pPr>
              <a:r>
                <a:rPr lang="en" sz="1100" i="1" dirty="0" err="1">
                  <a:solidFill>
                    <a:schemeClr val="dk1"/>
                  </a:solidFill>
                  <a:latin typeface="Exo" panose="02000503000000000000" pitchFamily="2" charset="77"/>
                  <a:ea typeface="Roboto"/>
                  <a:cs typeface="Roboto"/>
                  <a:sym typeface="Roboto"/>
                </a:rPr>
                <a:t>Scommetto</a:t>
              </a:r>
              <a:r>
                <a:rPr lang="en" sz="1100" i="1" dirty="0">
                  <a:solidFill>
                    <a:schemeClr val="dk1"/>
                  </a:solidFill>
                  <a:latin typeface="Exo" panose="02000503000000000000" pitchFamily="2" charset="77"/>
                  <a:ea typeface="Roboto"/>
                  <a:cs typeface="Roboto"/>
                  <a:sym typeface="Roboto"/>
                </a:rPr>
                <a:t> </a:t>
              </a:r>
              <a:r>
                <a:rPr lang="en" sz="1100" i="1" dirty="0" err="1">
                  <a:solidFill>
                    <a:schemeClr val="dk1"/>
                  </a:solidFill>
                  <a:latin typeface="Exo" panose="02000503000000000000" pitchFamily="2" charset="77"/>
                  <a:ea typeface="Roboto"/>
                  <a:cs typeface="Roboto"/>
                  <a:sym typeface="Roboto"/>
                </a:rPr>
                <a:t>saltuariamente</a:t>
              </a:r>
              <a:r>
                <a:rPr lang="en" sz="1100" i="1" dirty="0">
                  <a:solidFill>
                    <a:schemeClr val="dk1"/>
                  </a:solidFill>
                  <a:latin typeface="Exo" panose="02000503000000000000" pitchFamily="2" charset="77"/>
                  <a:ea typeface="Roboto"/>
                  <a:cs typeface="Roboto"/>
                  <a:sym typeface="Roboto"/>
                </a:rPr>
                <a:t> </a:t>
              </a:r>
              <a:r>
                <a:rPr lang="it-IT" sz="1100" i="1" dirty="0">
                  <a:solidFill>
                    <a:schemeClr val="dk1"/>
                  </a:solidFill>
                  <a:latin typeface="Exo" panose="02000503000000000000" pitchFamily="2" charset="77"/>
                  <a:ea typeface="Roboto"/>
                  <a:cs typeface="Roboto"/>
                  <a:sym typeface="Roboto"/>
                </a:rPr>
                <a:t>perché non ho i soldi per farlo, ma è una cosa che mi diverte. Sarebbe bello poter sfidare i miei amici in una lega come nel </a:t>
              </a:r>
              <a:r>
                <a:rPr lang="it-IT" sz="1100" i="1" dirty="0" err="1">
                  <a:solidFill>
                    <a:schemeClr val="dk1"/>
                  </a:solidFill>
                  <a:latin typeface="Exo" panose="02000503000000000000" pitchFamily="2" charset="77"/>
                  <a:ea typeface="Roboto"/>
                  <a:cs typeface="Roboto"/>
                  <a:sym typeface="Roboto"/>
                </a:rPr>
                <a:t>fantacalcio</a:t>
              </a:r>
              <a:r>
                <a:rPr lang="it-IT" sz="1100" i="1" dirty="0">
                  <a:solidFill>
                    <a:schemeClr val="dk1"/>
                  </a:solidFill>
                  <a:latin typeface="Exo" panose="02000503000000000000" pitchFamily="2" charset="77"/>
                  <a:ea typeface="Roboto"/>
                  <a:cs typeface="Roboto"/>
                  <a:sym typeface="Roboto"/>
                </a:rPr>
                <a:t>.</a:t>
              </a:r>
              <a:endParaRPr lang="en" sz="1100" i="1" dirty="0">
                <a:solidFill>
                  <a:schemeClr val="dk1"/>
                </a:solidFill>
                <a:latin typeface="Exo" panose="02000503000000000000" pitchFamily="2" charset="77"/>
                <a:ea typeface="Roboto"/>
                <a:cs typeface="Roboto"/>
                <a:sym typeface="Roboto"/>
              </a:endParaRPr>
            </a:p>
            <a:p>
              <a:pPr>
                <a:spcBef>
                  <a:spcPts val="0"/>
                </a:spcBef>
                <a:buNone/>
              </a:pPr>
              <a:endParaRPr dirty="0">
                <a:latin typeface="Exo" panose="02000503000000000000" pitchFamily="2" charset="77"/>
                <a:ea typeface="Roboto"/>
                <a:cs typeface="Roboto"/>
                <a:sym typeface="Roboto"/>
              </a:endParaRPr>
            </a:p>
          </p:txBody>
        </p:sp>
        <p:sp>
          <p:nvSpPr>
            <p:cNvPr id="317" name="Shape 317"/>
            <p:cNvSpPr txBox="1"/>
            <p:nvPr/>
          </p:nvSpPr>
          <p:spPr>
            <a:xfrm>
              <a:off x="3509578" y="1206413"/>
              <a:ext cx="792600" cy="566100"/>
            </a:xfrm>
            <a:prstGeom prst="rect">
              <a:avLst/>
            </a:prstGeom>
            <a:noFill/>
            <a:ln>
              <a:noFill/>
            </a:ln>
          </p:spPr>
          <p:txBody>
            <a:bodyPr lIns="91425" tIns="91425" rIns="91425" bIns="91425" anchor="ctr" anchorCtr="0">
              <a:noAutofit/>
            </a:bodyPr>
            <a:lstStyle/>
            <a:p>
              <a:pPr lvl="0" rtl="0">
                <a:spcBef>
                  <a:spcPts val="0"/>
                </a:spcBef>
                <a:buNone/>
              </a:pPr>
              <a:r>
                <a:rPr lang="en" sz="6000">
                  <a:solidFill>
                    <a:srgbClr val="A8D5D7"/>
                  </a:solidFill>
                  <a:latin typeface="Exo" panose="02000503000000000000" pitchFamily="2" charset="77"/>
                </a:rPr>
                <a:t>“</a:t>
              </a:r>
            </a:p>
          </p:txBody>
        </p:sp>
        <p:sp>
          <p:nvSpPr>
            <p:cNvPr id="318" name="Shape 318"/>
            <p:cNvSpPr txBox="1"/>
            <p:nvPr/>
          </p:nvSpPr>
          <p:spPr>
            <a:xfrm rot="10800000">
              <a:off x="5336817" y="2023263"/>
              <a:ext cx="792600" cy="566100"/>
            </a:xfrm>
            <a:prstGeom prst="rect">
              <a:avLst/>
            </a:prstGeom>
            <a:noFill/>
            <a:ln>
              <a:noFill/>
            </a:ln>
          </p:spPr>
          <p:txBody>
            <a:bodyPr lIns="91425" tIns="91425" rIns="91425" bIns="91425" anchor="ctr" anchorCtr="0">
              <a:noAutofit/>
            </a:bodyPr>
            <a:lstStyle/>
            <a:p>
              <a:pPr lvl="0" rtl="0">
                <a:spcBef>
                  <a:spcPts val="0"/>
                </a:spcBef>
                <a:buNone/>
              </a:pPr>
              <a:r>
                <a:rPr lang="en" sz="6000">
                  <a:solidFill>
                    <a:srgbClr val="A8D5D7"/>
                  </a:solidFill>
                  <a:latin typeface="Exo" panose="02000503000000000000" pitchFamily="2" charset="77"/>
                </a:rPr>
                <a:t>“</a:t>
              </a:r>
            </a:p>
          </p:txBody>
        </p:sp>
      </p:grpSp>
      <p:pic>
        <p:nvPicPr>
          <p:cNvPr id="23" name="Immagine 22">
            <a:extLst>
              <a:ext uri="{FF2B5EF4-FFF2-40B4-BE49-F238E27FC236}">
                <a16:creationId xmlns:a16="http://schemas.microsoft.com/office/drawing/2014/main" id="{B0BFBE93-ACFB-43B7-8166-49827ED555F2}"/>
              </a:ext>
            </a:extLst>
          </p:cNvPr>
          <p:cNvPicPr>
            <a:picLocks noChangeAspect="1"/>
          </p:cNvPicPr>
          <p:nvPr/>
        </p:nvPicPr>
        <p:blipFill rotWithShape="1">
          <a:blip r:embed="rId7"/>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Rettangolo 3">
            <a:extLst>
              <a:ext uri="{FF2B5EF4-FFF2-40B4-BE49-F238E27FC236}">
                <a16:creationId xmlns:a16="http://schemas.microsoft.com/office/drawing/2014/main" id="{737729F5-5285-744D-A2C0-D4DEB3ECAF2D}"/>
              </a:ext>
            </a:extLst>
          </p:cNvPr>
          <p:cNvSpPr/>
          <p:nvPr/>
        </p:nvSpPr>
        <p:spPr>
          <a:xfrm>
            <a:off x="640080" y="2432304"/>
            <a:ext cx="1673352" cy="1179576"/>
          </a:xfrm>
          <a:prstGeom prst="rect">
            <a:avLst/>
          </a:prstGeom>
          <a:solidFill>
            <a:srgbClr val="575757"/>
          </a:solidFill>
          <a:ln>
            <a:solidFill>
              <a:srgbClr val="57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6" name="Immagine 5">
            <a:extLst>
              <a:ext uri="{FF2B5EF4-FFF2-40B4-BE49-F238E27FC236}">
                <a16:creationId xmlns:a16="http://schemas.microsoft.com/office/drawing/2014/main" id="{2F42A316-402E-F448-AACF-CE3682AB03B8}"/>
              </a:ext>
            </a:extLst>
          </p:cNvPr>
          <p:cNvPicPr>
            <a:picLocks noChangeAspect="1"/>
          </p:cNvPicPr>
          <p:nvPr/>
        </p:nvPicPr>
        <p:blipFill>
          <a:blip r:embed="rId8"/>
          <a:stretch>
            <a:fillRect/>
          </a:stretch>
        </p:blipFill>
        <p:spPr>
          <a:xfrm>
            <a:off x="-587764" y="1079647"/>
            <a:ext cx="3824752" cy="3824752"/>
          </a:xfrm>
          <a:prstGeom prst="rect">
            <a:avLst/>
          </a:prstGeom>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99"/>
                                        </p:tgtEl>
                                        <p:attrNameLst>
                                          <p:attrName>style.visibility</p:attrName>
                                        </p:attrNameLst>
                                      </p:cBhvr>
                                      <p:to>
                                        <p:strVal val="visible"/>
                                      </p:to>
                                    </p:set>
                                    <p:anim calcmode="lin" valueType="num">
                                      <p:cBhvr additive="base">
                                        <p:cTn id="7" dur="500"/>
                                        <p:tgtEl>
                                          <p:spTgt spid="299"/>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14"/>
                                        </p:tgtEl>
                                        <p:attrNameLst>
                                          <p:attrName>style.visibility</p:attrName>
                                        </p:attrNameLst>
                                      </p:cBhvr>
                                      <p:to>
                                        <p:strVal val="visible"/>
                                      </p:to>
                                    </p:set>
                                    <p:anim calcmode="lin" valueType="num">
                                      <p:cBhvr additive="base">
                                        <p:cTn id="11" dur="600"/>
                                        <p:tgtEl>
                                          <p:spTgt spid="314"/>
                                        </p:tgtEl>
                                        <p:attrNameLst>
                                          <p:attrName>ppt_y</p:attrName>
                                        </p:attrNameLst>
                                      </p:cBhvr>
                                      <p:tavLst>
                                        <p:tav tm="0">
                                          <p:val>
                                            <p:strVal val="#ppt_y+1"/>
                                          </p:val>
                                        </p:tav>
                                        <p:tav tm="100000">
                                          <p:val>
                                            <p:strVal val="#ppt_y"/>
                                          </p:val>
                                        </p:tav>
                                      </p:tavLst>
                                    </p:anim>
                                  </p:childTnLst>
                                </p:cTn>
                              </p:par>
                            </p:childTnLst>
                          </p:cTn>
                        </p:par>
                        <p:par>
                          <p:cTn id="12" fill="hold">
                            <p:stCondLst>
                              <p:cond delay="1100"/>
                            </p:stCondLst>
                            <p:childTnLst>
                              <p:par>
                                <p:cTn id="13" presetID="2" presetClass="entr" presetSubtype="4" fill="hold" nodeType="afterEffect">
                                  <p:stCondLst>
                                    <p:cond delay="0"/>
                                  </p:stCondLst>
                                  <p:childTnLst>
                                    <p:set>
                                      <p:cBhvr>
                                        <p:cTn id="14" dur="1" fill="hold">
                                          <p:stCondLst>
                                            <p:cond delay="0"/>
                                          </p:stCondLst>
                                        </p:cTn>
                                        <p:tgtEl>
                                          <p:spTgt spid="310"/>
                                        </p:tgtEl>
                                        <p:attrNameLst>
                                          <p:attrName>style.visibility</p:attrName>
                                        </p:attrNameLst>
                                      </p:cBhvr>
                                      <p:to>
                                        <p:strVal val="visible"/>
                                      </p:to>
                                    </p:set>
                                    <p:anim calcmode="lin" valueType="num">
                                      <p:cBhvr additive="base">
                                        <p:cTn id="15" dur="600"/>
                                        <p:tgtEl>
                                          <p:spTgt spid="310"/>
                                        </p:tgtEl>
                                        <p:attrNameLst>
                                          <p:attrName>ppt_y</p:attrName>
                                        </p:attrNameLst>
                                      </p:cBhvr>
                                      <p:tavLst>
                                        <p:tav tm="0">
                                          <p:val>
                                            <p:strVal val="#ppt_y+1"/>
                                          </p:val>
                                        </p:tav>
                                        <p:tav tm="100000">
                                          <p:val>
                                            <p:strVal val="#ppt_y"/>
                                          </p:val>
                                        </p:tav>
                                      </p:tavLst>
                                    </p:anim>
                                  </p:childTnLst>
                                </p:cTn>
                              </p:par>
                            </p:childTnLst>
                          </p:cTn>
                        </p:par>
                        <p:par>
                          <p:cTn id="16" fill="hold">
                            <p:stCondLst>
                              <p:cond delay="1700"/>
                            </p:stCondLst>
                            <p:childTnLst>
                              <p:par>
                                <p:cTn id="17" presetID="2" presetClass="entr" presetSubtype="2" fill="hold" nodeType="afterEffect">
                                  <p:stCondLst>
                                    <p:cond delay="0"/>
                                  </p:stCondLst>
                                  <p:childTnLst>
                                    <p:set>
                                      <p:cBhvr>
                                        <p:cTn id="18" dur="1" fill="hold">
                                          <p:stCondLst>
                                            <p:cond delay="0"/>
                                          </p:stCondLst>
                                        </p:cTn>
                                        <p:tgtEl>
                                          <p:spTgt spid="304"/>
                                        </p:tgtEl>
                                        <p:attrNameLst>
                                          <p:attrName>style.visibility</p:attrName>
                                        </p:attrNameLst>
                                      </p:cBhvr>
                                      <p:to>
                                        <p:strVal val="visible"/>
                                      </p:to>
                                    </p:set>
                                    <p:anim calcmode="lin" valueType="num">
                                      <p:cBhvr additive="base">
                                        <p:cTn id="19" dur="800"/>
                                        <p:tgtEl>
                                          <p:spTgt spid="30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22"/>
        <p:cNvGrpSpPr/>
        <p:nvPr/>
      </p:nvGrpSpPr>
      <p:grpSpPr>
        <a:xfrm>
          <a:off x="0" y="0"/>
          <a:ext cx="0" cy="0"/>
          <a:chOff x="0" y="0"/>
          <a:chExt cx="0" cy="0"/>
        </a:xfrm>
      </p:grpSpPr>
      <p:sp>
        <p:nvSpPr>
          <p:cNvPr id="22" name="Rettangolo 21">
            <a:extLst>
              <a:ext uri="{FF2B5EF4-FFF2-40B4-BE49-F238E27FC236}">
                <a16:creationId xmlns:a16="http://schemas.microsoft.com/office/drawing/2014/main" id="{440579BD-4CF6-4E90-918A-49F8DED839BD}"/>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323" name="Shape 323"/>
          <p:cNvPicPr preferRelativeResize="0"/>
          <p:nvPr/>
        </p:nvPicPr>
        <p:blipFill>
          <a:blip r:embed="rId3">
            <a:alphaModFix/>
          </a:blip>
          <a:stretch>
            <a:fillRect/>
          </a:stretch>
        </p:blipFill>
        <p:spPr>
          <a:xfrm>
            <a:off x="6178753" y="933887"/>
            <a:ext cx="3028950" cy="4257675"/>
          </a:xfrm>
          <a:prstGeom prst="rect">
            <a:avLst/>
          </a:prstGeom>
          <a:noFill/>
          <a:ln>
            <a:noFill/>
          </a:ln>
        </p:spPr>
      </p:pic>
      <p:pic>
        <p:nvPicPr>
          <p:cNvPr id="324" name="Shape 324"/>
          <p:cNvPicPr preferRelativeResize="0"/>
          <p:nvPr/>
        </p:nvPicPr>
        <p:blipFill>
          <a:blip r:embed="rId4">
            <a:alphaModFix/>
          </a:blip>
          <a:stretch>
            <a:fillRect/>
          </a:stretch>
        </p:blipFill>
        <p:spPr>
          <a:xfrm>
            <a:off x="-84000" y="183075"/>
            <a:ext cx="9291700" cy="788900"/>
          </a:xfrm>
          <a:prstGeom prst="rect">
            <a:avLst/>
          </a:prstGeom>
          <a:noFill/>
          <a:ln>
            <a:noFill/>
          </a:ln>
        </p:spPr>
      </p:pic>
      <p:sp>
        <p:nvSpPr>
          <p:cNvPr id="327" name="Shape 327"/>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None/>
            </a:pPr>
            <a:r>
              <a:rPr lang="en" sz="1200">
                <a:solidFill>
                  <a:schemeClr val="accent3"/>
                </a:solidFill>
                <a:latin typeface="Exo" panose="02000503000000000000" pitchFamily="2" charset="77"/>
                <a:ea typeface="Roboto Slab"/>
                <a:cs typeface="Roboto Slab"/>
                <a:sym typeface="Roboto Slab"/>
              </a:rPr>
              <a:t>Target ID</a:t>
            </a:r>
          </a:p>
          <a:p>
            <a:pPr lvl="0" algn="r" rtl="0">
              <a:spcBef>
                <a:spcPts val="0"/>
              </a:spcBef>
              <a:buNone/>
            </a:pPr>
            <a:endParaRPr sz="1200">
              <a:solidFill>
                <a:schemeClr val="accent3"/>
              </a:solidFill>
              <a:latin typeface="Exo" panose="02000503000000000000" pitchFamily="2" charset="77"/>
              <a:ea typeface="Roboto Slab"/>
              <a:cs typeface="Roboto Slab"/>
              <a:sym typeface="Roboto Slab"/>
            </a:endParaRPr>
          </a:p>
          <a:p>
            <a:pPr lvl="0" algn="r" rtl="0">
              <a:spcBef>
                <a:spcPts val="0"/>
              </a:spcBef>
              <a:buNone/>
            </a:pPr>
            <a:endParaRPr sz="1200">
              <a:solidFill>
                <a:schemeClr val="accent3"/>
              </a:solidFill>
              <a:latin typeface="Exo" panose="02000503000000000000" pitchFamily="2" charset="77"/>
              <a:ea typeface="Roboto Slab"/>
              <a:cs typeface="Roboto Slab"/>
              <a:sym typeface="Roboto Slab"/>
            </a:endParaRPr>
          </a:p>
          <a:p>
            <a:pPr lvl="0" rtl="0">
              <a:spcBef>
                <a:spcPts val="0"/>
              </a:spcBef>
              <a:buNone/>
            </a:pPr>
            <a:endParaRPr sz="1200">
              <a:latin typeface="Exo" panose="02000503000000000000" pitchFamily="2" charset="77"/>
            </a:endParaRPr>
          </a:p>
        </p:txBody>
      </p:sp>
      <p:grpSp>
        <p:nvGrpSpPr>
          <p:cNvPr id="328" name="Shape 328"/>
          <p:cNvGrpSpPr/>
          <p:nvPr/>
        </p:nvGrpSpPr>
        <p:grpSpPr>
          <a:xfrm>
            <a:off x="239725" y="933900"/>
            <a:ext cx="2533500" cy="5454149"/>
            <a:chOff x="239725" y="933900"/>
            <a:chExt cx="2533500" cy="5454149"/>
          </a:xfrm>
        </p:grpSpPr>
        <p:pic>
          <p:nvPicPr>
            <p:cNvPr id="329" name="Shape 329"/>
            <p:cNvPicPr preferRelativeResize="0"/>
            <p:nvPr/>
          </p:nvPicPr>
          <p:blipFill>
            <a:blip r:embed="rId5">
              <a:alphaModFix/>
            </a:blip>
            <a:stretch>
              <a:fillRect/>
            </a:stretch>
          </p:blipFill>
          <p:spPr>
            <a:xfrm>
              <a:off x="239725" y="4081198"/>
              <a:ext cx="2533500" cy="2306851"/>
            </a:xfrm>
            <a:prstGeom prst="rect">
              <a:avLst/>
            </a:prstGeom>
            <a:noFill/>
            <a:ln>
              <a:noFill/>
            </a:ln>
          </p:spPr>
        </p:pic>
        <p:sp>
          <p:nvSpPr>
            <p:cNvPr id="330" name="Shape 330"/>
            <p:cNvSpPr/>
            <p:nvPr/>
          </p:nvSpPr>
          <p:spPr>
            <a:xfrm>
              <a:off x="674550" y="933900"/>
              <a:ext cx="1658099" cy="3147300"/>
            </a:xfrm>
            <a:prstGeom prst="rect">
              <a:avLst/>
            </a:prstGeom>
            <a:solidFill>
              <a:srgbClr val="A5C961"/>
            </a:solidFill>
            <a:ln>
              <a:noFill/>
            </a:ln>
          </p:spPr>
          <p:txBody>
            <a:bodyPr lIns="91425" tIns="91425" rIns="91425" bIns="91425" anchor="ctr" anchorCtr="0">
              <a:noAutofit/>
            </a:bodyPr>
            <a:lstStyle/>
            <a:p>
              <a:pPr>
                <a:spcBef>
                  <a:spcPts val="0"/>
                </a:spcBef>
                <a:buNone/>
              </a:pPr>
              <a:endParaRPr>
                <a:latin typeface="Exo" panose="02000503000000000000" pitchFamily="2" charset="77"/>
              </a:endParaRPr>
            </a:p>
          </p:txBody>
        </p:sp>
        <p:sp>
          <p:nvSpPr>
            <p:cNvPr id="331" name="Shape 331"/>
            <p:cNvSpPr txBox="1"/>
            <p:nvPr/>
          </p:nvSpPr>
          <p:spPr>
            <a:xfrm>
              <a:off x="876925" y="1237350"/>
              <a:ext cx="1259099" cy="2668799"/>
            </a:xfrm>
            <a:prstGeom prst="rect">
              <a:avLst/>
            </a:prstGeom>
            <a:noFill/>
            <a:ln>
              <a:noFill/>
            </a:ln>
          </p:spPr>
          <p:txBody>
            <a:bodyPr lIns="91425" tIns="91425" rIns="91425" bIns="91425" anchor="t" anchorCtr="0">
              <a:noAutofit/>
            </a:bodyPr>
            <a:lstStyle/>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Name: </a:t>
              </a:r>
            </a:p>
            <a:p>
              <a:pPr lvl="0" rtl="0">
                <a:lnSpc>
                  <a:spcPct val="115000"/>
                </a:lnSpc>
                <a:spcBef>
                  <a:spcPts val="0"/>
                </a:spcBef>
                <a:buClr>
                  <a:schemeClr val="dk1"/>
                </a:buClr>
                <a:buSzPct val="100000"/>
                <a:buFont typeface="Arial"/>
                <a:buNone/>
              </a:pPr>
              <a:r>
                <a:rPr lang="en" sz="1100" dirty="0">
                  <a:solidFill>
                    <a:schemeClr val="dk2"/>
                  </a:solidFill>
                  <a:latin typeface="Exo" panose="02000503000000000000" pitchFamily="2" charset="77"/>
                  <a:ea typeface="Roboto Slab"/>
                  <a:cs typeface="Roboto Slab"/>
                  <a:sym typeface="Roboto Slab"/>
                </a:rPr>
                <a:t>Alberto</a:t>
              </a: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Age: </a:t>
              </a:r>
            </a:p>
            <a:p>
              <a:pPr lvl="0" rtl="0">
                <a:lnSpc>
                  <a:spcPct val="115000"/>
                </a:lnSpc>
                <a:spcBef>
                  <a:spcPts val="0"/>
                </a:spcBef>
                <a:buClr>
                  <a:schemeClr val="dk1"/>
                </a:buClr>
                <a:buSzPct val="100000"/>
                <a:buFont typeface="Arial"/>
                <a:buNone/>
              </a:pPr>
              <a:r>
                <a:rPr lang="en" sz="1100" dirty="0">
                  <a:solidFill>
                    <a:schemeClr val="dk2"/>
                  </a:solidFill>
                  <a:latin typeface="Exo" panose="02000503000000000000" pitchFamily="2" charset="77"/>
                  <a:ea typeface="Roboto Slab"/>
                  <a:cs typeface="Roboto Slab"/>
                  <a:sym typeface="Roboto Slab"/>
                </a:rPr>
                <a:t>58</a:t>
              </a: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Marital Status: </a:t>
              </a:r>
            </a:p>
            <a:p>
              <a:pPr lvl="0" rtl="0">
                <a:lnSpc>
                  <a:spcPct val="115000"/>
                </a:lnSpc>
                <a:spcBef>
                  <a:spcPts val="0"/>
                </a:spcBef>
                <a:buClr>
                  <a:schemeClr val="dk1"/>
                </a:buClr>
                <a:buSzPct val="100000"/>
                <a:buFont typeface="Arial"/>
                <a:buNone/>
              </a:pPr>
              <a:r>
                <a:rPr lang="en" sz="1100" dirty="0" err="1">
                  <a:solidFill>
                    <a:schemeClr val="dk2"/>
                  </a:solidFill>
                  <a:latin typeface="Exo" panose="02000503000000000000" pitchFamily="2" charset="77"/>
                  <a:ea typeface="Roboto Slab"/>
                  <a:cs typeface="Roboto Slab"/>
                  <a:sym typeface="Roboto Slab"/>
                </a:rPr>
                <a:t>Sposato</a:t>
              </a:r>
              <a:endParaRPr lang="en" sz="1100" dirty="0">
                <a:solidFill>
                  <a:schemeClr val="dk2"/>
                </a:solidFill>
                <a:latin typeface="Exo" panose="02000503000000000000" pitchFamily="2" charset="77"/>
                <a:ea typeface="Roboto Slab"/>
                <a:cs typeface="Roboto Slab"/>
                <a:sym typeface="Roboto Slab"/>
              </a:endParaRP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Education: </a:t>
              </a:r>
            </a:p>
            <a:p>
              <a:pPr lvl="0" rtl="0">
                <a:lnSpc>
                  <a:spcPct val="115000"/>
                </a:lnSpc>
                <a:spcBef>
                  <a:spcPts val="0"/>
                </a:spcBef>
                <a:buClr>
                  <a:schemeClr val="dk1"/>
                </a:buClr>
                <a:buSzPct val="100000"/>
                <a:buFont typeface="Arial"/>
                <a:buNone/>
              </a:pPr>
              <a:r>
                <a:rPr lang="en" sz="1100" dirty="0">
                  <a:solidFill>
                    <a:schemeClr val="dk2"/>
                  </a:solidFill>
                  <a:latin typeface="Exo" panose="02000503000000000000" pitchFamily="2" charset="77"/>
                  <a:ea typeface="Roboto Slab"/>
                  <a:cs typeface="Roboto Slab"/>
                  <a:sym typeface="Roboto Slab"/>
                </a:rPr>
                <a:t>Diploma</a:t>
              </a: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Location: </a:t>
              </a:r>
            </a:p>
            <a:p>
              <a:pPr lvl="0" rtl="0">
                <a:lnSpc>
                  <a:spcPct val="115000"/>
                </a:lnSpc>
                <a:spcBef>
                  <a:spcPts val="0"/>
                </a:spcBef>
                <a:buClr>
                  <a:schemeClr val="dk1"/>
                </a:buClr>
                <a:buSzPct val="100000"/>
                <a:buFont typeface="Arial"/>
                <a:buNone/>
              </a:pPr>
              <a:r>
                <a:rPr lang="en" sz="1100" dirty="0">
                  <a:solidFill>
                    <a:schemeClr val="dk2"/>
                  </a:solidFill>
                  <a:latin typeface="Exo" panose="02000503000000000000" pitchFamily="2" charset="77"/>
                  <a:ea typeface="Roboto Slab"/>
                  <a:cs typeface="Roboto Slab"/>
                  <a:sym typeface="Roboto Slab"/>
                </a:rPr>
                <a:t>Napoli, Italy</a:t>
              </a:r>
            </a:p>
            <a:p>
              <a:pPr lvl="0" rtl="0">
                <a:lnSpc>
                  <a:spcPct val="115000"/>
                </a:lnSpc>
                <a:spcBef>
                  <a:spcPts val="0"/>
                </a:spcBef>
                <a:buClr>
                  <a:schemeClr val="dk1"/>
                </a:buClr>
                <a:buSzPct val="100000"/>
                <a:buFont typeface="Arial"/>
                <a:buNone/>
              </a:pPr>
              <a:r>
                <a:rPr lang="en" sz="1100" b="1" dirty="0">
                  <a:solidFill>
                    <a:schemeClr val="lt1"/>
                  </a:solidFill>
                  <a:latin typeface="Exo" panose="02000503000000000000" pitchFamily="2" charset="77"/>
                  <a:ea typeface="Roboto Slab"/>
                  <a:cs typeface="Roboto Slab"/>
                  <a:sym typeface="Roboto Slab"/>
                </a:rPr>
                <a:t>Occupation: </a:t>
              </a:r>
            </a:p>
            <a:p>
              <a:pPr lvl="0" rtl="0">
                <a:lnSpc>
                  <a:spcPct val="115000"/>
                </a:lnSpc>
                <a:spcBef>
                  <a:spcPts val="0"/>
                </a:spcBef>
                <a:buClr>
                  <a:schemeClr val="dk1"/>
                </a:buClr>
                <a:buSzPct val="100000"/>
                <a:buFont typeface="Arial"/>
                <a:buNone/>
              </a:pPr>
              <a:r>
                <a:rPr lang="en" sz="1100" dirty="0" err="1">
                  <a:solidFill>
                    <a:schemeClr val="dk2"/>
                  </a:solidFill>
                  <a:latin typeface="Exo" panose="02000503000000000000" pitchFamily="2" charset="77"/>
                  <a:ea typeface="Roboto Slab"/>
                  <a:cs typeface="Roboto Slab"/>
                  <a:sym typeface="Roboto Slab"/>
                </a:rPr>
                <a:t>Dipendente</a:t>
              </a:r>
              <a:r>
                <a:rPr lang="en" sz="1100" dirty="0">
                  <a:solidFill>
                    <a:schemeClr val="dk2"/>
                  </a:solidFill>
                  <a:latin typeface="Exo" panose="02000503000000000000" pitchFamily="2" charset="77"/>
                  <a:ea typeface="Roboto Slab"/>
                  <a:cs typeface="Roboto Slab"/>
                  <a:sym typeface="Roboto Slab"/>
                </a:rPr>
                <a:t> PA</a:t>
              </a:r>
            </a:p>
            <a:p>
              <a:pPr lvl="0" rtl="0">
                <a:lnSpc>
                  <a:spcPct val="115000"/>
                </a:lnSpc>
                <a:spcBef>
                  <a:spcPts val="0"/>
                </a:spcBef>
                <a:buNone/>
              </a:pPr>
              <a:endParaRPr dirty="0">
                <a:solidFill>
                  <a:schemeClr val="lt1"/>
                </a:solidFill>
                <a:latin typeface="Exo" panose="02000503000000000000" pitchFamily="2" charset="77"/>
                <a:ea typeface="Roboto Slab"/>
                <a:cs typeface="Roboto Slab"/>
                <a:sym typeface="Roboto Slab"/>
              </a:endParaRPr>
            </a:p>
          </p:txBody>
        </p:sp>
        <p:sp>
          <p:nvSpPr>
            <p:cNvPr id="332" name="Shape 332"/>
            <p:cNvSpPr txBox="1"/>
            <p:nvPr/>
          </p:nvSpPr>
          <p:spPr>
            <a:xfrm>
              <a:off x="789775" y="4539000"/>
              <a:ext cx="1433400" cy="365399"/>
            </a:xfrm>
            <a:prstGeom prst="rect">
              <a:avLst/>
            </a:prstGeom>
            <a:noFill/>
            <a:ln>
              <a:noFill/>
            </a:ln>
          </p:spPr>
          <p:txBody>
            <a:bodyPr lIns="91425" tIns="91425" rIns="91425" bIns="91425" anchor="t" anchorCtr="0">
              <a:noAutofit/>
            </a:bodyPr>
            <a:lstStyle/>
            <a:p>
              <a:pPr lvl="0" algn="ctr" rtl="0">
                <a:lnSpc>
                  <a:spcPct val="115000"/>
                </a:lnSpc>
                <a:spcBef>
                  <a:spcPts val="0"/>
                </a:spcBef>
                <a:buClr>
                  <a:schemeClr val="dk1"/>
                </a:buClr>
                <a:buSzPct val="61111"/>
                <a:buFont typeface="Arial"/>
                <a:buNone/>
              </a:pPr>
              <a:r>
                <a:rPr lang="en" sz="1800" b="1" dirty="0">
                  <a:solidFill>
                    <a:schemeClr val="lt1"/>
                  </a:solidFill>
                  <a:latin typeface="Exo" panose="02000503000000000000" pitchFamily="2" charset="77"/>
                  <a:ea typeface="Roboto Slab"/>
                  <a:cs typeface="Roboto Slab"/>
                  <a:sym typeface="Roboto Slab"/>
                </a:rPr>
                <a:t>OVER 40</a:t>
              </a:r>
            </a:p>
            <a:p>
              <a:pPr lvl="0" rtl="0">
                <a:spcBef>
                  <a:spcPts val="0"/>
                </a:spcBef>
                <a:buNone/>
              </a:pPr>
              <a:endParaRPr sz="1800" dirty="0">
                <a:latin typeface="Exo" panose="02000503000000000000" pitchFamily="2" charset="77"/>
              </a:endParaRPr>
            </a:p>
          </p:txBody>
        </p:sp>
        <p:pic>
          <p:nvPicPr>
            <p:cNvPr id="333" name="Shape 333"/>
            <p:cNvPicPr preferRelativeResize="0"/>
            <p:nvPr/>
          </p:nvPicPr>
          <p:blipFill>
            <a:blip r:embed="rId6">
              <a:alphaModFix/>
            </a:blip>
            <a:stretch>
              <a:fillRect/>
            </a:stretch>
          </p:blipFill>
          <p:spPr>
            <a:xfrm>
              <a:off x="1190625" y="4115325"/>
              <a:ext cx="566025" cy="566025"/>
            </a:xfrm>
            <a:prstGeom prst="rect">
              <a:avLst/>
            </a:prstGeom>
            <a:noFill/>
            <a:ln>
              <a:noFill/>
            </a:ln>
          </p:spPr>
        </p:pic>
      </p:grpSp>
      <p:grpSp>
        <p:nvGrpSpPr>
          <p:cNvPr id="334" name="Shape 334"/>
          <p:cNvGrpSpPr/>
          <p:nvPr/>
        </p:nvGrpSpPr>
        <p:grpSpPr>
          <a:xfrm>
            <a:off x="2516561" y="1327370"/>
            <a:ext cx="3309000" cy="1578005"/>
            <a:chOff x="2516561" y="1327370"/>
            <a:chExt cx="3309000" cy="1578005"/>
          </a:xfrm>
        </p:grpSpPr>
        <p:sp>
          <p:nvSpPr>
            <p:cNvPr id="335" name="Shape 335"/>
            <p:cNvSpPr txBox="1"/>
            <p:nvPr/>
          </p:nvSpPr>
          <p:spPr>
            <a:xfrm>
              <a:off x="2516561" y="1426029"/>
              <a:ext cx="3309000" cy="504299"/>
            </a:xfrm>
            <a:prstGeom prst="rect">
              <a:avLst/>
            </a:prstGeom>
            <a:noFill/>
            <a:ln>
              <a:noFill/>
            </a:ln>
          </p:spPr>
          <p:txBody>
            <a:bodyPr lIns="91425" tIns="91425" rIns="91425" bIns="91425" anchor="t" anchorCtr="0">
              <a:noAutofit/>
            </a:bodyPr>
            <a:lstStyle/>
            <a:p>
              <a:pPr lvl="0" algn="ctr" rtl="0">
                <a:spcBef>
                  <a:spcPts val="0"/>
                </a:spcBef>
                <a:buNone/>
              </a:pPr>
              <a:r>
                <a:rPr lang="en" sz="1600" b="1">
                  <a:solidFill>
                    <a:srgbClr val="A5C961"/>
                  </a:solidFill>
                  <a:latin typeface="Exo" panose="02000503000000000000" pitchFamily="2" charset="77"/>
                  <a:ea typeface="Roboto Slab"/>
                  <a:cs typeface="Roboto Slab"/>
                  <a:sym typeface="Roboto Slab"/>
                </a:rPr>
                <a:t>Target Problem</a:t>
              </a:r>
            </a:p>
            <a:p>
              <a:pPr lvl="0" algn="ctr" rtl="0">
                <a:spcBef>
                  <a:spcPts val="0"/>
                </a:spcBef>
                <a:buNone/>
              </a:pPr>
              <a:endParaRPr sz="800" b="1">
                <a:solidFill>
                  <a:schemeClr val="dk2"/>
                </a:solidFill>
                <a:latin typeface="Exo" panose="02000503000000000000" pitchFamily="2" charset="77"/>
                <a:ea typeface="Roboto Slab"/>
                <a:cs typeface="Roboto Slab"/>
                <a:sym typeface="Roboto Slab"/>
              </a:endParaRPr>
            </a:p>
          </p:txBody>
        </p:sp>
        <p:sp>
          <p:nvSpPr>
            <p:cNvPr id="336" name="Shape 336"/>
            <p:cNvSpPr txBox="1"/>
            <p:nvPr/>
          </p:nvSpPr>
          <p:spPr>
            <a:xfrm>
              <a:off x="2920500" y="1747375"/>
              <a:ext cx="2501100" cy="1158000"/>
            </a:xfrm>
            <a:prstGeom prst="rect">
              <a:avLst/>
            </a:prstGeom>
            <a:noFill/>
            <a:ln>
              <a:noFill/>
            </a:ln>
          </p:spPr>
          <p:txBody>
            <a:bodyPr lIns="91425" tIns="91425" rIns="91425" bIns="91425" anchor="t" anchorCtr="0">
              <a:noAutofit/>
            </a:bodyPr>
            <a:lstStyle/>
            <a:p>
              <a:pPr lvl="0" algn="ctr" rtl="0">
                <a:spcBef>
                  <a:spcPts val="0"/>
                </a:spcBef>
                <a:buClr>
                  <a:schemeClr val="dk1"/>
                </a:buClr>
                <a:buSzPct val="100000"/>
                <a:buFont typeface="Arial"/>
                <a:buNone/>
              </a:pPr>
              <a:r>
                <a:rPr lang="en" sz="1100" i="1" dirty="0">
                  <a:solidFill>
                    <a:schemeClr val="dk1"/>
                  </a:solidFill>
                  <a:latin typeface="Exo" panose="02000503000000000000" pitchFamily="2" charset="77"/>
                  <a:ea typeface="Roboto"/>
                  <a:cs typeface="Roboto"/>
                  <a:sym typeface="Roboto"/>
                </a:rPr>
                <a:t>Da appassionato di </a:t>
              </a:r>
              <a:r>
                <a:rPr lang="en" sz="1100" i="1" dirty="0" err="1">
                  <a:solidFill>
                    <a:schemeClr val="dk1"/>
                  </a:solidFill>
                  <a:latin typeface="Exo" panose="02000503000000000000" pitchFamily="2" charset="77"/>
                  <a:ea typeface="Roboto"/>
                  <a:cs typeface="Roboto"/>
                  <a:sym typeface="Roboto"/>
                </a:rPr>
                <a:t>scommesse</a:t>
              </a:r>
              <a:r>
                <a:rPr lang="en" sz="1100" i="1" dirty="0">
                  <a:solidFill>
                    <a:schemeClr val="dk1"/>
                  </a:solidFill>
                  <a:latin typeface="Exo" panose="02000503000000000000" pitchFamily="2" charset="77"/>
                  <a:ea typeface="Roboto"/>
                  <a:cs typeface="Roboto"/>
                  <a:sym typeface="Roboto"/>
                </a:rPr>
                <a:t> sportive mi </a:t>
              </a:r>
              <a:r>
                <a:rPr lang="en" sz="1100" i="1" dirty="0" err="1">
                  <a:solidFill>
                    <a:schemeClr val="dk1"/>
                  </a:solidFill>
                  <a:latin typeface="Exo" panose="02000503000000000000" pitchFamily="2" charset="77"/>
                  <a:ea typeface="Roboto"/>
                  <a:cs typeface="Roboto"/>
                  <a:sym typeface="Roboto"/>
                </a:rPr>
                <a:t>piacerebbe</a:t>
              </a:r>
              <a:r>
                <a:rPr lang="en" sz="1100" i="1" dirty="0">
                  <a:solidFill>
                    <a:schemeClr val="dk1"/>
                  </a:solidFill>
                  <a:latin typeface="Exo" panose="02000503000000000000" pitchFamily="2" charset="77"/>
                  <a:ea typeface="Roboto"/>
                  <a:cs typeface="Roboto"/>
                  <a:sym typeface="Roboto"/>
                </a:rPr>
                <a:t> </a:t>
              </a:r>
              <a:r>
                <a:rPr lang="en" sz="1100" i="1" dirty="0" err="1">
                  <a:solidFill>
                    <a:schemeClr val="dk1"/>
                  </a:solidFill>
                  <a:latin typeface="Exo" panose="02000503000000000000" pitchFamily="2" charset="77"/>
                  <a:ea typeface="Roboto"/>
                  <a:cs typeface="Roboto"/>
                  <a:sym typeface="Roboto"/>
                </a:rPr>
                <a:t>continuare</a:t>
              </a:r>
              <a:r>
                <a:rPr lang="en" sz="1100" i="1" dirty="0">
                  <a:solidFill>
                    <a:schemeClr val="dk1"/>
                  </a:solidFill>
                  <a:latin typeface="Exo" panose="02000503000000000000" pitchFamily="2" charset="77"/>
                  <a:ea typeface="Roboto"/>
                  <a:cs typeface="Roboto"/>
                  <a:sym typeface="Roboto"/>
                </a:rPr>
                <a:t> a </a:t>
              </a:r>
              <a:r>
                <a:rPr lang="en" sz="1100" i="1" dirty="0" err="1">
                  <a:solidFill>
                    <a:schemeClr val="dk1"/>
                  </a:solidFill>
                  <a:latin typeface="Exo" panose="02000503000000000000" pitchFamily="2" charset="77"/>
                  <a:ea typeface="Roboto"/>
                  <a:cs typeface="Roboto"/>
                  <a:sym typeface="Roboto"/>
                </a:rPr>
                <a:t>scommettere</a:t>
              </a:r>
              <a:r>
                <a:rPr lang="en" sz="1100" i="1" dirty="0">
                  <a:solidFill>
                    <a:schemeClr val="dk1"/>
                  </a:solidFill>
                  <a:latin typeface="Exo" panose="02000503000000000000" pitchFamily="2" charset="77"/>
                  <a:ea typeface="Roboto"/>
                  <a:cs typeface="Roboto"/>
                  <a:sym typeface="Roboto"/>
                </a:rPr>
                <a:t> senza </a:t>
              </a:r>
              <a:r>
                <a:rPr lang="en" sz="1100" i="1" dirty="0" err="1">
                  <a:solidFill>
                    <a:schemeClr val="dk1"/>
                  </a:solidFill>
                  <a:latin typeface="Exo" panose="02000503000000000000" pitchFamily="2" charset="77"/>
                  <a:ea typeface="Roboto"/>
                  <a:cs typeface="Roboto"/>
                  <a:sym typeface="Roboto"/>
                </a:rPr>
                <a:t>intaccare</a:t>
              </a:r>
              <a:r>
                <a:rPr lang="en" sz="1100" i="1" dirty="0">
                  <a:solidFill>
                    <a:schemeClr val="dk1"/>
                  </a:solidFill>
                  <a:latin typeface="Exo" panose="02000503000000000000" pitchFamily="2" charset="77"/>
                  <a:ea typeface="Roboto"/>
                  <a:cs typeface="Roboto"/>
                  <a:sym typeface="Roboto"/>
                </a:rPr>
                <a:t> </a:t>
              </a:r>
              <a:r>
                <a:rPr lang="en" sz="1100" i="1" dirty="0" err="1">
                  <a:solidFill>
                    <a:schemeClr val="dk1"/>
                  </a:solidFill>
                  <a:latin typeface="Exo" panose="02000503000000000000" pitchFamily="2" charset="77"/>
                  <a:ea typeface="Roboto"/>
                  <a:cs typeface="Roboto"/>
                  <a:sym typeface="Roboto"/>
                </a:rPr>
                <a:t>il</a:t>
              </a:r>
              <a:r>
                <a:rPr lang="en" sz="1100" i="1" dirty="0">
                  <a:solidFill>
                    <a:schemeClr val="dk1"/>
                  </a:solidFill>
                  <a:latin typeface="Exo" panose="02000503000000000000" pitchFamily="2" charset="77"/>
                  <a:ea typeface="Roboto"/>
                  <a:cs typeface="Roboto"/>
                  <a:sym typeface="Roboto"/>
                </a:rPr>
                <a:t> </a:t>
              </a:r>
              <a:r>
                <a:rPr lang="en" sz="1100" i="1" dirty="0" err="1">
                  <a:solidFill>
                    <a:schemeClr val="dk1"/>
                  </a:solidFill>
                  <a:latin typeface="Exo" panose="02000503000000000000" pitchFamily="2" charset="77"/>
                  <a:ea typeface="Roboto"/>
                  <a:cs typeface="Roboto"/>
                  <a:sym typeface="Roboto"/>
                </a:rPr>
                <a:t>mio</a:t>
              </a:r>
              <a:r>
                <a:rPr lang="en" sz="1100" i="1" dirty="0">
                  <a:solidFill>
                    <a:schemeClr val="dk1"/>
                  </a:solidFill>
                  <a:latin typeface="Exo" panose="02000503000000000000" pitchFamily="2" charset="77"/>
                  <a:ea typeface="Roboto"/>
                  <a:cs typeface="Roboto"/>
                  <a:sym typeface="Roboto"/>
                </a:rPr>
                <a:t> </a:t>
              </a:r>
              <a:r>
                <a:rPr lang="en" sz="1100" i="1" dirty="0" err="1">
                  <a:solidFill>
                    <a:schemeClr val="dk1"/>
                  </a:solidFill>
                  <a:latin typeface="Exo" panose="02000503000000000000" pitchFamily="2" charset="77"/>
                  <a:ea typeface="Roboto"/>
                  <a:cs typeface="Roboto"/>
                  <a:sym typeface="Roboto"/>
                </a:rPr>
                <a:t>conto</a:t>
              </a:r>
              <a:r>
                <a:rPr lang="en" sz="1100" i="1" dirty="0">
                  <a:solidFill>
                    <a:schemeClr val="dk1"/>
                  </a:solidFill>
                  <a:latin typeface="Exo" panose="02000503000000000000" pitchFamily="2" charset="77"/>
                  <a:ea typeface="Roboto"/>
                  <a:cs typeface="Roboto"/>
                  <a:sym typeface="Roboto"/>
                </a:rPr>
                <a:t> in </a:t>
              </a:r>
              <a:r>
                <a:rPr lang="en" sz="1100" i="1" dirty="0" err="1">
                  <a:solidFill>
                    <a:schemeClr val="dk1"/>
                  </a:solidFill>
                  <a:latin typeface="Exo" panose="02000503000000000000" pitchFamily="2" charset="77"/>
                  <a:ea typeface="Roboto"/>
                  <a:cs typeface="Roboto"/>
                  <a:sym typeface="Roboto"/>
                </a:rPr>
                <a:t>banca</a:t>
              </a:r>
              <a:endParaRPr lang="en" sz="1100" i="1" dirty="0">
                <a:solidFill>
                  <a:schemeClr val="dk1"/>
                </a:solidFill>
                <a:latin typeface="Exo" panose="02000503000000000000" pitchFamily="2" charset="77"/>
                <a:ea typeface="Roboto"/>
                <a:cs typeface="Roboto"/>
                <a:sym typeface="Roboto"/>
              </a:endParaRPr>
            </a:p>
            <a:p>
              <a:pPr lvl="0" rtl="0">
                <a:spcBef>
                  <a:spcPts val="0"/>
                </a:spcBef>
                <a:buNone/>
              </a:pPr>
              <a:endParaRPr dirty="0">
                <a:latin typeface="Exo" panose="02000503000000000000" pitchFamily="2" charset="77"/>
                <a:ea typeface="Roboto"/>
                <a:cs typeface="Roboto"/>
                <a:sym typeface="Roboto"/>
              </a:endParaRPr>
            </a:p>
          </p:txBody>
        </p:sp>
        <p:sp>
          <p:nvSpPr>
            <p:cNvPr id="337" name="Shape 337"/>
            <p:cNvSpPr txBox="1"/>
            <p:nvPr/>
          </p:nvSpPr>
          <p:spPr>
            <a:xfrm>
              <a:off x="2906028" y="1327370"/>
              <a:ext cx="792600" cy="566100"/>
            </a:xfrm>
            <a:prstGeom prst="rect">
              <a:avLst/>
            </a:prstGeom>
            <a:noFill/>
            <a:ln>
              <a:noFill/>
            </a:ln>
          </p:spPr>
          <p:txBody>
            <a:bodyPr lIns="91425" tIns="91425" rIns="91425" bIns="91425" anchor="ctr" anchorCtr="0">
              <a:noAutofit/>
            </a:bodyPr>
            <a:lstStyle/>
            <a:p>
              <a:pPr lvl="0" rtl="0">
                <a:spcBef>
                  <a:spcPts val="0"/>
                </a:spcBef>
                <a:buNone/>
              </a:pPr>
              <a:r>
                <a:rPr lang="en" sz="6000">
                  <a:solidFill>
                    <a:srgbClr val="A5C961"/>
                  </a:solidFill>
                  <a:latin typeface="Exo" panose="02000503000000000000" pitchFamily="2" charset="77"/>
                </a:rPr>
                <a:t>“</a:t>
              </a:r>
            </a:p>
          </p:txBody>
        </p:sp>
        <p:sp>
          <p:nvSpPr>
            <p:cNvPr id="338" name="Shape 338"/>
            <p:cNvSpPr txBox="1"/>
            <p:nvPr/>
          </p:nvSpPr>
          <p:spPr>
            <a:xfrm rot="10800000">
              <a:off x="4733267" y="2116120"/>
              <a:ext cx="792600" cy="566100"/>
            </a:xfrm>
            <a:prstGeom prst="rect">
              <a:avLst/>
            </a:prstGeom>
            <a:noFill/>
            <a:ln>
              <a:noFill/>
            </a:ln>
          </p:spPr>
          <p:txBody>
            <a:bodyPr lIns="91425" tIns="91425" rIns="91425" bIns="91425" anchor="ctr" anchorCtr="0">
              <a:noAutofit/>
            </a:bodyPr>
            <a:lstStyle/>
            <a:p>
              <a:pPr lvl="0" rtl="0">
                <a:spcBef>
                  <a:spcPts val="0"/>
                </a:spcBef>
                <a:buNone/>
              </a:pPr>
              <a:r>
                <a:rPr lang="en" sz="6000">
                  <a:solidFill>
                    <a:srgbClr val="A5C961"/>
                  </a:solidFill>
                  <a:latin typeface="Exo" panose="02000503000000000000" pitchFamily="2" charset="77"/>
                </a:rPr>
                <a:t>“</a:t>
              </a:r>
            </a:p>
          </p:txBody>
        </p:sp>
      </p:grpSp>
      <p:grpSp>
        <p:nvGrpSpPr>
          <p:cNvPr id="339" name="Shape 339"/>
          <p:cNvGrpSpPr/>
          <p:nvPr/>
        </p:nvGrpSpPr>
        <p:grpSpPr>
          <a:xfrm>
            <a:off x="2949187" y="2778600"/>
            <a:ext cx="3045649" cy="1829236"/>
            <a:chOff x="2949187" y="2778600"/>
            <a:chExt cx="3045649" cy="1829236"/>
          </a:xfrm>
        </p:grpSpPr>
        <p:sp>
          <p:nvSpPr>
            <p:cNvPr id="340" name="Shape 340"/>
            <p:cNvSpPr txBox="1"/>
            <p:nvPr/>
          </p:nvSpPr>
          <p:spPr>
            <a:xfrm>
              <a:off x="2949187" y="2778600"/>
              <a:ext cx="2533500" cy="365399"/>
            </a:xfrm>
            <a:prstGeom prst="rect">
              <a:avLst/>
            </a:prstGeom>
            <a:noFill/>
            <a:ln>
              <a:noFill/>
            </a:ln>
          </p:spPr>
          <p:txBody>
            <a:bodyPr lIns="91425" tIns="91425" rIns="91425" bIns="91425" anchor="t" anchorCtr="0">
              <a:noAutofit/>
            </a:bodyPr>
            <a:lstStyle/>
            <a:p>
              <a:pPr lvl="0" rtl="0">
                <a:lnSpc>
                  <a:spcPct val="115000"/>
                </a:lnSpc>
                <a:spcBef>
                  <a:spcPts val="0"/>
                </a:spcBef>
                <a:buNone/>
              </a:pPr>
              <a:r>
                <a:rPr lang="en" sz="1800">
                  <a:solidFill>
                    <a:srgbClr val="A5C961"/>
                  </a:solidFill>
                  <a:latin typeface="Exo" panose="02000503000000000000" pitchFamily="2" charset="77"/>
                  <a:ea typeface="Roboto Slab"/>
                  <a:cs typeface="Roboto Slab"/>
                  <a:sym typeface="Roboto Slab"/>
                </a:rPr>
                <a:t>Target Needs</a:t>
              </a:r>
            </a:p>
            <a:p>
              <a:pPr lvl="0" rtl="0">
                <a:spcBef>
                  <a:spcPts val="0"/>
                </a:spcBef>
                <a:buNone/>
              </a:pPr>
              <a:endParaRPr sz="1800">
                <a:latin typeface="Exo" panose="02000503000000000000" pitchFamily="2" charset="77"/>
              </a:endParaRPr>
            </a:p>
          </p:txBody>
        </p:sp>
        <p:sp>
          <p:nvSpPr>
            <p:cNvPr id="341" name="Shape 341"/>
            <p:cNvSpPr txBox="1"/>
            <p:nvPr/>
          </p:nvSpPr>
          <p:spPr>
            <a:xfrm>
              <a:off x="2965737" y="3157937"/>
              <a:ext cx="3029099" cy="536100"/>
            </a:xfrm>
            <a:prstGeom prst="rect">
              <a:avLst/>
            </a:prstGeom>
            <a:noFill/>
            <a:ln>
              <a:noFill/>
            </a:ln>
          </p:spPr>
          <p:txBody>
            <a:bodyPr lIns="91425" tIns="91425" rIns="91425" bIns="91425" anchor="t" anchorCtr="0">
              <a:noAutofit/>
            </a:bodyPr>
            <a:lstStyle/>
            <a:p>
              <a:pPr lvl="0" rtl="0">
                <a:spcBef>
                  <a:spcPts val="0"/>
                </a:spcBef>
                <a:buClr>
                  <a:schemeClr val="dk1"/>
                </a:buClr>
                <a:buSzPct val="110000"/>
                <a:buFont typeface="Arial"/>
                <a:buNone/>
              </a:pPr>
              <a:r>
                <a:rPr lang="en" sz="1000" b="1" dirty="0" err="1">
                  <a:solidFill>
                    <a:schemeClr val="dk2"/>
                  </a:solidFill>
                  <a:latin typeface="Exo" panose="02000503000000000000" pitchFamily="2" charset="77"/>
                  <a:ea typeface="Roboto"/>
                  <a:cs typeface="Roboto"/>
                  <a:sym typeface="Roboto"/>
                </a:rPr>
                <a:t>Descrivere</a:t>
              </a:r>
              <a:r>
                <a:rPr lang="en" sz="1000" b="1" dirty="0">
                  <a:solidFill>
                    <a:schemeClr val="dk2"/>
                  </a:solidFill>
                  <a:latin typeface="Exo" panose="02000503000000000000" pitchFamily="2" charset="77"/>
                  <a:ea typeface="Roboto"/>
                  <a:cs typeface="Roboto"/>
                  <a:sym typeface="Roboto"/>
                </a:rPr>
                <a:t> qui </a:t>
              </a:r>
              <a:r>
                <a:rPr lang="en" sz="1000" b="1" dirty="0" err="1">
                  <a:solidFill>
                    <a:schemeClr val="dk2"/>
                  </a:solidFill>
                  <a:latin typeface="Exo" panose="02000503000000000000" pitchFamily="2" charset="77"/>
                  <a:ea typeface="Roboto"/>
                  <a:cs typeface="Roboto"/>
                  <a:sym typeface="Roboto"/>
                </a:rPr>
                <a:t>il</a:t>
              </a:r>
              <a:r>
                <a:rPr lang="en" sz="1000" b="1" dirty="0">
                  <a:solidFill>
                    <a:schemeClr val="dk2"/>
                  </a:solidFill>
                  <a:latin typeface="Exo" panose="02000503000000000000" pitchFamily="2" charset="77"/>
                  <a:ea typeface="Roboto"/>
                  <a:cs typeface="Roboto"/>
                  <a:sym typeface="Roboto"/>
                </a:rPr>
                <a:t> </a:t>
              </a:r>
              <a:r>
                <a:rPr lang="en" sz="1000" b="1" dirty="0" err="1">
                  <a:solidFill>
                    <a:schemeClr val="dk2"/>
                  </a:solidFill>
                  <a:latin typeface="Exo" panose="02000503000000000000" pitchFamily="2" charset="77"/>
                  <a:ea typeface="Roboto"/>
                  <a:cs typeface="Roboto"/>
                  <a:sym typeface="Roboto"/>
                </a:rPr>
                <a:t>problema</a:t>
              </a:r>
              <a:r>
                <a:rPr lang="en" sz="1000" b="1" dirty="0">
                  <a:solidFill>
                    <a:schemeClr val="dk2"/>
                  </a:solidFill>
                  <a:latin typeface="Exo" panose="02000503000000000000" pitchFamily="2" charset="77"/>
                  <a:ea typeface="Roboto"/>
                  <a:cs typeface="Roboto"/>
                  <a:sym typeface="Roboto"/>
                </a:rPr>
                <a:t> di Alberto,</a:t>
              </a:r>
            </a:p>
            <a:p>
              <a:pPr lvl="0" rtl="0">
                <a:spcBef>
                  <a:spcPts val="0"/>
                </a:spcBef>
                <a:buClr>
                  <a:schemeClr val="dk1"/>
                </a:buClr>
                <a:buSzPct val="110000"/>
                <a:buFont typeface="Arial"/>
                <a:buNone/>
              </a:pPr>
              <a:r>
                <a:rPr lang="it-IT" sz="1000" b="1" dirty="0">
                  <a:solidFill>
                    <a:schemeClr val="dk2"/>
                  </a:solidFill>
                  <a:latin typeface="Exo" panose="02000503000000000000" pitchFamily="2" charset="77"/>
                  <a:ea typeface="Roboto"/>
                  <a:cs typeface="Roboto"/>
                  <a:sym typeface="Roboto"/>
                </a:rPr>
                <a:t>e i propri bisogni</a:t>
              </a:r>
              <a:r>
                <a:rPr lang="en" sz="1000" b="1" dirty="0">
                  <a:solidFill>
                    <a:schemeClr val="dk2"/>
                  </a:solidFill>
                  <a:latin typeface="Exo" panose="02000503000000000000" pitchFamily="2" charset="77"/>
                  <a:ea typeface="Roboto"/>
                  <a:cs typeface="Roboto"/>
                  <a:sym typeface="Roboto"/>
                </a:rPr>
                <a:t>.</a:t>
              </a:r>
            </a:p>
            <a:p>
              <a:pPr lvl="0" rtl="0">
                <a:spcBef>
                  <a:spcPts val="0"/>
                </a:spcBef>
                <a:buClr>
                  <a:schemeClr val="dk1"/>
                </a:buClr>
                <a:buFont typeface="Arial"/>
                <a:buNone/>
              </a:pPr>
              <a:endParaRPr sz="900" dirty="0">
                <a:solidFill>
                  <a:srgbClr val="666666"/>
                </a:solidFill>
                <a:latin typeface="Exo" panose="02000503000000000000" pitchFamily="2" charset="77"/>
                <a:ea typeface="Roboto"/>
                <a:cs typeface="Roboto"/>
                <a:sym typeface="Roboto"/>
              </a:endParaRPr>
            </a:p>
            <a:p>
              <a:pPr lvl="0" rtl="0">
                <a:spcBef>
                  <a:spcPts val="0"/>
                </a:spcBef>
                <a:buNone/>
              </a:pPr>
              <a:endParaRPr sz="900" dirty="0">
                <a:solidFill>
                  <a:srgbClr val="666666"/>
                </a:solidFill>
                <a:latin typeface="Exo" panose="02000503000000000000" pitchFamily="2" charset="77"/>
                <a:ea typeface="Roboto"/>
                <a:cs typeface="Roboto"/>
                <a:sym typeface="Roboto"/>
              </a:endParaRPr>
            </a:p>
          </p:txBody>
        </p:sp>
        <p:sp>
          <p:nvSpPr>
            <p:cNvPr id="342" name="Shape 342"/>
            <p:cNvSpPr txBox="1"/>
            <p:nvPr/>
          </p:nvSpPr>
          <p:spPr>
            <a:xfrm>
              <a:off x="2965737" y="3612736"/>
              <a:ext cx="2662499" cy="995099"/>
            </a:xfrm>
            <a:prstGeom prst="rect">
              <a:avLst/>
            </a:prstGeom>
            <a:noFill/>
            <a:ln>
              <a:noFill/>
            </a:ln>
          </p:spPr>
          <p:txBody>
            <a:bodyPr lIns="91425" tIns="91425" rIns="91425" bIns="91425" anchor="t" anchorCtr="0">
              <a:noAutofit/>
            </a:bodyPr>
            <a:lstStyle/>
            <a:p>
              <a:pPr lvl="0" rtl="0">
                <a:spcBef>
                  <a:spcPts val="0"/>
                </a:spcBef>
                <a:buClr>
                  <a:schemeClr val="dk1"/>
                </a:buClr>
                <a:buSzPct val="100000"/>
                <a:buFont typeface="Arial"/>
                <a:buNone/>
              </a:pPr>
              <a:r>
                <a:rPr lang="it-IT" sz="1100" dirty="0">
                  <a:solidFill>
                    <a:srgbClr val="666666"/>
                  </a:solidFill>
                  <a:latin typeface="Exo" panose="02000503000000000000" pitchFamily="2" charset="77"/>
                  <a:ea typeface="Roboto"/>
                  <a:cs typeface="Roboto"/>
                  <a:sym typeface="Roboto"/>
                </a:rPr>
                <a:t>C</a:t>
              </a:r>
              <a:r>
                <a:rPr lang="en" sz="1100" dirty="0">
                  <a:solidFill>
                    <a:srgbClr val="666666"/>
                  </a:solidFill>
                  <a:latin typeface="Exo" panose="02000503000000000000" pitchFamily="2" charset="77"/>
                  <a:ea typeface="Roboto"/>
                  <a:cs typeface="Roboto"/>
                  <a:sym typeface="Roboto"/>
                </a:rPr>
                <a:t>’</a:t>
              </a:r>
              <a:r>
                <a:rPr lang="en" sz="1100" dirty="0" err="1">
                  <a:solidFill>
                    <a:srgbClr val="666666"/>
                  </a:solidFill>
                  <a:latin typeface="Exo" panose="02000503000000000000" pitchFamily="2" charset="77"/>
                  <a:ea typeface="Roboto"/>
                  <a:cs typeface="Roboto"/>
                  <a:sym typeface="Roboto"/>
                </a:rPr>
                <a:t>è</a:t>
              </a:r>
              <a:r>
                <a:rPr lang="en" sz="1100" dirty="0">
                  <a:solidFill>
                    <a:srgbClr val="666666"/>
                  </a:solidFill>
                  <a:latin typeface="Exo" panose="02000503000000000000" pitchFamily="2" charset="77"/>
                  <a:ea typeface="Roboto"/>
                  <a:cs typeface="Roboto"/>
                  <a:sym typeface="Roboto"/>
                </a:rPr>
                <a:t> </a:t>
              </a:r>
              <a:r>
                <a:rPr lang="en" sz="1100" dirty="0" err="1">
                  <a:solidFill>
                    <a:srgbClr val="666666"/>
                  </a:solidFill>
                  <a:latin typeface="Exo" panose="02000503000000000000" pitchFamily="2" charset="77"/>
                  <a:ea typeface="Roboto"/>
                  <a:cs typeface="Roboto"/>
                  <a:sym typeface="Roboto"/>
                </a:rPr>
                <a:t>soluzione</a:t>
              </a:r>
              <a:r>
                <a:rPr lang="en" sz="1100" dirty="0">
                  <a:solidFill>
                    <a:srgbClr val="666666"/>
                  </a:solidFill>
                  <a:latin typeface="Exo" panose="02000503000000000000" pitchFamily="2" charset="77"/>
                  <a:ea typeface="Roboto"/>
                  <a:cs typeface="Roboto"/>
                  <a:sym typeface="Roboto"/>
                </a:rPr>
                <a:t>?</a:t>
              </a:r>
            </a:p>
            <a:p>
              <a:pPr lvl="0" rtl="0">
                <a:spcBef>
                  <a:spcPts val="0"/>
                </a:spcBef>
                <a:buNone/>
              </a:pPr>
              <a:endParaRPr sz="1100" dirty="0">
                <a:solidFill>
                  <a:srgbClr val="666666"/>
                </a:solidFill>
                <a:latin typeface="Exo" panose="02000503000000000000" pitchFamily="2" charset="77"/>
                <a:ea typeface="Roboto"/>
                <a:cs typeface="Roboto"/>
                <a:sym typeface="Roboto"/>
              </a:endParaRPr>
            </a:p>
          </p:txBody>
        </p:sp>
      </p:grpSp>
      <p:pic>
        <p:nvPicPr>
          <p:cNvPr id="23" name="Immagine 22">
            <a:extLst>
              <a:ext uri="{FF2B5EF4-FFF2-40B4-BE49-F238E27FC236}">
                <a16:creationId xmlns:a16="http://schemas.microsoft.com/office/drawing/2014/main" id="{19FB1F9F-CF88-4352-B373-D5A436388C00}"/>
              </a:ext>
            </a:extLst>
          </p:cNvPr>
          <p:cNvPicPr>
            <a:picLocks noChangeAspect="1"/>
          </p:cNvPicPr>
          <p:nvPr/>
        </p:nvPicPr>
        <p:blipFill rotWithShape="1">
          <a:blip r:embed="rId7"/>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Rettangolo 1">
            <a:extLst>
              <a:ext uri="{FF2B5EF4-FFF2-40B4-BE49-F238E27FC236}">
                <a16:creationId xmlns:a16="http://schemas.microsoft.com/office/drawing/2014/main" id="{7DA9CFF6-93E6-5947-81C0-881A3D596EA7}"/>
              </a:ext>
            </a:extLst>
          </p:cNvPr>
          <p:cNvSpPr/>
          <p:nvPr/>
        </p:nvSpPr>
        <p:spPr>
          <a:xfrm>
            <a:off x="6803136" y="2514600"/>
            <a:ext cx="1865376" cy="1179437"/>
          </a:xfrm>
          <a:prstGeom prst="rect">
            <a:avLst/>
          </a:prstGeom>
          <a:solidFill>
            <a:srgbClr val="575757"/>
          </a:solidFill>
          <a:ln>
            <a:solidFill>
              <a:srgbClr val="57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4" name="Immagine 3">
            <a:extLst>
              <a:ext uri="{FF2B5EF4-FFF2-40B4-BE49-F238E27FC236}">
                <a16:creationId xmlns:a16="http://schemas.microsoft.com/office/drawing/2014/main" id="{78C6277F-6624-E146-8821-B6C79BE47601}"/>
              </a:ext>
            </a:extLst>
          </p:cNvPr>
          <p:cNvPicPr>
            <a:picLocks noChangeAspect="1"/>
          </p:cNvPicPr>
          <p:nvPr/>
        </p:nvPicPr>
        <p:blipFill>
          <a:blip r:embed="rId8"/>
          <a:stretch>
            <a:fillRect/>
          </a:stretch>
        </p:blipFill>
        <p:spPr>
          <a:xfrm>
            <a:off x="5884621" y="1354802"/>
            <a:ext cx="3507414" cy="3507414"/>
          </a:xfrm>
          <a:prstGeom prst="rect">
            <a:avLst/>
          </a:prstGeom>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28"/>
                                        </p:tgtEl>
                                        <p:attrNameLst>
                                          <p:attrName>style.visibility</p:attrName>
                                        </p:attrNameLst>
                                      </p:cBhvr>
                                      <p:to>
                                        <p:strVal val="visible"/>
                                      </p:to>
                                    </p:set>
                                    <p:anim calcmode="lin" valueType="num">
                                      <p:cBhvr additive="base">
                                        <p:cTn id="7" dur="1000"/>
                                        <p:tgtEl>
                                          <p:spTgt spid="328"/>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323"/>
                                        </p:tgtEl>
                                        <p:attrNameLst>
                                          <p:attrName>style.visibility</p:attrName>
                                        </p:attrNameLst>
                                      </p:cBhvr>
                                      <p:to>
                                        <p:strVal val="visible"/>
                                      </p:to>
                                    </p:set>
                                    <p:anim calcmode="lin" valueType="num">
                                      <p:cBhvr additive="base">
                                        <p:cTn id="11" dur="600"/>
                                        <p:tgtEl>
                                          <p:spTgt spid="323"/>
                                        </p:tgtEl>
                                        <p:attrNameLst>
                                          <p:attrName>ppt_x</p:attrName>
                                        </p:attrNameLst>
                                      </p:cBhvr>
                                      <p:tavLst>
                                        <p:tav tm="0">
                                          <p:val>
                                            <p:strVal val="#ppt_x+1"/>
                                          </p:val>
                                        </p:tav>
                                        <p:tav tm="100000">
                                          <p:val>
                                            <p:strVal val="#ppt_x"/>
                                          </p:val>
                                        </p:tav>
                                      </p:tavLst>
                                    </p:anim>
                                  </p:childTnLst>
                                </p:cTn>
                              </p:par>
                            </p:childTnLst>
                          </p:cTn>
                        </p:par>
                        <p:par>
                          <p:cTn id="12" fill="hold">
                            <p:stCondLst>
                              <p:cond delay="1600"/>
                            </p:stCondLst>
                            <p:childTnLst>
                              <p:par>
                                <p:cTn id="13" presetID="23" presetClass="entr" presetSubtype="16" fill="hold" nodeType="afterEffect">
                                  <p:stCondLst>
                                    <p:cond delay="0"/>
                                  </p:stCondLst>
                                  <p:childTnLst>
                                    <p:set>
                                      <p:cBhvr>
                                        <p:cTn id="14" dur="1" fill="hold">
                                          <p:stCondLst>
                                            <p:cond delay="0"/>
                                          </p:stCondLst>
                                        </p:cTn>
                                        <p:tgtEl>
                                          <p:spTgt spid="334"/>
                                        </p:tgtEl>
                                        <p:attrNameLst>
                                          <p:attrName>style.visibility</p:attrName>
                                        </p:attrNameLst>
                                      </p:cBhvr>
                                      <p:to>
                                        <p:strVal val="visible"/>
                                      </p:to>
                                    </p:set>
                                    <p:anim calcmode="lin" valueType="num">
                                      <p:cBhvr additive="base">
                                        <p:cTn id="15" dur="600"/>
                                        <p:tgtEl>
                                          <p:spTgt spid="334"/>
                                        </p:tgtEl>
                                        <p:attrNameLst>
                                          <p:attrName>ppt_w</p:attrName>
                                        </p:attrNameLst>
                                      </p:cBhvr>
                                      <p:tavLst>
                                        <p:tav tm="0">
                                          <p:val>
                                            <p:strVal val="0"/>
                                          </p:val>
                                        </p:tav>
                                        <p:tav tm="100000">
                                          <p:val>
                                            <p:strVal val="#ppt_w"/>
                                          </p:val>
                                        </p:tav>
                                      </p:tavLst>
                                    </p:anim>
                                    <p:anim calcmode="lin" valueType="num">
                                      <p:cBhvr additive="base">
                                        <p:cTn id="16" dur="600"/>
                                        <p:tgtEl>
                                          <p:spTgt spid="334"/>
                                        </p:tgtEl>
                                        <p:attrNameLst>
                                          <p:attrName>ppt_h</p:attrName>
                                        </p:attrNameLst>
                                      </p:cBhvr>
                                      <p:tavLst>
                                        <p:tav tm="0">
                                          <p:val>
                                            <p:strVal val="0"/>
                                          </p:val>
                                        </p:tav>
                                        <p:tav tm="100000">
                                          <p:val>
                                            <p:strVal val="#ppt_h"/>
                                          </p:val>
                                        </p:tav>
                                      </p:tavLst>
                                    </p:anim>
                                  </p:childTnLst>
                                </p:cTn>
                              </p:par>
                            </p:childTnLst>
                          </p:cTn>
                        </p:par>
                        <p:par>
                          <p:cTn id="17" fill="hold">
                            <p:stCondLst>
                              <p:cond delay="2200"/>
                            </p:stCondLst>
                            <p:childTnLst>
                              <p:par>
                                <p:cTn id="18" presetID="2" presetClass="entr" presetSubtype="4" fill="hold" nodeType="afterEffect">
                                  <p:stCondLst>
                                    <p:cond delay="0"/>
                                  </p:stCondLst>
                                  <p:childTnLst>
                                    <p:set>
                                      <p:cBhvr>
                                        <p:cTn id="19" dur="1" fill="hold">
                                          <p:stCondLst>
                                            <p:cond delay="0"/>
                                          </p:stCondLst>
                                        </p:cTn>
                                        <p:tgtEl>
                                          <p:spTgt spid="339"/>
                                        </p:tgtEl>
                                        <p:attrNameLst>
                                          <p:attrName>style.visibility</p:attrName>
                                        </p:attrNameLst>
                                      </p:cBhvr>
                                      <p:to>
                                        <p:strVal val="visible"/>
                                      </p:to>
                                    </p:set>
                                    <p:anim calcmode="lin" valueType="num">
                                      <p:cBhvr additive="base">
                                        <p:cTn id="20" dur="1000"/>
                                        <p:tgtEl>
                                          <p:spTgt spid="3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7" name="Rettangolo 6">
            <a:extLst>
              <a:ext uri="{FF2B5EF4-FFF2-40B4-BE49-F238E27FC236}">
                <a16:creationId xmlns:a16="http://schemas.microsoft.com/office/drawing/2014/main" id="{757440B8-369E-4DD3-A801-24457FB5348B}"/>
              </a:ext>
            </a:extLst>
          </p:cNvPr>
          <p:cNvSpPr/>
          <p:nvPr/>
        </p:nvSpPr>
        <p:spPr>
          <a:xfrm>
            <a:off x="0" y="2774227"/>
            <a:ext cx="9144000" cy="620399"/>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sp>
        <p:nvSpPr>
          <p:cNvPr id="32" name="Shape 32"/>
          <p:cNvSpPr txBox="1"/>
          <p:nvPr/>
        </p:nvSpPr>
        <p:spPr>
          <a:xfrm>
            <a:off x="3240750" y="4349050"/>
            <a:ext cx="2662499" cy="290700"/>
          </a:xfrm>
          <a:prstGeom prst="rect">
            <a:avLst/>
          </a:prstGeom>
          <a:noFill/>
          <a:ln>
            <a:noFill/>
          </a:ln>
        </p:spPr>
        <p:txBody>
          <a:bodyPr lIns="91425" tIns="91425" rIns="91425" bIns="91425" anchor="t" anchorCtr="0">
            <a:noAutofit/>
          </a:bodyPr>
          <a:lstStyle/>
          <a:p>
            <a:pPr algn="ctr">
              <a:spcBef>
                <a:spcPts val="0"/>
              </a:spcBef>
              <a:buNone/>
            </a:pPr>
            <a:r>
              <a:rPr lang="en" sz="1000" dirty="0">
                <a:latin typeface="Roboto Slab"/>
                <a:ea typeface="Roboto Slab"/>
                <a:cs typeface="Roboto Slab"/>
                <a:sym typeface="Roboto Slab"/>
              </a:rPr>
              <a:t>www.startupwebsite.com</a:t>
            </a:r>
          </a:p>
        </p:txBody>
      </p:sp>
      <p:sp>
        <p:nvSpPr>
          <p:cNvPr id="33" name="Shape 33"/>
          <p:cNvSpPr txBox="1"/>
          <p:nvPr/>
        </p:nvSpPr>
        <p:spPr>
          <a:xfrm>
            <a:off x="242325" y="2831150"/>
            <a:ext cx="4329675" cy="620399"/>
          </a:xfrm>
          <a:prstGeom prst="rect">
            <a:avLst/>
          </a:prstGeom>
          <a:noFill/>
          <a:ln>
            <a:noFill/>
          </a:ln>
        </p:spPr>
        <p:txBody>
          <a:bodyPr lIns="91425" tIns="91425" rIns="91425" bIns="91425" anchor="t" anchorCtr="0">
            <a:noAutofit/>
          </a:bodyPr>
          <a:lstStyle/>
          <a:p>
            <a:pPr lvl="0" rtl="0">
              <a:spcBef>
                <a:spcPts val="0"/>
              </a:spcBef>
              <a:buClr>
                <a:schemeClr val="dk1"/>
              </a:buClr>
              <a:buSzPct val="55000"/>
              <a:buFont typeface="Arial"/>
              <a:buNone/>
            </a:pPr>
            <a:r>
              <a:rPr lang="it-IT" sz="2800" b="1" dirty="0">
                <a:solidFill>
                  <a:schemeClr val="lt1"/>
                </a:solidFill>
                <a:latin typeface="Exo" panose="02000503000000000000" pitchFamily="2" charset="77"/>
                <a:ea typeface="Roboto Slab"/>
                <a:cs typeface="Roboto Slab"/>
                <a:sym typeface="Roboto Slab"/>
              </a:rPr>
              <a:t>VALUE PROPOSITION</a:t>
            </a:r>
            <a:endParaRPr lang="en" sz="2800" b="1" dirty="0">
              <a:solidFill>
                <a:schemeClr val="lt1"/>
              </a:solidFill>
              <a:latin typeface="Exo" panose="02000503000000000000" pitchFamily="2" charset="77"/>
              <a:ea typeface="Roboto Slab"/>
              <a:cs typeface="Roboto Slab"/>
              <a:sym typeface="Roboto Slab"/>
            </a:endParaRPr>
          </a:p>
          <a:p>
            <a:pPr>
              <a:spcBef>
                <a:spcPts val="0"/>
              </a:spcBef>
              <a:buNone/>
            </a:pPr>
            <a:endParaRPr dirty="0">
              <a:latin typeface="Exo" panose="02000503000000000000" pitchFamily="2" charset="77"/>
            </a:endParaRPr>
          </a:p>
        </p:txBody>
      </p:sp>
      <p:sp>
        <p:nvSpPr>
          <p:cNvPr id="34" name="Shape 34"/>
          <p:cNvSpPr txBox="1"/>
          <p:nvPr/>
        </p:nvSpPr>
        <p:spPr>
          <a:xfrm>
            <a:off x="4373750" y="2889275"/>
            <a:ext cx="4604400" cy="430500"/>
          </a:xfrm>
          <a:prstGeom prst="rect">
            <a:avLst/>
          </a:prstGeom>
          <a:noFill/>
          <a:ln>
            <a:noFill/>
          </a:ln>
        </p:spPr>
        <p:txBody>
          <a:bodyPr lIns="91425" tIns="91425" rIns="91425" bIns="91425" anchor="t" anchorCtr="0">
            <a:noAutofit/>
          </a:bodyPr>
          <a:lstStyle/>
          <a:p>
            <a:pPr lvl="0" algn="r" rtl="0">
              <a:spcBef>
                <a:spcPts val="0"/>
              </a:spcBef>
              <a:buNone/>
            </a:pPr>
            <a:r>
              <a:rPr lang="en" dirty="0">
                <a:solidFill>
                  <a:schemeClr val="lt1"/>
                </a:solidFill>
                <a:latin typeface="Exo" panose="02000503000000000000" pitchFamily="2" charset="77"/>
                <a:ea typeface="Roboto"/>
                <a:cs typeface="Roboto"/>
                <a:sym typeface="Roboto"/>
              </a:rPr>
              <a:t>R</a:t>
            </a:r>
            <a:r>
              <a:rPr lang="it-IT" dirty="0">
                <a:solidFill>
                  <a:schemeClr val="lt1"/>
                </a:solidFill>
                <a:latin typeface="Exo" panose="02000503000000000000" pitchFamily="2" charset="77"/>
                <a:ea typeface="Roboto"/>
                <a:cs typeface="Roboto"/>
                <a:sym typeface="Roboto"/>
              </a:rPr>
              <a:t>e</a:t>
            </a:r>
            <a:r>
              <a:rPr lang="en" dirty="0" err="1">
                <a:solidFill>
                  <a:schemeClr val="lt1"/>
                </a:solidFill>
                <a:latin typeface="Exo" panose="02000503000000000000" pitchFamily="2" charset="77"/>
                <a:ea typeface="Roboto"/>
                <a:cs typeface="Roboto"/>
                <a:sym typeface="Roboto"/>
              </a:rPr>
              <a:t>gole</a:t>
            </a:r>
            <a:r>
              <a:rPr lang="en" dirty="0">
                <a:solidFill>
                  <a:schemeClr val="lt1"/>
                </a:solidFill>
                <a:latin typeface="Exo" panose="02000503000000000000" pitchFamily="2" charset="77"/>
                <a:ea typeface="Roboto"/>
                <a:cs typeface="Roboto"/>
                <a:sym typeface="Roboto"/>
              </a:rPr>
              <a:t> e </a:t>
            </a:r>
            <a:r>
              <a:rPr lang="en" dirty="0" err="1">
                <a:solidFill>
                  <a:schemeClr val="lt1"/>
                </a:solidFill>
                <a:latin typeface="Exo" panose="02000503000000000000" pitchFamily="2" charset="77"/>
                <a:ea typeface="Roboto"/>
                <a:cs typeface="Roboto"/>
                <a:sym typeface="Roboto"/>
              </a:rPr>
              <a:t>funzionamento</a:t>
            </a:r>
            <a:r>
              <a:rPr lang="en" dirty="0">
                <a:solidFill>
                  <a:schemeClr val="lt1"/>
                </a:solidFill>
                <a:latin typeface="Exo" panose="02000503000000000000" pitchFamily="2" charset="77"/>
                <a:ea typeface="Roboto"/>
                <a:cs typeface="Roboto"/>
                <a:sym typeface="Roboto"/>
              </a:rPr>
              <a:t> di Bet 4 Fun</a:t>
            </a:r>
          </a:p>
          <a:p>
            <a:pPr lvl="0" rtl="0">
              <a:spcBef>
                <a:spcPts val="0"/>
              </a:spcBef>
              <a:buNone/>
            </a:pPr>
            <a:endParaRPr dirty="0">
              <a:latin typeface="Exo" panose="02000503000000000000" pitchFamily="2" charset="77"/>
            </a:endParaRPr>
          </a:p>
        </p:txBody>
      </p:sp>
      <p:pic>
        <p:nvPicPr>
          <p:cNvPr id="3" name="Immagine 2">
            <a:extLst>
              <a:ext uri="{FF2B5EF4-FFF2-40B4-BE49-F238E27FC236}">
                <a16:creationId xmlns:a16="http://schemas.microsoft.com/office/drawing/2014/main" id="{0DA18343-295D-48A2-9447-D43C713212AD}"/>
              </a:ext>
            </a:extLst>
          </p:cNvPr>
          <p:cNvPicPr>
            <a:picLocks noChangeAspect="1"/>
          </p:cNvPicPr>
          <p:nvPr/>
        </p:nvPicPr>
        <p:blipFill rotWithShape="1">
          <a:blip r:embed="rId3"/>
          <a:srcRect t="42749" b="42199"/>
          <a:stretch/>
        </p:blipFill>
        <p:spPr>
          <a:xfrm>
            <a:off x="1283546" y="1069126"/>
            <a:ext cx="6576908" cy="989948"/>
          </a:xfrm>
          <a:prstGeom prst="rect">
            <a:avLst/>
          </a:prstGeom>
        </p:spPr>
      </p:pic>
    </p:spTree>
    <p:extLst>
      <p:ext uri="{BB962C8B-B14F-4D97-AF65-F5344CB8AC3E}">
        <p14:creationId xmlns:p14="http://schemas.microsoft.com/office/powerpoint/2010/main" val="1517299679"/>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1000"/>
                                        <p:tgtEl>
                                          <p:spTgt spid="33"/>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1000"/>
                                        <p:tgtEl>
                                          <p:spTgt spid="34"/>
                                        </p:tgtEl>
                                        <p:attrNameLst>
                                          <p:attrName>ppt_x</p:attrName>
                                        </p:attrNameLst>
                                      </p:cBhvr>
                                      <p:tavLst>
                                        <p:tav tm="0">
                                          <p:val>
                                            <p:strVal val="#ppt_x+1"/>
                                          </p:val>
                                        </p:tav>
                                        <p:tav tm="100000">
                                          <p:val>
                                            <p:strVal val="#ppt_x"/>
                                          </p:val>
                                        </p:tav>
                                      </p:tavLst>
                                    </p:anim>
                                  </p:childTnLst>
                                </p:cTn>
                              </p:par>
                            </p:childTnLst>
                          </p:cTn>
                        </p:par>
                        <p:par>
                          <p:cTn id="12" fill="hold">
                            <p:stCondLst>
                              <p:cond delay="2000"/>
                            </p:stCondLst>
                            <p:childTnLst>
                              <p:par>
                                <p:cTn id="13" presetID="23" presetClass="entr" presetSubtype="16"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additive="base">
                                        <p:cTn id="15" dur="1000"/>
                                        <p:tgtEl>
                                          <p:spTgt spid="32"/>
                                        </p:tgtEl>
                                        <p:attrNameLst>
                                          <p:attrName>ppt_w</p:attrName>
                                        </p:attrNameLst>
                                      </p:cBhvr>
                                      <p:tavLst>
                                        <p:tav tm="0">
                                          <p:val>
                                            <p:strVal val="0"/>
                                          </p:val>
                                        </p:tav>
                                        <p:tav tm="100000">
                                          <p:val>
                                            <p:strVal val="#ppt_w"/>
                                          </p:val>
                                        </p:tav>
                                      </p:tavLst>
                                    </p:anim>
                                    <p:anim calcmode="lin" valueType="num">
                                      <p:cBhvr additive="base">
                                        <p:cTn id="16" dur="1000"/>
                                        <p:tgtEl>
                                          <p:spTgt spid="3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48"/>
        <p:cNvGrpSpPr/>
        <p:nvPr/>
      </p:nvGrpSpPr>
      <p:grpSpPr>
        <a:xfrm>
          <a:off x="0" y="0"/>
          <a:ext cx="0" cy="0"/>
          <a:chOff x="0" y="0"/>
          <a:chExt cx="0" cy="0"/>
        </a:xfrm>
      </p:grpSpPr>
      <p:sp>
        <p:nvSpPr>
          <p:cNvPr id="59" name="Rettangolo 58">
            <a:extLst>
              <a:ext uri="{FF2B5EF4-FFF2-40B4-BE49-F238E27FC236}">
                <a16:creationId xmlns:a16="http://schemas.microsoft.com/office/drawing/2014/main" id="{0111E6C0-D336-4EDB-88E6-196E47D0EFA7}"/>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549" name="Shape 549"/>
          <p:cNvPicPr preferRelativeResize="0"/>
          <p:nvPr/>
        </p:nvPicPr>
        <p:blipFill>
          <a:blip r:embed="rId3">
            <a:alphaModFix/>
          </a:blip>
          <a:stretch>
            <a:fillRect/>
          </a:stretch>
        </p:blipFill>
        <p:spPr>
          <a:xfrm>
            <a:off x="-84000" y="183075"/>
            <a:ext cx="9291700" cy="788900"/>
          </a:xfrm>
          <a:prstGeom prst="rect">
            <a:avLst/>
          </a:prstGeom>
          <a:noFill/>
          <a:ln>
            <a:noFill/>
          </a:ln>
        </p:spPr>
      </p:pic>
      <p:sp>
        <p:nvSpPr>
          <p:cNvPr id="552" name="Shape 552"/>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dirty="0">
                <a:solidFill>
                  <a:schemeClr val="accent3"/>
                </a:solidFill>
                <a:latin typeface="Roboto Slab"/>
                <a:ea typeface="Roboto Slab"/>
                <a:cs typeface="Roboto Slab"/>
                <a:sym typeface="Roboto Slab"/>
              </a:rPr>
              <a:t>Le categorie del sito</a:t>
            </a: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rtl="0">
              <a:spcBef>
                <a:spcPts val="0"/>
              </a:spcBef>
              <a:buNone/>
            </a:pPr>
            <a:endParaRPr sz="1200" dirty="0"/>
          </a:p>
        </p:txBody>
      </p:sp>
      <p:grpSp>
        <p:nvGrpSpPr>
          <p:cNvPr id="553" name="Shape 553"/>
          <p:cNvGrpSpPr/>
          <p:nvPr/>
        </p:nvGrpSpPr>
        <p:grpSpPr>
          <a:xfrm>
            <a:off x="1431097" y="1783210"/>
            <a:ext cx="2340812" cy="2421499"/>
            <a:chOff x="1431097" y="1783210"/>
            <a:chExt cx="2340812" cy="2421499"/>
          </a:xfrm>
        </p:grpSpPr>
        <p:cxnSp>
          <p:nvCxnSpPr>
            <p:cNvPr id="554" name="Shape 554"/>
            <p:cNvCxnSpPr/>
            <p:nvPr/>
          </p:nvCxnSpPr>
          <p:spPr>
            <a:xfrm>
              <a:off x="1431097" y="1796913"/>
              <a:ext cx="633900" cy="0"/>
            </a:xfrm>
            <a:prstGeom prst="straightConnector1">
              <a:avLst/>
            </a:prstGeom>
            <a:noFill/>
            <a:ln w="19050" cap="flat" cmpd="sng">
              <a:solidFill>
                <a:schemeClr val="lt1"/>
              </a:solidFill>
              <a:prstDash val="dashDot"/>
              <a:round/>
              <a:headEnd type="none" w="lg" len="lg"/>
              <a:tailEnd type="none" w="lg" len="lg"/>
            </a:ln>
          </p:spPr>
        </p:cxnSp>
        <p:cxnSp>
          <p:nvCxnSpPr>
            <p:cNvPr id="555" name="Shape 555"/>
            <p:cNvCxnSpPr/>
            <p:nvPr/>
          </p:nvCxnSpPr>
          <p:spPr>
            <a:xfrm>
              <a:off x="1431097" y="4188316"/>
              <a:ext cx="633900" cy="0"/>
            </a:xfrm>
            <a:prstGeom prst="straightConnector1">
              <a:avLst/>
            </a:prstGeom>
            <a:noFill/>
            <a:ln w="19050" cap="flat" cmpd="sng">
              <a:solidFill>
                <a:schemeClr val="lt1"/>
              </a:solidFill>
              <a:prstDash val="dashDot"/>
              <a:round/>
              <a:headEnd type="none" w="lg" len="lg"/>
              <a:tailEnd type="none" w="lg" len="lg"/>
            </a:ln>
          </p:spPr>
        </p:cxnSp>
        <p:cxnSp>
          <p:nvCxnSpPr>
            <p:cNvPr id="556" name="Shape 556"/>
            <p:cNvCxnSpPr/>
            <p:nvPr/>
          </p:nvCxnSpPr>
          <p:spPr>
            <a:xfrm rot="10800000">
              <a:off x="2072630" y="1783210"/>
              <a:ext cx="0" cy="2407800"/>
            </a:xfrm>
            <a:prstGeom prst="straightConnector1">
              <a:avLst/>
            </a:prstGeom>
            <a:noFill/>
            <a:ln w="19050" cap="flat" cmpd="sng">
              <a:solidFill>
                <a:schemeClr val="lt1"/>
              </a:solidFill>
              <a:prstDash val="dashDot"/>
              <a:round/>
              <a:headEnd type="none" w="lg" len="lg"/>
              <a:tailEnd type="none" w="lg" len="lg"/>
            </a:ln>
          </p:spPr>
        </p:cxnSp>
        <p:cxnSp>
          <p:nvCxnSpPr>
            <p:cNvPr id="557" name="Shape 557"/>
            <p:cNvCxnSpPr/>
            <p:nvPr/>
          </p:nvCxnSpPr>
          <p:spPr>
            <a:xfrm>
              <a:off x="1438722" y="2987113"/>
              <a:ext cx="633900" cy="0"/>
            </a:xfrm>
            <a:prstGeom prst="straightConnector1">
              <a:avLst/>
            </a:prstGeom>
            <a:noFill/>
            <a:ln w="19050" cap="flat" cmpd="sng">
              <a:solidFill>
                <a:schemeClr val="lt1"/>
              </a:solidFill>
              <a:prstDash val="dashDot"/>
              <a:round/>
              <a:headEnd type="none" w="lg" len="lg"/>
              <a:tailEnd type="none" w="lg" len="lg"/>
            </a:ln>
          </p:spPr>
        </p:cxnSp>
        <p:cxnSp>
          <p:nvCxnSpPr>
            <p:cNvPr id="558" name="Shape 558"/>
            <p:cNvCxnSpPr/>
            <p:nvPr/>
          </p:nvCxnSpPr>
          <p:spPr>
            <a:xfrm rot="10800000">
              <a:off x="3138010" y="4191006"/>
              <a:ext cx="633900" cy="0"/>
            </a:xfrm>
            <a:prstGeom prst="straightConnector1">
              <a:avLst/>
            </a:prstGeom>
            <a:noFill/>
            <a:ln w="19050" cap="flat" cmpd="sng">
              <a:solidFill>
                <a:schemeClr val="lt1"/>
              </a:solidFill>
              <a:prstDash val="dashDot"/>
              <a:round/>
              <a:headEnd type="none" w="lg" len="lg"/>
              <a:tailEnd type="none" w="lg" len="lg"/>
            </a:ln>
          </p:spPr>
        </p:cxnSp>
        <p:cxnSp>
          <p:nvCxnSpPr>
            <p:cNvPr id="559" name="Shape 559"/>
            <p:cNvCxnSpPr/>
            <p:nvPr/>
          </p:nvCxnSpPr>
          <p:spPr>
            <a:xfrm rot="10800000">
              <a:off x="3138010" y="1799603"/>
              <a:ext cx="633900" cy="0"/>
            </a:xfrm>
            <a:prstGeom prst="straightConnector1">
              <a:avLst/>
            </a:prstGeom>
            <a:noFill/>
            <a:ln w="19050" cap="flat" cmpd="sng">
              <a:solidFill>
                <a:schemeClr val="lt1"/>
              </a:solidFill>
              <a:prstDash val="dashDot"/>
              <a:round/>
              <a:headEnd type="none" w="lg" len="lg"/>
              <a:tailEnd type="none" w="lg" len="lg"/>
            </a:ln>
          </p:spPr>
        </p:cxnSp>
        <p:cxnSp>
          <p:nvCxnSpPr>
            <p:cNvPr id="560" name="Shape 560"/>
            <p:cNvCxnSpPr/>
            <p:nvPr/>
          </p:nvCxnSpPr>
          <p:spPr>
            <a:xfrm>
              <a:off x="3130377" y="1796909"/>
              <a:ext cx="0" cy="2407800"/>
            </a:xfrm>
            <a:prstGeom prst="straightConnector1">
              <a:avLst/>
            </a:prstGeom>
            <a:noFill/>
            <a:ln w="19050" cap="flat" cmpd="sng">
              <a:solidFill>
                <a:schemeClr val="lt1"/>
              </a:solidFill>
              <a:prstDash val="dashDot"/>
              <a:round/>
              <a:headEnd type="none" w="lg" len="lg"/>
              <a:tailEnd type="none" w="lg" len="lg"/>
            </a:ln>
          </p:spPr>
        </p:cxnSp>
        <p:cxnSp>
          <p:nvCxnSpPr>
            <p:cNvPr id="561" name="Shape 561"/>
            <p:cNvCxnSpPr/>
            <p:nvPr/>
          </p:nvCxnSpPr>
          <p:spPr>
            <a:xfrm rot="10800000">
              <a:off x="3130385" y="3000806"/>
              <a:ext cx="633900" cy="0"/>
            </a:xfrm>
            <a:prstGeom prst="straightConnector1">
              <a:avLst/>
            </a:prstGeom>
            <a:noFill/>
            <a:ln w="19050" cap="flat" cmpd="sng">
              <a:solidFill>
                <a:schemeClr val="lt1"/>
              </a:solidFill>
              <a:prstDash val="dashDot"/>
              <a:round/>
              <a:headEnd type="none" w="lg" len="lg"/>
              <a:tailEnd type="none" w="lg" len="lg"/>
            </a:ln>
          </p:spPr>
        </p:cxnSp>
      </p:grpSp>
      <p:grpSp>
        <p:nvGrpSpPr>
          <p:cNvPr id="562" name="Shape 562"/>
          <p:cNvGrpSpPr/>
          <p:nvPr/>
        </p:nvGrpSpPr>
        <p:grpSpPr>
          <a:xfrm>
            <a:off x="553419" y="1373314"/>
            <a:ext cx="885430" cy="966495"/>
            <a:chOff x="553419" y="1373314"/>
            <a:chExt cx="885430" cy="966495"/>
          </a:xfrm>
        </p:grpSpPr>
        <p:grpSp>
          <p:nvGrpSpPr>
            <p:cNvPr id="563" name="Shape 563"/>
            <p:cNvGrpSpPr/>
            <p:nvPr/>
          </p:nvGrpSpPr>
          <p:grpSpPr>
            <a:xfrm>
              <a:off x="553419" y="1373314"/>
              <a:ext cx="877678" cy="966495"/>
              <a:chOff x="1155414" y="1472354"/>
              <a:chExt cx="877678" cy="966495"/>
            </a:xfrm>
          </p:grpSpPr>
          <p:sp>
            <p:nvSpPr>
              <p:cNvPr id="564" name="Shape 564"/>
              <p:cNvSpPr/>
              <p:nvPr/>
            </p:nvSpPr>
            <p:spPr>
              <a:xfrm>
                <a:off x="1155414" y="1561171"/>
                <a:ext cx="877678" cy="877678"/>
              </a:xfrm>
              <a:prstGeom prst="roundRect">
                <a:avLst>
                  <a:gd name="adj" fmla="val 16667"/>
                </a:avLst>
              </a:prstGeom>
              <a:solidFill>
                <a:srgbClr val="A8D5D7"/>
              </a:solidFill>
              <a:ln>
                <a:noFill/>
              </a:ln>
            </p:spPr>
            <p:txBody>
              <a:bodyPr lIns="91425" tIns="91425" rIns="91425" bIns="91425" anchor="ctr" anchorCtr="0">
                <a:noAutofit/>
              </a:bodyPr>
              <a:lstStyle/>
              <a:p>
                <a:pPr>
                  <a:spcBef>
                    <a:spcPts val="0"/>
                  </a:spcBef>
                  <a:buNone/>
                </a:pPr>
                <a:endParaRPr/>
              </a:p>
            </p:txBody>
          </p:sp>
          <p:sp>
            <p:nvSpPr>
              <p:cNvPr id="565" name="Shape 565"/>
              <p:cNvSpPr/>
              <p:nvPr/>
            </p:nvSpPr>
            <p:spPr>
              <a:xfrm>
                <a:off x="1155414" y="1472354"/>
                <a:ext cx="877678" cy="877678"/>
              </a:xfrm>
              <a:prstGeom prst="roundRect">
                <a:avLst>
                  <a:gd name="adj" fmla="val 16667"/>
                </a:avLst>
              </a:prstGeom>
              <a:solidFill>
                <a:srgbClr val="7E9FA2"/>
              </a:solidFill>
              <a:ln>
                <a:noFill/>
              </a:ln>
            </p:spPr>
            <p:txBody>
              <a:bodyPr lIns="91425" tIns="91425" rIns="91425" bIns="91425" anchor="ctr" anchorCtr="0">
                <a:noAutofit/>
              </a:bodyPr>
              <a:lstStyle/>
              <a:p>
                <a:pPr>
                  <a:spcBef>
                    <a:spcPts val="0"/>
                  </a:spcBef>
                  <a:buNone/>
                </a:pPr>
                <a:endParaRPr/>
              </a:p>
            </p:txBody>
          </p:sp>
        </p:grpSp>
        <p:pic>
          <p:nvPicPr>
            <p:cNvPr id="566" name="Shape 566"/>
            <p:cNvPicPr preferRelativeResize="0"/>
            <p:nvPr/>
          </p:nvPicPr>
          <p:blipFill>
            <a:blip r:embed="rId4">
              <a:alphaModFix/>
            </a:blip>
            <a:stretch>
              <a:fillRect/>
            </a:stretch>
          </p:blipFill>
          <p:spPr>
            <a:xfrm>
              <a:off x="732137" y="1411422"/>
              <a:ext cx="520261" cy="543582"/>
            </a:xfrm>
            <a:prstGeom prst="rect">
              <a:avLst/>
            </a:prstGeom>
            <a:noFill/>
            <a:ln>
              <a:noFill/>
            </a:ln>
          </p:spPr>
        </p:pic>
        <p:sp>
          <p:nvSpPr>
            <p:cNvPr id="567" name="Shape 567"/>
            <p:cNvSpPr txBox="1"/>
            <p:nvPr/>
          </p:nvSpPr>
          <p:spPr>
            <a:xfrm>
              <a:off x="561050" y="1832050"/>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dirty="0">
                  <a:solidFill>
                    <a:schemeClr val="lt1"/>
                  </a:solidFill>
                  <a:latin typeface="Roboto Slab"/>
                  <a:ea typeface="Roboto Slab"/>
                  <a:cs typeface="Roboto Slab"/>
                  <a:sym typeface="Roboto Slab"/>
                </a:rPr>
                <a:t>Home</a:t>
              </a:r>
            </a:p>
          </p:txBody>
        </p:sp>
      </p:grpSp>
      <p:grpSp>
        <p:nvGrpSpPr>
          <p:cNvPr id="568" name="Shape 568"/>
          <p:cNvGrpSpPr/>
          <p:nvPr/>
        </p:nvGrpSpPr>
        <p:grpSpPr>
          <a:xfrm>
            <a:off x="553350" y="2539164"/>
            <a:ext cx="877800" cy="966495"/>
            <a:chOff x="553350" y="2539164"/>
            <a:chExt cx="877800" cy="966495"/>
          </a:xfrm>
        </p:grpSpPr>
        <p:grpSp>
          <p:nvGrpSpPr>
            <p:cNvPr id="569" name="Shape 569"/>
            <p:cNvGrpSpPr/>
            <p:nvPr/>
          </p:nvGrpSpPr>
          <p:grpSpPr>
            <a:xfrm>
              <a:off x="553419" y="2539164"/>
              <a:ext cx="877678" cy="966495"/>
              <a:chOff x="1649600" y="1217575"/>
              <a:chExt cx="995099" cy="1095799"/>
            </a:xfrm>
          </p:grpSpPr>
          <p:sp>
            <p:nvSpPr>
              <p:cNvPr id="570" name="Shape 570"/>
              <p:cNvSpPr/>
              <p:nvPr/>
            </p:nvSpPr>
            <p:spPr>
              <a:xfrm>
                <a:off x="1649600" y="1318275"/>
                <a:ext cx="995099" cy="995099"/>
              </a:xfrm>
              <a:prstGeom prst="roundRect">
                <a:avLst>
                  <a:gd name="adj" fmla="val 16667"/>
                </a:avLst>
              </a:prstGeom>
              <a:solidFill>
                <a:srgbClr val="89AEB0"/>
              </a:solidFill>
              <a:ln>
                <a:noFill/>
              </a:ln>
            </p:spPr>
            <p:txBody>
              <a:bodyPr lIns="91425" tIns="91425" rIns="91425" bIns="91425" anchor="ctr" anchorCtr="0">
                <a:noAutofit/>
              </a:bodyPr>
              <a:lstStyle/>
              <a:p>
                <a:pPr>
                  <a:spcBef>
                    <a:spcPts val="0"/>
                  </a:spcBef>
                  <a:buNone/>
                </a:pPr>
                <a:endParaRPr/>
              </a:p>
            </p:txBody>
          </p:sp>
          <p:sp>
            <p:nvSpPr>
              <p:cNvPr id="571" name="Shape 571"/>
              <p:cNvSpPr/>
              <p:nvPr/>
            </p:nvSpPr>
            <p:spPr>
              <a:xfrm>
                <a:off x="1649600" y="1217575"/>
                <a:ext cx="995099" cy="995099"/>
              </a:xfrm>
              <a:prstGeom prst="roundRect">
                <a:avLst>
                  <a:gd name="adj" fmla="val 16667"/>
                </a:avLst>
              </a:prstGeom>
              <a:solidFill>
                <a:srgbClr val="A8D5D7"/>
              </a:solidFill>
              <a:ln>
                <a:noFill/>
              </a:ln>
            </p:spPr>
            <p:txBody>
              <a:bodyPr lIns="91425" tIns="91425" rIns="91425" bIns="91425" anchor="ctr" anchorCtr="0">
                <a:noAutofit/>
              </a:bodyPr>
              <a:lstStyle/>
              <a:p>
                <a:pPr>
                  <a:spcBef>
                    <a:spcPts val="0"/>
                  </a:spcBef>
                  <a:buNone/>
                </a:pPr>
                <a:endParaRPr/>
              </a:p>
            </p:txBody>
          </p:sp>
        </p:grpSp>
        <p:pic>
          <p:nvPicPr>
            <p:cNvPr id="572" name="Shape 572"/>
            <p:cNvPicPr preferRelativeResize="0"/>
            <p:nvPr/>
          </p:nvPicPr>
          <p:blipFill>
            <a:blip r:embed="rId5">
              <a:alphaModFix/>
            </a:blip>
            <a:stretch>
              <a:fillRect/>
            </a:stretch>
          </p:blipFill>
          <p:spPr>
            <a:xfrm>
              <a:off x="732168" y="2592514"/>
              <a:ext cx="520261" cy="543582"/>
            </a:xfrm>
            <a:prstGeom prst="rect">
              <a:avLst/>
            </a:prstGeom>
            <a:noFill/>
            <a:ln>
              <a:noFill/>
            </a:ln>
          </p:spPr>
        </p:pic>
        <p:sp>
          <p:nvSpPr>
            <p:cNvPr id="573" name="Shape 573"/>
            <p:cNvSpPr txBox="1"/>
            <p:nvPr/>
          </p:nvSpPr>
          <p:spPr>
            <a:xfrm>
              <a:off x="553350" y="3038025"/>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dirty="0">
                  <a:solidFill>
                    <a:schemeClr val="lt1"/>
                  </a:solidFill>
                  <a:latin typeface="Roboto Slab"/>
                  <a:ea typeface="Roboto Slab"/>
                  <a:cs typeface="Roboto Slab"/>
                  <a:sym typeface="Roboto Slab"/>
                </a:rPr>
                <a:t>Pronostici</a:t>
              </a:r>
            </a:p>
          </p:txBody>
        </p:sp>
      </p:grpSp>
      <p:grpSp>
        <p:nvGrpSpPr>
          <p:cNvPr id="574" name="Shape 574"/>
          <p:cNvGrpSpPr/>
          <p:nvPr/>
        </p:nvGrpSpPr>
        <p:grpSpPr>
          <a:xfrm>
            <a:off x="553295" y="3705014"/>
            <a:ext cx="877861" cy="966617"/>
            <a:chOff x="553295" y="3705014"/>
            <a:chExt cx="877861" cy="966617"/>
          </a:xfrm>
        </p:grpSpPr>
        <p:grpSp>
          <p:nvGrpSpPr>
            <p:cNvPr id="575" name="Shape 575"/>
            <p:cNvGrpSpPr/>
            <p:nvPr/>
          </p:nvGrpSpPr>
          <p:grpSpPr>
            <a:xfrm>
              <a:off x="553356" y="3705014"/>
              <a:ext cx="877800" cy="966617"/>
              <a:chOff x="1155414" y="1472354"/>
              <a:chExt cx="877800" cy="966617"/>
            </a:xfrm>
          </p:grpSpPr>
          <p:sp>
            <p:nvSpPr>
              <p:cNvPr id="576" name="Shape 576"/>
              <p:cNvSpPr/>
              <p:nvPr/>
            </p:nvSpPr>
            <p:spPr>
              <a:xfrm>
                <a:off x="1155414" y="1561171"/>
                <a:ext cx="877800" cy="877800"/>
              </a:xfrm>
              <a:prstGeom prst="roundRect">
                <a:avLst>
                  <a:gd name="adj" fmla="val 16667"/>
                </a:avLst>
              </a:prstGeom>
              <a:solidFill>
                <a:srgbClr val="A8D5D7"/>
              </a:solidFill>
              <a:ln>
                <a:noFill/>
              </a:ln>
            </p:spPr>
            <p:txBody>
              <a:bodyPr lIns="91425" tIns="91425" rIns="91425" bIns="91425" anchor="ctr" anchorCtr="0">
                <a:noAutofit/>
              </a:bodyPr>
              <a:lstStyle/>
              <a:p>
                <a:pPr>
                  <a:spcBef>
                    <a:spcPts val="0"/>
                  </a:spcBef>
                  <a:buNone/>
                </a:pPr>
                <a:endParaRPr/>
              </a:p>
            </p:txBody>
          </p:sp>
          <p:sp>
            <p:nvSpPr>
              <p:cNvPr id="577" name="Shape 577"/>
              <p:cNvSpPr/>
              <p:nvPr/>
            </p:nvSpPr>
            <p:spPr>
              <a:xfrm>
                <a:off x="1155414" y="1472354"/>
                <a:ext cx="877800" cy="877800"/>
              </a:xfrm>
              <a:prstGeom prst="roundRect">
                <a:avLst>
                  <a:gd name="adj" fmla="val 16667"/>
                </a:avLst>
              </a:prstGeom>
              <a:solidFill>
                <a:srgbClr val="7E9FA2"/>
              </a:solidFill>
              <a:ln>
                <a:noFill/>
              </a:ln>
            </p:spPr>
            <p:txBody>
              <a:bodyPr lIns="91425" tIns="91425" rIns="91425" bIns="91425" anchor="ctr" anchorCtr="0">
                <a:noAutofit/>
              </a:bodyPr>
              <a:lstStyle/>
              <a:p>
                <a:pPr>
                  <a:spcBef>
                    <a:spcPts val="0"/>
                  </a:spcBef>
                  <a:buNone/>
                </a:pPr>
                <a:endParaRPr/>
              </a:p>
            </p:txBody>
          </p:sp>
        </p:grpSp>
        <p:pic>
          <p:nvPicPr>
            <p:cNvPr id="578" name="Shape 578"/>
            <p:cNvPicPr preferRelativeResize="0"/>
            <p:nvPr/>
          </p:nvPicPr>
          <p:blipFill>
            <a:blip r:embed="rId6">
              <a:alphaModFix/>
            </a:blip>
            <a:stretch>
              <a:fillRect/>
            </a:stretch>
          </p:blipFill>
          <p:spPr>
            <a:xfrm>
              <a:off x="739790" y="3705037"/>
              <a:ext cx="520261" cy="543582"/>
            </a:xfrm>
            <a:prstGeom prst="rect">
              <a:avLst/>
            </a:prstGeom>
            <a:noFill/>
            <a:ln>
              <a:noFill/>
            </a:ln>
          </p:spPr>
        </p:pic>
        <p:sp>
          <p:nvSpPr>
            <p:cNvPr id="579" name="Shape 579"/>
            <p:cNvSpPr txBox="1"/>
            <p:nvPr/>
          </p:nvSpPr>
          <p:spPr>
            <a:xfrm>
              <a:off x="553295" y="4127925"/>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dirty="0">
                  <a:solidFill>
                    <a:schemeClr val="lt1"/>
                  </a:solidFill>
                  <a:latin typeface="Roboto Slab"/>
                  <a:ea typeface="Roboto Slab"/>
                  <a:cs typeface="Roboto Slab"/>
                  <a:sym typeface="Roboto Slab"/>
                </a:rPr>
                <a:t>Gruppi</a:t>
              </a:r>
            </a:p>
          </p:txBody>
        </p:sp>
      </p:grpSp>
      <p:grpSp>
        <p:nvGrpSpPr>
          <p:cNvPr id="580" name="Shape 580"/>
          <p:cNvGrpSpPr/>
          <p:nvPr/>
        </p:nvGrpSpPr>
        <p:grpSpPr>
          <a:xfrm>
            <a:off x="3769059" y="1373314"/>
            <a:ext cx="877840" cy="966617"/>
            <a:chOff x="3769059" y="1373314"/>
            <a:chExt cx="877840" cy="966617"/>
          </a:xfrm>
        </p:grpSpPr>
        <p:grpSp>
          <p:nvGrpSpPr>
            <p:cNvPr id="581" name="Shape 581"/>
            <p:cNvGrpSpPr/>
            <p:nvPr/>
          </p:nvGrpSpPr>
          <p:grpSpPr>
            <a:xfrm>
              <a:off x="3769059" y="1373314"/>
              <a:ext cx="877800" cy="966617"/>
              <a:chOff x="1155414" y="1472354"/>
              <a:chExt cx="877800" cy="966617"/>
            </a:xfrm>
          </p:grpSpPr>
          <p:sp>
            <p:nvSpPr>
              <p:cNvPr id="582" name="Shape 582"/>
              <p:cNvSpPr/>
              <p:nvPr/>
            </p:nvSpPr>
            <p:spPr>
              <a:xfrm>
                <a:off x="1155414" y="1561171"/>
                <a:ext cx="877800" cy="877800"/>
              </a:xfrm>
              <a:prstGeom prst="roundRect">
                <a:avLst>
                  <a:gd name="adj" fmla="val 16667"/>
                </a:avLst>
              </a:prstGeom>
              <a:solidFill>
                <a:srgbClr val="A8D5D7"/>
              </a:solidFill>
              <a:ln>
                <a:noFill/>
              </a:ln>
            </p:spPr>
            <p:txBody>
              <a:bodyPr lIns="91425" tIns="91425" rIns="91425" bIns="91425" anchor="ctr" anchorCtr="0">
                <a:noAutofit/>
              </a:bodyPr>
              <a:lstStyle/>
              <a:p>
                <a:pPr>
                  <a:spcBef>
                    <a:spcPts val="0"/>
                  </a:spcBef>
                  <a:buNone/>
                </a:pPr>
                <a:endParaRPr/>
              </a:p>
            </p:txBody>
          </p:sp>
          <p:sp>
            <p:nvSpPr>
              <p:cNvPr id="583" name="Shape 583"/>
              <p:cNvSpPr/>
              <p:nvPr/>
            </p:nvSpPr>
            <p:spPr>
              <a:xfrm>
                <a:off x="1155414" y="1472354"/>
                <a:ext cx="877800" cy="877800"/>
              </a:xfrm>
              <a:prstGeom prst="roundRect">
                <a:avLst>
                  <a:gd name="adj" fmla="val 16667"/>
                </a:avLst>
              </a:prstGeom>
              <a:solidFill>
                <a:srgbClr val="7E9FA2"/>
              </a:solidFill>
              <a:ln>
                <a:noFill/>
              </a:ln>
            </p:spPr>
            <p:txBody>
              <a:bodyPr lIns="91425" tIns="91425" rIns="91425" bIns="91425" anchor="ctr" anchorCtr="0">
                <a:noAutofit/>
              </a:bodyPr>
              <a:lstStyle/>
              <a:p>
                <a:pPr>
                  <a:spcBef>
                    <a:spcPts val="0"/>
                  </a:spcBef>
                  <a:buNone/>
                </a:pPr>
                <a:endParaRPr/>
              </a:p>
            </p:txBody>
          </p:sp>
        </p:grpSp>
        <p:pic>
          <p:nvPicPr>
            <p:cNvPr id="584" name="Shape 584"/>
            <p:cNvPicPr preferRelativeResize="0"/>
            <p:nvPr/>
          </p:nvPicPr>
          <p:blipFill>
            <a:blip r:embed="rId7">
              <a:alphaModFix/>
            </a:blip>
            <a:stretch>
              <a:fillRect/>
            </a:stretch>
          </p:blipFill>
          <p:spPr>
            <a:xfrm>
              <a:off x="3947775" y="1452787"/>
              <a:ext cx="520261" cy="543582"/>
            </a:xfrm>
            <a:prstGeom prst="rect">
              <a:avLst/>
            </a:prstGeom>
            <a:noFill/>
            <a:ln>
              <a:noFill/>
            </a:ln>
          </p:spPr>
        </p:pic>
        <p:sp>
          <p:nvSpPr>
            <p:cNvPr id="585" name="Shape 585"/>
            <p:cNvSpPr txBox="1"/>
            <p:nvPr/>
          </p:nvSpPr>
          <p:spPr>
            <a:xfrm>
              <a:off x="3769100" y="1839657"/>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dirty="0">
                  <a:solidFill>
                    <a:schemeClr val="lt1"/>
                  </a:solidFill>
                  <a:latin typeface="Roboto Slab"/>
                  <a:ea typeface="Roboto Slab"/>
                  <a:cs typeface="Roboto Slab"/>
                  <a:sym typeface="Roboto Slab"/>
                </a:rPr>
                <a:t>Iscrizione</a:t>
              </a:r>
            </a:p>
          </p:txBody>
        </p:sp>
      </p:grpSp>
      <p:grpSp>
        <p:nvGrpSpPr>
          <p:cNvPr id="586" name="Shape 586"/>
          <p:cNvGrpSpPr/>
          <p:nvPr/>
        </p:nvGrpSpPr>
        <p:grpSpPr>
          <a:xfrm>
            <a:off x="3761400" y="2539164"/>
            <a:ext cx="885337" cy="966495"/>
            <a:chOff x="3761400" y="2539164"/>
            <a:chExt cx="885337" cy="966495"/>
          </a:xfrm>
        </p:grpSpPr>
        <p:grpSp>
          <p:nvGrpSpPr>
            <p:cNvPr id="587" name="Shape 587"/>
            <p:cNvGrpSpPr/>
            <p:nvPr/>
          </p:nvGrpSpPr>
          <p:grpSpPr>
            <a:xfrm>
              <a:off x="3769059" y="2539164"/>
              <a:ext cx="877678" cy="966495"/>
              <a:chOff x="1649600" y="1217575"/>
              <a:chExt cx="995099" cy="1095799"/>
            </a:xfrm>
          </p:grpSpPr>
          <p:sp>
            <p:nvSpPr>
              <p:cNvPr id="588" name="Shape 588"/>
              <p:cNvSpPr/>
              <p:nvPr/>
            </p:nvSpPr>
            <p:spPr>
              <a:xfrm>
                <a:off x="1649600" y="1318275"/>
                <a:ext cx="995099" cy="995099"/>
              </a:xfrm>
              <a:prstGeom prst="roundRect">
                <a:avLst>
                  <a:gd name="adj" fmla="val 16667"/>
                </a:avLst>
              </a:prstGeom>
              <a:solidFill>
                <a:srgbClr val="89AEB0"/>
              </a:solidFill>
              <a:ln>
                <a:noFill/>
              </a:ln>
            </p:spPr>
            <p:txBody>
              <a:bodyPr lIns="91425" tIns="91425" rIns="91425" bIns="91425" anchor="ctr" anchorCtr="0">
                <a:noAutofit/>
              </a:bodyPr>
              <a:lstStyle/>
              <a:p>
                <a:pPr>
                  <a:spcBef>
                    <a:spcPts val="0"/>
                  </a:spcBef>
                  <a:buNone/>
                </a:pPr>
                <a:endParaRPr/>
              </a:p>
            </p:txBody>
          </p:sp>
          <p:sp>
            <p:nvSpPr>
              <p:cNvPr id="589" name="Shape 589"/>
              <p:cNvSpPr/>
              <p:nvPr/>
            </p:nvSpPr>
            <p:spPr>
              <a:xfrm>
                <a:off x="1649600" y="1217575"/>
                <a:ext cx="995099" cy="995099"/>
              </a:xfrm>
              <a:prstGeom prst="roundRect">
                <a:avLst>
                  <a:gd name="adj" fmla="val 16667"/>
                </a:avLst>
              </a:prstGeom>
              <a:solidFill>
                <a:srgbClr val="A8D5D7"/>
              </a:solidFill>
              <a:ln>
                <a:noFill/>
              </a:ln>
            </p:spPr>
            <p:txBody>
              <a:bodyPr lIns="91425" tIns="91425" rIns="91425" bIns="91425" anchor="ctr" anchorCtr="0">
                <a:noAutofit/>
              </a:bodyPr>
              <a:lstStyle/>
              <a:p>
                <a:pPr>
                  <a:spcBef>
                    <a:spcPts val="0"/>
                  </a:spcBef>
                  <a:buNone/>
                </a:pPr>
                <a:endParaRPr/>
              </a:p>
            </p:txBody>
          </p:sp>
        </p:grpSp>
        <p:pic>
          <p:nvPicPr>
            <p:cNvPr id="590" name="Shape 590"/>
            <p:cNvPicPr preferRelativeResize="0"/>
            <p:nvPr/>
          </p:nvPicPr>
          <p:blipFill>
            <a:blip r:embed="rId8">
              <a:alphaModFix/>
            </a:blip>
            <a:stretch>
              <a:fillRect/>
            </a:stretch>
          </p:blipFill>
          <p:spPr>
            <a:xfrm>
              <a:off x="3947769" y="2597952"/>
              <a:ext cx="520261" cy="543582"/>
            </a:xfrm>
            <a:prstGeom prst="rect">
              <a:avLst/>
            </a:prstGeom>
            <a:noFill/>
            <a:ln>
              <a:noFill/>
            </a:ln>
          </p:spPr>
        </p:pic>
        <p:sp>
          <p:nvSpPr>
            <p:cNvPr id="591" name="Shape 591"/>
            <p:cNvSpPr txBox="1"/>
            <p:nvPr/>
          </p:nvSpPr>
          <p:spPr>
            <a:xfrm>
              <a:off x="3761400" y="3045632"/>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dirty="0">
                  <a:solidFill>
                    <a:schemeClr val="lt1"/>
                  </a:solidFill>
                  <a:latin typeface="Roboto Slab"/>
                  <a:ea typeface="Roboto Slab"/>
                  <a:cs typeface="Roboto Slab"/>
                  <a:sym typeface="Roboto Slab"/>
                </a:rPr>
                <a:t>Sfide</a:t>
              </a:r>
            </a:p>
          </p:txBody>
        </p:sp>
      </p:grpSp>
      <p:grpSp>
        <p:nvGrpSpPr>
          <p:cNvPr id="592" name="Shape 592"/>
          <p:cNvGrpSpPr/>
          <p:nvPr/>
        </p:nvGrpSpPr>
        <p:grpSpPr>
          <a:xfrm>
            <a:off x="3761344" y="3705014"/>
            <a:ext cx="885451" cy="966617"/>
            <a:chOff x="3761344" y="3705014"/>
            <a:chExt cx="885451" cy="966617"/>
          </a:xfrm>
        </p:grpSpPr>
        <p:grpSp>
          <p:nvGrpSpPr>
            <p:cNvPr id="593" name="Shape 593"/>
            <p:cNvGrpSpPr/>
            <p:nvPr/>
          </p:nvGrpSpPr>
          <p:grpSpPr>
            <a:xfrm>
              <a:off x="3768996" y="3705014"/>
              <a:ext cx="877800" cy="966617"/>
              <a:chOff x="1155414" y="1472354"/>
              <a:chExt cx="877800" cy="966617"/>
            </a:xfrm>
          </p:grpSpPr>
          <p:sp>
            <p:nvSpPr>
              <p:cNvPr id="594" name="Shape 594"/>
              <p:cNvSpPr/>
              <p:nvPr/>
            </p:nvSpPr>
            <p:spPr>
              <a:xfrm>
                <a:off x="1155414" y="1561171"/>
                <a:ext cx="877800" cy="877800"/>
              </a:xfrm>
              <a:prstGeom prst="roundRect">
                <a:avLst>
                  <a:gd name="adj" fmla="val 16667"/>
                </a:avLst>
              </a:prstGeom>
              <a:solidFill>
                <a:srgbClr val="A8D5D7"/>
              </a:solidFill>
              <a:ln>
                <a:noFill/>
              </a:ln>
            </p:spPr>
            <p:txBody>
              <a:bodyPr lIns="91425" tIns="91425" rIns="91425" bIns="91425" anchor="ctr" anchorCtr="0">
                <a:noAutofit/>
              </a:bodyPr>
              <a:lstStyle/>
              <a:p>
                <a:pPr>
                  <a:spcBef>
                    <a:spcPts val="0"/>
                  </a:spcBef>
                  <a:buNone/>
                </a:pPr>
                <a:endParaRPr/>
              </a:p>
            </p:txBody>
          </p:sp>
          <p:sp>
            <p:nvSpPr>
              <p:cNvPr id="595" name="Shape 595"/>
              <p:cNvSpPr/>
              <p:nvPr/>
            </p:nvSpPr>
            <p:spPr>
              <a:xfrm>
                <a:off x="1155414" y="1472354"/>
                <a:ext cx="877800" cy="877800"/>
              </a:xfrm>
              <a:prstGeom prst="roundRect">
                <a:avLst>
                  <a:gd name="adj" fmla="val 16667"/>
                </a:avLst>
              </a:prstGeom>
              <a:solidFill>
                <a:srgbClr val="7E9FA2"/>
              </a:solidFill>
              <a:ln>
                <a:noFill/>
              </a:ln>
            </p:spPr>
            <p:txBody>
              <a:bodyPr lIns="91425" tIns="91425" rIns="91425" bIns="91425" anchor="ctr" anchorCtr="0">
                <a:noAutofit/>
              </a:bodyPr>
              <a:lstStyle/>
              <a:p>
                <a:pPr>
                  <a:spcBef>
                    <a:spcPts val="0"/>
                  </a:spcBef>
                  <a:buNone/>
                </a:pPr>
                <a:endParaRPr/>
              </a:p>
            </p:txBody>
          </p:sp>
        </p:grpSp>
        <p:pic>
          <p:nvPicPr>
            <p:cNvPr id="596" name="Shape 596"/>
            <p:cNvPicPr preferRelativeResize="0"/>
            <p:nvPr/>
          </p:nvPicPr>
          <p:blipFill>
            <a:blip r:embed="rId9">
              <a:alphaModFix/>
            </a:blip>
            <a:stretch>
              <a:fillRect/>
            </a:stretch>
          </p:blipFill>
          <p:spPr>
            <a:xfrm>
              <a:off x="3979350" y="3786325"/>
              <a:ext cx="457199" cy="457199"/>
            </a:xfrm>
            <a:prstGeom prst="rect">
              <a:avLst/>
            </a:prstGeom>
            <a:noFill/>
            <a:ln>
              <a:noFill/>
            </a:ln>
          </p:spPr>
        </p:pic>
        <p:sp>
          <p:nvSpPr>
            <p:cNvPr id="597" name="Shape 597"/>
            <p:cNvSpPr txBox="1"/>
            <p:nvPr/>
          </p:nvSpPr>
          <p:spPr>
            <a:xfrm>
              <a:off x="3761344" y="4150772"/>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dirty="0">
                  <a:solidFill>
                    <a:schemeClr val="lt1"/>
                  </a:solidFill>
                  <a:latin typeface="Roboto Slab"/>
                  <a:ea typeface="Roboto Slab"/>
                  <a:cs typeface="Roboto Slab"/>
                  <a:sym typeface="Roboto Slab"/>
                </a:rPr>
                <a:t>Premi</a:t>
              </a:r>
            </a:p>
          </p:txBody>
        </p:sp>
      </p:grpSp>
      <p:grpSp>
        <p:nvGrpSpPr>
          <p:cNvPr id="598" name="Shape 598"/>
          <p:cNvGrpSpPr/>
          <p:nvPr/>
        </p:nvGrpSpPr>
        <p:grpSpPr>
          <a:xfrm>
            <a:off x="1460850" y="2043209"/>
            <a:ext cx="2308250" cy="1958400"/>
            <a:chOff x="1460850" y="2043209"/>
            <a:chExt cx="2308250" cy="1958400"/>
          </a:xfrm>
        </p:grpSpPr>
        <p:sp>
          <p:nvSpPr>
            <p:cNvPr id="599" name="Shape 599"/>
            <p:cNvSpPr/>
            <p:nvPr/>
          </p:nvSpPr>
          <p:spPr>
            <a:xfrm>
              <a:off x="1620904" y="2043209"/>
              <a:ext cx="1958400" cy="1958400"/>
            </a:xfrm>
            <a:prstGeom prst="ellipse">
              <a:avLst/>
            </a:prstGeom>
            <a:solidFill>
              <a:schemeClr val="lt1"/>
            </a:solidFill>
            <a:ln w="28575" cap="flat" cmpd="sng">
              <a:solidFill>
                <a:srgbClr val="D9D9D9"/>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01" name="Shape 601"/>
            <p:cNvSpPr txBox="1"/>
            <p:nvPr/>
          </p:nvSpPr>
          <p:spPr>
            <a:xfrm>
              <a:off x="1490600" y="2402650"/>
              <a:ext cx="2278500" cy="228600"/>
            </a:xfrm>
            <a:prstGeom prst="rect">
              <a:avLst/>
            </a:prstGeom>
            <a:noFill/>
            <a:ln>
              <a:noFill/>
            </a:ln>
          </p:spPr>
          <p:txBody>
            <a:bodyPr lIns="91425" tIns="91425" rIns="91425" bIns="91425" anchor="t" anchorCtr="0">
              <a:noAutofit/>
            </a:bodyPr>
            <a:lstStyle/>
            <a:p>
              <a:pPr algn="ctr">
                <a:spcBef>
                  <a:spcPts val="0"/>
                </a:spcBef>
                <a:buNone/>
              </a:pPr>
              <a:r>
                <a:rPr lang="en" sz="1200" dirty="0">
                  <a:solidFill>
                    <a:srgbClr val="7E9FA2"/>
                  </a:solidFill>
                  <a:latin typeface="Roboto Slab"/>
                  <a:ea typeface="Roboto Slab"/>
                  <a:cs typeface="Roboto Slab"/>
                  <a:sym typeface="Roboto Slab"/>
                </a:rPr>
                <a:t>…</a:t>
              </a:r>
            </a:p>
          </p:txBody>
        </p:sp>
        <p:sp>
          <p:nvSpPr>
            <p:cNvPr id="602" name="Shape 602"/>
            <p:cNvSpPr txBox="1"/>
            <p:nvPr/>
          </p:nvSpPr>
          <p:spPr>
            <a:xfrm>
              <a:off x="1460850" y="3295475"/>
              <a:ext cx="2278500" cy="228600"/>
            </a:xfrm>
            <a:prstGeom prst="rect">
              <a:avLst/>
            </a:prstGeom>
            <a:noFill/>
            <a:ln>
              <a:noFill/>
            </a:ln>
          </p:spPr>
          <p:txBody>
            <a:bodyPr lIns="91425" tIns="91425" rIns="91425" bIns="91425" anchor="t" anchorCtr="0">
              <a:noAutofit/>
            </a:bodyPr>
            <a:lstStyle/>
            <a:p>
              <a:pPr lvl="0" algn="ctr" rtl="0">
                <a:spcBef>
                  <a:spcPts val="0"/>
                </a:spcBef>
                <a:buClr>
                  <a:schemeClr val="dk1"/>
                </a:buClr>
                <a:buSzPct val="110000"/>
                <a:buFont typeface="Arial"/>
                <a:buNone/>
              </a:pPr>
              <a:r>
                <a:rPr lang="en" sz="1000" dirty="0">
                  <a:solidFill>
                    <a:srgbClr val="7E9FA2"/>
                  </a:solidFill>
                  <a:latin typeface="Roboto"/>
                  <a:ea typeface="Roboto"/>
                  <a:cs typeface="Roboto"/>
                  <a:sym typeface="Roboto"/>
                </a:rPr>
                <a:t>…</a:t>
              </a:r>
            </a:p>
          </p:txBody>
        </p:sp>
      </p:grpSp>
      <p:sp>
        <p:nvSpPr>
          <p:cNvPr id="603" name="Shape 603"/>
          <p:cNvSpPr txBox="1"/>
          <p:nvPr/>
        </p:nvSpPr>
        <p:spPr>
          <a:xfrm>
            <a:off x="5157873" y="1411425"/>
            <a:ext cx="3468000" cy="365399"/>
          </a:xfrm>
          <a:prstGeom prst="rect">
            <a:avLst/>
          </a:prstGeom>
          <a:noFill/>
          <a:ln>
            <a:noFill/>
          </a:ln>
        </p:spPr>
        <p:txBody>
          <a:bodyPr lIns="91425" tIns="91425" rIns="91425" bIns="91425" anchor="t" anchorCtr="0">
            <a:noAutofit/>
          </a:bodyPr>
          <a:lstStyle/>
          <a:p>
            <a:pPr lvl="0" rtl="0">
              <a:lnSpc>
                <a:spcPct val="115000"/>
              </a:lnSpc>
              <a:spcBef>
                <a:spcPts val="0"/>
              </a:spcBef>
              <a:buClr>
                <a:schemeClr val="dk1"/>
              </a:buClr>
              <a:buSzPct val="61111"/>
              <a:buFont typeface="Arial"/>
              <a:buNone/>
            </a:pPr>
            <a:r>
              <a:rPr lang="en" sz="1800" dirty="0">
                <a:solidFill>
                  <a:srgbClr val="708E90"/>
                </a:solidFill>
                <a:latin typeface="Roboto Slab"/>
                <a:ea typeface="Roboto Slab"/>
                <a:cs typeface="Roboto Slab"/>
                <a:sym typeface="Roboto Slab"/>
              </a:rPr>
              <a:t>Le Categorie di Bet4Fun</a:t>
            </a:r>
          </a:p>
          <a:p>
            <a:pPr lvl="0" rtl="0">
              <a:lnSpc>
                <a:spcPct val="115000"/>
              </a:lnSpc>
              <a:spcBef>
                <a:spcPts val="0"/>
              </a:spcBef>
              <a:buNone/>
            </a:pPr>
            <a:endParaRPr sz="1800" dirty="0">
              <a:solidFill>
                <a:schemeClr val="lt1"/>
              </a:solidFill>
              <a:latin typeface="Roboto Slab"/>
              <a:ea typeface="Roboto Slab"/>
              <a:cs typeface="Roboto Slab"/>
              <a:sym typeface="Roboto Slab"/>
            </a:endParaRPr>
          </a:p>
          <a:p>
            <a:pPr lvl="0" rtl="0">
              <a:spcBef>
                <a:spcPts val="0"/>
              </a:spcBef>
              <a:buNone/>
            </a:pPr>
            <a:endParaRPr sz="1800" dirty="0"/>
          </a:p>
        </p:txBody>
      </p:sp>
      <p:sp>
        <p:nvSpPr>
          <p:cNvPr id="604" name="Shape 604"/>
          <p:cNvSpPr txBox="1"/>
          <p:nvPr/>
        </p:nvSpPr>
        <p:spPr>
          <a:xfrm>
            <a:off x="5165494" y="1801537"/>
            <a:ext cx="3557025" cy="536100"/>
          </a:xfrm>
          <a:prstGeom prst="rect">
            <a:avLst/>
          </a:prstGeom>
          <a:noFill/>
          <a:ln>
            <a:noFill/>
          </a:ln>
        </p:spPr>
        <p:txBody>
          <a:bodyPr lIns="91425" tIns="91425" rIns="91425" bIns="91425" anchor="t" anchorCtr="0">
            <a:noAutofit/>
          </a:bodyPr>
          <a:lstStyle/>
          <a:p>
            <a:pPr lvl="0" rtl="0">
              <a:spcBef>
                <a:spcPts val="0"/>
              </a:spcBef>
              <a:buNone/>
            </a:pPr>
            <a:r>
              <a:rPr lang="en" i="1" dirty="0">
                <a:solidFill>
                  <a:schemeClr val="dk2"/>
                </a:solidFill>
                <a:latin typeface="Roboto"/>
                <a:ea typeface="Roboto"/>
                <a:cs typeface="Roboto"/>
                <a:sym typeface="Roboto"/>
              </a:rPr>
              <a:t>La struttura del sito: dal concorso ai premi</a:t>
            </a:r>
          </a:p>
          <a:p>
            <a:pPr lvl="0" rtl="0">
              <a:spcBef>
                <a:spcPts val="0"/>
              </a:spcBef>
              <a:buNone/>
            </a:pPr>
            <a:endParaRPr sz="1200" i="1" dirty="0">
              <a:solidFill>
                <a:schemeClr val="dk2"/>
              </a:solidFill>
              <a:latin typeface="Roboto"/>
              <a:ea typeface="Roboto"/>
              <a:cs typeface="Roboto"/>
              <a:sym typeface="Roboto"/>
            </a:endParaRPr>
          </a:p>
          <a:p>
            <a:pPr lvl="0" rtl="0">
              <a:spcBef>
                <a:spcPts val="0"/>
              </a:spcBef>
              <a:buNone/>
            </a:pPr>
            <a:endParaRPr sz="900" b="1" dirty="0">
              <a:solidFill>
                <a:schemeClr val="dk2"/>
              </a:solidFill>
              <a:latin typeface="Roboto"/>
              <a:ea typeface="Roboto"/>
              <a:cs typeface="Roboto"/>
              <a:sym typeface="Roboto"/>
            </a:endParaRPr>
          </a:p>
        </p:txBody>
      </p:sp>
      <p:sp>
        <p:nvSpPr>
          <p:cNvPr id="605" name="Shape 605"/>
          <p:cNvSpPr txBox="1"/>
          <p:nvPr/>
        </p:nvSpPr>
        <p:spPr>
          <a:xfrm>
            <a:off x="5166355" y="2270765"/>
            <a:ext cx="3337499" cy="2407800"/>
          </a:xfrm>
          <a:prstGeom prst="rect">
            <a:avLst/>
          </a:prstGeom>
          <a:noFill/>
          <a:ln>
            <a:noFill/>
          </a:ln>
        </p:spPr>
        <p:txBody>
          <a:bodyPr lIns="91425" tIns="91425" rIns="91425" bIns="91425" anchor="t" anchorCtr="0">
            <a:noAutofit/>
          </a:bodyPr>
          <a:lstStyle/>
          <a:p>
            <a:pPr lvl="0" rtl="0">
              <a:spcBef>
                <a:spcPts val="0"/>
              </a:spcBef>
              <a:buClr>
                <a:schemeClr val="dk1"/>
              </a:buClr>
              <a:buSzPct val="110000"/>
              <a:buFont typeface="Arial"/>
              <a:buNone/>
            </a:pPr>
            <a:r>
              <a:rPr lang="en" sz="1000" dirty="0">
                <a:solidFill>
                  <a:srgbClr val="999999"/>
                </a:solidFill>
                <a:latin typeface="Roboto"/>
                <a:ea typeface="Roboto"/>
                <a:cs typeface="Roboto"/>
                <a:sym typeface="Roboto"/>
              </a:rPr>
              <a:t>L’idea è quella di creare poche sezioni ma chiare in maniera tale da rendere l’user experience più efficace ed essenziale possibile.</a:t>
            </a:r>
            <a:endParaRPr sz="1000" dirty="0">
              <a:solidFill>
                <a:srgbClr val="B7B7B7"/>
              </a:solidFill>
              <a:latin typeface="Roboto"/>
              <a:ea typeface="Roboto"/>
              <a:cs typeface="Roboto"/>
              <a:sym typeface="Roboto"/>
            </a:endParaRPr>
          </a:p>
        </p:txBody>
      </p:sp>
      <p:pic>
        <p:nvPicPr>
          <p:cNvPr id="60" name="Immagine 59">
            <a:extLst>
              <a:ext uri="{FF2B5EF4-FFF2-40B4-BE49-F238E27FC236}">
                <a16:creationId xmlns:a16="http://schemas.microsoft.com/office/drawing/2014/main" id="{32EC82F3-6DB4-4A17-BF8A-67CDB9B8C0A0}"/>
              </a:ext>
            </a:extLst>
          </p:cNvPr>
          <p:cNvPicPr>
            <a:picLocks noChangeAspect="1"/>
          </p:cNvPicPr>
          <p:nvPr/>
        </p:nvPicPr>
        <p:blipFill rotWithShape="1">
          <a:blip r:embed="rId10"/>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 name="Immagine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92293" y="2919841"/>
            <a:ext cx="1608031" cy="241147"/>
          </a:xfrm>
          <a:prstGeom prst="rect">
            <a:avLst/>
          </a:prstGeom>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62"/>
                                        </p:tgtEl>
                                        <p:attrNameLst>
                                          <p:attrName>style.visibility</p:attrName>
                                        </p:attrNameLst>
                                      </p:cBhvr>
                                      <p:to>
                                        <p:strVal val="visible"/>
                                      </p:to>
                                    </p:set>
                                    <p:anim calcmode="lin" valueType="num">
                                      <p:cBhvr additive="base">
                                        <p:cTn id="7" dur="500"/>
                                        <p:tgtEl>
                                          <p:spTgt spid="562"/>
                                        </p:tgtEl>
                                        <p:attrNameLst>
                                          <p:attrName>ppt_w</p:attrName>
                                        </p:attrNameLst>
                                      </p:cBhvr>
                                      <p:tavLst>
                                        <p:tav tm="0">
                                          <p:val>
                                            <p:strVal val="0"/>
                                          </p:val>
                                        </p:tav>
                                        <p:tav tm="100000">
                                          <p:val>
                                            <p:strVal val="#ppt_w"/>
                                          </p:val>
                                        </p:tav>
                                      </p:tavLst>
                                    </p:anim>
                                    <p:anim calcmode="lin" valueType="num">
                                      <p:cBhvr additive="base">
                                        <p:cTn id="8" dur="500"/>
                                        <p:tgtEl>
                                          <p:spTgt spid="562"/>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580"/>
                                        </p:tgtEl>
                                        <p:attrNameLst>
                                          <p:attrName>style.visibility</p:attrName>
                                        </p:attrNameLst>
                                      </p:cBhvr>
                                      <p:to>
                                        <p:strVal val="visible"/>
                                      </p:to>
                                    </p:set>
                                    <p:anim calcmode="lin" valueType="num">
                                      <p:cBhvr additive="base">
                                        <p:cTn id="12" dur="500"/>
                                        <p:tgtEl>
                                          <p:spTgt spid="580"/>
                                        </p:tgtEl>
                                        <p:attrNameLst>
                                          <p:attrName>ppt_w</p:attrName>
                                        </p:attrNameLst>
                                      </p:cBhvr>
                                      <p:tavLst>
                                        <p:tav tm="0">
                                          <p:val>
                                            <p:strVal val="0"/>
                                          </p:val>
                                        </p:tav>
                                        <p:tav tm="100000">
                                          <p:val>
                                            <p:strVal val="#ppt_w"/>
                                          </p:val>
                                        </p:tav>
                                      </p:tavLst>
                                    </p:anim>
                                    <p:anim calcmode="lin" valueType="num">
                                      <p:cBhvr additive="base">
                                        <p:cTn id="13" dur="500"/>
                                        <p:tgtEl>
                                          <p:spTgt spid="580"/>
                                        </p:tgtEl>
                                        <p:attrNameLst>
                                          <p:attrName>ppt_h</p:attrName>
                                        </p:attrNameLst>
                                      </p:cBhvr>
                                      <p:tavLst>
                                        <p:tav tm="0">
                                          <p:val>
                                            <p:strVal val="0"/>
                                          </p:val>
                                        </p:tav>
                                        <p:tav tm="100000">
                                          <p:val>
                                            <p:strVal val="#ppt_h"/>
                                          </p:val>
                                        </p:tav>
                                      </p:tavLst>
                                    </p:anim>
                                  </p:childTnLst>
                                </p:cTn>
                              </p:par>
                            </p:childTnLst>
                          </p:cTn>
                        </p:par>
                        <p:par>
                          <p:cTn id="14" fill="hold">
                            <p:stCondLst>
                              <p:cond delay="1000"/>
                            </p:stCondLst>
                            <p:childTnLst>
                              <p:par>
                                <p:cTn id="15" presetID="23" presetClass="entr" presetSubtype="16" fill="hold" nodeType="afterEffect">
                                  <p:stCondLst>
                                    <p:cond delay="0"/>
                                  </p:stCondLst>
                                  <p:childTnLst>
                                    <p:set>
                                      <p:cBhvr>
                                        <p:cTn id="16" dur="1" fill="hold">
                                          <p:stCondLst>
                                            <p:cond delay="0"/>
                                          </p:stCondLst>
                                        </p:cTn>
                                        <p:tgtEl>
                                          <p:spTgt spid="568"/>
                                        </p:tgtEl>
                                        <p:attrNameLst>
                                          <p:attrName>style.visibility</p:attrName>
                                        </p:attrNameLst>
                                      </p:cBhvr>
                                      <p:to>
                                        <p:strVal val="visible"/>
                                      </p:to>
                                    </p:set>
                                    <p:anim calcmode="lin" valueType="num">
                                      <p:cBhvr additive="base">
                                        <p:cTn id="17" dur="500"/>
                                        <p:tgtEl>
                                          <p:spTgt spid="568"/>
                                        </p:tgtEl>
                                        <p:attrNameLst>
                                          <p:attrName>ppt_w</p:attrName>
                                        </p:attrNameLst>
                                      </p:cBhvr>
                                      <p:tavLst>
                                        <p:tav tm="0">
                                          <p:val>
                                            <p:strVal val="0"/>
                                          </p:val>
                                        </p:tav>
                                        <p:tav tm="100000">
                                          <p:val>
                                            <p:strVal val="#ppt_w"/>
                                          </p:val>
                                        </p:tav>
                                      </p:tavLst>
                                    </p:anim>
                                    <p:anim calcmode="lin" valueType="num">
                                      <p:cBhvr additive="base">
                                        <p:cTn id="18" dur="500"/>
                                        <p:tgtEl>
                                          <p:spTgt spid="568"/>
                                        </p:tgtEl>
                                        <p:attrNameLst>
                                          <p:attrName>ppt_h</p:attrName>
                                        </p:attrNameLst>
                                      </p:cBhvr>
                                      <p:tavLst>
                                        <p:tav tm="0">
                                          <p:val>
                                            <p:strVal val="0"/>
                                          </p:val>
                                        </p:tav>
                                        <p:tav tm="100000">
                                          <p:val>
                                            <p:strVal val="#ppt_h"/>
                                          </p:val>
                                        </p:tav>
                                      </p:tavLst>
                                    </p:anim>
                                  </p:childTnLst>
                                </p:cTn>
                              </p:par>
                            </p:childTnLst>
                          </p:cTn>
                        </p:par>
                        <p:par>
                          <p:cTn id="19" fill="hold">
                            <p:stCondLst>
                              <p:cond delay="1500"/>
                            </p:stCondLst>
                            <p:childTnLst>
                              <p:par>
                                <p:cTn id="20" presetID="23" presetClass="entr" presetSubtype="16" fill="hold" nodeType="afterEffect">
                                  <p:stCondLst>
                                    <p:cond delay="0"/>
                                  </p:stCondLst>
                                  <p:childTnLst>
                                    <p:set>
                                      <p:cBhvr>
                                        <p:cTn id="21" dur="1" fill="hold">
                                          <p:stCondLst>
                                            <p:cond delay="0"/>
                                          </p:stCondLst>
                                        </p:cTn>
                                        <p:tgtEl>
                                          <p:spTgt spid="586"/>
                                        </p:tgtEl>
                                        <p:attrNameLst>
                                          <p:attrName>style.visibility</p:attrName>
                                        </p:attrNameLst>
                                      </p:cBhvr>
                                      <p:to>
                                        <p:strVal val="visible"/>
                                      </p:to>
                                    </p:set>
                                    <p:anim calcmode="lin" valueType="num">
                                      <p:cBhvr additive="base">
                                        <p:cTn id="22" dur="500"/>
                                        <p:tgtEl>
                                          <p:spTgt spid="586"/>
                                        </p:tgtEl>
                                        <p:attrNameLst>
                                          <p:attrName>ppt_w</p:attrName>
                                        </p:attrNameLst>
                                      </p:cBhvr>
                                      <p:tavLst>
                                        <p:tav tm="0">
                                          <p:val>
                                            <p:strVal val="0"/>
                                          </p:val>
                                        </p:tav>
                                        <p:tav tm="100000">
                                          <p:val>
                                            <p:strVal val="#ppt_w"/>
                                          </p:val>
                                        </p:tav>
                                      </p:tavLst>
                                    </p:anim>
                                    <p:anim calcmode="lin" valueType="num">
                                      <p:cBhvr additive="base">
                                        <p:cTn id="23" dur="500"/>
                                        <p:tgtEl>
                                          <p:spTgt spid="586"/>
                                        </p:tgtEl>
                                        <p:attrNameLst>
                                          <p:attrName>ppt_h</p:attrName>
                                        </p:attrNameLst>
                                      </p:cBhvr>
                                      <p:tavLst>
                                        <p:tav tm="0">
                                          <p:val>
                                            <p:strVal val="0"/>
                                          </p:val>
                                        </p:tav>
                                        <p:tav tm="100000">
                                          <p:val>
                                            <p:strVal val="#ppt_h"/>
                                          </p:val>
                                        </p:tav>
                                      </p:tavLst>
                                    </p:anim>
                                  </p:childTnLst>
                                </p:cTn>
                              </p:par>
                            </p:childTnLst>
                          </p:cTn>
                        </p:par>
                        <p:par>
                          <p:cTn id="24" fill="hold">
                            <p:stCondLst>
                              <p:cond delay="2000"/>
                            </p:stCondLst>
                            <p:childTnLst>
                              <p:par>
                                <p:cTn id="25" presetID="23" presetClass="entr" presetSubtype="16" fill="hold" nodeType="afterEffect">
                                  <p:stCondLst>
                                    <p:cond delay="0"/>
                                  </p:stCondLst>
                                  <p:childTnLst>
                                    <p:set>
                                      <p:cBhvr>
                                        <p:cTn id="26" dur="1" fill="hold">
                                          <p:stCondLst>
                                            <p:cond delay="0"/>
                                          </p:stCondLst>
                                        </p:cTn>
                                        <p:tgtEl>
                                          <p:spTgt spid="574"/>
                                        </p:tgtEl>
                                        <p:attrNameLst>
                                          <p:attrName>style.visibility</p:attrName>
                                        </p:attrNameLst>
                                      </p:cBhvr>
                                      <p:to>
                                        <p:strVal val="visible"/>
                                      </p:to>
                                    </p:set>
                                    <p:anim calcmode="lin" valueType="num">
                                      <p:cBhvr additive="base">
                                        <p:cTn id="27" dur="500"/>
                                        <p:tgtEl>
                                          <p:spTgt spid="574"/>
                                        </p:tgtEl>
                                        <p:attrNameLst>
                                          <p:attrName>ppt_w</p:attrName>
                                        </p:attrNameLst>
                                      </p:cBhvr>
                                      <p:tavLst>
                                        <p:tav tm="0">
                                          <p:val>
                                            <p:strVal val="0"/>
                                          </p:val>
                                        </p:tav>
                                        <p:tav tm="100000">
                                          <p:val>
                                            <p:strVal val="#ppt_w"/>
                                          </p:val>
                                        </p:tav>
                                      </p:tavLst>
                                    </p:anim>
                                    <p:anim calcmode="lin" valueType="num">
                                      <p:cBhvr additive="base">
                                        <p:cTn id="28" dur="500"/>
                                        <p:tgtEl>
                                          <p:spTgt spid="574"/>
                                        </p:tgtEl>
                                        <p:attrNameLst>
                                          <p:attrName>ppt_h</p:attrName>
                                        </p:attrNameLst>
                                      </p:cBhvr>
                                      <p:tavLst>
                                        <p:tav tm="0">
                                          <p:val>
                                            <p:strVal val="0"/>
                                          </p:val>
                                        </p:tav>
                                        <p:tav tm="100000">
                                          <p:val>
                                            <p:strVal val="#ppt_h"/>
                                          </p:val>
                                        </p:tav>
                                      </p:tavLst>
                                    </p:anim>
                                  </p:childTnLst>
                                </p:cTn>
                              </p:par>
                            </p:childTnLst>
                          </p:cTn>
                        </p:par>
                        <p:par>
                          <p:cTn id="29" fill="hold">
                            <p:stCondLst>
                              <p:cond delay="2500"/>
                            </p:stCondLst>
                            <p:childTnLst>
                              <p:par>
                                <p:cTn id="30" presetID="23" presetClass="entr" presetSubtype="16" fill="hold" nodeType="afterEffect">
                                  <p:stCondLst>
                                    <p:cond delay="0"/>
                                  </p:stCondLst>
                                  <p:childTnLst>
                                    <p:set>
                                      <p:cBhvr>
                                        <p:cTn id="31" dur="1" fill="hold">
                                          <p:stCondLst>
                                            <p:cond delay="0"/>
                                          </p:stCondLst>
                                        </p:cTn>
                                        <p:tgtEl>
                                          <p:spTgt spid="592"/>
                                        </p:tgtEl>
                                        <p:attrNameLst>
                                          <p:attrName>style.visibility</p:attrName>
                                        </p:attrNameLst>
                                      </p:cBhvr>
                                      <p:to>
                                        <p:strVal val="visible"/>
                                      </p:to>
                                    </p:set>
                                    <p:anim calcmode="lin" valueType="num">
                                      <p:cBhvr additive="base">
                                        <p:cTn id="32" dur="500"/>
                                        <p:tgtEl>
                                          <p:spTgt spid="592"/>
                                        </p:tgtEl>
                                        <p:attrNameLst>
                                          <p:attrName>ppt_w</p:attrName>
                                        </p:attrNameLst>
                                      </p:cBhvr>
                                      <p:tavLst>
                                        <p:tav tm="0">
                                          <p:val>
                                            <p:strVal val="0"/>
                                          </p:val>
                                        </p:tav>
                                        <p:tav tm="100000">
                                          <p:val>
                                            <p:strVal val="#ppt_w"/>
                                          </p:val>
                                        </p:tav>
                                      </p:tavLst>
                                    </p:anim>
                                    <p:anim calcmode="lin" valueType="num">
                                      <p:cBhvr additive="base">
                                        <p:cTn id="33" dur="500"/>
                                        <p:tgtEl>
                                          <p:spTgt spid="592"/>
                                        </p:tgtEl>
                                        <p:attrNameLst>
                                          <p:attrName>ppt_h</p:attrName>
                                        </p:attrNameLst>
                                      </p:cBhvr>
                                      <p:tavLst>
                                        <p:tav tm="0">
                                          <p:val>
                                            <p:strVal val="0"/>
                                          </p:val>
                                        </p:tav>
                                        <p:tav tm="100000">
                                          <p:val>
                                            <p:strVal val="#ppt_h"/>
                                          </p:val>
                                        </p:tav>
                                      </p:tavLst>
                                    </p:anim>
                                  </p:childTnLst>
                                </p:cTn>
                              </p:par>
                            </p:childTnLst>
                          </p:cTn>
                        </p:par>
                        <p:par>
                          <p:cTn id="34" fill="hold">
                            <p:stCondLst>
                              <p:cond delay="3000"/>
                            </p:stCondLst>
                            <p:childTnLst>
                              <p:par>
                                <p:cTn id="35" presetID="23" presetClass="entr" presetSubtype="16" fill="hold" nodeType="afterEffect">
                                  <p:stCondLst>
                                    <p:cond delay="0"/>
                                  </p:stCondLst>
                                  <p:childTnLst>
                                    <p:set>
                                      <p:cBhvr>
                                        <p:cTn id="36" dur="1" fill="hold">
                                          <p:stCondLst>
                                            <p:cond delay="0"/>
                                          </p:stCondLst>
                                        </p:cTn>
                                        <p:tgtEl>
                                          <p:spTgt spid="598"/>
                                        </p:tgtEl>
                                        <p:attrNameLst>
                                          <p:attrName>style.visibility</p:attrName>
                                        </p:attrNameLst>
                                      </p:cBhvr>
                                      <p:to>
                                        <p:strVal val="visible"/>
                                      </p:to>
                                    </p:set>
                                    <p:anim calcmode="lin" valueType="num">
                                      <p:cBhvr additive="base">
                                        <p:cTn id="37" dur="1000"/>
                                        <p:tgtEl>
                                          <p:spTgt spid="598"/>
                                        </p:tgtEl>
                                        <p:attrNameLst>
                                          <p:attrName>ppt_w</p:attrName>
                                        </p:attrNameLst>
                                      </p:cBhvr>
                                      <p:tavLst>
                                        <p:tav tm="0">
                                          <p:val>
                                            <p:strVal val="0"/>
                                          </p:val>
                                        </p:tav>
                                        <p:tav tm="100000">
                                          <p:val>
                                            <p:strVal val="#ppt_w"/>
                                          </p:val>
                                        </p:tav>
                                      </p:tavLst>
                                    </p:anim>
                                    <p:anim calcmode="lin" valueType="num">
                                      <p:cBhvr additive="base">
                                        <p:cTn id="38" dur="1000"/>
                                        <p:tgtEl>
                                          <p:spTgt spid="598"/>
                                        </p:tgtEl>
                                        <p:attrNameLst>
                                          <p:attrName>ppt_h</p:attrName>
                                        </p:attrNameLst>
                                      </p:cBhvr>
                                      <p:tavLst>
                                        <p:tav tm="0">
                                          <p:val>
                                            <p:strVal val="0"/>
                                          </p:val>
                                        </p:tav>
                                        <p:tav tm="100000">
                                          <p:val>
                                            <p:strVal val="#ppt_h"/>
                                          </p:val>
                                        </p:tav>
                                      </p:tavLst>
                                    </p:anim>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553"/>
                                        </p:tgtEl>
                                        <p:attrNameLst>
                                          <p:attrName>style.visibility</p:attrName>
                                        </p:attrNameLst>
                                      </p:cBhvr>
                                      <p:to>
                                        <p:strVal val="visible"/>
                                      </p:to>
                                    </p:set>
                                    <p:animEffect transition="in" filter="fade">
                                      <p:cBhvr>
                                        <p:cTn id="42" dur="900"/>
                                        <p:tgtEl>
                                          <p:spTgt spid="553"/>
                                        </p:tgtEl>
                                      </p:cBhvr>
                                    </p:animEffect>
                                  </p:childTnLst>
                                </p:cTn>
                              </p:par>
                            </p:childTnLst>
                          </p:cTn>
                        </p:par>
                        <p:par>
                          <p:cTn id="43" fill="hold">
                            <p:stCondLst>
                              <p:cond delay="4900"/>
                            </p:stCondLst>
                            <p:childTnLst>
                              <p:par>
                                <p:cTn id="44" presetID="2" presetClass="entr" presetSubtype="2" fill="hold" nodeType="afterEffect">
                                  <p:stCondLst>
                                    <p:cond delay="0"/>
                                  </p:stCondLst>
                                  <p:childTnLst>
                                    <p:set>
                                      <p:cBhvr>
                                        <p:cTn id="45" dur="1" fill="hold">
                                          <p:stCondLst>
                                            <p:cond delay="0"/>
                                          </p:stCondLst>
                                        </p:cTn>
                                        <p:tgtEl>
                                          <p:spTgt spid="603"/>
                                        </p:tgtEl>
                                        <p:attrNameLst>
                                          <p:attrName>style.visibility</p:attrName>
                                        </p:attrNameLst>
                                      </p:cBhvr>
                                      <p:to>
                                        <p:strVal val="visible"/>
                                      </p:to>
                                    </p:set>
                                    <p:anim calcmode="lin" valueType="num">
                                      <p:cBhvr additive="base">
                                        <p:cTn id="46" dur="900"/>
                                        <p:tgtEl>
                                          <p:spTgt spid="603"/>
                                        </p:tgtEl>
                                        <p:attrNameLst>
                                          <p:attrName>ppt_x</p:attrName>
                                        </p:attrNameLst>
                                      </p:cBhvr>
                                      <p:tavLst>
                                        <p:tav tm="0">
                                          <p:val>
                                            <p:strVal val="#ppt_x+1"/>
                                          </p:val>
                                        </p:tav>
                                        <p:tav tm="100000">
                                          <p:val>
                                            <p:strVal val="#ppt_x"/>
                                          </p:val>
                                        </p:tav>
                                      </p:tavLst>
                                    </p:anim>
                                  </p:childTnLst>
                                </p:cTn>
                              </p:par>
                            </p:childTnLst>
                          </p:cTn>
                        </p:par>
                        <p:par>
                          <p:cTn id="47" fill="hold">
                            <p:stCondLst>
                              <p:cond delay="5800"/>
                            </p:stCondLst>
                            <p:childTnLst>
                              <p:par>
                                <p:cTn id="48" presetID="2" presetClass="entr" presetSubtype="2" fill="hold" nodeType="afterEffect">
                                  <p:stCondLst>
                                    <p:cond delay="0"/>
                                  </p:stCondLst>
                                  <p:childTnLst>
                                    <p:set>
                                      <p:cBhvr>
                                        <p:cTn id="49" dur="1" fill="hold">
                                          <p:stCondLst>
                                            <p:cond delay="0"/>
                                          </p:stCondLst>
                                        </p:cTn>
                                        <p:tgtEl>
                                          <p:spTgt spid="604"/>
                                        </p:tgtEl>
                                        <p:attrNameLst>
                                          <p:attrName>style.visibility</p:attrName>
                                        </p:attrNameLst>
                                      </p:cBhvr>
                                      <p:to>
                                        <p:strVal val="visible"/>
                                      </p:to>
                                    </p:set>
                                    <p:anim calcmode="lin" valueType="num">
                                      <p:cBhvr additive="base">
                                        <p:cTn id="50" dur="1000"/>
                                        <p:tgtEl>
                                          <p:spTgt spid="604"/>
                                        </p:tgtEl>
                                        <p:attrNameLst>
                                          <p:attrName>ppt_x</p:attrName>
                                        </p:attrNameLst>
                                      </p:cBhvr>
                                      <p:tavLst>
                                        <p:tav tm="0">
                                          <p:val>
                                            <p:strVal val="#ppt_x+1"/>
                                          </p:val>
                                        </p:tav>
                                        <p:tav tm="100000">
                                          <p:val>
                                            <p:strVal val="#ppt_x"/>
                                          </p:val>
                                        </p:tav>
                                      </p:tavLst>
                                    </p:anim>
                                  </p:childTnLst>
                                </p:cTn>
                              </p:par>
                            </p:childTnLst>
                          </p:cTn>
                        </p:par>
                        <p:par>
                          <p:cTn id="51" fill="hold">
                            <p:stCondLst>
                              <p:cond delay="6800"/>
                            </p:stCondLst>
                            <p:childTnLst>
                              <p:par>
                                <p:cTn id="52" presetID="2" presetClass="entr" presetSubtype="2" fill="hold" nodeType="afterEffect">
                                  <p:stCondLst>
                                    <p:cond delay="0"/>
                                  </p:stCondLst>
                                  <p:childTnLst>
                                    <p:set>
                                      <p:cBhvr>
                                        <p:cTn id="53" dur="1" fill="hold">
                                          <p:stCondLst>
                                            <p:cond delay="0"/>
                                          </p:stCondLst>
                                        </p:cTn>
                                        <p:tgtEl>
                                          <p:spTgt spid="605"/>
                                        </p:tgtEl>
                                        <p:attrNameLst>
                                          <p:attrName>style.visibility</p:attrName>
                                        </p:attrNameLst>
                                      </p:cBhvr>
                                      <p:to>
                                        <p:strVal val="visible"/>
                                      </p:to>
                                    </p:set>
                                    <p:anim calcmode="lin" valueType="num">
                                      <p:cBhvr additive="base">
                                        <p:cTn id="54" dur="1000"/>
                                        <p:tgtEl>
                                          <p:spTgt spid="60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060"/>
        <p:cNvGrpSpPr/>
        <p:nvPr/>
      </p:nvGrpSpPr>
      <p:grpSpPr>
        <a:xfrm>
          <a:off x="0" y="0"/>
          <a:ext cx="0" cy="0"/>
          <a:chOff x="0" y="0"/>
          <a:chExt cx="0" cy="0"/>
        </a:xfrm>
      </p:grpSpPr>
      <p:sp>
        <p:nvSpPr>
          <p:cNvPr id="17" name="Rettangolo 16">
            <a:extLst>
              <a:ext uri="{FF2B5EF4-FFF2-40B4-BE49-F238E27FC236}">
                <a16:creationId xmlns:a16="http://schemas.microsoft.com/office/drawing/2014/main" id="{129B7F00-FDDC-4B35-892F-227CA8BC31EB}"/>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3061" name="Shape 3061"/>
          <p:cNvPicPr preferRelativeResize="0"/>
          <p:nvPr/>
        </p:nvPicPr>
        <p:blipFill>
          <a:blip r:embed="rId3">
            <a:alphaModFix/>
          </a:blip>
          <a:stretch>
            <a:fillRect/>
          </a:stretch>
        </p:blipFill>
        <p:spPr>
          <a:xfrm>
            <a:off x="-84000" y="175455"/>
            <a:ext cx="9291700" cy="788900"/>
          </a:xfrm>
          <a:prstGeom prst="rect">
            <a:avLst/>
          </a:prstGeom>
          <a:noFill/>
          <a:ln>
            <a:noFill/>
          </a:ln>
        </p:spPr>
      </p:pic>
      <p:sp>
        <p:nvSpPr>
          <p:cNvPr id="3064" name="Shape 3064"/>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Text Style</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grpSp>
        <p:nvGrpSpPr>
          <p:cNvPr id="3065" name="Shape 3065"/>
          <p:cNvGrpSpPr/>
          <p:nvPr/>
        </p:nvGrpSpPr>
        <p:grpSpPr>
          <a:xfrm>
            <a:off x="573375" y="1147076"/>
            <a:ext cx="8083200" cy="1719908"/>
            <a:chOff x="573375" y="1503117"/>
            <a:chExt cx="8083200" cy="1719908"/>
          </a:xfrm>
        </p:grpSpPr>
        <p:grpSp>
          <p:nvGrpSpPr>
            <p:cNvPr id="3066" name="Shape 3066"/>
            <p:cNvGrpSpPr/>
            <p:nvPr/>
          </p:nvGrpSpPr>
          <p:grpSpPr>
            <a:xfrm>
              <a:off x="573375" y="1503117"/>
              <a:ext cx="8083200" cy="1719908"/>
              <a:chOff x="573375" y="1503117"/>
              <a:chExt cx="8083200" cy="1719908"/>
            </a:xfrm>
          </p:grpSpPr>
          <p:cxnSp>
            <p:nvCxnSpPr>
              <p:cNvPr id="3067" name="Shape 3067"/>
              <p:cNvCxnSpPr/>
              <p:nvPr/>
            </p:nvCxnSpPr>
            <p:spPr>
              <a:xfrm>
                <a:off x="573375" y="2130500"/>
                <a:ext cx="8083200" cy="0"/>
              </a:xfrm>
              <a:prstGeom prst="straightConnector1">
                <a:avLst/>
              </a:prstGeom>
              <a:noFill/>
              <a:ln w="9525" cap="flat" cmpd="sng">
                <a:solidFill>
                  <a:srgbClr val="166DF1"/>
                </a:solidFill>
                <a:prstDash val="solid"/>
                <a:round/>
                <a:headEnd type="none" w="lg" len="lg"/>
                <a:tailEnd type="none" w="lg" len="lg"/>
              </a:ln>
            </p:spPr>
          </p:cxnSp>
          <p:sp>
            <p:nvSpPr>
              <p:cNvPr id="3068" name="Shape 3068"/>
              <p:cNvSpPr txBox="1"/>
              <p:nvPr/>
            </p:nvSpPr>
            <p:spPr>
              <a:xfrm>
                <a:off x="2023511" y="1503117"/>
                <a:ext cx="5097000" cy="434999"/>
              </a:xfrm>
              <a:prstGeom prst="rect">
                <a:avLst/>
              </a:prstGeom>
              <a:noFill/>
              <a:ln>
                <a:noFill/>
              </a:ln>
            </p:spPr>
            <p:txBody>
              <a:bodyPr lIns="91425" tIns="91425" rIns="91425" bIns="91425" anchor="t" anchorCtr="0">
                <a:noAutofit/>
              </a:bodyPr>
              <a:lstStyle/>
              <a:p>
                <a:pPr lvl="0" algn="ctr" rtl="0">
                  <a:spcBef>
                    <a:spcPts val="0"/>
                  </a:spcBef>
                  <a:buNone/>
                </a:pPr>
                <a:r>
                  <a:rPr lang="en" sz="1800" b="1" dirty="0">
                    <a:solidFill>
                      <a:srgbClr val="FFBC49"/>
                    </a:solidFill>
                    <a:latin typeface="Roboto Slab"/>
                    <a:ea typeface="Roboto Slab"/>
                    <a:cs typeface="Roboto Slab"/>
                    <a:sym typeface="Roboto Slab"/>
                  </a:rPr>
                  <a:t>Il regolamento di Bet4Fun</a:t>
                </a:r>
              </a:p>
            </p:txBody>
          </p:sp>
          <p:sp>
            <p:nvSpPr>
              <p:cNvPr id="3069" name="Shape 3069"/>
              <p:cNvSpPr txBox="1"/>
              <p:nvPr/>
            </p:nvSpPr>
            <p:spPr>
              <a:xfrm>
                <a:off x="1197350" y="2434025"/>
                <a:ext cx="7459199" cy="789000"/>
              </a:xfrm>
              <a:prstGeom prst="rect">
                <a:avLst/>
              </a:prstGeom>
              <a:noFill/>
              <a:ln>
                <a:noFill/>
              </a:ln>
            </p:spPr>
            <p:txBody>
              <a:bodyPr lIns="91425" tIns="91425" rIns="91425" bIns="91425" anchor="t" anchorCtr="0">
                <a:noAutofit/>
              </a:bodyPr>
              <a:lstStyle/>
              <a:p>
                <a:pPr>
                  <a:buClr>
                    <a:schemeClr val="dk1"/>
                  </a:buClr>
                  <a:buSzPct val="100000"/>
                </a:pPr>
                <a:r>
                  <a:rPr lang="it-IT" sz="1100" dirty="0">
                    <a:solidFill>
                      <a:srgbClr val="FFBC49"/>
                    </a:solidFill>
                    <a:latin typeface="Roboto"/>
                    <a:ea typeface="Roboto"/>
                    <a:cs typeface="Roboto"/>
                  </a:rPr>
                  <a:t>IL GIOCO</a:t>
                </a:r>
              </a:p>
              <a:p>
                <a:pPr>
                  <a:buClr>
                    <a:schemeClr val="dk1"/>
                  </a:buClr>
                  <a:buSzPct val="100000"/>
                </a:pPr>
                <a:r>
                  <a:rPr lang="it-IT" sz="1100" dirty="0">
                    <a:solidFill>
                      <a:srgbClr val="595959"/>
                    </a:solidFill>
                    <a:latin typeface="Roboto"/>
                    <a:ea typeface="Roboto"/>
                    <a:cs typeface="Roboto"/>
                  </a:rPr>
                  <a:t>Il principio del gioco consiste nel proporre ai giocatori la possibilità di pronosticare sui risultati delle competizioni sportive </a:t>
                </a:r>
                <a:r>
                  <a:rPr lang="it-IT" sz="1100" dirty="0" err="1">
                    <a:solidFill>
                      <a:srgbClr val="595959"/>
                    </a:solidFill>
                    <a:latin typeface="Roboto"/>
                    <a:ea typeface="Roboto"/>
                    <a:cs typeface="Roboto"/>
                  </a:rPr>
                  <a:t>internazioniali</a:t>
                </a:r>
                <a:r>
                  <a:rPr lang="it-IT" sz="1100" dirty="0">
                    <a:solidFill>
                      <a:srgbClr val="595959"/>
                    </a:solidFill>
                    <a:latin typeface="Roboto"/>
                    <a:ea typeface="Roboto"/>
                    <a:cs typeface="Roboto"/>
                  </a:rPr>
                  <a:t>. Il gioco si svolge in diverse «</a:t>
                </a:r>
                <a:r>
                  <a:rPr lang="it-IT" sz="1100" dirty="0" err="1">
                    <a:solidFill>
                      <a:srgbClr val="595959"/>
                    </a:solidFill>
                    <a:latin typeface="Roboto"/>
                    <a:ea typeface="Roboto"/>
                    <a:cs typeface="Roboto"/>
                  </a:rPr>
                  <a:t>Manches</a:t>
                </a:r>
                <a:r>
                  <a:rPr lang="it-IT" sz="1100" dirty="0">
                    <a:solidFill>
                      <a:srgbClr val="595959"/>
                    </a:solidFill>
                    <a:latin typeface="Roboto"/>
                    <a:ea typeface="Roboto"/>
                    <a:cs typeface="Roboto"/>
                  </a:rPr>
                  <a:t>» raggruppate in «Eventi» (il cui nome può essere variato sul sito: «Concorso», «Sfida», </a:t>
                </a:r>
                <a:r>
                  <a:rPr lang="it-IT" sz="1100" dirty="0" err="1">
                    <a:solidFill>
                      <a:srgbClr val="595959"/>
                    </a:solidFill>
                    <a:latin typeface="Roboto"/>
                    <a:ea typeface="Roboto"/>
                    <a:cs typeface="Roboto"/>
                  </a:rPr>
                  <a:t>ecc</a:t>
                </a:r>
                <a:r>
                  <a:rPr lang="it-IT" sz="1100" dirty="0">
                    <a:solidFill>
                      <a:srgbClr val="595959"/>
                    </a:solidFill>
                    <a:latin typeface="Roboto"/>
                    <a:ea typeface="Roboto"/>
                    <a:cs typeface="Roboto"/>
                  </a:rPr>
                  <a:t> ...). I giocatori possono prevedere per ciascun «Manche» i risultati dell'evento sportivo pertinente fino alla data di chiusura indicata sul sito. Alla fine di ogni «Manche» e di ogni «Evento», i giocatori saranno classificati e i migliori condivideranno un pool di "</a:t>
                </a:r>
                <a:r>
                  <a:rPr lang="it-IT" sz="1100" dirty="0" err="1">
                    <a:solidFill>
                      <a:srgbClr val="595959"/>
                    </a:solidFill>
                    <a:latin typeface="Roboto"/>
                    <a:ea typeface="Roboto"/>
                    <a:cs typeface="Roboto"/>
                  </a:rPr>
                  <a:t>Funnies</a:t>
                </a:r>
                <a:r>
                  <a:rPr lang="it-IT" sz="1100" dirty="0">
                    <a:solidFill>
                      <a:srgbClr val="595959"/>
                    </a:solidFill>
                    <a:latin typeface="Roboto"/>
                    <a:ea typeface="Roboto"/>
                    <a:cs typeface="Roboto"/>
                  </a:rPr>
                  <a:t>" secondo le regole descritte. Raccolti durante le diverse «</a:t>
                </a:r>
                <a:r>
                  <a:rPr lang="it-IT" sz="1100" dirty="0" err="1">
                    <a:solidFill>
                      <a:srgbClr val="595959"/>
                    </a:solidFill>
                    <a:latin typeface="Roboto"/>
                    <a:ea typeface="Roboto"/>
                    <a:cs typeface="Roboto"/>
                  </a:rPr>
                  <a:t>Manches</a:t>
                </a:r>
                <a:r>
                  <a:rPr lang="it-IT" sz="1100" dirty="0">
                    <a:solidFill>
                      <a:srgbClr val="595959"/>
                    </a:solidFill>
                    <a:latin typeface="Roboto"/>
                    <a:ea typeface="Roboto"/>
                    <a:cs typeface="Roboto"/>
                  </a:rPr>
                  <a:t>», «Concorsi» o operazioni correlate (vedi articolo 12), i "</a:t>
                </a:r>
                <a:r>
                  <a:rPr lang="it-IT" sz="1100" dirty="0" err="1">
                    <a:solidFill>
                      <a:srgbClr val="595959"/>
                    </a:solidFill>
                    <a:latin typeface="Roboto"/>
                    <a:ea typeface="Roboto"/>
                    <a:cs typeface="Roboto"/>
                  </a:rPr>
                  <a:t>Funnies</a:t>
                </a:r>
                <a:r>
                  <a:rPr lang="it-IT" sz="1100" dirty="0">
                    <a:solidFill>
                      <a:srgbClr val="595959"/>
                    </a:solidFill>
                    <a:latin typeface="Roboto"/>
                    <a:ea typeface="Roboto"/>
                    <a:cs typeface="Roboto"/>
                  </a:rPr>
                  <a:t>" possono essere scambiati per regali nella sezione relativa ai «Premi».</a:t>
                </a:r>
                <a:endParaRPr lang="en" sz="1100" dirty="0">
                  <a:solidFill>
                    <a:srgbClr val="595959"/>
                  </a:solidFill>
                  <a:latin typeface="Roboto"/>
                  <a:ea typeface="Roboto"/>
                  <a:cs typeface="Roboto"/>
                  <a:sym typeface="Roboto"/>
                </a:endParaRPr>
              </a:p>
              <a:p>
                <a:pPr>
                  <a:spcBef>
                    <a:spcPts val="0"/>
                  </a:spcBef>
                  <a:buNone/>
                </a:pPr>
                <a:endParaRPr sz="1100" dirty="0">
                  <a:solidFill>
                    <a:srgbClr val="595959"/>
                  </a:solidFill>
                  <a:latin typeface="Roboto"/>
                  <a:ea typeface="Roboto"/>
                  <a:cs typeface="Roboto"/>
                  <a:sym typeface="Roboto"/>
                </a:endParaRPr>
              </a:p>
            </p:txBody>
          </p:sp>
        </p:grpSp>
        <p:sp>
          <p:nvSpPr>
            <p:cNvPr id="3072" name="Shape 3072"/>
            <p:cNvSpPr txBox="1"/>
            <p:nvPr/>
          </p:nvSpPr>
          <p:spPr>
            <a:xfrm>
              <a:off x="988107" y="2400293"/>
              <a:ext cx="382199" cy="290700"/>
            </a:xfrm>
            <a:prstGeom prst="rect">
              <a:avLst/>
            </a:prstGeom>
            <a:noFill/>
            <a:ln>
              <a:noFill/>
            </a:ln>
          </p:spPr>
          <p:txBody>
            <a:bodyPr lIns="91425" tIns="91425" rIns="91425" bIns="91425" anchor="t" anchorCtr="0">
              <a:noAutofit/>
            </a:bodyPr>
            <a:lstStyle/>
            <a:p>
              <a:pPr>
                <a:spcBef>
                  <a:spcPts val="0"/>
                </a:spcBef>
                <a:buNone/>
              </a:pPr>
              <a:r>
                <a:rPr lang="en" dirty="0">
                  <a:solidFill>
                    <a:srgbClr val="FFBC49"/>
                  </a:solidFill>
                  <a:latin typeface="Roboto"/>
                  <a:ea typeface="Roboto"/>
                  <a:cs typeface="Roboto"/>
                  <a:sym typeface="Roboto"/>
                </a:rPr>
                <a:t>1.</a:t>
              </a:r>
            </a:p>
          </p:txBody>
        </p:sp>
      </p:grpSp>
      <p:pic>
        <p:nvPicPr>
          <p:cNvPr id="16" name="Immagine 15">
            <a:extLst>
              <a:ext uri="{FF2B5EF4-FFF2-40B4-BE49-F238E27FC236}">
                <a16:creationId xmlns:a16="http://schemas.microsoft.com/office/drawing/2014/main" id="{BE2C60B4-E96C-467D-923F-296825B37C16}"/>
              </a:ext>
            </a:extLst>
          </p:cNvPr>
          <p:cNvPicPr>
            <a:picLocks noChangeAspect="1"/>
          </p:cNvPicPr>
          <p:nvPr/>
        </p:nvPicPr>
        <p:blipFill rotWithShape="1">
          <a:blip r:embed="rId4"/>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8" name="Shape 3070"/>
          <p:cNvSpPr txBox="1"/>
          <p:nvPr/>
        </p:nvSpPr>
        <p:spPr>
          <a:xfrm>
            <a:off x="1197350" y="3557543"/>
            <a:ext cx="7459199" cy="789000"/>
          </a:xfrm>
          <a:prstGeom prst="rect">
            <a:avLst/>
          </a:prstGeom>
          <a:noFill/>
          <a:ln>
            <a:noFill/>
          </a:ln>
        </p:spPr>
        <p:txBody>
          <a:bodyPr lIns="91425" tIns="91425" rIns="91425" bIns="91425" anchor="t" anchorCtr="0">
            <a:noAutofit/>
          </a:bodyPr>
          <a:lstStyle/>
          <a:p>
            <a:r>
              <a:rPr lang="it-IT" sz="1100" dirty="0">
                <a:solidFill>
                  <a:srgbClr val="FFBC49"/>
                </a:solidFill>
                <a:latin typeface="Roboto"/>
                <a:ea typeface="Roboto"/>
                <a:cs typeface="Roboto"/>
              </a:rPr>
              <a:t>LA PARTECIPAZIONE</a:t>
            </a:r>
          </a:p>
          <a:p>
            <a:r>
              <a:rPr lang="it-IT" sz="1100" dirty="0">
                <a:solidFill>
                  <a:srgbClr val="595959"/>
                </a:solidFill>
                <a:latin typeface="Roboto"/>
                <a:ea typeface="Roboto"/>
                <a:cs typeface="Roboto"/>
              </a:rPr>
              <a:t>La partecipazione a questo gioco è subordinata alla previa registrazione del giocatore e all'apertura di un account su BET4FUN. L'apertura di un account su BET4FUN è strettamente limitata a un account per persona fisica (stesso nome, stesso nome e stesso indirizzo).</a:t>
            </a:r>
            <a:r>
              <a:rPr lang="it-IT" dirty="0"/>
              <a:t> </a:t>
            </a:r>
            <a:r>
              <a:rPr lang="it-IT" sz="1100" dirty="0">
                <a:solidFill>
                  <a:srgbClr val="595959"/>
                </a:solidFill>
                <a:latin typeface="Roboto"/>
                <a:ea typeface="Roboto"/>
                <a:cs typeface="Roboto"/>
              </a:rPr>
              <a:t>Qualsiasi utente richiedente un premio, sarà soggetto a verifica, da parte della società organizzatrice, di prova di identità e domicilio per confermare la validità della registrazione del giocatore. Ogni giocatore può convalidare e / o modificare i suoi pronostici fino al limite di tempo indicato per ciascun evento: come regola generale alcuni minuti prima dell'inizio di una «manche».</a:t>
            </a:r>
            <a:endParaRPr lang="it-IT" sz="1100" dirty="0">
              <a:solidFill>
                <a:srgbClr val="595959"/>
              </a:solidFill>
              <a:latin typeface="Roboto"/>
              <a:ea typeface="Roboto"/>
              <a:cs typeface="Roboto"/>
              <a:sym typeface="Roboto"/>
            </a:endParaRPr>
          </a:p>
          <a:p>
            <a:pPr lvl="0"/>
            <a:br>
              <a:rPr lang="it-IT" sz="1100" dirty="0">
                <a:solidFill>
                  <a:srgbClr val="595959"/>
                </a:solidFill>
                <a:latin typeface="Roboto"/>
                <a:ea typeface="Roboto"/>
                <a:cs typeface="Roboto"/>
              </a:rPr>
            </a:br>
            <a:br>
              <a:rPr lang="it-IT" dirty="0"/>
            </a:br>
            <a:endParaRPr sz="1100" dirty="0">
              <a:solidFill>
                <a:srgbClr val="595959"/>
              </a:solidFill>
              <a:latin typeface="Roboto"/>
              <a:ea typeface="Roboto"/>
              <a:cs typeface="Roboto"/>
              <a:sym typeface="Roboto"/>
            </a:endParaRPr>
          </a:p>
        </p:txBody>
      </p:sp>
      <p:sp>
        <p:nvSpPr>
          <p:cNvPr id="19" name="Shape 3073"/>
          <p:cNvSpPr txBox="1"/>
          <p:nvPr/>
        </p:nvSpPr>
        <p:spPr>
          <a:xfrm>
            <a:off x="988101" y="3518187"/>
            <a:ext cx="382199" cy="290700"/>
          </a:xfrm>
          <a:prstGeom prst="rect">
            <a:avLst/>
          </a:prstGeom>
          <a:noFill/>
          <a:ln>
            <a:noFill/>
          </a:ln>
        </p:spPr>
        <p:txBody>
          <a:bodyPr lIns="91425" tIns="91425" rIns="91425" bIns="91425" anchor="t" anchorCtr="0">
            <a:noAutofit/>
          </a:bodyPr>
          <a:lstStyle/>
          <a:p>
            <a:pPr lvl="0" rtl="0">
              <a:spcBef>
                <a:spcPts val="0"/>
              </a:spcBef>
              <a:buNone/>
            </a:pPr>
            <a:r>
              <a:rPr lang="en" dirty="0">
                <a:solidFill>
                  <a:srgbClr val="FFBC49"/>
                </a:solidFill>
                <a:latin typeface="Roboto"/>
                <a:ea typeface="Roboto"/>
                <a:cs typeface="Roboto"/>
                <a:sym typeface="Roboto"/>
              </a:rPr>
              <a:t>2.</a:t>
            </a:r>
          </a:p>
        </p:txBody>
      </p:sp>
    </p:spTree>
    <p:extLst>
      <p:ext uri="{BB962C8B-B14F-4D97-AF65-F5344CB8AC3E}">
        <p14:creationId xmlns:p14="http://schemas.microsoft.com/office/powerpoint/2010/main" val="255529914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065"/>
                                        </p:tgtEl>
                                        <p:attrNameLst>
                                          <p:attrName>style.visibility</p:attrName>
                                        </p:attrNameLst>
                                      </p:cBhvr>
                                      <p:to>
                                        <p:strVal val="visible"/>
                                      </p:to>
                                    </p:set>
                                    <p:anim calcmode="lin" valueType="num">
                                      <p:cBhvr additive="base">
                                        <p:cTn id="7" dur="1000"/>
                                        <p:tgtEl>
                                          <p:spTgt spid="30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078"/>
        <p:cNvGrpSpPr/>
        <p:nvPr/>
      </p:nvGrpSpPr>
      <p:grpSpPr>
        <a:xfrm>
          <a:off x="0" y="0"/>
          <a:ext cx="0" cy="0"/>
          <a:chOff x="0" y="0"/>
          <a:chExt cx="0" cy="0"/>
        </a:xfrm>
      </p:grpSpPr>
      <p:sp>
        <p:nvSpPr>
          <p:cNvPr id="12" name="Rettangolo 11">
            <a:extLst>
              <a:ext uri="{FF2B5EF4-FFF2-40B4-BE49-F238E27FC236}">
                <a16:creationId xmlns:a16="http://schemas.microsoft.com/office/drawing/2014/main" id="{3592D032-660C-4766-81A8-D287F2E025AD}"/>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3079" name="Shape 3079"/>
          <p:cNvPicPr preferRelativeResize="0"/>
          <p:nvPr/>
        </p:nvPicPr>
        <p:blipFill>
          <a:blip r:embed="rId3">
            <a:alphaModFix/>
          </a:blip>
          <a:stretch>
            <a:fillRect/>
          </a:stretch>
        </p:blipFill>
        <p:spPr>
          <a:xfrm>
            <a:off x="-84000" y="175455"/>
            <a:ext cx="9291700" cy="788900"/>
          </a:xfrm>
          <a:prstGeom prst="rect">
            <a:avLst/>
          </a:prstGeom>
          <a:noFill/>
          <a:ln>
            <a:noFill/>
          </a:ln>
        </p:spPr>
      </p:pic>
      <p:sp>
        <p:nvSpPr>
          <p:cNvPr id="3082" name="Shape 3082"/>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dirty="0">
                <a:solidFill>
                  <a:schemeClr val="accent3"/>
                </a:solidFill>
                <a:latin typeface="Roboto Slab"/>
                <a:ea typeface="Roboto Slab"/>
                <a:cs typeface="Roboto Slab"/>
                <a:sym typeface="Roboto Slab"/>
              </a:rPr>
              <a:t>Text Style</a:t>
            </a: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rtl="0">
              <a:spcBef>
                <a:spcPts val="0"/>
              </a:spcBef>
              <a:buNone/>
            </a:pPr>
            <a:endParaRPr sz="1200" dirty="0"/>
          </a:p>
        </p:txBody>
      </p:sp>
      <p:grpSp>
        <p:nvGrpSpPr>
          <p:cNvPr id="3083" name="Shape 3083"/>
          <p:cNvGrpSpPr/>
          <p:nvPr/>
        </p:nvGrpSpPr>
        <p:grpSpPr>
          <a:xfrm>
            <a:off x="4963762" y="1503117"/>
            <a:ext cx="3529074" cy="3118967"/>
            <a:chOff x="4963762" y="1503117"/>
            <a:chExt cx="3529074" cy="3118967"/>
          </a:xfrm>
        </p:grpSpPr>
        <p:cxnSp>
          <p:nvCxnSpPr>
            <p:cNvPr id="3084" name="Shape 3084"/>
            <p:cNvCxnSpPr/>
            <p:nvPr/>
          </p:nvCxnSpPr>
          <p:spPr>
            <a:xfrm>
              <a:off x="5063836" y="2130500"/>
              <a:ext cx="3429000" cy="0"/>
            </a:xfrm>
            <a:prstGeom prst="straightConnector1">
              <a:avLst/>
            </a:prstGeom>
            <a:noFill/>
            <a:ln w="9525" cap="flat" cmpd="sng">
              <a:solidFill>
                <a:srgbClr val="FFBC49"/>
              </a:solidFill>
              <a:prstDash val="solid"/>
              <a:round/>
              <a:headEnd type="none" w="lg" len="lg"/>
              <a:tailEnd type="none" w="lg" len="lg"/>
            </a:ln>
          </p:spPr>
        </p:cxnSp>
        <p:sp>
          <p:nvSpPr>
            <p:cNvPr id="3085" name="Shape 3085"/>
            <p:cNvSpPr txBox="1"/>
            <p:nvPr/>
          </p:nvSpPr>
          <p:spPr>
            <a:xfrm>
              <a:off x="5063835" y="1503117"/>
              <a:ext cx="3429001" cy="434999"/>
            </a:xfrm>
            <a:prstGeom prst="rect">
              <a:avLst/>
            </a:prstGeom>
            <a:noFill/>
            <a:ln>
              <a:noFill/>
            </a:ln>
          </p:spPr>
          <p:txBody>
            <a:bodyPr lIns="91425" tIns="91425" rIns="91425" bIns="91425" anchor="t" anchorCtr="0">
              <a:noAutofit/>
            </a:bodyPr>
            <a:lstStyle/>
            <a:p>
              <a:pPr lvl="0" algn="ctr" rtl="0">
                <a:spcBef>
                  <a:spcPts val="0"/>
                </a:spcBef>
                <a:buNone/>
              </a:pPr>
              <a:r>
                <a:rPr lang="en" sz="1800" b="1" dirty="0">
                  <a:solidFill>
                    <a:srgbClr val="FFBC49"/>
                  </a:solidFill>
                  <a:latin typeface="Roboto Slab"/>
                  <a:ea typeface="Roboto Slab"/>
                  <a:cs typeface="Roboto Slab"/>
                  <a:sym typeface="Roboto Slab"/>
                </a:rPr>
                <a:t>Bet4Fun: il gioco</a:t>
              </a:r>
            </a:p>
          </p:txBody>
        </p:sp>
        <p:sp>
          <p:nvSpPr>
            <p:cNvPr id="3087" name="Shape 3087"/>
            <p:cNvSpPr txBox="1"/>
            <p:nvPr/>
          </p:nvSpPr>
          <p:spPr>
            <a:xfrm>
              <a:off x="4963762" y="2322885"/>
              <a:ext cx="3529074" cy="2299199"/>
            </a:xfrm>
            <a:prstGeom prst="rect">
              <a:avLst/>
            </a:prstGeom>
            <a:noFill/>
            <a:ln>
              <a:noFill/>
            </a:ln>
          </p:spPr>
          <p:txBody>
            <a:bodyPr lIns="91425" tIns="91425" rIns="91425" bIns="91425" anchor="t" anchorCtr="0">
              <a:noAutofit/>
            </a:bodyPr>
            <a:lstStyle/>
            <a:p>
              <a:pPr lvl="0"/>
              <a:r>
                <a:rPr lang="it-IT" sz="1100" dirty="0">
                  <a:solidFill>
                    <a:srgbClr val="595959"/>
                  </a:solidFill>
                  <a:latin typeface="Roboto"/>
                  <a:ea typeface="Roboto"/>
                  <a:cs typeface="Roboto"/>
                </a:rPr>
                <a:t>Il principio del gioco consiste nel proporre ai giocatori la possibilità di pronosticare sui risultati delle competizioni sportive </a:t>
              </a:r>
              <a:r>
                <a:rPr lang="it-IT" sz="1100" dirty="0" err="1">
                  <a:solidFill>
                    <a:srgbClr val="595959"/>
                  </a:solidFill>
                  <a:latin typeface="Roboto"/>
                  <a:ea typeface="Roboto"/>
                  <a:cs typeface="Roboto"/>
                </a:rPr>
                <a:t>internazioniali</a:t>
              </a:r>
              <a:r>
                <a:rPr lang="it-IT" sz="1100" dirty="0">
                  <a:solidFill>
                    <a:srgbClr val="595959"/>
                  </a:solidFill>
                  <a:latin typeface="Roboto"/>
                  <a:ea typeface="Roboto"/>
                  <a:cs typeface="Roboto"/>
                </a:rPr>
                <a:t>. Il gioco si svolge in diverse "</a:t>
              </a:r>
              <a:r>
                <a:rPr lang="it-IT" sz="1100" dirty="0" err="1">
                  <a:solidFill>
                    <a:srgbClr val="595959"/>
                  </a:solidFill>
                  <a:latin typeface="Roboto"/>
                  <a:ea typeface="Roboto"/>
                  <a:cs typeface="Roboto"/>
                </a:rPr>
                <a:t>Manches</a:t>
              </a:r>
              <a:r>
                <a:rPr lang="it-IT" sz="1100" dirty="0">
                  <a:solidFill>
                    <a:srgbClr val="595959"/>
                  </a:solidFill>
                  <a:latin typeface="Roboto"/>
                  <a:ea typeface="Roboto"/>
                  <a:cs typeface="Roboto"/>
                </a:rPr>
                <a:t>" raggruppate in "Eventi" (il cui nome può essere variato sul sito: "Concorso", "Sfida", </a:t>
              </a:r>
              <a:r>
                <a:rPr lang="it-IT" sz="1100" dirty="0" err="1">
                  <a:solidFill>
                    <a:srgbClr val="595959"/>
                  </a:solidFill>
                  <a:latin typeface="Roboto"/>
                  <a:ea typeface="Roboto"/>
                  <a:cs typeface="Roboto"/>
                </a:rPr>
                <a:t>ecc</a:t>
              </a:r>
              <a:r>
                <a:rPr lang="it-IT" sz="1100" dirty="0">
                  <a:solidFill>
                    <a:srgbClr val="595959"/>
                  </a:solidFill>
                  <a:latin typeface="Roboto"/>
                  <a:ea typeface="Roboto"/>
                  <a:cs typeface="Roboto"/>
                </a:rPr>
                <a:t> ...).</a:t>
              </a:r>
            </a:p>
            <a:p>
              <a:pPr lvl="0"/>
              <a:endParaRPr lang="it-IT" sz="1100" dirty="0">
                <a:solidFill>
                  <a:srgbClr val="595959"/>
                </a:solidFill>
                <a:latin typeface="Roboto"/>
                <a:ea typeface="Roboto"/>
                <a:cs typeface="Roboto"/>
              </a:endParaRPr>
            </a:p>
            <a:p>
              <a:pPr lvl="0"/>
              <a:r>
                <a:rPr lang="it-IT" sz="1100" dirty="0">
                  <a:solidFill>
                    <a:srgbClr val="595959"/>
                  </a:solidFill>
                  <a:latin typeface="Roboto"/>
                  <a:ea typeface="Roboto"/>
                  <a:cs typeface="Roboto"/>
                </a:rPr>
                <a:t>I giocatori possono prevedere per ciascun «Manche» i risultati dell'evento sportivo pertinente fino alla data di chiusura indicata sul sito. Alla fine di ogni "Manche" e di ogni "Evento", i giocatori saranno classificati e i migliori condivideranno un pool di "</a:t>
              </a:r>
              <a:r>
                <a:rPr lang="it-IT" sz="1100" dirty="0" err="1">
                  <a:solidFill>
                    <a:srgbClr val="595959"/>
                  </a:solidFill>
                  <a:latin typeface="Roboto"/>
                  <a:ea typeface="Roboto"/>
                  <a:cs typeface="Roboto"/>
                </a:rPr>
                <a:t>Funnies</a:t>
              </a:r>
              <a:r>
                <a:rPr lang="it-IT" sz="1100" dirty="0">
                  <a:solidFill>
                    <a:srgbClr val="595959"/>
                  </a:solidFill>
                  <a:latin typeface="Roboto"/>
                  <a:ea typeface="Roboto"/>
                  <a:cs typeface="Roboto"/>
                </a:rPr>
                <a:t>" secondo le regole descritte</a:t>
              </a:r>
              <a:br>
                <a:rPr lang="it-IT" sz="1100" dirty="0">
                  <a:solidFill>
                    <a:srgbClr val="595959"/>
                  </a:solidFill>
                  <a:latin typeface="Roboto"/>
                  <a:ea typeface="Roboto"/>
                  <a:cs typeface="Roboto"/>
                </a:rPr>
              </a:br>
              <a:endParaRPr sz="1100" dirty="0">
                <a:solidFill>
                  <a:srgbClr val="595959"/>
                </a:solidFill>
                <a:latin typeface="Roboto"/>
                <a:ea typeface="Roboto"/>
                <a:cs typeface="Roboto"/>
                <a:sym typeface="Roboto"/>
              </a:endParaRPr>
            </a:p>
          </p:txBody>
        </p:sp>
      </p:grpSp>
      <p:pic>
        <p:nvPicPr>
          <p:cNvPr id="11" name="Immagine 10">
            <a:extLst>
              <a:ext uri="{FF2B5EF4-FFF2-40B4-BE49-F238E27FC236}">
                <a16:creationId xmlns:a16="http://schemas.microsoft.com/office/drawing/2014/main" id="{FE64DD48-9387-4EF0-8DF2-B40A6C0C4B2A}"/>
              </a:ext>
            </a:extLst>
          </p:cNvPr>
          <p:cNvPicPr>
            <a:picLocks noChangeAspect="1"/>
          </p:cNvPicPr>
          <p:nvPr/>
        </p:nvPicPr>
        <p:blipFill rotWithShape="1">
          <a:blip r:embed="rId4"/>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nvGrpSpPr>
          <p:cNvPr id="13" name="Shape 610"/>
          <p:cNvGrpSpPr/>
          <p:nvPr/>
        </p:nvGrpSpPr>
        <p:grpSpPr>
          <a:xfrm>
            <a:off x="690411" y="1503117"/>
            <a:ext cx="3457573" cy="2842249"/>
            <a:chOff x="2833072" y="1379234"/>
            <a:chExt cx="3457573" cy="2842249"/>
          </a:xfrm>
        </p:grpSpPr>
        <p:pic>
          <p:nvPicPr>
            <p:cNvPr id="14" name="Shape 611"/>
            <p:cNvPicPr preferRelativeResize="0"/>
            <p:nvPr/>
          </p:nvPicPr>
          <p:blipFill>
            <a:blip r:embed="rId5">
              <a:alphaModFix/>
            </a:blip>
            <a:stretch>
              <a:fillRect/>
            </a:stretch>
          </p:blipFill>
          <p:spPr>
            <a:xfrm>
              <a:off x="2833072" y="1379234"/>
              <a:ext cx="3457573" cy="2842249"/>
            </a:xfrm>
            <a:prstGeom prst="rect">
              <a:avLst/>
            </a:prstGeom>
            <a:noFill/>
            <a:ln>
              <a:noFill/>
            </a:ln>
          </p:spPr>
        </p:pic>
        <p:pic>
          <p:nvPicPr>
            <p:cNvPr id="15" name="Shape 612"/>
            <p:cNvPicPr preferRelativeResize="0"/>
            <p:nvPr/>
          </p:nvPicPr>
          <p:blipFill>
            <a:blip r:embed="rId6">
              <a:alphaModFix/>
            </a:blip>
            <a:stretch>
              <a:fillRect/>
            </a:stretch>
          </p:blipFill>
          <p:spPr>
            <a:xfrm>
              <a:off x="3003562" y="1547850"/>
              <a:ext cx="3116575" cy="1816424"/>
            </a:xfrm>
            <a:prstGeom prst="rect">
              <a:avLst/>
            </a:prstGeom>
            <a:noFill/>
            <a:ln>
              <a:noFill/>
            </a:ln>
          </p:spPr>
        </p:pic>
      </p:grp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083"/>
                                        </p:tgtEl>
                                        <p:attrNameLst>
                                          <p:attrName>style.visibility</p:attrName>
                                        </p:attrNameLst>
                                      </p:cBhvr>
                                      <p:to>
                                        <p:strVal val="visible"/>
                                      </p:to>
                                    </p:set>
                                    <p:anim calcmode="lin" valueType="num">
                                      <p:cBhvr additive="base">
                                        <p:cTn id="7" dur="1000"/>
                                        <p:tgtEl>
                                          <p:spTgt spid="3083"/>
                                        </p:tgtEl>
                                        <p:attrNameLst>
                                          <p:attrName>ppt_y</p:attrName>
                                        </p:attrNameLst>
                                      </p:cBhvr>
                                      <p:tavLst>
                                        <p:tav tm="0">
                                          <p:val>
                                            <p:strVal val="#ppt_y+1"/>
                                          </p:val>
                                        </p:tav>
                                        <p:tav tm="100000">
                                          <p:val>
                                            <p:strVal val="#ppt_y"/>
                                          </p:val>
                                        </p:tav>
                                      </p:tavLst>
                                    </p:anim>
                                  </p:childTnLst>
                                </p:cTn>
                              </p:par>
                            </p:childTnLst>
                          </p:cTn>
                        </p:par>
                        <p:par>
                          <p:cTn id="8" fill="hold">
                            <p:stCondLst>
                              <p:cond delay="1000"/>
                            </p:stCondLst>
                            <p:childTnLst>
                              <p:par>
                                <p:cTn id="9" presetID="2" presetClass="entr" presetSubtype="4"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1000"/>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797"/>
        <p:cNvGrpSpPr/>
        <p:nvPr/>
      </p:nvGrpSpPr>
      <p:grpSpPr>
        <a:xfrm>
          <a:off x="0" y="0"/>
          <a:ext cx="0" cy="0"/>
          <a:chOff x="0" y="0"/>
          <a:chExt cx="0" cy="0"/>
        </a:xfrm>
      </p:grpSpPr>
      <p:sp>
        <p:nvSpPr>
          <p:cNvPr id="37" name="Rettangolo 36">
            <a:extLst>
              <a:ext uri="{FF2B5EF4-FFF2-40B4-BE49-F238E27FC236}">
                <a16:creationId xmlns:a16="http://schemas.microsoft.com/office/drawing/2014/main" id="{2313732A-F578-44D0-9B93-285AF8972262}"/>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798" name="Shape 798"/>
          <p:cNvPicPr preferRelativeResize="0"/>
          <p:nvPr/>
        </p:nvPicPr>
        <p:blipFill>
          <a:blip r:embed="rId3">
            <a:alphaModFix/>
          </a:blip>
          <a:stretch>
            <a:fillRect/>
          </a:stretch>
        </p:blipFill>
        <p:spPr>
          <a:xfrm>
            <a:off x="-84000" y="183075"/>
            <a:ext cx="9291700" cy="788900"/>
          </a:xfrm>
          <a:prstGeom prst="rect">
            <a:avLst/>
          </a:prstGeom>
          <a:noFill/>
          <a:ln>
            <a:noFill/>
          </a:ln>
        </p:spPr>
      </p:pic>
      <p:sp>
        <p:nvSpPr>
          <p:cNvPr id="801" name="Shape 801"/>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dirty="0">
                <a:solidFill>
                  <a:schemeClr val="accent3"/>
                </a:solidFill>
                <a:latin typeface="Roboto Slab"/>
                <a:ea typeface="Roboto Slab"/>
                <a:cs typeface="Roboto Slab"/>
                <a:sym typeface="Roboto Slab"/>
              </a:rPr>
              <a:t>1. HOME</a:t>
            </a: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rtl="0">
              <a:spcBef>
                <a:spcPts val="0"/>
              </a:spcBef>
              <a:buNone/>
            </a:pPr>
            <a:endParaRPr sz="1200" dirty="0"/>
          </a:p>
        </p:txBody>
      </p:sp>
      <p:grpSp>
        <p:nvGrpSpPr>
          <p:cNvPr id="802" name="Shape 802"/>
          <p:cNvGrpSpPr/>
          <p:nvPr/>
        </p:nvGrpSpPr>
        <p:grpSpPr>
          <a:xfrm>
            <a:off x="463725" y="1379200"/>
            <a:ext cx="4687399" cy="3367025"/>
            <a:chOff x="463725" y="1379200"/>
            <a:chExt cx="4687399" cy="3367025"/>
          </a:xfrm>
        </p:grpSpPr>
        <p:pic>
          <p:nvPicPr>
            <p:cNvPr id="803" name="Shape 803"/>
            <p:cNvPicPr preferRelativeResize="0"/>
            <p:nvPr/>
          </p:nvPicPr>
          <p:blipFill>
            <a:blip r:embed="rId4">
              <a:alphaModFix/>
            </a:blip>
            <a:stretch>
              <a:fillRect/>
            </a:stretch>
          </p:blipFill>
          <p:spPr>
            <a:xfrm>
              <a:off x="463725" y="1379200"/>
              <a:ext cx="4687399" cy="3367025"/>
            </a:xfrm>
            <a:prstGeom prst="rect">
              <a:avLst/>
            </a:prstGeom>
            <a:noFill/>
            <a:ln>
              <a:noFill/>
            </a:ln>
          </p:spPr>
        </p:pic>
        <p:pic>
          <p:nvPicPr>
            <p:cNvPr id="804" name="Shape 804"/>
            <p:cNvPicPr preferRelativeResize="0"/>
            <p:nvPr/>
          </p:nvPicPr>
          <p:blipFill>
            <a:blip r:embed="rId5">
              <a:alphaModFix/>
            </a:blip>
            <a:stretch>
              <a:fillRect/>
            </a:stretch>
          </p:blipFill>
          <p:spPr>
            <a:xfrm>
              <a:off x="929650" y="1620187"/>
              <a:ext cx="3810000" cy="2847975"/>
            </a:xfrm>
            <a:prstGeom prst="rect">
              <a:avLst/>
            </a:prstGeom>
            <a:noFill/>
            <a:ln>
              <a:noFill/>
            </a:ln>
          </p:spPr>
        </p:pic>
      </p:grpSp>
      <p:sp>
        <p:nvSpPr>
          <p:cNvPr id="805" name="Shape 805"/>
          <p:cNvSpPr/>
          <p:nvPr/>
        </p:nvSpPr>
        <p:spPr>
          <a:xfrm rot="5400000">
            <a:off x="5387399" y="1394525"/>
            <a:ext cx="4229100" cy="3284099"/>
          </a:xfrm>
          <a:prstGeom prst="rect">
            <a:avLst/>
          </a:prstGeom>
          <a:solidFill>
            <a:srgbClr val="708E90"/>
          </a:solidFill>
          <a:ln>
            <a:noFill/>
          </a:ln>
        </p:spPr>
        <p:txBody>
          <a:bodyPr lIns="91425" tIns="91425" rIns="91425" bIns="91425" anchor="ctr" anchorCtr="0">
            <a:noAutofit/>
          </a:bodyPr>
          <a:lstStyle/>
          <a:p>
            <a:pPr>
              <a:spcBef>
                <a:spcPts val="0"/>
              </a:spcBef>
              <a:buNone/>
            </a:pPr>
            <a:endParaRPr/>
          </a:p>
        </p:txBody>
      </p:sp>
      <p:grpSp>
        <p:nvGrpSpPr>
          <p:cNvPr id="806" name="Shape 806"/>
          <p:cNvGrpSpPr/>
          <p:nvPr/>
        </p:nvGrpSpPr>
        <p:grpSpPr>
          <a:xfrm>
            <a:off x="5447984" y="1333479"/>
            <a:ext cx="883960" cy="973897"/>
            <a:chOff x="5447984" y="1333479"/>
            <a:chExt cx="883960" cy="973897"/>
          </a:xfrm>
        </p:grpSpPr>
        <p:grpSp>
          <p:nvGrpSpPr>
            <p:cNvPr id="807" name="Shape 807"/>
            <p:cNvGrpSpPr/>
            <p:nvPr/>
          </p:nvGrpSpPr>
          <p:grpSpPr>
            <a:xfrm>
              <a:off x="5447984" y="1340882"/>
              <a:ext cx="877678" cy="966495"/>
              <a:chOff x="1649600" y="1217575"/>
              <a:chExt cx="995099" cy="1095799"/>
            </a:xfrm>
          </p:grpSpPr>
          <p:sp>
            <p:nvSpPr>
              <p:cNvPr id="808" name="Shape 808"/>
              <p:cNvSpPr/>
              <p:nvPr/>
            </p:nvSpPr>
            <p:spPr>
              <a:xfrm>
                <a:off x="1649600" y="1318275"/>
                <a:ext cx="995099" cy="995099"/>
              </a:xfrm>
              <a:prstGeom prst="roundRect">
                <a:avLst>
                  <a:gd name="adj" fmla="val 16667"/>
                </a:avLst>
              </a:prstGeom>
              <a:solidFill>
                <a:srgbClr val="89AEB0"/>
              </a:solidFill>
              <a:ln>
                <a:noFill/>
              </a:ln>
            </p:spPr>
            <p:txBody>
              <a:bodyPr lIns="91425" tIns="91425" rIns="91425" bIns="91425" anchor="ctr" anchorCtr="0">
                <a:noAutofit/>
              </a:bodyPr>
              <a:lstStyle/>
              <a:p>
                <a:pPr>
                  <a:spcBef>
                    <a:spcPts val="0"/>
                  </a:spcBef>
                  <a:buNone/>
                </a:pPr>
                <a:endParaRPr/>
              </a:p>
            </p:txBody>
          </p:sp>
          <p:sp>
            <p:nvSpPr>
              <p:cNvPr id="809" name="Shape 809"/>
              <p:cNvSpPr/>
              <p:nvPr/>
            </p:nvSpPr>
            <p:spPr>
              <a:xfrm>
                <a:off x="1649600" y="1217575"/>
                <a:ext cx="995099" cy="995099"/>
              </a:xfrm>
              <a:prstGeom prst="roundRect">
                <a:avLst>
                  <a:gd name="adj" fmla="val 16667"/>
                </a:avLst>
              </a:prstGeom>
              <a:solidFill>
                <a:srgbClr val="A8D5D7"/>
              </a:solidFill>
              <a:ln>
                <a:noFill/>
              </a:ln>
            </p:spPr>
            <p:txBody>
              <a:bodyPr lIns="91425" tIns="91425" rIns="91425" bIns="91425" anchor="ctr" anchorCtr="0">
                <a:noAutofit/>
              </a:bodyPr>
              <a:lstStyle/>
              <a:p>
                <a:pPr>
                  <a:spcBef>
                    <a:spcPts val="0"/>
                  </a:spcBef>
                  <a:buNone/>
                </a:pPr>
                <a:endParaRPr/>
              </a:p>
            </p:txBody>
          </p:sp>
        </p:grpSp>
        <p:pic>
          <p:nvPicPr>
            <p:cNvPr id="810" name="Shape 810"/>
            <p:cNvPicPr preferRelativeResize="0"/>
            <p:nvPr/>
          </p:nvPicPr>
          <p:blipFill>
            <a:blip r:embed="rId6">
              <a:alphaModFix/>
            </a:blip>
            <a:stretch>
              <a:fillRect/>
            </a:stretch>
          </p:blipFill>
          <p:spPr>
            <a:xfrm>
              <a:off x="5492382" y="1333479"/>
              <a:ext cx="788899" cy="788899"/>
            </a:xfrm>
            <a:prstGeom prst="rect">
              <a:avLst/>
            </a:prstGeom>
            <a:noFill/>
            <a:ln>
              <a:noFill/>
            </a:ln>
          </p:spPr>
        </p:pic>
        <p:sp>
          <p:nvSpPr>
            <p:cNvPr id="811" name="Shape 811"/>
            <p:cNvSpPr txBox="1"/>
            <p:nvPr/>
          </p:nvSpPr>
          <p:spPr>
            <a:xfrm>
              <a:off x="5454144" y="1844502"/>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lt1"/>
                  </a:solidFill>
                  <a:latin typeface="Roboto Slab"/>
                  <a:ea typeface="Roboto Slab"/>
                  <a:cs typeface="Roboto Slab"/>
                  <a:sym typeface="Roboto Slab"/>
                </a:rPr>
                <a:t>smartness</a:t>
              </a:r>
            </a:p>
          </p:txBody>
        </p:sp>
      </p:grpSp>
      <p:grpSp>
        <p:nvGrpSpPr>
          <p:cNvPr id="812" name="Shape 812"/>
          <p:cNvGrpSpPr/>
          <p:nvPr/>
        </p:nvGrpSpPr>
        <p:grpSpPr>
          <a:xfrm>
            <a:off x="5447250" y="2491510"/>
            <a:ext cx="879154" cy="1069459"/>
            <a:chOff x="5447250" y="2491510"/>
            <a:chExt cx="879154" cy="1069459"/>
          </a:xfrm>
        </p:grpSpPr>
        <p:grpSp>
          <p:nvGrpSpPr>
            <p:cNvPr id="813" name="Shape 813"/>
            <p:cNvGrpSpPr/>
            <p:nvPr/>
          </p:nvGrpSpPr>
          <p:grpSpPr>
            <a:xfrm>
              <a:off x="5448726" y="2594473"/>
              <a:ext cx="877678" cy="966495"/>
              <a:chOff x="846550" y="3039175"/>
              <a:chExt cx="995099" cy="1095799"/>
            </a:xfrm>
          </p:grpSpPr>
          <p:sp>
            <p:nvSpPr>
              <p:cNvPr id="814" name="Shape 814"/>
              <p:cNvSpPr/>
              <p:nvPr/>
            </p:nvSpPr>
            <p:spPr>
              <a:xfrm>
                <a:off x="846550" y="3139875"/>
                <a:ext cx="995099" cy="995099"/>
              </a:xfrm>
              <a:prstGeom prst="roundRect">
                <a:avLst>
                  <a:gd name="adj" fmla="val 16667"/>
                </a:avLst>
              </a:prstGeom>
              <a:solidFill>
                <a:srgbClr val="C06F63"/>
              </a:solidFill>
              <a:ln>
                <a:noFill/>
              </a:ln>
            </p:spPr>
            <p:txBody>
              <a:bodyPr lIns="91425" tIns="91425" rIns="91425" bIns="91425" anchor="ctr" anchorCtr="0">
                <a:noAutofit/>
              </a:bodyPr>
              <a:lstStyle/>
              <a:p>
                <a:pPr>
                  <a:spcBef>
                    <a:spcPts val="0"/>
                  </a:spcBef>
                  <a:buNone/>
                </a:pPr>
                <a:endParaRPr/>
              </a:p>
            </p:txBody>
          </p:sp>
          <p:sp>
            <p:nvSpPr>
              <p:cNvPr id="815" name="Shape 815"/>
              <p:cNvSpPr/>
              <p:nvPr/>
            </p:nvSpPr>
            <p:spPr>
              <a:xfrm>
                <a:off x="846550" y="3039175"/>
                <a:ext cx="995099" cy="995099"/>
              </a:xfrm>
              <a:prstGeom prst="roundRect">
                <a:avLst>
                  <a:gd name="adj" fmla="val 16667"/>
                </a:avLst>
              </a:prstGeom>
              <a:solidFill>
                <a:srgbClr val="F08B7C"/>
              </a:solidFill>
              <a:ln>
                <a:noFill/>
              </a:ln>
            </p:spPr>
            <p:txBody>
              <a:bodyPr lIns="91425" tIns="91425" rIns="91425" bIns="91425" anchor="ctr" anchorCtr="0">
                <a:noAutofit/>
              </a:bodyPr>
              <a:lstStyle/>
              <a:p>
                <a:pPr>
                  <a:spcBef>
                    <a:spcPts val="0"/>
                  </a:spcBef>
                  <a:buNone/>
                </a:pPr>
                <a:endParaRPr/>
              </a:p>
            </p:txBody>
          </p:sp>
        </p:grpSp>
        <p:pic>
          <p:nvPicPr>
            <p:cNvPr id="816" name="Shape 816"/>
            <p:cNvPicPr preferRelativeResize="0"/>
            <p:nvPr/>
          </p:nvPicPr>
          <p:blipFill>
            <a:blip r:embed="rId7">
              <a:alphaModFix/>
            </a:blip>
            <a:stretch>
              <a:fillRect/>
            </a:stretch>
          </p:blipFill>
          <p:spPr>
            <a:xfrm>
              <a:off x="5455157" y="2491510"/>
              <a:ext cx="864824" cy="864824"/>
            </a:xfrm>
            <a:prstGeom prst="rect">
              <a:avLst/>
            </a:prstGeom>
            <a:noFill/>
            <a:ln>
              <a:noFill/>
            </a:ln>
          </p:spPr>
        </p:pic>
        <p:sp>
          <p:nvSpPr>
            <p:cNvPr id="817" name="Shape 817"/>
            <p:cNvSpPr txBox="1"/>
            <p:nvPr/>
          </p:nvSpPr>
          <p:spPr>
            <a:xfrm>
              <a:off x="5447250" y="3129870"/>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lt1"/>
                  </a:solidFill>
                  <a:latin typeface="Roboto Slab"/>
                  <a:ea typeface="Roboto Slab"/>
                  <a:cs typeface="Roboto Slab"/>
                  <a:sym typeface="Roboto Slab"/>
                </a:rPr>
                <a:t>Quality</a:t>
              </a:r>
            </a:p>
          </p:txBody>
        </p:sp>
      </p:grpSp>
      <p:grpSp>
        <p:nvGrpSpPr>
          <p:cNvPr id="818" name="Shape 818"/>
          <p:cNvGrpSpPr/>
          <p:nvPr/>
        </p:nvGrpSpPr>
        <p:grpSpPr>
          <a:xfrm>
            <a:off x="6377083" y="1363959"/>
            <a:ext cx="2751600" cy="759280"/>
            <a:chOff x="6377083" y="1363959"/>
            <a:chExt cx="2751600" cy="759280"/>
          </a:xfrm>
        </p:grpSpPr>
        <p:sp>
          <p:nvSpPr>
            <p:cNvPr id="819" name="Shape 819"/>
            <p:cNvSpPr txBox="1"/>
            <p:nvPr/>
          </p:nvSpPr>
          <p:spPr>
            <a:xfrm>
              <a:off x="6377083" y="1363959"/>
              <a:ext cx="2751600" cy="365399"/>
            </a:xfrm>
            <a:prstGeom prst="rect">
              <a:avLst/>
            </a:prstGeom>
            <a:noFill/>
            <a:ln>
              <a:noFill/>
            </a:ln>
          </p:spPr>
          <p:txBody>
            <a:bodyPr lIns="91425" tIns="91425" rIns="91425" bIns="91425" anchor="t" anchorCtr="0">
              <a:noAutofit/>
            </a:bodyPr>
            <a:lstStyle/>
            <a:p>
              <a:pPr lvl="0" rtl="0">
                <a:lnSpc>
                  <a:spcPct val="115000"/>
                </a:lnSpc>
                <a:spcBef>
                  <a:spcPts val="0"/>
                </a:spcBef>
                <a:buClr>
                  <a:schemeClr val="dk1"/>
                </a:buClr>
                <a:buSzPct val="78571"/>
                <a:buFont typeface="Arial"/>
                <a:buNone/>
              </a:pPr>
              <a:r>
                <a:rPr lang="en" b="1" dirty="0">
                  <a:solidFill>
                    <a:schemeClr val="lt1"/>
                  </a:solidFill>
                  <a:latin typeface="Roboto Slab"/>
                  <a:ea typeface="Roboto Slab"/>
                  <a:cs typeface="Roboto Slab"/>
                  <a:sym typeface="Roboto Slab"/>
                </a:rPr>
                <a:t>First Value Proposition</a:t>
              </a:r>
            </a:p>
            <a:p>
              <a:pPr lvl="0" rtl="0">
                <a:lnSpc>
                  <a:spcPct val="115000"/>
                </a:lnSpc>
                <a:spcBef>
                  <a:spcPts val="0"/>
                </a:spcBef>
                <a:buClr>
                  <a:schemeClr val="dk1"/>
                </a:buClr>
                <a:buFont typeface="Arial"/>
                <a:buNone/>
              </a:pPr>
              <a:endParaRPr sz="1800" dirty="0">
                <a:solidFill>
                  <a:schemeClr val="lt1"/>
                </a:solidFill>
                <a:latin typeface="Roboto Slab"/>
                <a:ea typeface="Roboto Slab"/>
                <a:cs typeface="Roboto Slab"/>
                <a:sym typeface="Roboto Slab"/>
              </a:endParaRPr>
            </a:p>
            <a:p>
              <a:pPr lvl="0" rtl="0">
                <a:lnSpc>
                  <a:spcPct val="115000"/>
                </a:lnSpc>
                <a:spcBef>
                  <a:spcPts val="0"/>
                </a:spcBef>
                <a:buNone/>
              </a:pPr>
              <a:endParaRPr sz="1800" dirty="0">
                <a:solidFill>
                  <a:schemeClr val="lt1"/>
                </a:solidFill>
                <a:latin typeface="Roboto Slab"/>
                <a:ea typeface="Roboto Slab"/>
                <a:cs typeface="Roboto Slab"/>
                <a:sym typeface="Roboto Slab"/>
              </a:endParaRPr>
            </a:p>
            <a:p>
              <a:pPr lvl="0" rtl="0">
                <a:spcBef>
                  <a:spcPts val="0"/>
                </a:spcBef>
                <a:buNone/>
              </a:pPr>
              <a:endParaRPr sz="1800" dirty="0">
                <a:latin typeface="Roboto Slab"/>
                <a:ea typeface="Roboto Slab"/>
                <a:cs typeface="Roboto Slab"/>
                <a:sym typeface="Roboto Slab"/>
              </a:endParaRPr>
            </a:p>
          </p:txBody>
        </p:sp>
        <p:sp>
          <p:nvSpPr>
            <p:cNvPr id="820" name="Shape 820"/>
            <p:cNvSpPr txBox="1"/>
            <p:nvPr/>
          </p:nvSpPr>
          <p:spPr>
            <a:xfrm>
              <a:off x="6377085" y="1635440"/>
              <a:ext cx="2186999" cy="487799"/>
            </a:xfrm>
            <a:prstGeom prst="rect">
              <a:avLst/>
            </a:prstGeom>
            <a:noFill/>
            <a:ln>
              <a:noFill/>
            </a:ln>
          </p:spPr>
          <p:txBody>
            <a:bodyPr lIns="91425" tIns="91425" rIns="91425" bIns="91425" anchor="t" anchorCtr="0">
              <a:noAutofit/>
            </a:bodyPr>
            <a:lstStyle/>
            <a:p>
              <a:pPr lvl="0" rtl="0">
                <a:spcBef>
                  <a:spcPts val="0"/>
                </a:spcBef>
                <a:buClr>
                  <a:schemeClr val="dk1"/>
                </a:buClr>
                <a:buSzPct val="137500"/>
                <a:buFont typeface="Arial"/>
                <a:buNone/>
              </a:pPr>
              <a:r>
                <a:rPr lang="en" sz="800">
                  <a:solidFill>
                    <a:schemeClr val="lt1"/>
                  </a:solidFill>
                  <a:latin typeface="Roboto"/>
                  <a:ea typeface="Roboto"/>
                  <a:cs typeface="Roboto"/>
                  <a:sym typeface="Roboto"/>
                </a:rPr>
                <a:t>Lorem ipsum dolor sit amet, consectetur adipiscing elit. Nulla dapibus nunc vitae velit ornare, pretium mauris, in elementum.</a:t>
              </a:r>
            </a:p>
            <a:p>
              <a:pPr>
                <a:spcBef>
                  <a:spcPts val="0"/>
                </a:spcBef>
                <a:buNone/>
              </a:pPr>
              <a:endParaRPr sz="800">
                <a:solidFill>
                  <a:schemeClr val="lt1"/>
                </a:solidFill>
                <a:latin typeface="Roboto"/>
                <a:ea typeface="Roboto"/>
                <a:cs typeface="Roboto"/>
                <a:sym typeface="Roboto"/>
              </a:endParaRPr>
            </a:p>
          </p:txBody>
        </p:sp>
      </p:grpSp>
      <p:grpSp>
        <p:nvGrpSpPr>
          <p:cNvPr id="821" name="Shape 821"/>
          <p:cNvGrpSpPr/>
          <p:nvPr/>
        </p:nvGrpSpPr>
        <p:grpSpPr>
          <a:xfrm>
            <a:off x="6377083" y="2657375"/>
            <a:ext cx="2751600" cy="741874"/>
            <a:chOff x="6377083" y="2657375"/>
            <a:chExt cx="2751600" cy="741874"/>
          </a:xfrm>
        </p:grpSpPr>
        <p:sp>
          <p:nvSpPr>
            <p:cNvPr id="822" name="Shape 822"/>
            <p:cNvSpPr txBox="1"/>
            <p:nvPr/>
          </p:nvSpPr>
          <p:spPr>
            <a:xfrm>
              <a:off x="6377083" y="2657375"/>
              <a:ext cx="2751600" cy="365399"/>
            </a:xfrm>
            <a:prstGeom prst="rect">
              <a:avLst/>
            </a:prstGeom>
            <a:noFill/>
            <a:ln>
              <a:noFill/>
            </a:ln>
          </p:spPr>
          <p:txBody>
            <a:bodyPr lIns="91425" tIns="91425" rIns="91425" bIns="91425" anchor="t" anchorCtr="0">
              <a:noAutofit/>
            </a:bodyPr>
            <a:lstStyle/>
            <a:p>
              <a:pPr lvl="0" rtl="0">
                <a:lnSpc>
                  <a:spcPct val="115000"/>
                </a:lnSpc>
                <a:spcBef>
                  <a:spcPts val="0"/>
                </a:spcBef>
                <a:buClr>
                  <a:schemeClr val="dk1"/>
                </a:buClr>
                <a:buSzPct val="78571"/>
                <a:buFont typeface="Arial"/>
                <a:buNone/>
              </a:pPr>
              <a:r>
                <a:rPr lang="en" b="1">
                  <a:solidFill>
                    <a:schemeClr val="lt1"/>
                  </a:solidFill>
                  <a:latin typeface="Roboto Slab"/>
                  <a:ea typeface="Roboto Slab"/>
                  <a:cs typeface="Roboto Slab"/>
                  <a:sym typeface="Roboto Slab"/>
                </a:rPr>
                <a:t>Second Value Proposition</a:t>
              </a:r>
            </a:p>
            <a:p>
              <a:pPr lvl="0" rtl="0">
                <a:lnSpc>
                  <a:spcPct val="115000"/>
                </a:lnSpc>
                <a:spcBef>
                  <a:spcPts val="0"/>
                </a:spcBef>
                <a:buClr>
                  <a:schemeClr val="dk1"/>
                </a:buClr>
                <a:buFont typeface="Arial"/>
                <a:buNone/>
              </a:pPr>
              <a:endParaRPr sz="1800">
                <a:solidFill>
                  <a:schemeClr val="lt1"/>
                </a:solidFill>
                <a:latin typeface="Roboto Slab"/>
                <a:ea typeface="Roboto Slab"/>
                <a:cs typeface="Roboto Slab"/>
                <a:sym typeface="Roboto Slab"/>
              </a:endParaRPr>
            </a:p>
            <a:p>
              <a:pPr lvl="0" rtl="0">
                <a:lnSpc>
                  <a:spcPct val="115000"/>
                </a:lnSpc>
                <a:spcBef>
                  <a:spcPts val="0"/>
                </a:spcBef>
                <a:buNone/>
              </a:pPr>
              <a:endParaRPr sz="1800">
                <a:solidFill>
                  <a:schemeClr val="lt1"/>
                </a:solidFill>
                <a:latin typeface="Roboto Slab"/>
                <a:ea typeface="Roboto Slab"/>
                <a:cs typeface="Roboto Slab"/>
                <a:sym typeface="Roboto Slab"/>
              </a:endParaRPr>
            </a:p>
            <a:p>
              <a:pPr lvl="0" rtl="0">
                <a:spcBef>
                  <a:spcPts val="0"/>
                </a:spcBef>
                <a:buNone/>
              </a:pPr>
              <a:endParaRPr sz="1800">
                <a:latin typeface="Roboto Slab"/>
                <a:ea typeface="Roboto Slab"/>
                <a:cs typeface="Roboto Slab"/>
                <a:sym typeface="Roboto Slab"/>
              </a:endParaRPr>
            </a:p>
          </p:txBody>
        </p:sp>
        <p:sp>
          <p:nvSpPr>
            <p:cNvPr id="823" name="Shape 823"/>
            <p:cNvSpPr txBox="1"/>
            <p:nvPr/>
          </p:nvSpPr>
          <p:spPr>
            <a:xfrm>
              <a:off x="6399944" y="2911450"/>
              <a:ext cx="2186999" cy="487799"/>
            </a:xfrm>
            <a:prstGeom prst="rect">
              <a:avLst/>
            </a:prstGeom>
            <a:noFill/>
            <a:ln>
              <a:noFill/>
            </a:ln>
          </p:spPr>
          <p:txBody>
            <a:bodyPr lIns="91425" tIns="91425" rIns="91425" bIns="91425" anchor="t" anchorCtr="0">
              <a:noAutofit/>
            </a:bodyPr>
            <a:lstStyle/>
            <a:p>
              <a:pPr lvl="0" rtl="0">
                <a:spcBef>
                  <a:spcPts val="0"/>
                </a:spcBef>
                <a:buNone/>
              </a:pPr>
              <a:r>
                <a:rPr lang="en" sz="800">
                  <a:solidFill>
                    <a:schemeClr val="lt1"/>
                  </a:solidFill>
                  <a:latin typeface="Roboto"/>
                  <a:ea typeface="Roboto"/>
                  <a:cs typeface="Roboto"/>
                  <a:sym typeface="Roboto"/>
                </a:rPr>
                <a:t>Lorem ipsum dolor sit amet, consectetur adipiscing elit. Nulla dapibus nunc vitae velit ornare, pretium mauris, in elementum.</a:t>
              </a:r>
            </a:p>
            <a:p>
              <a:pPr lvl="0" rtl="0">
                <a:spcBef>
                  <a:spcPts val="0"/>
                </a:spcBef>
                <a:buNone/>
              </a:pPr>
              <a:endParaRPr sz="800">
                <a:solidFill>
                  <a:schemeClr val="lt1"/>
                </a:solidFill>
                <a:latin typeface="Roboto"/>
                <a:ea typeface="Roboto"/>
                <a:cs typeface="Roboto"/>
                <a:sym typeface="Roboto"/>
              </a:endParaRPr>
            </a:p>
          </p:txBody>
        </p:sp>
      </p:grpSp>
      <p:grpSp>
        <p:nvGrpSpPr>
          <p:cNvPr id="824" name="Shape 824"/>
          <p:cNvGrpSpPr/>
          <p:nvPr/>
        </p:nvGrpSpPr>
        <p:grpSpPr>
          <a:xfrm>
            <a:off x="6361843" y="3869952"/>
            <a:ext cx="2751600" cy="751977"/>
            <a:chOff x="6361843" y="3869952"/>
            <a:chExt cx="2751600" cy="751977"/>
          </a:xfrm>
        </p:grpSpPr>
        <p:sp>
          <p:nvSpPr>
            <p:cNvPr id="825" name="Shape 825"/>
            <p:cNvSpPr txBox="1"/>
            <p:nvPr/>
          </p:nvSpPr>
          <p:spPr>
            <a:xfrm>
              <a:off x="6361843" y="3869952"/>
              <a:ext cx="2751600" cy="365399"/>
            </a:xfrm>
            <a:prstGeom prst="rect">
              <a:avLst/>
            </a:prstGeom>
            <a:noFill/>
            <a:ln>
              <a:noFill/>
            </a:ln>
          </p:spPr>
          <p:txBody>
            <a:bodyPr lIns="91425" tIns="91425" rIns="91425" bIns="91425" anchor="t" anchorCtr="0">
              <a:noAutofit/>
            </a:bodyPr>
            <a:lstStyle/>
            <a:p>
              <a:pPr lvl="0" rtl="0">
                <a:lnSpc>
                  <a:spcPct val="115000"/>
                </a:lnSpc>
                <a:spcBef>
                  <a:spcPts val="0"/>
                </a:spcBef>
                <a:buClr>
                  <a:schemeClr val="dk1"/>
                </a:buClr>
                <a:buSzPct val="78571"/>
                <a:buFont typeface="Arial"/>
                <a:buNone/>
              </a:pPr>
              <a:r>
                <a:rPr lang="en" b="1">
                  <a:solidFill>
                    <a:schemeClr val="lt1"/>
                  </a:solidFill>
                  <a:latin typeface="Roboto Slab"/>
                  <a:ea typeface="Roboto Slab"/>
                  <a:cs typeface="Roboto Slab"/>
                  <a:sym typeface="Roboto Slab"/>
                </a:rPr>
                <a:t>Third Value Proposition</a:t>
              </a:r>
            </a:p>
            <a:p>
              <a:pPr lvl="0" rtl="0">
                <a:lnSpc>
                  <a:spcPct val="115000"/>
                </a:lnSpc>
                <a:spcBef>
                  <a:spcPts val="0"/>
                </a:spcBef>
                <a:buClr>
                  <a:schemeClr val="dk1"/>
                </a:buClr>
                <a:buFont typeface="Arial"/>
                <a:buNone/>
              </a:pPr>
              <a:endParaRPr sz="1800">
                <a:solidFill>
                  <a:schemeClr val="lt1"/>
                </a:solidFill>
                <a:latin typeface="Roboto Slab"/>
                <a:ea typeface="Roboto Slab"/>
                <a:cs typeface="Roboto Slab"/>
                <a:sym typeface="Roboto Slab"/>
              </a:endParaRPr>
            </a:p>
            <a:p>
              <a:pPr lvl="0" rtl="0">
                <a:lnSpc>
                  <a:spcPct val="115000"/>
                </a:lnSpc>
                <a:spcBef>
                  <a:spcPts val="0"/>
                </a:spcBef>
                <a:buNone/>
              </a:pPr>
              <a:endParaRPr sz="1800">
                <a:solidFill>
                  <a:schemeClr val="lt1"/>
                </a:solidFill>
                <a:latin typeface="Roboto Slab"/>
                <a:ea typeface="Roboto Slab"/>
                <a:cs typeface="Roboto Slab"/>
                <a:sym typeface="Roboto Slab"/>
              </a:endParaRPr>
            </a:p>
            <a:p>
              <a:pPr lvl="0" rtl="0">
                <a:spcBef>
                  <a:spcPts val="0"/>
                </a:spcBef>
                <a:buNone/>
              </a:pPr>
              <a:endParaRPr sz="1800">
                <a:latin typeface="Roboto Slab"/>
                <a:ea typeface="Roboto Slab"/>
                <a:cs typeface="Roboto Slab"/>
                <a:sym typeface="Roboto Slab"/>
              </a:endParaRPr>
            </a:p>
          </p:txBody>
        </p:sp>
        <p:sp>
          <p:nvSpPr>
            <p:cNvPr id="826" name="Shape 826"/>
            <p:cNvSpPr txBox="1"/>
            <p:nvPr/>
          </p:nvSpPr>
          <p:spPr>
            <a:xfrm>
              <a:off x="6392325" y="4134130"/>
              <a:ext cx="2186999" cy="487799"/>
            </a:xfrm>
            <a:prstGeom prst="rect">
              <a:avLst/>
            </a:prstGeom>
            <a:noFill/>
            <a:ln>
              <a:noFill/>
            </a:ln>
          </p:spPr>
          <p:txBody>
            <a:bodyPr lIns="91425" tIns="91425" rIns="91425" bIns="91425" anchor="t" anchorCtr="0">
              <a:noAutofit/>
            </a:bodyPr>
            <a:lstStyle/>
            <a:p>
              <a:pPr lvl="0" rtl="0">
                <a:spcBef>
                  <a:spcPts val="0"/>
                </a:spcBef>
                <a:buNone/>
              </a:pPr>
              <a:r>
                <a:rPr lang="en" sz="800">
                  <a:solidFill>
                    <a:schemeClr val="lt1"/>
                  </a:solidFill>
                  <a:latin typeface="Roboto"/>
                  <a:ea typeface="Roboto"/>
                  <a:cs typeface="Roboto"/>
                  <a:sym typeface="Roboto"/>
                </a:rPr>
                <a:t>Lorem ipsum dolor sit amet, consectetur adipiscing elit. Nulla dapibus nunc vitae velit ornare, pretium mauris, in elementum.</a:t>
              </a:r>
            </a:p>
            <a:p>
              <a:pPr lvl="0" rtl="0">
                <a:spcBef>
                  <a:spcPts val="0"/>
                </a:spcBef>
                <a:buNone/>
              </a:pPr>
              <a:endParaRPr sz="800">
                <a:solidFill>
                  <a:schemeClr val="lt1"/>
                </a:solidFill>
                <a:latin typeface="Roboto"/>
                <a:ea typeface="Roboto"/>
                <a:cs typeface="Roboto"/>
                <a:sym typeface="Roboto"/>
              </a:endParaRPr>
            </a:p>
          </p:txBody>
        </p:sp>
      </p:grpSp>
      <p:grpSp>
        <p:nvGrpSpPr>
          <p:cNvPr id="827" name="Shape 827"/>
          <p:cNvGrpSpPr/>
          <p:nvPr/>
        </p:nvGrpSpPr>
        <p:grpSpPr>
          <a:xfrm>
            <a:off x="5451695" y="3773835"/>
            <a:ext cx="882725" cy="1036894"/>
            <a:chOff x="5451695" y="3773835"/>
            <a:chExt cx="882725" cy="1036894"/>
          </a:xfrm>
        </p:grpSpPr>
        <p:grpSp>
          <p:nvGrpSpPr>
            <p:cNvPr id="828" name="Shape 828"/>
            <p:cNvGrpSpPr/>
            <p:nvPr/>
          </p:nvGrpSpPr>
          <p:grpSpPr>
            <a:xfrm>
              <a:off x="5454200" y="3844234"/>
              <a:ext cx="877678" cy="966495"/>
              <a:chOff x="6955650" y="1444825"/>
              <a:chExt cx="995099" cy="1095799"/>
            </a:xfrm>
          </p:grpSpPr>
          <p:sp>
            <p:nvSpPr>
              <p:cNvPr id="829" name="Shape 829"/>
              <p:cNvSpPr/>
              <p:nvPr/>
            </p:nvSpPr>
            <p:spPr>
              <a:xfrm>
                <a:off x="6955650" y="1545525"/>
                <a:ext cx="995099" cy="995099"/>
              </a:xfrm>
              <a:prstGeom prst="roundRect">
                <a:avLst>
                  <a:gd name="adj" fmla="val 16667"/>
                </a:avLst>
              </a:prstGeom>
              <a:solidFill>
                <a:srgbClr val="87A54F"/>
              </a:solidFill>
              <a:ln>
                <a:noFill/>
              </a:ln>
            </p:spPr>
            <p:txBody>
              <a:bodyPr lIns="91425" tIns="91425" rIns="91425" bIns="91425" anchor="ctr" anchorCtr="0">
                <a:noAutofit/>
              </a:bodyPr>
              <a:lstStyle/>
              <a:p>
                <a:pPr>
                  <a:spcBef>
                    <a:spcPts val="0"/>
                  </a:spcBef>
                  <a:buNone/>
                </a:pPr>
                <a:endParaRPr/>
              </a:p>
            </p:txBody>
          </p:sp>
          <p:sp>
            <p:nvSpPr>
              <p:cNvPr id="830" name="Shape 830"/>
              <p:cNvSpPr/>
              <p:nvPr/>
            </p:nvSpPr>
            <p:spPr>
              <a:xfrm>
                <a:off x="6955650" y="1444825"/>
                <a:ext cx="995099" cy="995099"/>
              </a:xfrm>
              <a:prstGeom prst="roundRect">
                <a:avLst>
                  <a:gd name="adj" fmla="val 16667"/>
                </a:avLst>
              </a:prstGeom>
              <a:solidFill>
                <a:srgbClr val="A5C961"/>
              </a:solidFill>
              <a:ln>
                <a:noFill/>
              </a:ln>
            </p:spPr>
            <p:txBody>
              <a:bodyPr lIns="91425" tIns="91425" rIns="91425" bIns="91425" anchor="ctr" anchorCtr="0">
                <a:noAutofit/>
              </a:bodyPr>
              <a:lstStyle/>
              <a:p>
                <a:pPr>
                  <a:spcBef>
                    <a:spcPts val="0"/>
                  </a:spcBef>
                  <a:buNone/>
                </a:pPr>
                <a:endParaRPr/>
              </a:p>
            </p:txBody>
          </p:sp>
        </p:grpSp>
        <p:sp>
          <p:nvSpPr>
            <p:cNvPr id="831" name="Shape 831"/>
            <p:cNvSpPr txBox="1"/>
            <p:nvPr/>
          </p:nvSpPr>
          <p:spPr>
            <a:xfrm>
              <a:off x="5456620" y="4392710"/>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lt1"/>
                  </a:solidFill>
                  <a:latin typeface="Roboto Slab"/>
                  <a:ea typeface="Roboto Slab"/>
                  <a:cs typeface="Roboto Slab"/>
                  <a:sym typeface="Roboto Slab"/>
                </a:rPr>
                <a:t>efficiency</a:t>
              </a:r>
            </a:p>
          </p:txBody>
        </p:sp>
        <p:pic>
          <p:nvPicPr>
            <p:cNvPr id="832" name="Shape 832"/>
            <p:cNvPicPr preferRelativeResize="0"/>
            <p:nvPr/>
          </p:nvPicPr>
          <p:blipFill>
            <a:blip r:embed="rId8">
              <a:alphaModFix/>
            </a:blip>
            <a:stretch>
              <a:fillRect/>
            </a:stretch>
          </p:blipFill>
          <p:spPr>
            <a:xfrm>
              <a:off x="5451695" y="3773835"/>
              <a:ext cx="877675" cy="877675"/>
            </a:xfrm>
            <a:prstGeom prst="rect">
              <a:avLst/>
            </a:prstGeom>
            <a:noFill/>
            <a:ln>
              <a:noFill/>
            </a:ln>
          </p:spPr>
        </p:pic>
      </p:grpSp>
      <p:pic>
        <p:nvPicPr>
          <p:cNvPr id="38" name="Immagine 37">
            <a:extLst>
              <a:ext uri="{FF2B5EF4-FFF2-40B4-BE49-F238E27FC236}">
                <a16:creationId xmlns:a16="http://schemas.microsoft.com/office/drawing/2014/main" id="{331530AA-3B17-42AB-BB2E-7D36808DE7CF}"/>
              </a:ext>
            </a:extLst>
          </p:cNvPr>
          <p:cNvPicPr>
            <a:picLocks noChangeAspect="1"/>
          </p:cNvPicPr>
          <p:nvPr/>
        </p:nvPicPr>
        <p:blipFill rotWithShape="1">
          <a:blip r:embed="rId9"/>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805"/>
                                        </p:tgtEl>
                                        <p:attrNameLst>
                                          <p:attrName>style.visibility</p:attrName>
                                        </p:attrNameLst>
                                      </p:cBhvr>
                                      <p:to>
                                        <p:strVal val="visible"/>
                                      </p:to>
                                    </p:set>
                                    <p:anim calcmode="lin" valueType="num">
                                      <p:cBhvr additive="base">
                                        <p:cTn id="7" dur="700"/>
                                        <p:tgtEl>
                                          <p:spTgt spid="805"/>
                                        </p:tgtEl>
                                        <p:attrNameLst>
                                          <p:attrName>ppt_x</p:attrName>
                                        </p:attrNameLst>
                                      </p:cBhvr>
                                      <p:tavLst>
                                        <p:tav tm="0">
                                          <p:val>
                                            <p:strVal val="#ppt_x+1"/>
                                          </p:val>
                                        </p:tav>
                                        <p:tav tm="100000">
                                          <p:val>
                                            <p:strVal val="#ppt_x"/>
                                          </p:val>
                                        </p:tav>
                                      </p:tavLst>
                                    </p:anim>
                                  </p:childTnLst>
                                </p:cTn>
                              </p:par>
                            </p:childTnLst>
                          </p:cTn>
                        </p:par>
                        <p:par>
                          <p:cTn id="8" fill="hold">
                            <p:stCondLst>
                              <p:cond delay="700"/>
                            </p:stCondLst>
                            <p:childTnLst>
                              <p:par>
                                <p:cTn id="9" presetID="2" presetClass="entr" presetSubtype="8" fill="hold" nodeType="afterEffect">
                                  <p:stCondLst>
                                    <p:cond delay="0"/>
                                  </p:stCondLst>
                                  <p:childTnLst>
                                    <p:set>
                                      <p:cBhvr>
                                        <p:cTn id="10" dur="1" fill="hold">
                                          <p:stCondLst>
                                            <p:cond delay="0"/>
                                          </p:stCondLst>
                                        </p:cTn>
                                        <p:tgtEl>
                                          <p:spTgt spid="802"/>
                                        </p:tgtEl>
                                        <p:attrNameLst>
                                          <p:attrName>style.visibility</p:attrName>
                                        </p:attrNameLst>
                                      </p:cBhvr>
                                      <p:to>
                                        <p:strVal val="visible"/>
                                      </p:to>
                                    </p:set>
                                    <p:anim calcmode="lin" valueType="num">
                                      <p:cBhvr additive="base">
                                        <p:cTn id="11" dur="700"/>
                                        <p:tgtEl>
                                          <p:spTgt spid="802"/>
                                        </p:tgtEl>
                                        <p:attrNameLst>
                                          <p:attrName>ppt_x</p:attrName>
                                        </p:attrNameLst>
                                      </p:cBhvr>
                                      <p:tavLst>
                                        <p:tav tm="0">
                                          <p:val>
                                            <p:strVal val="#ppt_x-1"/>
                                          </p:val>
                                        </p:tav>
                                        <p:tav tm="100000">
                                          <p:val>
                                            <p:strVal val="#ppt_x"/>
                                          </p:val>
                                        </p:tav>
                                      </p:tavLst>
                                    </p:anim>
                                  </p:childTnLst>
                                </p:cTn>
                              </p:par>
                            </p:childTnLst>
                          </p:cTn>
                        </p:par>
                        <p:par>
                          <p:cTn id="12" fill="hold">
                            <p:stCondLst>
                              <p:cond delay="1400"/>
                            </p:stCondLst>
                            <p:childTnLst>
                              <p:par>
                                <p:cTn id="13" presetID="23" presetClass="entr" presetSubtype="16" fill="hold" nodeType="afterEffect">
                                  <p:stCondLst>
                                    <p:cond delay="0"/>
                                  </p:stCondLst>
                                  <p:childTnLst>
                                    <p:set>
                                      <p:cBhvr>
                                        <p:cTn id="14" dur="1" fill="hold">
                                          <p:stCondLst>
                                            <p:cond delay="0"/>
                                          </p:stCondLst>
                                        </p:cTn>
                                        <p:tgtEl>
                                          <p:spTgt spid="806"/>
                                        </p:tgtEl>
                                        <p:attrNameLst>
                                          <p:attrName>style.visibility</p:attrName>
                                        </p:attrNameLst>
                                      </p:cBhvr>
                                      <p:to>
                                        <p:strVal val="visible"/>
                                      </p:to>
                                    </p:set>
                                    <p:anim calcmode="lin" valueType="num">
                                      <p:cBhvr additive="base">
                                        <p:cTn id="15" dur="700"/>
                                        <p:tgtEl>
                                          <p:spTgt spid="806"/>
                                        </p:tgtEl>
                                        <p:attrNameLst>
                                          <p:attrName>ppt_w</p:attrName>
                                        </p:attrNameLst>
                                      </p:cBhvr>
                                      <p:tavLst>
                                        <p:tav tm="0">
                                          <p:val>
                                            <p:strVal val="0"/>
                                          </p:val>
                                        </p:tav>
                                        <p:tav tm="100000">
                                          <p:val>
                                            <p:strVal val="#ppt_w"/>
                                          </p:val>
                                        </p:tav>
                                      </p:tavLst>
                                    </p:anim>
                                    <p:anim calcmode="lin" valueType="num">
                                      <p:cBhvr additive="base">
                                        <p:cTn id="16" dur="700"/>
                                        <p:tgtEl>
                                          <p:spTgt spid="806"/>
                                        </p:tgtEl>
                                        <p:attrNameLst>
                                          <p:attrName>ppt_h</p:attrName>
                                        </p:attrNameLst>
                                      </p:cBhvr>
                                      <p:tavLst>
                                        <p:tav tm="0">
                                          <p:val>
                                            <p:strVal val="0"/>
                                          </p:val>
                                        </p:tav>
                                        <p:tav tm="100000">
                                          <p:val>
                                            <p:strVal val="#ppt_h"/>
                                          </p:val>
                                        </p:tav>
                                      </p:tavLst>
                                    </p:anim>
                                  </p:childTnLst>
                                </p:cTn>
                              </p:par>
                            </p:childTnLst>
                          </p:cTn>
                        </p:par>
                        <p:par>
                          <p:cTn id="17" fill="hold">
                            <p:stCondLst>
                              <p:cond delay="2100"/>
                            </p:stCondLst>
                            <p:childTnLst>
                              <p:par>
                                <p:cTn id="18" presetID="23" presetClass="entr" presetSubtype="16" fill="hold" nodeType="afterEffect">
                                  <p:stCondLst>
                                    <p:cond delay="0"/>
                                  </p:stCondLst>
                                  <p:childTnLst>
                                    <p:set>
                                      <p:cBhvr>
                                        <p:cTn id="19" dur="1" fill="hold">
                                          <p:stCondLst>
                                            <p:cond delay="0"/>
                                          </p:stCondLst>
                                        </p:cTn>
                                        <p:tgtEl>
                                          <p:spTgt spid="812"/>
                                        </p:tgtEl>
                                        <p:attrNameLst>
                                          <p:attrName>style.visibility</p:attrName>
                                        </p:attrNameLst>
                                      </p:cBhvr>
                                      <p:to>
                                        <p:strVal val="visible"/>
                                      </p:to>
                                    </p:set>
                                    <p:anim calcmode="lin" valueType="num">
                                      <p:cBhvr additive="base">
                                        <p:cTn id="20" dur="700"/>
                                        <p:tgtEl>
                                          <p:spTgt spid="812"/>
                                        </p:tgtEl>
                                        <p:attrNameLst>
                                          <p:attrName>ppt_w</p:attrName>
                                        </p:attrNameLst>
                                      </p:cBhvr>
                                      <p:tavLst>
                                        <p:tav tm="0">
                                          <p:val>
                                            <p:strVal val="0"/>
                                          </p:val>
                                        </p:tav>
                                        <p:tav tm="100000">
                                          <p:val>
                                            <p:strVal val="#ppt_w"/>
                                          </p:val>
                                        </p:tav>
                                      </p:tavLst>
                                    </p:anim>
                                    <p:anim calcmode="lin" valueType="num">
                                      <p:cBhvr additive="base">
                                        <p:cTn id="21" dur="700"/>
                                        <p:tgtEl>
                                          <p:spTgt spid="812"/>
                                        </p:tgtEl>
                                        <p:attrNameLst>
                                          <p:attrName>ppt_h</p:attrName>
                                        </p:attrNameLst>
                                      </p:cBhvr>
                                      <p:tavLst>
                                        <p:tav tm="0">
                                          <p:val>
                                            <p:strVal val="0"/>
                                          </p:val>
                                        </p:tav>
                                        <p:tav tm="100000">
                                          <p:val>
                                            <p:strVal val="#ppt_h"/>
                                          </p:val>
                                        </p:tav>
                                      </p:tavLst>
                                    </p:anim>
                                  </p:childTnLst>
                                </p:cTn>
                              </p:par>
                            </p:childTnLst>
                          </p:cTn>
                        </p:par>
                        <p:par>
                          <p:cTn id="22" fill="hold">
                            <p:stCondLst>
                              <p:cond delay="2800"/>
                            </p:stCondLst>
                            <p:childTnLst>
                              <p:par>
                                <p:cTn id="23" presetID="23" presetClass="entr" presetSubtype="16" fill="hold" nodeType="afterEffect">
                                  <p:stCondLst>
                                    <p:cond delay="0"/>
                                  </p:stCondLst>
                                  <p:childTnLst>
                                    <p:set>
                                      <p:cBhvr>
                                        <p:cTn id="24" dur="1" fill="hold">
                                          <p:stCondLst>
                                            <p:cond delay="0"/>
                                          </p:stCondLst>
                                        </p:cTn>
                                        <p:tgtEl>
                                          <p:spTgt spid="827"/>
                                        </p:tgtEl>
                                        <p:attrNameLst>
                                          <p:attrName>style.visibility</p:attrName>
                                        </p:attrNameLst>
                                      </p:cBhvr>
                                      <p:to>
                                        <p:strVal val="visible"/>
                                      </p:to>
                                    </p:set>
                                    <p:anim calcmode="lin" valueType="num">
                                      <p:cBhvr additive="base">
                                        <p:cTn id="25" dur="600"/>
                                        <p:tgtEl>
                                          <p:spTgt spid="827"/>
                                        </p:tgtEl>
                                        <p:attrNameLst>
                                          <p:attrName>ppt_w</p:attrName>
                                        </p:attrNameLst>
                                      </p:cBhvr>
                                      <p:tavLst>
                                        <p:tav tm="0">
                                          <p:val>
                                            <p:strVal val="0"/>
                                          </p:val>
                                        </p:tav>
                                        <p:tav tm="100000">
                                          <p:val>
                                            <p:strVal val="#ppt_w"/>
                                          </p:val>
                                        </p:tav>
                                      </p:tavLst>
                                    </p:anim>
                                    <p:anim calcmode="lin" valueType="num">
                                      <p:cBhvr additive="base">
                                        <p:cTn id="26" dur="600"/>
                                        <p:tgtEl>
                                          <p:spTgt spid="827"/>
                                        </p:tgtEl>
                                        <p:attrNameLst>
                                          <p:attrName>ppt_h</p:attrName>
                                        </p:attrNameLst>
                                      </p:cBhvr>
                                      <p:tavLst>
                                        <p:tav tm="0">
                                          <p:val>
                                            <p:strVal val="0"/>
                                          </p:val>
                                        </p:tav>
                                        <p:tav tm="100000">
                                          <p:val>
                                            <p:strVal val="#ppt_h"/>
                                          </p:val>
                                        </p:tav>
                                      </p:tavLst>
                                    </p:anim>
                                  </p:childTnLst>
                                </p:cTn>
                              </p:par>
                            </p:childTnLst>
                          </p:cTn>
                        </p:par>
                        <p:par>
                          <p:cTn id="27" fill="hold">
                            <p:stCondLst>
                              <p:cond delay="3400"/>
                            </p:stCondLst>
                            <p:childTnLst>
                              <p:par>
                                <p:cTn id="28" presetID="2" presetClass="entr" presetSubtype="2" fill="hold" nodeType="afterEffect">
                                  <p:stCondLst>
                                    <p:cond delay="0"/>
                                  </p:stCondLst>
                                  <p:childTnLst>
                                    <p:set>
                                      <p:cBhvr>
                                        <p:cTn id="29" dur="1" fill="hold">
                                          <p:stCondLst>
                                            <p:cond delay="0"/>
                                          </p:stCondLst>
                                        </p:cTn>
                                        <p:tgtEl>
                                          <p:spTgt spid="818"/>
                                        </p:tgtEl>
                                        <p:attrNameLst>
                                          <p:attrName>style.visibility</p:attrName>
                                        </p:attrNameLst>
                                      </p:cBhvr>
                                      <p:to>
                                        <p:strVal val="visible"/>
                                      </p:to>
                                    </p:set>
                                    <p:anim calcmode="lin" valueType="num">
                                      <p:cBhvr additive="base">
                                        <p:cTn id="30" dur="700"/>
                                        <p:tgtEl>
                                          <p:spTgt spid="818"/>
                                        </p:tgtEl>
                                        <p:attrNameLst>
                                          <p:attrName>ppt_x</p:attrName>
                                        </p:attrNameLst>
                                      </p:cBhvr>
                                      <p:tavLst>
                                        <p:tav tm="0">
                                          <p:val>
                                            <p:strVal val="#ppt_x+1"/>
                                          </p:val>
                                        </p:tav>
                                        <p:tav tm="100000">
                                          <p:val>
                                            <p:strVal val="#ppt_x"/>
                                          </p:val>
                                        </p:tav>
                                      </p:tavLst>
                                    </p:anim>
                                  </p:childTnLst>
                                </p:cTn>
                              </p:par>
                            </p:childTnLst>
                          </p:cTn>
                        </p:par>
                        <p:par>
                          <p:cTn id="31" fill="hold">
                            <p:stCondLst>
                              <p:cond delay="4100"/>
                            </p:stCondLst>
                            <p:childTnLst>
                              <p:par>
                                <p:cTn id="32" presetID="2" presetClass="entr" presetSubtype="2" fill="hold" nodeType="afterEffect">
                                  <p:stCondLst>
                                    <p:cond delay="0"/>
                                  </p:stCondLst>
                                  <p:childTnLst>
                                    <p:set>
                                      <p:cBhvr>
                                        <p:cTn id="33" dur="1" fill="hold">
                                          <p:stCondLst>
                                            <p:cond delay="0"/>
                                          </p:stCondLst>
                                        </p:cTn>
                                        <p:tgtEl>
                                          <p:spTgt spid="821"/>
                                        </p:tgtEl>
                                        <p:attrNameLst>
                                          <p:attrName>style.visibility</p:attrName>
                                        </p:attrNameLst>
                                      </p:cBhvr>
                                      <p:to>
                                        <p:strVal val="visible"/>
                                      </p:to>
                                    </p:set>
                                    <p:anim calcmode="lin" valueType="num">
                                      <p:cBhvr additive="base">
                                        <p:cTn id="34" dur="700"/>
                                        <p:tgtEl>
                                          <p:spTgt spid="821"/>
                                        </p:tgtEl>
                                        <p:attrNameLst>
                                          <p:attrName>ppt_x</p:attrName>
                                        </p:attrNameLst>
                                      </p:cBhvr>
                                      <p:tavLst>
                                        <p:tav tm="0">
                                          <p:val>
                                            <p:strVal val="#ppt_x+1"/>
                                          </p:val>
                                        </p:tav>
                                        <p:tav tm="100000">
                                          <p:val>
                                            <p:strVal val="#ppt_x"/>
                                          </p:val>
                                        </p:tav>
                                      </p:tavLst>
                                    </p:anim>
                                  </p:childTnLst>
                                </p:cTn>
                              </p:par>
                            </p:childTnLst>
                          </p:cTn>
                        </p:par>
                        <p:par>
                          <p:cTn id="35" fill="hold">
                            <p:stCondLst>
                              <p:cond delay="4800"/>
                            </p:stCondLst>
                            <p:childTnLst>
                              <p:par>
                                <p:cTn id="36" presetID="2" presetClass="entr" presetSubtype="2" fill="hold" nodeType="afterEffect">
                                  <p:stCondLst>
                                    <p:cond delay="0"/>
                                  </p:stCondLst>
                                  <p:childTnLst>
                                    <p:set>
                                      <p:cBhvr>
                                        <p:cTn id="37" dur="1" fill="hold">
                                          <p:stCondLst>
                                            <p:cond delay="0"/>
                                          </p:stCondLst>
                                        </p:cTn>
                                        <p:tgtEl>
                                          <p:spTgt spid="824"/>
                                        </p:tgtEl>
                                        <p:attrNameLst>
                                          <p:attrName>style.visibility</p:attrName>
                                        </p:attrNameLst>
                                      </p:cBhvr>
                                      <p:to>
                                        <p:strVal val="visible"/>
                                      </p:to>
                                    </p:set>
                                    <p:anim calcmode="lin" valueType="num">
                                      <p:cBhvr additive="base">
                                        <p:cTn id="38" dur="700"/>
                                        <p:tgtEl>
                                          <p:spTgt spid="82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09"/>
        <p:cNvGrpSpPr/>
        <p:nvPr/>
      </p:nvGrpSpPr>
      <p:grpSpPr>
        <a:xfrm>
          <a:off x="0" y="0"/>
          <a:ext cx="0" cy="0"/>
          <a:chOff x="0" y="0"/>
          <a:chExt cx="0" cy="0"/>
        </a:xfrm>
      </p:grpSpPr>
      <p:sp>
        <p:nvSpPr>
          <p:cNvPr id="35" name="Rettangolo 34">
            <a:extLst>
              <a:ext uri="{FF2B5EF4-FFF2-40B4-BE49-F238E27FC236}">
                <a16:creationId xmlns:a16="http://schemas.microsoft.com/office/drawing/2014/main" id="{AC5BB186-FF6A-4534-9681-43181BD96D7E}"/>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grpSp>
        <p:nvGrpSpPr>
          <p:cNvPr id="610" name="Shape 610"/>
          <p:cNvGrpSpPr/>
          <p:nvPr/>
        </p:nvGrpSpPr>
        <p:grpSpPr>
          <a:xfrm>
            <a:off x="2833072" y="1379234"/>
            <a:ext cx="3457573" cy="2842249"/>
            <a:chOff x="2833072" y="1379234"/>
            <a:chExt cx="3457573" cy="2842249"/>
          </a:xfrm>
        </p:grpSpPr>
        <p:pic>
          <p:nvPicPr>
            <p:cNvPr id="611" name="Shape 611"/>
            <p:cNvPicPr preferRelativeResize="0"/>
            <p:nvPr/>
          </p:nvPicPr>
          <p:blipFill>
            <a:blip r:embed="rId3">
              <a:alphaModFix/>
            </a:blip>
            <a:stretch>
              <a:fillRect/>
            </a:stretch>
          </p:blipFill>
          <p:spPr>
            <a:xfrm>
              <a:off x="2833072" y="1379234"/>
              <a:ext cx="3457573" cy="2842249"/>
            </a:xfrm>
            <a:prstGeom prst="rect">
              <a:avLst/>
            </a:prstGeom>
            <a:noFill/>
            <a:ln>
              <a:noFill/>
            </a:ln>
          </p:spPr>
        </p:pic>
        <p:pic>
          <p:nvPicPr>
            <p:cNvPr id="612" name="Shape 612"/>
            <p:cNvPicPr preferRelativeResize="0"/>
            <p:nvPr/>
          </p:nvPicPr>
          <p:blipFill>
            <a:blip r:embed="rId4">
              <a:alphaModFix/>
            </a:blip>
            <a:stretch>
              <a:fillRect/>
            </a:stretch>
          </p:blipFill>
          <p:spPr>
            <a:xfrm>
              <a:off x="3003562" y="1547850"/>
              <a:ext cx="3116575" cy="1816424"/>
            </a:xfrm>
            <a:prstGeom prst="rect">
              <a:avLst/>
            </a:prstGeom>
            <a:noFill/>
            <a:ln>
              <a:noFill/>
            </a:ln>
          </p:spPr>
        </p:pic>
      </p:grpSp>
      <p:pic>
        <p:nvPicPr>
          <p:cNvPr id="613" name="Shape 613"/>
          <p:cNvPicPr preferRelativeResize="0"/>
          <p:nvPr/>
        </p:nvPicPr>
        <p:blipFill>
          <a:blip r:embed="rId5">
            <a:alphaModFix/>
          </a:blip>
          <a:stretch>
            <a:fillRect/>
          </a:stretch>
        </p:blipFill>
        <p:spPr>
          <a:xfrm>
            <a:off x="-84000" y="183075"/>
            <a:ext cx="9291700" cy="788900"/>
          </a:xfrm>
          <a:prstGeom prst="rect">
            <a:avLst/>
          </a:prstGeom>
          <a:noFill/>
          <a:ln>
            <a:noFill/>
          </a:ln>
        </p:spPr>
      </p:pic>
      <p:sp>
        <p:nvSpPr>
          <p:cNvPr id="616" name="Shape 616"/>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Value proposition</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pic>
        <p:nvPicPr>
          <p:cNvPr id="617" name="Shape 617"/>
          <p:cNvPicPr preferRelativeResize="0"/>
          <p:nvPr/>
        </p:nvPicPr>
        <p:blipFill>
          <a:blip r:embed="rId5">
            <a:alphaModFix/>
          </a:blip>
          <a:stretch>
            <a:fillRect/>
          </a:stretch>
        </p:blipFill>
        <p:spPr>
          <a:xfrm>
            <a:off x="-236225" y="4053825"/>
            <a:ext cx="9527924" cy="1173474"/>
          </a:xfrm>
          <a:prstGeom prst="rect">
            <a:avLst/>
          </a:prstGeom>
          <a:noFill/>
          <a:ln>
            <a:noFill/>
          </a:ln>
        </p:spPr>
      </p:pic>
      <p:sp>
        <p:nvSpPr>
          <p:cNvPr id="618" name="Shape 618"/>
          <p:cNvSpPr txBox="1"/>
          <p:nvPr/>
        </p:nvSpPr>
        <p:spPr>
          <a:xfrm>
            <a:off x="314700" y="4246062"/>
            <a:ext cx="8514600" cy="789000"/>
          </a:xfrm>
          <a:prstGeom prst="rect">
            <a:avLst/>
          </a:prstGeom>
          <a:noFill/>
          <a:ln>
            <a:noFill/>
          </a:ln>
        </p:spPr>
        <p:txBody>
          <a:bodyPr lIns="91425" tIns="91425" rIns="91425" bIns="91425" anchor="t" anchorCtr="0">
            <a:noAutofit/>
          </a:bodyPr>
          <a:lstStyle/>
          <a:p>
            <a:pPr lvl="0" algn="ctr" rtl="0">
              <a:spcBef>
                <a:spcPts val="0"/>
              </a:spcBef>
              <a:buClr>
                <a:schemeClr val="dk1"/>
              </a:buClr>
              <a:buSzPct val="110000"/>
              <a:buFont typeface="Arial"/>
              <a:buNone/>
            </a:pPr>
            <a:r>
              <a:rPr lang="en" sz="1000" dirty="0">
                <a:solidFill>
                  <a:srgbClr val="666666"/>
                </a:solidFill>
                <a:latin typeface="Roboto"/>
                <a:ea typeface="Roboto"/>
                <a:cs typeface="Roboto"/>
                <a:sym typeface="Roboto"/>
              </a:rPr>
              <a:t>Lorem ipsum dolor sit </a:t>
            </a:r>
            <a:r>
              <a:rPr lang="en" sz="1000" dirty="0" err="1">
                <a:solidFill>
                  <a:srgbClr val="666666"/>
                </a:solidFill>
                <a:latin typeface="Roboto"/>
                <a:ea typeface="Roboto"/>
                <a:cs typeface="Roboto"/>
                <a:sym typeface="Roboto"/>
              </a:rPr>
              <a:t>amet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consectetur</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adipiscing</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elit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Nulla</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dignissim</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eros</a:t>
            </a:r>
            <a:r>
              <a:rPr lang="en" sz="1000" dirty="0">
                <a:solidFill>
                  <a:srgbClr val="666666"/>
                </a:solidFill>
                <a:latin typeface="Roboto"/>
                <a:ea typeface="Roboto"/>
                <a:cs typeface="Roboto"/>
                <a:sym typeface="Roboto"/>
              </a:rPr>
              <a:t> sit </a:t>
            </a:r>
            <a:r>
              <a:rPr lang="en" sz="1000" dirty="0" err="1">
                <a:solidFill>
                  <a:srgbClr val="666666"/>
                </a:solidFill>
                <a:latin typeface="Roboto"/>
                <a:ea typeface="Roboto"/>
                <a:cs typeface="Roboto"/>
                <a:sym typeface="Roboto"/>
              </a:rPr>
              <a:t>amet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enissim</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eros</a:t>
            </a:r>
            <a:r>
              <a:rPr lang="en" sz="1000" dirty="0">
                <a:solidFill>
                  <a:srgbClr val="666666"/>
                </a:solidFill>
                <a:latin typeface="Roboto"/>
                <a:ea typeface="Roboto"/>
                <a:cs typeface="Roboto"/>
                <a:sym typeface="Roboto"/>
              </a:rPr>
              <a:t> sit </a:t>
            </a:r>
            <a:r>
              <a:rPr lang="en" sz="1000" dirty="0" err="1">
                <a:solidFill>
                  <a:srgbClr val="666666"/>
                </a:solidFill>
                <a:latin typeface="Roboto"/>
                <a:ea typeface="Roboto"/>
                <a:cs typeface="Roboto"/>
                <a:sym typeface="Roboto"/>
              </a:rPr>
              <a:t>amet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enissim</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eros</a:t>
            </a:r>
            <a:r>
              <a:rPr lang="en" sz="1000" dirty="0">
                <a:solidFill>
                  <a:srgbClr val="666666"/>
                </a:solidFill>
                <a:latin typeface="Roboto"/>
                <a:ea typeface="Roboto"/>
                <a:cs typeface="Roboto"/>
                <a:sym typeface="Roboto"/>
              </a:rPr>
              <a:t> sit </a:t>
            </a:r>
            <a:r>
              <a:rPr lang="en" sz="1000" dirty="0" err="1">
                <a:solidFill>
                  <a:srgbClr val="666666"/>
                </a:solidFill>
                <a:latin typeface="Roboto"/>
                <a:ea typeface="Roboto"/>
                <a:cs typeface="Roboto"/>
                <a:sym typeface="Roboto"/>
              </a:rPr>
              <a:t>amet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enissim</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eros</a:t>
            </a:r>
            <a:r>
              <a:rPr lang="en" sz="1000" dirty="0">
                <a:solidFill>
                  <a:srgbClr val="666666"/>
                </a:solidFill>
                <a:latin typeface="Roboto"/>
                <a:ea typeface="Roboto"/>
                <a:cs typeface="Roboto"/>
                <a:sym typeface="Roboto"/>
              </a:rPr>
              <a:t> sit </a:t>
            </a:r>
            <a:r>
              <a:rPr lang="en" sz="1000" dirty="0" err="1">
                <a:solidFill>
                  <a:srgbClr val="666666"/>
                </a:solidFill>
                <a:latin typeface="Roboto"/>
                <a:ea typeface="Roboto"/>
                <a:cs typeface="Roboto"/>
                <a:sym typeface="Roboto"/>
              </a:rPr>
              <a:t>amet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enissim</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eros</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siros</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tincidunt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tristique</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consectetur</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adipiscing</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elit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Nulla</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dignissim</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eros</a:t>
            </a:r>
            <a:r>
              <a:rPr lang="en" sz="1000" dirty="0">
                <a:solidFill>
                  <a:srgbClr val="666666"/>
                </a:solidFill>
                <a:latin typeface="Roboto"/>
                <a:ea typeface="Roboto"/>
                <a:cs typeface="Roboto"/>
                <a:sym typeface="Roboto"/>
              </a:rPr>
              <a:t> sit </a:t>
            </a:r>
            <a:r>
              <a:rPr lang="en" sz="1000" dirty="0" err="1">
                <a:solidFill>
                  <a:srgbClr val="666666"/>
                </a:solidFill>
                <a:latin typeface="Roboto"/>
                <a:ea typeface="Roboto"/>
                <a:cs typeface="Roboto"/>
                <a:sym typeface="Roboto"/>
              </a:rPr>
              <a:t>amet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enissim</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eros</a:t>
            </a:r>
            <a:r>
              <a:rPr lang="en" sz="1000" dirty="0">
                <a:solidFill>
                  <a:srgbClr val="666666"/>
                </a:solidFill>
                <a:latin typeface="Roboto"/>
                <a:ea typeface="Roboto"/>
                <a:cs typeface="Roboto"/>
                <a:sym typeface="Roboto"/>
              </a:rPr>
              <a:t> sit </a:t>
            </a:r>
            <a:r>
              <a:rPr lang="en" sz="1000" dirty="0" err="1">
                <a:solidFill>
                  <a:srgbClr val="666666"/>
                </a:solidFill>
                <a:latin typeface="Roboto"/>
                <a:ea typeface="Roboto"/>
                <a:cs typeface="Roboto"/>
                <a:sym typeface="Roboto"/>
              </a:rPr>
              <a:t>amet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enissim</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eros</a:t>
            </a:r>
            <a:r>
              <a:rPr lang="en" sz="1000" dirty="0">
                <a:solidFill>
                  <a:srgbClr val="666666"/>
                </a:solidFill>
                <a:latin typeface="Roboto"/>
                <a:ea typeface="Roboto"/>
                <a:cs typeface="Roboto"/>
                <a:sym typeface="Roboto"/>
              </a:rPr>
              <a:t> sit </a:t>
            </a:r>
            <a:r>
              <a:rPr lang="en" sz="1000" dirty="0" err="1">
                <a:solidFill>
                  <a:srgbClr val="666666"/>
                </a:solidFill>
                <a:latin typeface="Roboto"/>
                <a:ea typeface="Roboto"/>
                <a:cs typeface="Roboto"/>
                <a:sym typeface="Roboto"/>
              </a:rPr>
              <a:t>amet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ue</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consectetur</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adipiscing</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elit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Nuue</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consectetur</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adipiscing</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elit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Nuenissim</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eros</a:t>
            </a:r>
            <a:r>
              <a:rPr lang="en" sz="1000" dirty="0">
                <a:solidFill>
                  <a:srgbClr val="666666"/>
                </a:solidFill>
                <a:latin typeface="Roboto"/>
                <a:ea typeface="Roboto"/>
                <a:cs typeface="Roboto"/>
                <a:sym typeface="Roboto"/>
              </a:rPr>
              <a:t> sit </a:t>
            </a:r>
            <a:r>
              <a:rPr lang="en" sz="1000" dirty="0" err="1">
                <a:solidFill>
                  <a:srgbClr val="666666"/>
                </a:solidFill>
                <a:latin typeface="Roboto"/>
                <a:ea typeface="Roboto"/>
                <a:cs typeface="Roboto"/>
                <a:sym typeface="Roboto"/>
              </a:rPr>
              <a:t>amet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enissim</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eros</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siros</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tincidunt</a:t>
            </a:r>
            <a:r>
              <a:rPr lang="en" sz="1000" dirty="0">
                <a:solidFill>
                  <a:srgbClr val="666666"/>
                </a:solidFill>
                <a:latin typeface="Roboto"/>
                <a:ea typeface="Roboto"/>
                <a:cs typeface="Roboto"/>
                <a:sym typeface="Roboto"/>
              </a:rPr>
              <a:t> </a:t>
            </a:r>
            <a:r>
              <a:rPr lang="en" sz="1000" dirty="0" err="1">
                <a:solidFill>
                  <a:srgbClr val="666666"/>
                </a:solidFill>
                <a:latin typeface="Roboto"/>
                <a:ea typeface="Roboto"/>
                <a:cs typeface="Roboto"/>
                <a:sym typeface="Roboto"/>
              </a:rPr>
              <a:t>tristique</a:t>
            </a:r>
            <a:r>
              <a:rPr lang="en" sz="1000" dirty="0">
                <a:solidFill>
                  <a:srgbClr val="666666"/>
                </a:solidFill>
                <a:latin typeface="Roboto"/>
                <a:ea typeface="Roboto"/>
                <a:cs typeface="Roboto"/>
                <a:sym typeface="Roboto"/>
              </a:rPr>
              <a:t>.</a:t>
            </a:r>
          </a:p>
          <a:p>
            <a:pPr lvl="0" algn="ctr" rtl="0">
              <a:spcBef>
                <a:spcPts val="0"/>
              </a:spcBef>
              <a:buClr>
                <a:schemeClr val="dk1"/>
              </a:buClr>
              <a:buFont typeface="Arial"/>
              <a:buNone/>
            </a:pPr>
            <a:endParaRPr sz="1000" dirty="0">
              <a:solidFill>
                <a:srgbClr val="666666"/>
              </a:solidFill>
              <a:latin typeface="Roboto"/>
              <a:ea typeface="Roboto"/>
              <a:cs typeface="Roboto"/>
              <a:sym typeface="Roboto"/>
            </a:endParaRPr>
          </a:p>
          <a:p>
            <a:pPr lvl="0" algn="ctr" rtl="0">
              <a:spcBef>
                <a:spcPts val="0"/>
              </a:spcBef>
              <a:buNone/>
            </a:pPr>
            <a:endParaRPr sz="1000" dirty="0">
              <a:solidFill>
                <a:srgbClr val="666666"/>
              </a:solidFill>
              <a:latin typeface="Roboto"/>
              <a:ea typeface="Roboto"/>
              <a:cs typeface="Roboto"/>
              <a:sym typeface="Roboto"/>
            </a:endParaRPr>
          </a:p>
        </p:txBody>
      </p:sp>
      <p:grpSp>
        <p:nvGrpSpPr>
          <p:cNvPr id="619" name="Shape 619"/>
          <p:cNvGrpSpPr/>
          <p:nvPr/>
        </p:nvGrpSpPr>
        <p:grpSpPr>
          <a:xfrm>
            <a:off x="1028389" y="1419237"/>
            <a:ext cx="883960" cy="1011997"/>
            <a:chOff x="1028389" y="1419237"/>
            <a:chExt cx="883960" cy="1011997"/>
          </a:xfrm>
        </p:grpSpPr>
        <p:grpSp>
          <p:nvGrpSpPr>
            <p:cNvPr id="620" name="Shape 620"/>
            <p:cNvGrpSpPr/>
            <p:nvPr/>
          </p:nvGrpSpPr>
          <p:grpSpPr>
            <a:xfrm>
              <a:off x="1028389" y="1464739"/>
              <a:ext cx="877678" cy="966495"/>
              <a:chOff x="1649600" y="1217575"/>
              <a:chExt cx="995099" cy="1095799"/>
            </a:xfrm>
          </p:grpSpPr>
          <p:sp>
            <p:nvSpPr>
              <p:cNvPr id="621" name="Shape 621"/>
              <p:cNvSpPr/>
              <p:nvPr/>
            </p:nvSpPr>
            <p:spPr>
              <a:xfrm>
                <a:off x="1649600" y="1318275"/>
                <a:ext cx="995099" cy="995099"/>
              </a:xfrm>
              <a:prstGeom prst="roundRect">
                <a:avLst>
                  <a:gd name="adj" fmla="val 16667"/>
                </a:avLst>
              </a:prstGeom>
              <a:solidFill>
                <a:srgbClr val="89AEB0"/>
              </a:solidFill>
              <a:ln>
                <a:noFill/>
              </a:ln>
            </p:spPr>
            <p:txBody>
              <a:bodyPr lIns="91425" tIns="91425" rIns="91425" bIns="91425" anchor="ctr" anchorCtr="0">
                <a:noAutofit/>
              </a:bodyPr>
              <a:lstStyle/>
              <a:p>
                <a:pPr>
                  <a:spcBef>
                    <a:spcPts val="0"/>
                  </a:spcBef>
                  <a:buNone/>
                </a:pPr>
                <a:endParaRPr/>
              </a:p>
            </p:txBody>
          </p:sp>
          <p:sp>
            <p:nvSpPr>
              <p:cNvPr id="622" name="Shape 622"/>
              <p:cNvSpPr/>
              <p:nvPr/>
            </p:nvSpPr>
            <p:spPr>
              <a:xfrm>
                <a:off x="1649600" y="1217575"/>
                <a:ext cx="995099" cy="995099"/>
              </a:xfrm>
              <a:prstGeom prst="roundRect">
                <a:avLst>
                  <a:gd name="adj" fmla="val 16667"/>
                </a:avLst>
              </a:prstGeom>
              <a:solidFill>
                <a:srgbClr val="A8D5D7"/>
              </a:solidFill>
              <a:ln>
                <a:noFill/>
              </a:ln>
            </p:spPr>
            <p:txBody>
              <a:bodyPr lIns="91425" tIns="91425" rIns="91425" bIns="91425" anchor="ctr" anchorCtr="0">
                <a:noAutofit/>
              </a:bodyPr>
              <a:lstStyle/>
              <a:p>
                <a:pPr>
                  <a:spcBef>
                    <a:spcPts val="0"/>
                  </a:spcBef>
                  <a:buNone/>
                </a:pPr>
                <a:endParaRPr/>
              </a:p>
            </p:txBody>
          </p:sp>
        </p:grpSp>
        <p:pic>
          <p:nvPicPr>
            <p:cNvPr id="623" name="Shape 623"/>
            <p:cNvPicPr preferRelativeResize="0"/>
            <p:nvPr/>
          </p:nvPicPr>
          <p:blipFill>
            <a:blip r:embed="rId6">
              <a:alphaModFix/>
            </a:blip>
            <a:stretch>
              <a:fillRect/>
            </a:stretch>
          </p:blipFill>
          <p:spPr>
            <a:xfrm>
              <a:off x="1072787" y="1419237"/>
              <a:ext cx="788899" cy="788899"/>
            </a:xfrm>
            <a:prstGeom prst="rect">
              <a:avLst/>
            </a:prstGeom>
            <a:noFill/>
            <a:ln>
              <a:noFill/>
            </a:ln>
          </p:spPr>
        </p:pic>
        <p:sp>
          <p:nvSpPr>
            <p:cNvPr id="624" name="Shape 624"/>
            <p:cNvSpPr txBox="1"/>
            <p:nvPr/>
          </p:nvSpPr>
          <p:spPr>
            <a:xfrm>
              <a:off x="1034550" y="1968359"/>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lt1"/>
                  </a:solidFill>
                  <a:latin typeface="Roboto Slab"/>
                  <a:ea typeface="Roboto Slab"/>
                  <a:cs typeface="Roboto Slab"/>
                  <a:sym typeface="Roboto Slab"/>
                </a:rPr>
                <a:t>smartness</a:t>
              </a:r>
            </a:p>
          </p:txBody>
        </p:sp>
      </p:grpSp>
      <p:grpSp>
        <p:nvGrpSpPr>
          <p:cNvPr id="625" name="Shape 625"/>
          <p:cNvGrpSpPr/>
          <p:nvPr/>
        </p:nvGrpSpPr>
        <p:grpSpPr>
          <a:xfrm>
            <a:off x="1026929" y="2461705"/>
            <a:ext cx="879155" cy="1099939"/>
            <a:chOff x="1026929" y="2461705"/>
            <a:chExt cx="879155" cy="1099939"/>
          </a:xfrm>
        </p:grpSpPr>
        <p:grpSp>
          <p:nvGrpSpPr>
            <p:cNvPr id="626" name="Shape 626"/>
            <p:cNvGrpSpPr/>
            <p:nvPr/>
          </p:nvGrpSpPr>
          <p:grpSpPr>
            <a:xfrm>
              <a:off x="1028406" y="2595148"/>
              <a:ext cx="877678" cy="966495"/>
              <a:chOff x="846550" y="3039175"/>
              <a:chExt cx="995099" cy="1095799"/>
            </a:xfrm>
          </p:grpSpPr>
          <p:sp>
            <p:nvSpPr>
              <p:cNvPr id="627" name="Shape 627"/>
              <p:cNvSpPr/>
              <p:nvPr/>
            </p:nvSpPr>
            <p:spPr>
              <a:xfrm>
                <a:off x="846550" y="3139875"/>
                <a:ext cx="995099" cy="995099"/>
              </a:xfrm>
              <a:prstGeom prst="roundRect">
                <a:avLst>
                  <a:gd name="adj" fmla="val 16667"/>
                </a:avLst>
              </a:prstGeom>
              <a:solidFill>
                <a:srgbClr val="C06F63"/>
              </a:solidFill>
              <a:ln>
                <a:noFill/>
              </a:ln>
            </p:spPr>
            <p:txBody>
              <a:bodyPr lIns="91425" tIns="91425" rIns="91425" bIns="91425" anchor="ctr" anchorCtr="0">
                <a:noAutofit/>
              </a:bodyPr>
              <a:lstStyle/>
              <a:p>
                <a:pPr>
                  <a:spcBef>
                    <a:spcPts val="0"/>
                  </a:spcBef>
                  <a:buNone/>
                </a:pPr>
                <a:endParaRPr/>
              </a:p>
            </p:txBody>
          </p:sp>
          <p:sp>
            <p:nvSpPr>
              <p:cNvPr id="628" name="Shape 628"/>
              <p:cNvSpPr/>
              <p:nvPr/>
            </p:nvSpPr>
            <p:spPr>
              <a:xfrm>
                <a:off x="846550" y="3039175"/>
                <a:ext cx="995099" cy="995099"/>
              </a:xfrm>
              <a:prstGeom prst="roundRect">
                <a:avLst>
                  <a:gd name="adj" fmla="val 16667"/>
                </a:avLst>
              </a:prstGeom>
              <a:solidFill>
                <a:srgbClr val="F08B7C"/>
              </a:solidFill>
              <a:ln>
                <a:noFill/>
              </a:ln>
            </p:spPr>
            <p:txBody>
              <a:bodyPr lIns="91425" tIns="91425" rIns="91425" bIns="91425" anchor="ctr" anchorCtr="0">
                <a:noAutofit/>
              </a:bodyPr>
              <a:lstStyle/>
              <a:p>
                <a:pPr>
                  <a:spcBef>
                    <a:spcPts val="0"/>
                  </a:spcBef>
                  <a:buNone/>
                </a:pPr>
                <a:endParaRPr/>
              </a:p>
            </p:txBody>
          </p:sp>
        </p:grpSp>
        <p:pic>
          <p:nvPicPr>
            <p:cNvPr id="629" name="Shape 629"/>
            <p:cNvPicPr preferRelativeResize="0"/>
            <p:nvPr/>
          </p:nvPicPr>
          <p:blipFill>
            <a:blip r:embed="rId7">
              <a:alphaModFix/>
            </a:blip>
            <a:stretch>
              <a:fillRect/>
            </a:stretch>
          </p:blipFill>
          <p:spPr>
            <a:xfrm>
              <a:off x="1034837" y="2461705"/>
              <a:ext cx="864824" cy="864824"/>
            </a:xfrm>
            <a:prstGeom prst="rect">
              <a:avLst/>
            </a:prstGeom>
            <a:noFill/>
            <a:ln>
              <a:noFill/>
            </a:ln>
          </p:spPr>
        </p:pic>
        <p:sp>
          <p:nvSpPr>
            <p:cNvPr id="630" name="Shape 630"/>
            <p:cNvSpPr txBox="1"/>
            <p:nvPr/>
          </p:nvSpPr>
          <p:spPr>
            <a:xfrm>
              <a:off x="1026929" y="3100065"/>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lt1"/>
                  </a:solidFill>
                  <a:latin typeface="Roboto Slab"/>
                  <a:ea typeface="Roboto Slab"/>
                  <a:cs typeface="Roboto Slab"/>
                  <a:sym typeface="Roboto Slab"/>
                </a:rPr>
                <a:t>Quality</a:t>
              </a:r>
            </a:p>
          </p:txBody>
        </p:sp>
      </p:grpSp>
      <p:grpSp>
        <p:nvGrpSpPr>
          <p:cNvPr id="631" name="Shape 631"/>
          <p:cNvGrpSpPr/>
          <p:nvPr/>
        </p:nvGrpSpPr>
        <p:grpSpPr>
          <a:xfrm>
            <a:off x="7249485" y="1389704"/>
            <a:ext cx="882725" cy="1040829"/>
            <a:chOff x="7249485" y="1389704"/>
            <a:chExt cx="882725" cy="1040829"/>
          </a:xfrm>
        </p:grpSpPr>
        <p:grpSp>
          <p:nvGrpSpPr>
            <p:cNvPr id="632" name="Shape 632"/>
            <p:cNvGrpSpPr/>
            <p:nvPr/>
          </p:nvGrpSpPr>
          <p:grpSpPr>
            <a:xfrm>
              <a:off x="7249485" y="1464039"/>
              <a:ext cx="877678" cy="966495"/>
              <a:chOff x="6955650" y="1444825"/>
              <a:chExt cx="995099" cy="1095799"/>
            </a:xfrm>
          </p:grpSpPr>
          <p:sp>
            <p:nvSpPr>
              <p:cNvPr id="633" name="Shape 633"/>
              <p:cNvSpPr/>
              <p:nvPr/>
            </p:nvSpPr>
            <p:spPr>
              <a:xfrm>
                <a:off x="6955650" y="1545525"/>
                <a:ext cx="995099" cy="995099"/>
              </a:xfrm>
              <a:prstGeom prst="roundRect">
                <a:avLst>
                  <a:gd name="adj" fmla="val 16667"/>
                </a:avLst>
              </a:prstGeom>
              <a:solidFill>
                <a:srgbClr val="87A54F"/>
              </a:solidFill>
              <a:ln>
                <a:noFill/>
              </a:ln>
            </p:spPr>
            <p:txBody>
              <a:bodyPr lIns="91425" tIns="91425" rIns="91425" bIns="91425" anchor="ctr" anchorCtr="0">
                <a:noAutofit/>
              </a:bodyPr>
              <a:lstStyle/>
              <a:p>
                <a:pPr>
                  <a:spcBef>
                    <a:spcPts val="0"/>
                  </a:spcBef>
                  <a:buNone/>
                </a:pPr>
                <a:endParaRPr/>
              </a:p>
            </p:txBody>
          </p:sp>
          <p:sp>
            <p:nvSpPr>
              <p:cNvPr id="634" name="Shape 634"/>
              <p:cNvSpPr/>
              <p:nvPr/>
            </p:nvSpPr>
            <p:spPr>
              <a:xfrm>
                <a:off x="6955650" y="1444825"/>
                <a:ext cx="995099" cy="995099"/>
              </a:xfrm>
              <a:prstGeom prst="roundRect">
                <a:avLst>
                  <a:gd name="adj" fmla="val 16667"/>
                </a:avLst>
              </a:prstGeom>
              <a:solidFill>
                <a:srgbClr val="A5C961"/>
              </a:solidFill>
              <a:ln>
                <a:noFill/>
              </a:ln>
            </p:spPr>
            <p:txBody>
              <a:bodyPr lIns="91425" tIns="91425" rIns="91425" bIns="91425" anchor="ctr" anchorCtr="0">
                <a:noAutofit/>
              </a:bodyPr>
              <a:lstStyle/>
              <a:p>
                <a:pPr>
                  <a:spcBef>
                    <a:spcPts val="0"/>
                  </a:spcBef>
                  <a:buNone/>
                </a:pPr>
                <a:endParaRPr/>
              </a:p>
            </p:txBody>
          </p:sp>
        </p:grpSp>
        <p:pic>
          <p:nvPicPr>
            <p:cNvPr id="635" name="Shape 635"/>
            <p:cNvPicPr preferRelativeResize="0"/>
            <p:nvPr/>
          </p:nvPicPr>
          <p:blipFill>
            <a:blip r:embed="rId8">
              <a:alphaModFix/>
            </a:blip>
            <a:stretch>
              <a:fillRect/>
            </a:stretch>
          </p:blipFill>
          <p:spPr>
            <a:xfrm>
              <a:off x="7249485" y="1389704"/>
              <a:ext cx="877675" cy="877675"/>
            </a:xfrm>
            <a:prstGeom prst="rect">
              <a:avLst/>
            </a:prstGeom>
            <a:noFill/>
            <a:ln>
              <a:noFill/>
            </a:ln>
          </p:spPr>
        </p:pic>
        <p:sp>
          <p:nvSpPr>
            <p:cNvPr id="636" name="Shape 636"/>
            <p:cNvSpPr txBox="1"/>
            <p:nvPr/>
          </p:nvSpPr>
          <p:spPr>
            <a:xfrm>
              <a:off x="7254410" y="2008580"/>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lt1"/>
                  </a:solidFill>
                  <a:latin typeface="Roboto Slab"/>
                  <a:ea typeface="Roboto Slab"/>
                  <a:cs typeface="Roboto Slab"/>
                  <a:sym typeface="Roboto Slab"/>
                </a:rPr>
                <a:t>efficiency</a:t>
              </a:r>
            </a:p>
          </p:txBody>
        </p:sp>
      </p:grpSp>
      <p:grpSp>
        <p:nvGrpSpPr>
          <p:cNvPr id="637" name="Shape 637"/>
          <p:cNvGrpSpPr/>
          <p:nvPr/>
        </p:nvGrpSpPr>
        <p:grpSpPr>
          <a:xfrm>
            <a:off x="7246789" y="2499450"/>
            <a:ext cx="880379" cy="1062189"/>
            <a:chOff x="7246789" y="2499450"/>
            <a:chExt cx="880379" cy="1062189"/>
          </a:xfrm>
        </p:grpSpPr>
        <p:grpSp>
          <p:nvGrpSpPr>
            <p:cNvPr id="638" name="Shape 638"/>
            <p:cNvGrpSpPr/>
            <p:nvPr/>
          </p:nvGrpSpPr>
          <p:grpSpPr>
            <a:xfrm>
              <a:off x="7249490" y="2595143"/>
              <a:ext cx="877678" cy="966495"/>
              <a:chOff x="6955650" y="3139875"/>
              <a:chExt cx="995099" cy="1095799"/>
            </a:xfrm>
          </p:grpSpPr>
          <p:sp>
            <p:nvSpPr>
              <p:cNvPr id="639" name="Shape 639"/>
              <p:cNvSpPr/>
              <p:nvPr/>
            </p:nvSpPr>
            <p:spPr>
              <a:xfrm>
                <a:off x="6955650" y="3240575"/>
                <a:ext cx="995099" cy="995099"/>
              </a:xfrm>
              <a:prstGeom prst="roundRect">
                <a:avLst>
                  <a:gd name="adj" fmla="val 16667"/>
                </a:avLst>
              </a:prstGeom>
              <a:solidFill>
                <a:srgbClr val="6792BC"/>
              </a:solidFill>
              <a:ln>
                <a:noFill/>
              </a:ln>
            </p:spPr>
            <p:txBody>
              <a:bodyPr lIns="91425" tIns="91425" rIns="91425" bIns="91425" anchor="ctr" anchorCtr="0">
                <a:noAutofit/>
              </a:bodyPr>
              <a:lstStyle/>
              <a:p>
                <a:pPr>
                  <a:spcBef>
                    <a:spcPts val="0"/>
                  </a:spcBef>
                  <a:buNone/>
                </a:pPr>
                <a:endParaRPr/>
              </a:p>
            </p:txBody>
          </p:sp>
          <p:sp>
            <p:nvSpPr>
              <p:cNvPr id="640" name="Shape 640"/>
              <p:cNvSpPr/>
              <p:nvPr/>
            </p:nvSpPr>
            <p:spPr>
              <a:xfrm>
                <a:off x="6955650" y="3139875"/>
                <a:ext cx="995099" cy="995099"/>
              </a:xfrm>
              <a:prstGeom prst="roundRect">
                <a:avLst>
                  <a:gd name="adj" fmla="val 16667"/>
                </a:avLst>
              </a:prstGeom>
              <a:solidFill>
                <a:srgbClr val="7FB3E6"/>
              </a:solidFill>
              <a:ln>
                <a:noFill/>
              </a:ln>
            </p:spPr>
            <p:txBody>
              <a:bodyPr lIns="91425" tIns="91425" rIns="91425" bIns="91425" anchor="ctr" anchorCtr="0">
                <a:noAutofit/>
              </a:bodyPr>
              <a:lstStyle/>
              <a:p>
                <a:pPr>
                  <a:spcBef>
                    <a:spcPts val="0"/>
                  </a:spcBef>
                  <a:buNone/>
                </a:pPr>
                <a:endParaRPr/>
              </a:p>
            </p:txBody>
          </p:sp>
        </p:grpSp>
        <p:pic>
          <p:nvPicPr>
            <p:cNvPr id="641" name="Shape 641"/>
            <p:cNvPicPr preferRelativeResize="0"/>
            <p:nvPr/>
          </p:nvPicPr>
          <p:blipFill>
            <a:blip r:embed="rId9">
              <a:alphaModFix/>
            </a:blip>
            <a:stretch>
              <a:fillRect/>
            </a:stretch>
          </p:blipFill>
          <p:spPr>
            <a:xfrm>
              <a:off x="7249489" y="2499450"/>
              <a:ext cx="864824" cy="864824"/>
            </a:xfrm>
            <a:prstGeom prst="rect">
              <a:avLst/>
            </a:prstGeom>
            <a:noFill/>
            <a:ln>
              <a:noFill/>
            </a:ln>
          </p:spPr>
        </p:pic>
        <p:sp>
          <p:nvSpPr>
            <p:cNvPr id="642" name="Shape 642"/>
            <p:cNvSpPr txBox="1"/>
            <p:nvPr/>
          </p:nvSpPr>
          <p:spPr>
            <a:xfrm>
              <a:off x="7246789" y="3140284"/>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lt1"/>
                  </a:solidFill>
                  <a:latin typeface="Roboto Slab"/>
                  <a:ea typeface="Roboto Slab"/>
                  <a:cs typeface="Roboto Slab"/>
                  <a:sym typeface="Roboto Slab"/>
                </a:rPr>
                <a:t>Support</a:t>
              </a:r>
            </a:p>
          </p:txBody>
        </p:sp>
      </p:grpSp>
      <p:pic>
        <p:nvPicPr>
          <p:cNvPr id="36" name="Immagine 35">
            <a:extLst>
              <a:ext uri="{FF2B5EF4-FFF2-40B4-BE49-F238E27FC236}">
                <a16:creationId xmlns:a16="http://schemas.microsoft.com/office/drawing/2014/main" id="{724D01D6-5267-4CBA-B17F-B267FBF84847}"/>
              </a:ext>
            </a:extLst>
          </p:cNvPr>
          <p:cNvPicPr>
            <a:picLocks noChangeAspect="1"/>
          </p:cNvPicPr>
          <p:nvPr/>
        </p:nvPicPr>
        <p:blipFill rotWithShape="1">
          <a:blip r:embed="rId10"/>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17"/>
                                        </p:tgtEl>
                                        <p:attrNameLst>
                                          <p:attrName>style.visibility</p:attrName>
                                        </p:attrNameLst>
                                      </p:cBhvr>
                                      <p:to>
                                        <p:strVal val="visible"/>
                                      </p:to>
                                    </p:set>
                                    <p:anim calcmode="lin" valueType="num">
                                      <p:cBhvr additive="base">
                                        <p:cTn id="7" dur="800"/>
                                        <p:tgtEl>
                                          <p:spTgt spid="617"/>
                                        </p:tgtEl>
                                        <p:attrNameLst>
                                          <p:attrName>ppt_y</p:attrName>
                                        </p:attrNameLst>
                                      </p:cBhvr>
                                      <p:tavLst>
                                        <p:tav tm="0">
                                          <p:val>
                                            <p:strVal val="#ppt_y+1"/>
                                          </p:val>
                                        </p:tav>
                                        <p:tav tm="100000">
                                          <p:val>
                                            <p:strVal val="#ppt_y"/>
                                          </p:val>
                                        </p:tav>
                                      </p:tavLst>
                                    </p:anim>
                                  </p:childTnLst>
                                </p:cTn>
                              </p:par>
                            </p:childTnLst>
                          </p:cTn>
                        </p:par>
                        <p:par>
                          <p:cTn id="8" fill="hold">
                            <p:stCondLst>
                              <p:cond delay="800"/>
                            </p:stCondLst>
                            <p:childTnLst>
                              <p:par>
                                <p:cTn id="9" presetID="2" presetClass="entr" presetSubtype="4" fill="hold" nodeType="afterEffect">
                                  <p:stCondLst>
                                    <p:cond delay="0"/>
                                  </p:stCondLst>
                                  <p:childTnLst>
                                    <p:set>
                                      <p:cBhvr>
                                        <p:cTn id="10" dur="1" fill="hold">
                                          <p:stCondLst>
                                            <p:cond delay="0"/>
                                          </p:stCondLst>
                                        </p:cTn>
                                        <p:tgtEl>
                                          <p:spTgt spid="618"/>
                                        </p:tgtEl>
                                        <p:attrNameLst>
                                          <p:attrName>style.visibility</p:attrName>
                                        </p:attrNameLst>
                                      </p:cBhvr>
                                      <p:to>
                                        <p:strVal val="visible"/>
                                      </p:to>
                                    </p:set>
                                    <p:anim calcmode="lin" valueType="num">
                                      <p:cBhvr additive="base">
                                        <p:cTn id="11" dur="600"/>
                                        <p:tgtEl>
                                          <p:spTgt spid="618"/>
                                        </p:tgtEl>
                                        <p:attrNameLst>
                                          <p:attrName>ppt_y</p:attrName>
                                        </p:attrNameLst>
                                      </p:cBhvr>
                                      <p:tavLst>
                                        <p:tav tm="0">
                                          <p:val>
                                            <p:strVal val="#ppt_y+1"/>
                                          </p:val>
                                        </p:tav>
                                        <p:tav tm="100000">
                                          <p:val>
                                            <p:strVal val="#ppt_y"/>
                                          </p:val>
                                        </p:tav>
                                      </p:tavLst>
                                    </p:anim>
                                  </p:childTnLst>
                                </p:cTn>
                              </p:par>
                            </p:childTnLst>
                          </p:cTn>
                        </p:par>
                        <p:par>
                          <p:cTn id="12" fill="hold">
                            <p:stCondLst>
                              <p:cond delay="1400"/>
                            </p:stCondLst>
                            <p:childTnLst>
                              <p:par>
                                <p:cTn id="13" presetID="2" presetClass="entr" presetSubtype="4" fill="hold" nodeType="afterEffect">
                                  <p:stCondLst>
                                    <p:cond delay="0"/>
                                  </p:stCondLst>
                                  <p:childTnLst>
                                    <p:set>
                                      <p:cBhvr>
                                        <p:cTn id="14" dur="1" fill="hold">
                                          <p:stCondLst>
                                            <p:cond delay="0"/>
                                          </p:stCondLst>
                                        </p:cTn>
                                        <p:tgtEl>
                                          <p:spTgt spid="610"/>
                                        </p:tgtEl>
                                        <p:attrNameLst>
                                          <p:attrName>style.visibility</p:attrName>
                                        </p:attrNameLst>
                                      </p:cBhvr>
                                      <p:to>
                                        <p:strVal val="visible"/>
                                      </p:to>
                                    </p:set>
                                    <p:anim calcmode="lin" valueType="num">
                                      <p:cBhvr additive="base">
                                        <p:cTn id="15" dur="1000"/>
                                        <p:tgtEl>
                                          <p:spTgt spid="610"/>
                                        </p:tgtEl>
                                        <p:attrNameLst>
                                          <p:attrName>ppt_y</p:attrName>
                                        </p:attrNameLst>
                                      </p:cBhvr>
                                      <p:tavLst>
                                        <p:tav tm="0">
                                          <p:val>
                                            <p:strVal val="#ppt_y+1"/>
                                          </p:val>
                                        </p:tav>
                                        <p:tav tm="100000">
                                          <p:val>
                                            <p:strVal val="#ppt_y"/>
                                          </p:val>
                                        </p:tav>
                                      </p:tavLst>
                                    </p:anim>
                                  </p:childTnLst>
                                </p:cTn>
                              </p:par>
                            </p:childTnLst>
                          </p:cTn>
                        </p:par>
                        <p:par>
                          <p:cTn id="16" fill="hold">
                            <p:stCondLst>
                              <p:cond delay="2400"/>
                            </p:stCondLst>
                            <p:childTnLst>
                              <p:par>
                                <p:cTn id="17" presetID="23" presetClass="entr" presetSubtype="16" fill="hold" nodeType="afterEffect">
                                  <p:stCondLst>
                                    <p:cond delay="0"/>
                                  </p:stCondLst>
                                  <p:childTnLst>
                                    <p:set>
                                      <p:cBhvr>
                                        <p:cTn id="18" dur="1" fill="hold">
                                          <p:stCondLst>
                                            <p:cond delay="0"/>
                                          </p:stCondLst>
                                        </p:cTn>
                                        <p:tgtEl>
                                          <p:spTgt spid="619"/>
                                        </p:tgtEl>
                                        <p:attrNameLst>
                                          <p:attrName>style.visibility</p:attrName>
                                        </p:attrNameLst>
                                      </p:cBhvr>
                                      <p:to>
                                        <p:strVal val="visible"/>
                                      </p:to>
                                    </p:set>
                                    <p:anim calcmode="lin" valueType="num">
                                      <p:cBhvr additive="base">
                                        <p:cTn id="19" dur="500"/>
                                        <p:tgtEl>
                                          <p:spTgt spid="619"/>
                                        </p:tgtEl>
                                        <p:attrNameLst>
                                          <p:attrName>ppt_w</p:attrName>
                                        </p:attrNameLst>
                                      </p:cBhvr>
                                      <p:tavLst>
                                        <p:tav tm="0">
                                          <p:val>
                                            <p:strVal val="0"/>
                                          </p:val>
                                        </p:tav>
                                        <p:tav tm="100000">
                                          <p:val>
                                            <p:strVal val="#ppt_w"/>
                                          </p:val>
                                        </p:tav>
                                      </p:tavLst>
                                    </p:anim>
                                    <p:anim calcmode="lin" valueType="num">
                                      <p:cBhvr additive="base">
                                        <p:cTn id="20" dur="500"/>
                                        <p:tgtEl>
                                          <p:spTgt spid="619"/>
                                        </p:tgtEl>
                                        <p:attrNameLst>
                                          <p:attrName>ppt_h</p:attrName>
                                        </p:attrNameLst>
                                      </p:cBhvr>
                                      <p:tavLst>
                                        <p:tav tm="0">
                                          <p:val>
                                            <p:strVal val="0"/>
                                          </p:val>
                                        </p:tav>
                                        <p:tav tm="100000">
                                          <p:val>
                                            <p:strVal val="#ppt_h"/>
                                          </p:val>
                                        </p:tav>
                                      </p:tavLst>
                                    </p:anim>
                                  </p:childTnLst>
                                </p:cTn>
                              </p:par>
                            </p:childTnLst>
                          </p:cTn>
                        </p:par>
                        <p:par>
                          <p:cTn id="21" fill="hold">
                            <p:stCondLst>
                              <p:cond delay="2900"/>
                            </p:stCondLst>
                            <p:childTnLst>
                              <p:par>
                                <p:cTn id="22" presetID="23" presetClass="entr" presetSubtype="16" fill="hold" nodeType="afterEffect">
                                  <p:stCondLst>
                                    <p:cond delay="0"/>
                                  </p:stCondLst>
                                  <p:childTnLst>
                                    <p:set>
                                      <p:cBhvr>
                                        <p:cTn id="23" dur="1" fill="hold">
                                          <p:stCondLst>
                                            <p:cond delay="0"/>
                                          </p:stCondLst>
                                        </p:cTn>
                                        <p:tgtEl>
                                          <p:spTgt spid="625"/>
                                        </p:tgtEl>
                                        <p:attrNameLst>
                                          <p:attrName>style.visibility</p:attrName>
                                        </p:attrNameLst>
                                      </p:cBhvr>
                                      <p:to>
                                        <p:strVal val="visible"/>
                                      </p:to>
                                    </p:set>
                                    <p:anim calcmode="lin" valueType="num">
                                      <p:cBhvr additive="base">
                                        <p:cTn id="24" dur="500"/>
                                        <p:tgtEl>
                                          <p:spTgt spid="625"/>
                                        </p:tgtEl>
                                        <p:attrNameLst>
                                          <p:attrName>ppt_w</p:attrName>
                                        </p:attrNameLst>
                                      </p:cBhvr>
                                      <p:tavLst>
                                        <p:tav tm="0">
                                          <p:val>
                                            <p:strVal val="0"/>
                                          </p:val>
                                        </p:tav>
                                        <p:tav tm="100000">
                                          <p:val>
                                            <p:strVal val="#ppt_w"/>
                                          </p:val>
                                        </p:tav>
                                      </p:tavLst>
                                    </p:anim>
                                    <p:anim calcmode="lin" valueType="num">
                                      <p:cBhvr additive="base">
                                        <p:cTn id="25" dur="500"/>
                                        <p:tgtEl>
                                          <p:spTgt spid="625"/>
                                        </p:tgtEl>
                                        <p:attrNameLst>
                                          <p:attrName>ppt_h</p:attrName>
                                        </p:attrNameLst>
                                      </p:cBhvr>
                                      <p:tavLst>
                                        <p:tav tm="0">
                                          <p:val>
                                            <p:strVal val="0"/>
                                          </p:val>
                                        </p:tav>
                                        <p:tav tm="100000">
                                          <p:val>
                                            <p:strVal val="#ppt_h"/>
                                          </p:val>
                                        </p:tav>
                                      </p:tavLst>
                                    </p:anim>
                                  </p:childTnLst>
                                </p:cTn>
                              </p:par>
                            </p:childTnLst>
                          </p:cTn>
                        </p:par>
                        <p:par>
                          <p:cTn id="26" fill="hold">
                            <p:stCondLst>
                              <p:cond delay="3400"/>
                            </p:stCondLst>
                            <p:childTnLst>
                              <p:par>
                                <p:cTn id="27" presetID="23" presetClass="entr" presetSubtype="16" fill="hold" nodeType="afterEffect">
                                  <p:stCondLst>
                                    <p:cond delay="0"/>
                                  </p:stCondLst>
                                  <p:childTnLst>
                                    <p:set>
                                      <p:cBhvr>
                                        <p:cTn id="28" dur="1" fill="hold">
                                          <p:stCondLst>
                                            <p:cond delay="0"/>
                                          </p:stCondLst>
                                        </p:cTn>
                                        <p:tgtEl>
                                          <p:spTgt spid="631"/>
                                        </p:tgtEl>
                                        <p:attrNameLst>
                                          <p:attrName>style.visibility</p:attrName>
                                        </p:attrNameLst>
                                      </p:cBhvr>
                                      <p:to>
                                        <p:strVal val="visible"/>
                                      </p:to>
                                    </p:set>
                                    <p:anim calcmode="lin" valueType="num">
                                      <p:cBhvr additive="base">
                                        <p:cTn id="29" dur="500"/>
                                        <p:tgtEl>
                                          <p:spTgt spid="631"/>
                                        </p:tgtEl>
                                        <p:attrNameLst>
                                          <p:attrName>ppt_w</p:attrName>
                                        </p:attrNameLst>
                                      </p:cBhvr>
                                      <p:tavLst>
                                        <p:tav tm="0">
                                          <p:val>
                                            <p:strVal val="0"/>
                                          </p:val>
                                        </p:tav>
                                        <p:tav tm="100000">
                                          <p:val>
                                            <p:strVal val="#ppt_w"/>
                                          </p:val>
                                        </p:tav>
                                      </p:tavLst>
                                    </p:anim>
                                    <p:anim calcmode="lin" valueType="num">
                                      <p:cBhvr additive="base">
                                        <p:cTn id="30" dur="500"/>
                                        <p:tgtEl>
                                          <p:spTgt spid="631"/>
                                        </p:tgtEl>
                                        <p:attrNameLst>
                                          <p:attrName>ppt_h</p:attrName>
                                        </p:attrNameLst>
                                      </p:cBhvr>
                                      <p:tavLst>
                                        <p:tav tm="0">
                                          <p:val>
                                            <p:strVal val="0"/>
                                          </p:val>
                                        </p:tav>
                                        <p:tav tm="100000">
                                          <p:val>
                                            <p:strVal val="#ppt_h"/>
                                          </p:val>
                                        </p:tav>
                                      </p:tavLst>
                                    </p:anim>
                                  </p:childTnLst>
                                </p:cTn>
                              </p:par>
                            </p:childTnLst>
                          </p:cTn>
                        </p:par>
                        <p:par>
                          <p:cTn id="31" fill="hold">
                            <p:stCondLst>
                              <p:cond delay="3900"/>
                            </p:stCondLst>
                            <p:childTnLst>
                              <p:par>
                                <p:cTn id="32" presetID="23" presetClass="entr" presetSubtype="16" fill="hold" nodeType="afterEffect">
                                  <p:stCondLst>
                                    <p:cond delay="0"/>
                                  </p:stCondLst>
                                  <p:childTnLst>
                                    <p:set>
                                      <p:cBhvr>
                                        <p:cTn id="33" dur="1" fill="hold">
                                          <p:stCondLst>
                                            <p:cond delay="0"/>
                                          </p:stCondLst>
                                        </p:cTn>
                                        <p:tgtEl>
                                          <p:spTgt spid="637"/>
                                        </p:tgtEl>
                                        <p:attrNameLst>
                                          <p:attrName>style.visibility</p:attrName>
                                        </p:attrNameLst>
                                      </p:cBhvr>
                                      <p:to>
                                        <p:strVal val="visible"/>
                                      </p:to>
                                    </p:set>
                                    <p:anim calcmode="lin" valueType="num">
                                      <p:cBhvr additive="base">
                                        <p:cTn id="34" dur="500"/>
                                        <p:tgtEl>
                                          <p:spTgt spid="637"/>
                                        </p:tgtEl>
                                        <p:attrNameLst>
                                          <p:attrName>ppt_w</p:attrName>
                                        </p:attrNameLst>
                                      </p:cBhvr>
                                      <p:tavLst>
                                        <p:tav tm="0">
                                          <p:val>
                                            <p:strVal val="0"/>
                                          </p:val>
                                        </p:tav>
                                        <p:tav tm="100000">
                                          <p:val>
                                            <p:strVal val="#ppt_w"/>
                                          </p:val>
                                        </p:tav>
                                      </p:tavLst>
                                    </p:anim>
                                    <p:anim calcmode="lin" valueType="num">
                                      <p:cBhvr additive="base">
                                        <p:cTn id="35" dur="500"/>
                                        <p:tgtEl>
                                          <p:spTgt spid="63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719"/>
        <p:cNvGrpSpPr/>
        <p:nvPr/>
      </p:nvGrpSpPr>
      <p:grpSpPr>
        <a:xfrm>
          <a:off x="0" y="0"/>
          <a:ext cx="0" cy="0"/>
          <a:chOff x="0" y="0"/>
          <a:chExt cx="0" cy="0"/>
        </a:xfrm>
      </p:grpSpPr>
      <p:sp>
        <p:nvSpPr>
          <p:cNvPr id="37" name="Rettangolo 36">
            <a:extLst>
              <a:ext uri="{FF2B5EF4-FFF2-40B4-BE49-F238E27FC236}">
                <a16:creationId xmlns:a16="http://schemas.microsoft.com/office/drawing/2014/main" id="{410EF46F-E933-47ED-9D06-5A8B96B97CE4}"/>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grpSp>
        <p:nvGrpSpPr>
          <p:cNvPr id="720" name="Shape 720"/>
          <p:cNvGrpSpPr/>
          <p:nvPr/>
        </p:nvGrpSpPr>
        <p:grpSpPr>
          <a:xfrm>
            <a:off x="2497450" y="1148431"/>
            <a:ext cx="4241323" cy="2728924"/>
            <a:chOff x="2497450" y="1148431"/>
            <a:chExt cx="4241323" cy="2728924"/>
          </a:xfrm>
        </p:grpSpPr>
        <p:pic>
          <p:nvPicPr>
            <p:cNvPr id="721" name="Shape 721"/>
            <p:cNvPicPr preferRelativeResize="0"/>
            <p:nvPr/>
          </p:nvPicPr>
          <p:blipFill>
            <a:blip r:embed="rId3">
              <a:alphaModFix/>
            </a:blip>
            <a:stretch>
              <a:fillRect/>
            </a:stretch>
          </p:blipFill>
          <p:spPr>
            <a:xfrm>
              <a:off x="2497450" y="1148431"/>
              <a:ext cx="1330925" cy="2728924"/>
            </a:xfrm>
            <a:prstGeom prst="rect">
              <a:avLst/>
            </a:prstGeom>
            <a:noFill/>
            <a:ln>
              <a:noFill/>
            </a:ln>
          </p:spPr>
        </p:pic>
        <p:pic>
          <p:nvPicPr>
            <p:cNvPr id="722" name="Shape 722"/>
            <p:cNvPicPr preferRelativeResize="0"/>
            <p:nvPr/>
          </p:nvPicPr>
          <p:blipFill>
            <a:blip r:embed="rId4">
              <a:alphaModFix/>
            </a:blip>
            <a:stretch>
              <a:fillRect/>
            </a:stretch>
          </p:blipFill>
          <p:spPr>
            <a:xfrm>
              <a:off x="4076548" y="1864250"/>
              <a:ext cx="2662224" cy="1297299"/>
            </a:xfrm>
            <a:prstGeom prst="rect">
              <a:avLst/>
            </a:prstGeom>
            <a:noFill/>
            <a:ln>
              <a:noFill/>
            </a:ln>
          </p:spPr>
        </p:pic>
        <p:pic>
          <p:nvPicPr>
            <p:cNvPr id="723" name="Shape 723"/>
            <p:cNvPicPr preferRelativeResize="0"/>
            <p:nvPr/>
          </p:nvPicPr>
          <p:blipFill>
            <a:blip r:embed="rId5">
              <a:alphaModFix/>
            </a:blip>
            <a:stretch>
              <a:fillRect/>
            </a:stretch>
          </p:blipFill>
          <p:spPr>
            <a:xfrm>
              <a:off x="2584150" y="1508450"/>
              <a:ext cx="1151795" cy="2053199"/>
            </a:xfrm>
            <a:prstGeom prst="rect">
              <a:avLst/>
            </a:prstGeom>
            <a:noFill/>
            <a:ln>
              <a:noFill/>
            </a:ln>
          </p:spPr>
        </p:pic>
        <p:pic>
          <p:nvPicPr>
            <p:cNvPr id="724" name="Shape 724"/>
            <p:cNvPicPr preferRelativeResize="0"/>
            <p:nvPr/>
          </p:nvPicPr>
          <p:blipFill>
            <a:blip r:embed="rId6">
              <a:alphaModFix/>
            </a:blip>
            <a:stretch>
              <a:fillRect/>
            </a:stretch>
          </p:blipFill>
          <p:spPr>
            <a:xfrm>
              <a:off x="4419737" y="1960450"/>
              <a:ext cx="1971675" cy="1104900"/>
            </a:xfrm>
            <a:prstGeom prst="rect">
              <a:avLst/>
            </a:prstGeom>
            <a:noFill/>
            <a:ln>
              <a:noFill/>
            </a:ln>
          </p:spPr>
        </p:pic>
      </p:grpSp>
      <p:pic>
        <p:nvPicPr>
          <p:cNvPr id="725" name="Shape 725"/>
          <p:cNvPicPr preferRelativeResize="0"/>
          <p:nvPr/>
        </p:nvPicPr>
        <p:blipFill>
          <a:blip r:embed="rId7">
            <a:alphaModFix/>
          </a:blip>
          <a:stretch>
            <a:fillRect/>
          </a:stretch>
        </p:blipFill>
        <p:spPr>
          <a:xfrm>
            <a:off x="-84000" y="183075"/>
            <a:ext cx="9291700" cy="788900"/>
          </a:xfrm>
          <a:prstGeom prst="rect">
            <a:avLst/>
          </a:prstGeom>
          <a:noFill/>
          <a:ln>
            <a:noFill/>
          </a:ln>
        </p:spPr>
      </p:pic>
      <p:sp>
        <p:nvSpPr>
          <p:cNvPr id="728" name="Shape 728"/>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dirty="0">
                <a:solidFill>
                  <a:schemeClr val="accent3"/>
                </a:solidFill>
                <a:latin typeface="Roboto Slab"/>
                <a:ea typeface="Roboto Slab"/>
                <a:cs typeface="Roboto Slab"/>
                <a:sym typeface="Roboto Slab"/>
              </a:rPr>
              <a:t>L’app iOS &amp; Android</a:t>
            </a: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algn="r" rtl="0">
              <a:spcBef>
                <a:spcPts val="0"/>
              </a:spcBef>
              <a:buNone/>
            </a:pPr>
            <a:endParaRPr sz="1200" dirty="0">
              <a:solidFill>
                <a:schemeClr val="accent3"/>
              </a:solidFill>
              <a:latin typeface="Roboto Slab"/>
              <a:ea typeface="Roboto Slab"/>
              <a:cs typeface="Roboto Slab"/>
              <a:sym typeface="Roboto Slab"/>
            </a:endParaRPr>
          </a:p>
          <a:p>
            <a:pPr lvl="0" rtl="0">
              <a:spcBef>
                <a:spcPts val="0"/>
              </a:spcBef>
              <a:buNone/>
            </a:pPr>
            <a:endParaRPr sz="1200" dirty="0"/>
          </a:p>
        </p:txBody>
      </p:sp>
      <p:pic>
        <p:nvPicPr>
          <p:cNvPr id="729" name="Shape 729"/>
          <p:cNvPicPr preferRelativeResize="0"/>
          <p:nvPr/>
        </p:nvPicPr>
        <p:blipFill>
          <a:blip r:embed="rId7">
            <a:alphaModFix/>
          </a:blip>
          <a:stretch>
            <a:fillRect/>
          </a:stretch>
        </p:blipFill>
        <p:spPr>
          <a:xfrm>
            <a:off x="-236225" y="4053825"/>
            <a:ext cx="9527924" cy="1173474"/>
          </a:xfrm>
          <a:prstGeom prst="rect">
            <a:avLst/>
          </a:prstGeom>
          <a:noFill/>
          <a:ln>
            <a:noFill/>
          </a:ln>
        </p:spPr>
      </p:pic>
      <p:sp>
        <p:nvSpPr>
          <p:cNvPr id="730" name="Shape 730"/>
          <p:cNvSpPr txBox="1"/>
          <p:nvPr/>
        </p:nvSpPr>
        <p:spPr>
          <a:xfrm>
            <a:off x="314700" y="4246062"/>
            <a:ext cx="8514600" cy="789000"/>
          </a:xfrm>
          <a:prstGeom prst="rect">
            <a:avLst/>
          </a:prstGeom>
          <a:noFill/>
          <a:ln>
            <a:noFill/>
          </a:ln>
        </p:spPr>
        <p:txBody>
          <a:bodyPr lIns="91425" tIns="91425" rIns="91425" bIns="91425" anchor="t" anchorCtr="0">
            <a:noAutofit/>
          </a:bodyPr>
          <a:lstStyle/>
          <a:p>
            <a:pPr lvl="0" algn="ctr" rtl="0">
              <a:spcBef>
                <a:spcPts val="0"/>
              </a:spcBef>
              <a:buClr>
                <a:schemeClr val="dk1"/>
              </a:buClr>
              <a:buSzPct val="110000"/>
              <a:buFont typeface="Arial"/>
              <a:buNone/>
            </a:pPr>
            <a:r>
              <a:rPr lang="en" sz="1000" dirty="0">
                <a:solidFill>
                  <a:srgbClr val="666666"/>
                </a:solidFill>
                <a:latin typeface="Roboto"/>
                <a:ea typeface="Roboto"/>
                <a:cs typeface="Roboto"/>
                <a:sym typeface="Roboto"/>
              </a:rPr>
              <a:t>Lorem ipsum dolor sit amet, consectetur adipiscing elit. Nulla dignissim eros sit amet enissim eros sit amet enissim eros sit amet enissim eros sit amet enissim eros siros tincidunt tristique consectetur adipiscing elit. Nulla dignissim eros sit amet enissim eros sit amet enissim eros sit amet ue consectetur adipiscing elit. Nuue consectetur adipiscing elit. Nuenissim eros sit amet enissim eros siros tincidunt tristique.</a:t>
            </a:r>
          </a:p>
          <a:p>
            <a:pPr lvl="0" algn="ctr" rtl="0">
              <a:spcBef>
                <a:spcPts val="0"/>
              </a:spcBef>
              <a:buClr>
                <a:schemeClr val="dk1"/>
              </a:buClr>
              <a:buFont typeface="Arial"/>
              <a:buNone/>
            </a:pPr>
            <a:endParaRPr sz="1000" dirty="0">
              <a:solidFill>
                <a:srgbClr val="666666"/>
              </a:solidFill>
              <a:latin typeface="Roboto"/>
              <a:ea typeface="Roboto"/>
              <a:cs typeface="Roboto"/>
              <a:sym typeface="Roboto"/>
            </a:endParaRPr>
          </a:p>
          <a:p>
            <a:pPr lvl="0" algn="ctr" rtl="0">
              <a:spcBef>
                <a:spcPts val="0"/>
              </a:spcBef>
              <a:buNone/>
            </a:pPr>
            <a:endParaRPr sz="1000" dirty="0">
              <a:solidFill>
                <a:srgbClr val="666666"/>
              </a:solidFill>
              <a:latin typeface="Roboto"/>
              <a:ea typeface="Roboto"/>
              <a:cs typeface="Roboto"/>
              <a:sym typeface="Roboto"/>
            </a:endParaRPr>
          </a:p>
        </p:txBody>
      </p:sp>
      <p:grpSp>
        <p:nvGrpSpPr>
          <p:cNvPr id="731" name="Shape 731"/>
          <p:cNvGrpSpPr/>
          <p:nvPr/>
        </p:nvGrpSpPr>
        <p:grpSpPr>
          <a:xfrm>
            <a:off x="1028389" y="1419237"/>
            <a:ext cx="883960" cy="1011997"/>
            <a:chOff x="1028389" y="1419237"/>
            <a:chExt cx="883960" cy="1011997"/>
          </a:xfrm>
        </p:grpSpPr>
        <p:grpSp>
          <p:nvGrpSpPr>
            <p:cNvPr id="732" name="Shape 732"/>
            <p:cNvGrpSpPr/>
            <p:nvPr/>
          </p:nvGrpSpPr>
          <p:grpSpPr>
            <a:xfrm>
              <a:off x="1028389" y="1464739"/>
              <a:ext cx="877678" cy="966495"/>
              <a:chOff x="1649600" y="1217575"/>
              <a:chExt cx="995099" cy="1095799"/>
            </a:xfrm>
          </p:grpSpPr>
          <p:sp>
            <p:nvSpPr>
              <p:cNvPr id="733" name="Shape 733"/>
              <p:cNvSpPr/>
              <p:nvPr/>
            </p:nvSpPr>
            <p:spPr>
              <a:xfrm>
                <a:off x="1649600" y="1318275"/>
                <a:ext cx="995099" cy="995099"/>
              </a:xfrm>
              <a:prstGeom prst="roundRect">
                <a:avLst>
                  <a:gd name="adj" fmla="val 16667"/>
                </a:avLst>
              </a:prstGeom>
              <a:solidFill>
                <a:srgbClr val="89AEB0"/>
              </a:solidFill>
              <a:ln>
                <a:noFill/>
              </a:ln>
            </p:spPr>
            <p:txBody>
              <a:bodyPr lIns="91425" tIns="91425" rIns="91425" bIns="91425" anchor="ctr" anchorCtr="0">
                <a:noAutofit/>
              </a:bodyPr>
              <a:lstStyle/>
              <a:p>
                <a:pPr>
                  <a:spcBef>
                    <a:spcPts val="0"/>
                  </a:spcBef>
                  <a:buNone/>
                </a:pPr>
                <a:endParaRPr/>
              </a:p>
            </p:txBody>
          </p:sp>
          <p:sp>
            <p:nvSpPr>
              <p:cNvPr id="734" name="Shape 734"/>
              <p:cNvSpPr/>
              <p:nvPr/>
            </p:nvSpPr>
            <p:spPr>
              <a:xfrm>
                <a:off x="1649600" y="1217575"/>
                <a:ext cx="995099" cy="995099"/>
              </a:xfrm>
              <a:prstGeom prst="roundRect">
                <a:avLst>
                  <a:gd name="adj" fmla="val 16667"/>
                </a:avLst>
              </a:prstGeom>
              <a:solidFill>
                <a:srgbClr val="A8D5D7"/>
              </a:solidFill>
              <a:ln>
                <a:noFill/>
              </a:ln>
            </p:spPr>
            <p:txBody>
              <a:bodyPr lIns="91425" tIns="91425" rIns="91425" bIns="91425" anchor="ctr" anchorCtr="0">
                <a:noAutofit/>
              </a:bodyPr>
              <a:lstStyle/>
              <a:p>
                <a:pPr>
                  <a:spcBef>
                    <a:spcPts val="0"/>
                  </a:spcBef>
                  <a:buNone/>
                </a:pPr>
                <a:endParaRPr/>
              </a:p>
            </p:txBody>
          </p:sp>
        </p:grpSp>
        <p:pic>
          <p:nvPicPr>
            <p:cNvPr id="735" name="Shape 735"/>
            <p:cNvPicPr preferRelativeResize="0"/>
            <p:nvPr/>
          </p:nvPicPr>
          <p:blipFill>
            <a:blip r:embed="rId8">
              <a:alphaModFix/>
            </a:blip>
            <a:stretch>
              <a:fillRect/>
            </a:stretch>
          </p:blipFill>
          <p:spPr>
            <a:xfrm>
              <a:off x="1072787" y="1419237"/>
              <a:ext cx="788899" cy="788899"/>
            </a:xfrm>
            <a:prstGeom prst="rect">
              <a:avLst/>
            </a:prstGeom>
            <a:noFill/>
            <a:ln>
              <a:noFill/>
            </a:ln>
          </p:spPr>
        </p:pic>
        <p:sp>
          <p:nvSpPr>
            <p:cNvPr id="736" name="Shape 736"/>
            <p:cNvSpPr txBox="1"/>
            <p:nvPr/>
          </p:nvSpPr>
          <p:spPr>
            <a:xfrm>
              <a:off x="1034550" y="1968359"/>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lt1"/>
                  </a:solidFill>
                  <a:latin typeface="Roboto Slab"/>
                  <a:ea typeface="Roboto Slab"/>
                  <a:cs typeface="Roboto Slab"/>
                  <a:sym typeface="Roboto Slab"/>
                </a:rPr>
                <a:t>smartness</a:t>
              </a:r>
            </a:p>
          </p:txBody>
        </p:sp>
      </p:grpSp>
      <p:grpSp>
        <p:nvGrpSpPr>
          <p:cNvPr id="737" name="Shape 737"/>
          <p:cNvGrpSpPr/>
          <p:nvPr/>
        </p:nvGrpSpPr>
        <p:grpSpPr>
          <a:xfrm>
            <a:off x="1026929" y="2461705"/>
            <a:ext cx="879155" cy="1099939"/>
            <a:chOff x="1026929" y="2461705"/>
            <a:chExt cx="879155" cy="1099939"/>
          </a:xfrm>
        </p:grpSpPr>
        <p:grpSp>
          <p:nvGrpSpPr>
            <p:cNvPr id="738" name="Shape 738"/>
            <p:cNvGrpSpPr/>
            <p:nvPr/>
          </p:nvGrpSpPr>
          <p:grpSpPr>
            <a:xfrm>
              <a:off x="1028406" y="2595148"/>
              <a:ext cx="877678" cy="966495"/>
              <a:chOff x="846550" y="3039175"/>
              <a:chExt cx="995099" cy="1095799"/>
            </a:xfrm>
          </p:grpSpPr>
          <p:sp>
            <p:nvSpPr>
              <p:cNvPr id="739" name="Shape 739"/>
              <p:cNvSpPr/>
              <p:nvPr/>
            </p:nvSpPr>
            <p:spPr>
              <a:xfrm>
                <a:off x="846550" y="3139875"/>
                <a:ext cx="995099" cy="995099"/>
              </a:xfrm>
              <a:prstGeom prst="roundRect">
                <a:avLst>
                  <a:gd name="adj" fmla="val 16667"/>
                </a:avLst>
              </a:prstGeom>
              <a:solidFill>
                <a:srgbClr val="C06F63"/>
              </a:solidFill>
              <a:ln>
                <a:noFill/>
              </a:ln>
            </p:spPr>
            <p:txBody>
              <a:bodyPr lIns="91425" tIns="91425" rIns="91425" bIns="91425" anchor="ctr" anchorCtr="0">
                <a:noAutofit/>
              </a:bodyPr>
              <a:lstStyle/>
              <a:p>
                <a:pPr>
                  <a:spcBef>
                    <a:spcPts val="0"/>
                  </a:spcBef>
                  <a:buNone/>
                </a:pPr>
                <a:endParaRPr/>
              </a:p>
            </p:txBody>
          </p:sp>
          <p:sp>
            <p:nvSpPr>
              <p:cNvPr id="740" name="Shape 740"/>
              <p:cNvSpPr/>
              <p:nvPr/>
            </p:nvSpPr>
            <p:spPr>
              <a:xfrm>
                <a:off x="846550" y="3039175"/>
                <a:ext cx="995099" cy="995099"/>
              </a:xfrm>
              <a:prstGeom prst="roundRect">
                <a:avLst>
                  <a:gd name="adj" fmla="val 16667"/>
                </a:avLst>
              </a:prstGeom>
              <a:solidFill>
                <a:srgbClr val="F08B7C"/>
              </a:solidFill>
              <a:ln>
                <a:noFill/>
              </a:ln>
            </p:spPr>
            <p:txBody>
              <a:bodyPr lIns="91425" tIns="91425" rIns="91425" bIns="91425" anchor="ctr" anchorCtr="0">
                <a:noAutofit/>
              </a:bodyPr>
              <a:lstStyle/>
              <a:p>
                <a:pPr>
                  <a:spcBef>
                    <a:spcPts val="0"/>
                  </a:spcBef>
                  <a:buNone/>
                </a:pPr>
                <a:endParaRPr/>
              </a:p>
            </p:txBody>
          </p:sp>
        </p:grpSp>
        <p:pic>
          <p:nvPicPr>
            <p:cNvPr id="741" name="Shape 741"/>
            <p:cNvPicPr preferRelativeResize="0"/>
            <p:nvPr/>
          </p:nvPicPr>
          <p:blipFill>
            <a:blip r:embed="rId9">
              <a:alphaModFix/>
            </a:blip>
            <a:stretch>
              <a:fillRect/>
            </a:stretch>
          </p:blipFill>
          <p:spPr>
            <a:xfrm>
              <a:off x="1034837" y="2461705"/>
              <a:ext cx="864824" cy="864824"/>
            </a:xfrm>
            <a:prstGeom prst="rect">
              <a:avLst/>
            </a:prstGeom>
            <a:noFill/>
            <a:ln>
              <a:noFill/>
            </a:ln>
          </p:spPr>
        </p:pic>
        <p:sp>
          <p:nvSpPr>
            <p:cNvPr id="742" name="Shape 742"/>
            <p:cNvSpPr txBox="1"/>
            <p:nvPr/>
          </p:nvSpPr>
          <p:spPr>
            <a:xfrm>
              <a:off x="1026929" y="3100065"/>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lt1"/>
                  </a:solidFill>
                  <a:latin typeface="Roboto Slab"/>
                  <a:ea typeface="Roboto Slab"/>
                  <a:cs typeface="Roboto Slab"/>
                  <a:sym typeface="Roboto Slab"/>
                </a:rPr>
                <a:t>Quality</a:t>
              </a:r>
            </a:p>
          </p:txBody>
        </p:sp>
      </p:grpSp>
      <p:grpSp>
        <p:nvGrpSpPr>
          <p:cNvPr id="743" name="Shape 743"/>
          <p:cNvGrpSpPr/>
          <p:nvPr/>
        </p:nvGrpSpPr>
        <p:grpSpPr>
          <a:xfrm>
            <a:off x="7249485" y="1389704"/>
            <a:ext cx="882725" cy="1040829"/>
            <a:chOff x="7249485" y="1389704"/>
            <a:chExt cx="882725" cy="1040829"/>
          </a:xfrm>
        </p:grpSpPr>
        <p:grpSp>
          <p:nvGrpSpPr>
            <p:cNvPr id="744" name="Shape 744"/>
            <p:cNvGrpSpPr/>
            <p:nvPr/>
          </p:nvGrpSpPr>
          <p:grpSpPr>
            <a:xfrm>
              <a:off x="7249485" y="1464039"/>
              <a:ext cx="877678" cy="966495"/>
              <a:chOff x="6955650" y="1444825"/>
              <a:chExt cx="995099" cy="1095799"/>
            </a:xfrm>
          </p:grpSpPr>
          <p:sp>
            <p:nvSpPr>
              <p:cNvPr id="745" name="Shape 745"/>
              <p:cNvSpPr/>
              <p:nvPr/>
            </p:nvSpPr>
            <p:spPr>
              <a:xfrm>
                <a:off x="6955650" y="1545525"/>
                <a:ext cx="995099" cy="995099"/>
              </a:xfrm>
              <a:prstGeom prst="roundRect">
                <a:avLst>
                  <a:gd name="adj" fmla="val 16667"/>
                </a:avLst>
              </a:prstGeom>
              <a:solidFill>
                <a:srgbClr val="87A54F"/>
              </a:solidFill>
              <a:ln>
                <a:noFill/>
              </a:ln>
            </p:spPr>
            <p:txBody>
              <a:bodyPr lIns="91425" tIns="91425" rIns="91425" bIns="91425" anchor="ctr" anchorCtr="0">
                <a:noAutofit/>
              </a:bodyPr>
              <a:lstStyle/>
              <a:p>
                <a:pPr>
                  <a:spcBef>
                    <a:spcPts val="0"/>
                  </a:spcBef>
                  <a:buNone/>
                </a:pPr>
                <a:endParaRPr/>
              </a:p>
            </p:txBody>
          </p:sp>
          <p:sp>
            <p:nvSpPr>
              <p:cNvPr id="746" name="Shape 746"/>
              <p:cNvSpPr/>
              <p:nvPr/>
            </p:nvSpPr>
            <p:spPr>
              <a:xfrm>
                <a:off x="6955650" y="1444825"/>
                <a:ext cx="995099" cy="995099"/>
              </a:xfrm>
              <a:prstGeom prst="roundRect">
                <a:avLst>
                  <a:gd name="adj" fmla="val 16667"/>
                </a:avLst>
              </a:prstGeom>
              <a:solidFill>
                <a:srgbClr val="A5C961"/>
              </a:solidFill>
              <a:ln>
                <a:noFill/>
              </a:ln>
            </p:spPr>
            <p:txBody>
              <a:bodyPr lIns="91425" tIns="91425" rIns="91425" bIns="91425" anchor="ctr" anchorCtr="0">
                <a:noAutofit/>
              </a:bodyPr>
              <a:lstStyle/>
              <a:p>
                <a:pPr>
                  <a:spcBef>
                    <a:spcPts val="0"/>
                  </a:spcBef>
                  <a:buNone/>
                </a:pPr>
                <a:endParaRPr/>
              </a:p>
            </p:txBody>
          </p:sp>
        </p:grpSp>
        <p:pic>
          <p:nvPicPr>
            <p:cNvPr id="747" name="Shape 747"/>
            <p:cNvPicPr preferRelativeResize="0"/>
            <p:nvPr/>
          </p:nvPicPr>
          <p:blipFill>
            <a:blip r:embed="rId10">
              <a:alphaModFix/>
            </a:blip>
            <a:stretch>
              <a:fillRect/>
            </a:stretch>
          </p:blipFill>
          <p:spPr>
            <a:xfrm>
              <a:off x="7249485" y="1389704"/>
              <a:ext cx="877675" cy="877675"/>
            </a:xfrm>
            <a:prstGeom prst="rect">
              <a:avLst/>
            </a:prstGeom>
            <a:noFill/>
            <a:ln>
              <a:noFill/>
            </a:ln>
          </p:spPr>
        </p:pic>
        <p:sp>
          <p:nvSpPr>
            <p:cNvPr id="748" name="Shape 748"/>
            <p:cNvSpPr txBox="1"/>
            <p:nvPr/>
          </p:nvSpPr>
          <p:spPr>
            <a:xfrm>
              <a:off x="7254410" y="2008580"/>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lt1"/>
                  </a:solidFill>
                  <a:latin typeface="Roboto Slab"/>
                  <a:ea typeface="Roboto Slab"/>
                  <a:cs typeface="Roboto Slab"/>
                  <a:sym typeface="Roboto Slab"/>
                </a:rPr>
                <a:t>efficiency</a:t>
              </a:r>
            </a:p>
          </p:txBody>
        </p:sp>
      </p:grpSp>
      <p:grpSp>
        <p:nvGrpSpPr>
          <p:cNvPr id="749" name="Shape 749"/>
          <p:cNvGrpSpPr/>
          <p:nvPr/>
        </p:nvGrpSpPr>
        <p:grpSpPr>
          <a:xfrm>
            <a:off x="7246789" y="2499450"/>
            <a:ext cx="880379" cy="1062189"/>
            <a:chOff x="7246789" y="2499450"/>
            <a:chExt cx="880379" cy="1062189"/>
          </a:xfrm>
        </p:grpSpPr>
        <p:grpSp>
          <p:nvGrpSpPr>
            <p:cNvPr id="750" name="Shape 750"/>
            <p:cNvGrpSpPr/>
            <p:nvPr/>
          </p:nvGrpSpPr>
          <p:grpSpPr>
            <a:xfrm>
              <a:off x="7249490" y="2595143"/>
              <a:ext cx="877678" cy="966495"/>
              <a:chOff x="6955650" y="3139875"/>
              <a:chExt cx="995099" cy="1095799"/>
            </a:xfrm>
          </p:grpSpPr>
          <p:sp>
            <p:nvSpPr>
              <p:cNvPr id="751" name="Shape 751"/>
              <p:cNvSpPr/>
              <p:nvPr/>
            </p:nvSpPr>
            <p:spPr>
              <a:xfrm>
                <a:off x="6955650" y="3240575"/>
                <a:ext cx="995099" cy="995099"/>
              </a:xfrm>
              <a:prstGeom prst="roundRect">
                <a:avLst>
                  <a:gd name="adj" fmla="val 16667"/>
                </a:avLst>
              </a:prstGeom>
              <a:solidFill>
                <a:srgbClr val="6792BC"/>
              </a:solidFill>
              <a:ln>
                <a:noFill/>
              </a:ln>
            </p:spPr>
            <p:txBody>
              <a:bodyPr lIns="91425" tIns="91425" rIns="91425" bIns="91425" anchor="ctr" anchorCtr="0">
                <a:noAutofit/>
              </a:bodyPr>
              <a:lstStyle/>
              <a:p>
                <a:pPr>
                  <a:spcBef>
                    <a:spcPts val="0"/>
                  </a:spcBef>
                  <a:buNone/>
                </a:pPr>
                <a:endParaRPr/>
              </a:p>
            </p:txBody>
          </p:sp>
          <p:sp>
            <p:nvSpPr>
              <p:cNvPr id="752" name="Shape 752"/>
              <p:cNvSpPr/>
              <p:nvPr/>
            </p:nvSpPr>
            <p:spPr>
              <a:xfrm>
                <a:off x="6955650" y="3139875"/>
                <a:ext cx="995099" cy="995099"/>
              </a:xfrm>
              <a:prstGeom prst="roundRect">
                <a:avLst>
                  <a:gd name="adj" fmla="val 16667"/>
                </a:avLst>
              </a:prstGeom>
              <a:solidFill>
                <a:srgbClr val="7FB3E6"/>
              </a:solidFill>
              <a:ln>
                <a:noFill/>
              </a:ln>
            </p:spPr>
            <p:txBody>
              <a:bodyPr lIns="91425" tIns="91425" rIns="91425" bIns="91425" anchor="ctr" anchorCtr="0">
                <a:noAutofit/>
              </a:bodyPr>
              <a:lstStyle/>
              <a:p>
                <a:pPr>
                  <a:spcBef>
                    <a:spcPts val="0"/>
                  </a:spcBef>
                  <a:buNone/>
                </a:pPr>
                <a:endParaRPr/>
              </a:p>
            </p:txBody>
          </p:sp>
        </p:grpSp>
        <p:pic>
          <p:nvPicPr>
            <p:cNvPr id="753" name="Shape 753"/>
            <p:cNvPicPr preferRelativeResize="0"/>
            <p:nvPr/>
          </p:nvPicPr>
          <p:blipFill>
            <a:blip r:embed="rId11">
              <a:alphaModFix/>
            </a:blip>
            <a:stretch>
              <a:fillRect/>
            </a:stretch>
          </p:blipFill>
          <p:spPr>
            <a:xfrm>
              <a:off x="7249489" y="2499450"/>
              <a:ext cx="864824" cy="864824"/>
            </a:xfrm>
            <a:prstGeom prst="rect">
              <a:avLst/>
            </a:prstGeom>
            <a:noFill/>
            <a:ln>
              <a:noFill/>
            </a:ln>
          </p:spPr>
        </p:pic>
        <p:sp>
          <p:nvSpPr>
            <p:cNvPr id="754" name="Shape 754"/>
            <p:cNvSpPr txBox="1"/>
            <p:nvPr/>
          </p:nvSpPr>
          <p:spPr>
            <a:xfrm>
              <a:off x="7246789" y="3140284"/>
              <a:ext cx="877800" cy="3458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lt1"/>
                  </a:solidFill>
                  <a:latin typeface="Roboto Slab"/>
                  <a:ea typeface="Roboto Slab"/>
                  <a:cs typeface="Roboto Slab"/>
                  <a:sym typeface="Roboto Slab"/>
                </a:rPr>
                <a:t>Support</a:t>
              </a:r>
            </a:p>
          </p:txBody>
        </p:sp>
      </p:grpSp>
      <p:pic>
        <p:nvPicPr>
          <p:cNvPr id="38" name="Immagine 37">
            <a:extLst>
              <a:ext uri="{FF2B5EF4-FFF2-40B4-BE49-F238E27FC236}">
                <a16:creationId xmlns:a16="http://schemas.microsoft.com/office/drawing/2014/main" id="{199099B9-5192-4DBF-8DAD-D72807BF1EEC}"/>
              </a:ext>
            </a:extLst>
          </p:cNvPr>
          <p:cNvPicPr>
            <a:picLocks noChangeAspect="1"/>
          </p:cNvPicPr>
          <p:nvPr/>
        </p:nvPicPr>
        <p:blipFill rotWithShape="1">
          <a:blip r:embed="rId12"/>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729"/>
                                        </p:tgtEl>
                                        <p:attrNameLst>
                                          <p:attrName>style.visibility</p:attrName>
                                        </p:attrNameLst>
                                      </p:cBhvr>
                                      <p:to>
                                        <p:strVal val="visible"/>
                                      </p:to>
                                    </p:set>
                                    <p:anim calcmode="lin" valueType="num">
                                      <p:cBhvr additive="base">
                                        <p:cTn id="7" dur="800"/>
                                        <p:tgtEl>
                                          <p:spTgt spid="729"/>
                                        </p:tgtEl>
                                        <p:attrNameLst>
                                          <p:attrName>ppt_y</p:attrName>
                                        </p:attrNameLst>
                                      </p:cBhvr>
                                      <p:tavLst>
                                        <p:tav tm="0">
                                          <p:val>
                                            <p:strVal val="#ppt_y+1"/>
                                          </p:val>
                                        </p:tav>
                                        <p:tav tm="100000">
                                          <p:val>
                                            <p:strVal val="#ppt_y"/>
                                          </p:val>
                                        </p:tav>
                                      </p:tavLst>
                                    </p:anim>
                                  </p:childTnLst>
                                </p:cTn>
                              </p:par>
                            </p:childTnLst>
                          </p:cTn>
                        </p:par>
                        <p:par>
                          <p:cTn id="8" fill="hold">
                            <p:stCondLst>
                              <p:cond delay="800"/>
                            </p:stCondLst>
                            <p:childTnLst>
                              <p:par>
                                <p:cTn id="9" presetID="2" presetClass="entr" presetSubtype="4" fill="hold" nodeType="afterEffect">
                                  <p:stCondLst>
                                    <p:cond delay="0"/>
                                  </p:stCondLst>
                                  <p:childTnLst>
                                    <p:set>
                                      <p:cBhvr>
                                        <p:cTn id="10" dur="1" fill="hold">
                                          <p:stCondLst>
                                            <p:cond delay="0"/>
                                          </p:stCondLst>
                                        </p:cTn>
                                        <p:tgtEl>
                                          <p:spTgt spid="730"/>
                                        </p:tgtEl>
                                        <p:attrNameLst>
                                          <p:attrName>style.visibility</p:attrName>
                                        </p:attrNameLst>
                                      </p:cBhvr>
                                      <p:to>
                                        <p:strVal val="visible"/>
                                      </p:to>
                                    </p:set>
                                    <p:anim calcmode="lin" valueType="num">
                                      <p:cBhvr additive="base">
                                        <p:cTn id="11" dur="600"/>
                                        <p:tgtEl>
                                          <p:spTgt spid="730"/>
                                        </p:tgtEl>
                                        <p:attrNameLst>
                                          <p:attrName>ppt_y</p:attrName>
                                        </p:attrNameLst>
                                      </p:cBhvr>
                                      <p:tavLst>
                                        <p:tav tm="0">
                                          <p:val>
                                            <p:strVal val="#ppt_y+1"/>
                                          </p:val>
                                        </p:tav>
                                        <p:tav tm="100000">
                                          <p:val>
                                            <p:strVal val="#ppt_y"/>
                                          </p:val>
                                        </p:tav>
                                      </p:tavLst>
                                    </p:anim>
                                  </p:childTnLst>
                                </p:cTn>
                              </p:par>
                            </p:childTnLst>
                          </p:cTn>
                        </p:par>
                        <p:par>
                          <p:cTn id="12" fill="hold">
                            <p:stCondLst>
                              <p:cond delay="1400"/>
                            </p:stCondLst>
                            <p:childTnLst>
                              <p:par>
                                <p:cTn id="13" presetID="2" presetClass="entr" presetSubtype="4" fill="hold" nodeType="afterEffect">
                                  <p:stCondLst>
                                    <p:cond delay="0"/>
                                  </p:stCondLst>
                                  <p:childTnLst>
                                    <p:set>
                                      <p:cBhvr>
                                        <p:cTn id="14" dur="1" fill="hold">
                                          <p:stCondLst>
                                            <p:cond delay="0"/>
                                          </p:stCondLst>
                                        </p:cTn>
                                        <p:tgtEl>
                                          <p:spTgt spid="720"/>
                                        </p:tgtEl>
                                        <p:attrNameLst>
                                          <p:attrName>style.visibility</p:attrName>
                                        </p:attrNameLst>
                                      </p:cBhvr>
                                      <p:to>
                                        <p:strVal val="visible"/>
                                      </p:to>
                                    </p:set>
                                    <p:anim calcmode="lin" valueType="num">
                                      <p:cBhvr additive="base">
                                        <p:cTn id="15" dur="900"/>
                                        <p:tgtEl>
                                          <p:spTgt spid="720"/>
                                        </p:tgtEl>
                                        <p:attrNameLst>
                                          <p:attrName>ppt_y</p:attrName>
                                        </p:attrNameLst>
                                      </p:cBhvr>
                                      <p:tavLst>
                                        <p:tav tm="0">
                                          <p:val>
                                            <p:strVal val="#ppt_y+1"/>
                                          </p:val>
                                        </p:tav>
                                        <p:tav tm="100000">
                                          <p:val>
                                            <p:strVal val="#ppt_y"/>
                                          </p:val>
                                        </p:tav>
                                      </p:tavLst>
                                    </p:anim>
                                  </p:childTnLst>
                                </p:cTn>
                              </p:par>
                            </p:childTnLst>
                          </p:cTn>
                        </p:par>
                        <p:par>
                          <p:cTn id="16" fill="hold">
                            <p:stCondLst>
                              <p:cond delay="2300"/>
                            </p:stCondLst>
                            <p:childTnLst>
                              <p:par>
                                <p:cTn id="17" presetID="23" presetClass="entr" presetSubtype="16" fill="hold" nodeType="afterEffect">
                                  <p:stCondLst>
                                    <p:cond delay="0"/>
                                  </p:stCondLst>
                                  <p:childTnLst>
                                    <p:set>
                                      <p:cBhvr>
                                        <p:cTn id="18" dur="1" fill="hold">
                                          <p:stCondLst>
                                            <p:cond delay="0"/>
                                          </p:stCondLst>
                                        </p:cTn>
                                        <p:tgtEl>
                                          <p:spTgt spid="731"/>
                                        </p:tgtEl>
                                        <p:attrNameLst>
                                          <p:attrName>style.visibility</p:attrName>
                                        </p:attrNameLst>
                                      </p:cBhvr>
                                      <p:to>
                                        <p:strVal val="visible"/>
                                      </p:to>
                                    </p:set>
                                    <p:anim calcmode="lin" valueType="num">
                                      <p:cBhvr additive="base">
                                        <p:cTn id="19" dur="500"/>
                                        <p:tgtEl>
                                          <p:spTgt spid="731"/>
                                        </p:tgtEl>
                                        <p:attrNameLst>
                                          <p:attrName>ppt_w</p:attrName>
                                        </p:attrNameLst>
                                      </p:cBhvr>
                                      <p:tavLst>
                                        <p:tav tm="0">
                                          <p:val>
                                            <p:strVal val="0"/>
                                          </p:val>
                                        </p:tav>
                                        <p:tav tm="100000">
                                          <p:val>
                                            <p:strVal val="#ppt_w"/>
                                          </p:val>
                                        </p:tav>
                                      </p:tavLst>
                                    </p:anim>
                                    <p:anim calcmode="lin" valueType="num">
                                      <p:cBhvr additive="base">
                                        <p:cTn id="20" dur="500"/>
                                        <p:tgtEl>
                                          <p:spTgt spid="731"/>
                                        </p:tgtEl>
                                        <p:attrNameLst>
                                          <p:attrName>ppt_h</p:attrName>
                                        </p:attrNameLst>
                                      </p:cBhvr>
                                      <p:tavLst>
                                        <p:tav tm="0">
                                          <p:val>
                                            <p:strVal val="0"/>
                                          </p:val>
                                        </p:tav>
                                        <p:tav tm="100000">
                                          <p:val>
                                            <p:strVal val="#ppt_h"/>
                                          </p:val>
                                        </p:tav>
                                      </p:tavLst>
                                    </p:anim>
                                  </p:childTnLst>
                                </p:cTn>
                              </p:par>
                            </p:childTnLst>
                          </p:cTn>
                        </p:par>
                        <p:par>
                          <p:cTn id="21" fill="hold">
                            <p:stCondLst>
                              <p:cond delay="2800"/>
                            </p:stCondLst>
                            <p:childTnLst>
                              <p:par>
                                <p:cTn id="22" presetID="23" presetClass="entr" presetSubtype="16" fill="hold" nodeType="afterEffect">
                                  <p:stCondLst>
                                    <p:cond delay="0"/>
                                  </p:stCondLst>
                                  <p:childTnLst>
                                    <p:set>
                                      <p:cBhvr>
                                        <p:cTn id="23" dur="1" fill="hold">
                                          <p:stCondLst>
                                            <p:cond delay="0"/>
                                          </p:stCondLst>
                                        </p:cTn>
                                        <p:tgtEl>
                                          <p:spTgt spid="737"/>
                                        </p:tgtEl>
                                        <p:attrNameLst>
                                          <p:attrName>style.visibility</p:attrName>
                                        </p:attrNameLst>
                                      </p:cBhvr>
                                      <p:to>
                                        <p:strVal val="visible"/>
                                      </p:to>
                                    </p:set>
                                    <p:anim calcmode="lin" valueType="num">
                                      <p:cBhvr additive="base">
                                        <p:cTn id="24" dur="500"/>
                                        <p:tgtEl>
                                          <p:spTgt spid="737"/>
                                        </p:tgtEl>
                                        <p:attrNameLst>
                                          <p:attrName>ppt_w</p:attrName>
                                        </p:attrNameLst>
                                      </p:cBhvr>
                                      <p:tavLst>
                                        <p:tav tm="0">
                                          <p:val>
                                            <p:strVal val="0"/>
                                          </p:val>
                                        </p:tav>
                                        <p:tav tm="100000">
                                          <p:val>
                                            <p:strVal val="#ppt_w"/>
                                          </p:val>
                                        </p:tav>
                                      </p:tavLst>
                                    </p:anim>
                                    <p:anim calcmode="lin" valueType="num">
                                      <p:cBhvr additive="base">
                                        <p:cTn id="25" dur="500"/>
                                        <p:tgtEl>
                                          <p:spTgt spid="737"/>
                                        </p:tgtEl>
                                        <p:attrNameLst>
                                          <p:attrName>ppt_h</p:attrName>
                                        </p:attrNameLst>
                                      </p:cBhvr>
                                      <p:tavLst>
                                        <p:tav tm="0">
                                          <p:val>
                                            <p:strVal val="0"/>
                                          </p:val>
                                        </p:tav>
                                        <p:tav tm="100000">
                                          <p:val>
                                            <p:strVal val="#ppt_h"/>
                                          </p:val>
                                        </p:tav>
                                      </p:tavLst>
                                    </p:anim>
                                  </p:childTnLst>
                                </p:cTn>
                              </p:par>
                            </p:childTnLst>
                          </p:cTn>
                        </p:par>
                        <p:par>
                          <p:cTn id="26" fill="hold">
                            <p:stCondLst>
                              <p:cond delay="3300"/>
                            </p:stCondLst>
                            <p:childTnLst>
                              <p:par>
                                <p:cTn id="27" presetID="23" presetClass="entr" presetSubtype="16" fill="hold" nodeType="afterEffect">
                                  <p:stCondLst>
                                    <p:cond delay="0"/>
                                  </p:stCondLst>
                                  <p:childTnLst>
                                    <p:set>
                                      <p:cBhvr>
                                        <p:cTn id="28" dur="1" fill="hold">
                                          <p:stCondLst>
                                            <p:cond delay="0"/>
                                          </p:stCondLst>
                                        </p:cTn>
                                        <p:tgtEl>
                                          <p:spTgt spid="743"/>
                                        </p:tgtEl>
                                        <p:attrNameLst>
                                          <p:attrName>style.visibility</p:attrName>
                                        </p:attrNameLst>
                                      </p:cBhvr>
                                      <p:to>
                                        <p:strVal val="visible"/>
                                      </p:to>
                                    </p:set>
                                    <p:anim calcmode="lin" valueType="num">
                                      <p:cBhvr additive="base">
                                        <p:cTn id="29" dur="500"/>
                                        <p:tgtEl>
                                          <p:spTgt spid="743"/>
                                        </p:tgtEl>
                                        <p:attrNameLst>
                                          <p:attrName>ppt_w</p:attrName>
                                        </p:attrNameLst>
                                      </p:cBhvr>
                                      <p:tavLst>
                                        <p:tav tm="0">
                                          <p:val>
                                            <p:strVal val="0"/>
                                          </p:val>
                                        </p:tav>
                                        <p:tav tm="100000">
                                          <p:val>
                                            <p:strVal val="#ppt_w"/>
                                          </p:val>
                                        </p:tav>
                                      </p:tavLst>
                                    </p:anim>
                                    <p:anim calcmode="lin" valueType="num">
                                      <p:cBhvr additive="base">
                                        <p:cTn id="30" dur="500"/>
                                        <p:tgtEl>
                                          <p:spTgt spid="743"/>
                                        </p:tgtEl>
                                        <p:attrNameLst>
                                          <p:attrName>ppt_h</p:attrName>
                                        </p:attrNameLst>
                                      </p:cBhvr>
                                      <p:tavLst>
                                        <p:tav tm="0">
                                          <p:val>
                                            <p:strVal val="0"/>
                                          </p:val>
                                        </p:tav>
                                        <p:tav tm="100000">
                                          <p:val>
                                            <p:strVal val="#ppt_h"/>
                                          </p:val>
                                        </p:tav>
                                      </p:tavLst>
                                    </p:anim>
                                  </p:childTnLst>
                                </p:cTn>
                              </p:par>
                            </p:childTnLst>
                          </p:cTn>
                        </p:par>
                        <p:par>
                          <p:cTn id="31" fill="hold">
                            <p:stCondLst>
                              <p:cond delay="3800"/>
                            </p:stCondLst>
                            <p:childTnLst>
                              <p:par>
                                <p:cTn id="32" presetID="23" presetClass="entr" presetSubtype="16" fill="hold" nodeType="afterEffect">
                                  <p:stCondLst>
                                    <p:cond delay="0"/>
                                  </p:stCondLst>
                                  <p:childTnLst>
                                    <p:set>
                                      <p:cBhvr>
                                        <p:cTn id="33" dur="1" fill="hold">
                                          <p:stCondLst>
                                            <p:cond delay="0"/>
                                          </p:stCondLst>
                                        </p:cTn>
                                        <p:tgtEl>
                                          <p:spTgt spid="749"/>
                                        </p:tgtEl>
                                        <p:attrNameLst>
                                          <p:attrName>style.visibility</p:attrName>
                                        </p:attrNameLst>
                                      </p:cBhvr>
                                      <p:to>
                                        <p:strVal val="visible"/>
                                      </p:to>
                                    </p:set>
                                    <p:anim calcmode="lin" valueType="num">
                                      <p:cBhvr additive="base">
                                        <p:cTn id="34" dur="500"/>
                                        <p:tgtEl>
                                          <p:spTgt spid="749"/>
                                        </p:tgtEl>
                                        <p:attrNameLst>
                                          <p:attrName>ppt_w</p:attrName>
                                        </p:attrNameLst>
                                      </p:cBhvr>
                                      <p:tavLst>
                                        <p:tav tm="0">
                                          <p:val>
                                            <p:strVal val="0"/>
                                          </p:val>
                                        </p:tav>
                                        <p:tav tm="100000">
                                          <p:val>
                                            <p:strVal val="#ppt_w"/>
                                          </p:val>
                                        </p:tav>
                                      </p:tavLst>
                                    </p:anim>
                                    <p:anim calcmode="lin" valueType="num">
                                      <p:cBhvr additive="base">
                                        <p:cTn id="35" dur="500"/>
                                        <p:tgtEl>
                                          <p:spTgt spid="74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7" name="Rettangolo 6">
            <a:extLst>
              <a:ext uri="{FF2B5EF4-FFF2-40B4-BE49-F238E27FC236}">
                <a16:creationId xmlns:a16="http://schemas.microsoft.com/office/drawing/2014/main" id="{757440B8-369E-4DD3-A801-24457FB5348B}"/>
              </a:ext>
            </a:extLst>
          </p:cNvPr>
          <p:cNvSpPr/>
          <p:nvPr/>
        </p:nvSpPr>
        <p:spPr>
          <a:xfrm>
            <a:off x="0" y="2774227"/>
            <a:ext cx="9144000" cy="620399"/>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sp>
        <p:nvSpPr>
          <p:cNvPr id="32" name="Shape 32"/>
          <p:cNvSpPr txBox="1"/>
          <p:nvPr/>
        </p:nvSpPr>
        <p:spPr>
          <a:xfrm>
            <a:off x="3240750" y="4349050"/>
            <a:ext cx="2662499" cy="290700"/>
          </a:xfrm>
          <a:prstGeom prst="rect">
            <a:avLst/>
          </a:prstGeom>
          <a:noFill/>
          <a:ln>
            <a:noFill/>
          </a:ln>
        </p:spPr>
        <p:txBody>
          <a:bodyPr lIns="91425" tIns="91425" rIns="91425" bIns="91425" anchor="t" anchorCtr="0">
            <a:noAutofit/>
          </a:bodyPr>
          <a:lstStyle/>
          <a:p>
            <a:pPr algn="ctr">
              <a:spcBef>
                <a:spcPts val="0"/>
              </a:spcBef>
              <a:buNone/>
            </a:pPr>
            <a:r>
              <a:rPr lang="en" sz="1000" dirty="0">
                <a:latin typeface="Roboto Slab"/>
                <a:ea typeface="Roboto Slab"/>
                <a:cs typeface="Roboto Slab"/>
                <a:sym typeface="Roboto Slab"/>
              </a:rPr>
              <a:t>www.startupwebsite.com</a:t>
            </a:r>
          </a:p>
        </p:txBody>
      </p:sp>
      <p:sp>
        <p:nvSpPr>
          <p:cNvPr id="33" name="Shape 33"/>
          <p:cNvSpPr txBox="1"/>
          <p:nvPr/>
        </p:nvSpPr>
        <p:spPr>
          <a:xfrm>
            <a:off x="242325" y="2831150"/>
            <a:ext cx="3437309" cy="620399"/>
          </a:xfrm>
          <a:prstGeom prst="rect">
            <a:avLst/>
          </a:prstGeom>
          <a:noFill/>
          <a:ln>
            <a:noFill/>
          </a:ln>
        </p:spPr>
        <p:txBody>
          <a:bodyPr lIns="91425" tIns="91425" rIns="91425" bIns="91425" anchor="t" anchorCtr="0">
            <a:noAutofit/>
          </a:bodyPr>
          <a:lstStyle/>
          <a:p>
            <a:pPr lvl="0" rtl="0">
              <a:spcBef>
                <a:spcPts val="0"/>
              </a:spcBef>
              <a:buClr>
                <a:schemeClr val="dk1"/>
              </a:buClr>
              <a:buSzPct val="55000"/>
              <a:buFont typeface="Arial"/>
              <a:buNone/>
            </a:pPr>
            <a:r>
              <a:rPr lang="it-IT" sz="2000" b="1" dirty="0">
                <a:solidFill>
                  <a:schemeClr val="lt1"/>
                </a:solidFill>
                <a:latin typeface="Roboto Slab"/>
                <a:ea typeface="Roboto Slab"/>
                <a:cs typeface="Roboto Slab"/>
                <a:sym typeface="Roboto Slab"/>
              </a:rPr>
              <a:t>BUSINESS MODEL</a:t>
            </a:r>
            <a:endParaRPr lang="en" sz="2000" b="1" dirty="0">
              <a:solidFill>
                <a:schemeClr val="lt1"/>
              </a:solidFill>
              <a:latin typeface="Roboto Slab"/>
              <a:ea typeface="Roboto Slab"/>
              <a:cs typeface="Roboto Slab"/>
              <a:sym typeface="Roboto Slab"/>
            </a:endParaRPr>
          </a:p>
          <a:p>
            <a:pPr>
              <a:spcBef>
                <a:spcPts val="0"/>
              </a:spcBef>
              <a:buNone/>
            </a:pPr>
            <a:endParaRPr dirty="0"/>
          </a:p>
        </p:txBody>
      </p:sp>
      <p:sp>
        <p:nvSpPr>
          <p:cNvPr id="34" name="Shape 34"/>
          <p:cNvSpPr txBox="1"/>
          <p:nvPr/>
        </p:nvSpPr>
        <p:spPr>
          <a:xfrm>
            <a:off x="4373750" y="2889275"/>
            <a:ext cx="4604400" cy="430500"/>
          </a:xfrm>
          <a:prstGeom prst="rect">
            <a:avLst/>
          </a:prstGeom>
          <a:noFill/>
          <a:ln>
            <a:noFill/>
          </a:ln>
        </p:spPr>
        <p:txBody>
          <a:bodyPr lIns="91425" tIns="91425" rIns="91425" bIns="91425" anchor="t" anchorCtr="0">
            <a:noAutofit/>
          </a:bodyPr>
          <a:lstStyle/>
          <a:p>
            <a:pPr lvl="0" algn="r" rtl="0">
              <a:spcBef>
                <a:spcPts val="0"/>
              </a:spcBef>
              <a:buNone/>
            </a:pPr>
            <a:r>
              <a:rPr lang="en">
                <a:solidFill>
                  <a:schemeClr val="lt1"/>
                </a:solidFill>
                <a:latin typeface="Roboto"/>
                <a:ea typeface="Roboto"/>
                <a:cs typeface="Roboto"/>
                <a:sym typeface="Roboto"/>
              </a:rPr>
              <a:t>Use These Slides To Describe Your Market</a:t>
            </a:r>
          </a:p>
          <a:p>
            <a:pPr lvl="0" rtl="0">
              <a:spcBef>
                <a:spcPts val="0"/>
              </a:spcBef>
              <a:buNone/>
            </a:pPr>
            <a:endParaRPr/>
          </a:p>
        </p:txBody>
      </p:sp>
      <p:pic>
        <p:nvPicPr>
          <p:cNvPr id="3" name="Immagine 2">
            <a:extLst>
              <a:ext uri="{FF2B5EF4-FFF2-40B4-BE49-F238E27FC236}">
                <a16:creationId xmlns:a16="http://schemas.microsoft.com/office/drawing/2014/main" id="{0DA18343-295D-48A2-9447-D43C713212AD}"/>
              </a:ext>
            </a:extLst>
          </p:cNvPr>
          <p:cNvPicPr>
            <a:picLocks noChangeAspect="1"/>
          </p:cNvPicPr>
          <p:nvPr/>
        </p:nvPicPr>
        <p:blipFill rotWithShape="1">
          <a:blip r:embed="rId3"/>
          <a:srcRect t="42749" b="42199"/>
          <a:stretch/>
        </p:blipFill>
        <p:spPr>
          <a:xfrm>
            <a:off x="1283546" y="1069126"/>
            <a:ext cx="6576908" cy="989948"/>
          </a:xfrm>
          <a:prstGeom prst="rect">
            <a:avLst/>
          </a:prstGeom>
        </p:spPr>
      </p:pic>
    </p:spTree>
    <p:extLst>
      <p:ext uri="{BB962C8B-B14F-4D97-AF65-F5344CB8AC3E}">
        <p14:creationId xmlns:p14="http://schemas.microsoft.com/office/powerpoint/2010/main" val="1058408761"/>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1000"/>
                                        <p:tgtEl>
                                          <p:spTgt spid="33"/>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1000"/>
                                        <p:tgtEl>
                                          <p:spTgt spid="34"/>
                                        </p:tgtEl>
                                        <p:attrNameLst>
                                          <p:attrName>ppt_x</p:attrName>
                                        </p:attrNameLst>
                                      </p:cBhvr>
                                      <p:tavLst>
                                        <p:tav tm="0">
                                          <p:val>
                                            <p:strVal val="#ppt_x+1"/>
                                          </p:val>
                                        </p:tav>
                                        <p:tav tm="100000">
                                          <p:val>
                                            <p:strVal val="#ppt_x"/>
                                          </p:val>
                                        </p:tav>
                                      </p:tavLst>
                                    </p:anim>
                                  </p:childTnLst>
                                </p:cTn>
                              </p:par>
                            </p:childTnLst>
                          </p:cTn>
                        </p:par>
                        <p:par>
                          <p:cTn id="12" fill="hold">
                            <p:stCondLst>
                              <p:cond delay="2000"/>
                            </p:stCondLst>
                            <p:childTnLst>
                              <p:par>
                                <p:cTn id="13" presetID="23" presetClass="entr" presetSubtype="16"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additive="base">
                                        <p:cTn id="15" dur="1000"/>
                                        <p:tgtEl>
                                          <p:spTgt spid="32"/>
                                        </p:tgtEl>
                                        <p:attrNameLst>
                                          <p:attrName>ppt_w</p:attrName>
                                        </p:attrNameLst>
                                      </p:cBhvr>
                                      <p:tavLst>
                                        <p:tav tm="0">
                                          <p:val>
                                            <p:strVal val="0"/>
                                          </p:val>
                                        </p:tav>
                                        <p:tav tm="100000">
                                          <p:val>
                                            <p:strVal val="#ppt_w"/>
                                          </p:val>
                                        </p:tav>
                                      </p:tavLst>
                                    </p:anim>
                                    <p:anim calcmode="lin" valueType="num">
                                      <p:cBhvr additive="base">
                                        <p:cTn id="16" dur="1000"/>
                                        <p:tgtEl>
                                          <p:spTgt spid="3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1233"/>
        <p:cNvGrpSpPr/>
        <p:nvPr/>
      </p:nvGrpSpPr>
      <p:grpSpPr>
        <a:xfrm>
          <a:off x="0" y="0"/>
          <a:ext cx="0" cy="0"/>
          <a:chOff x="0" y="0"/>
          <a:chExt cx="0" cy="0"/>
        </a:xfrm>
      </p:grpSpPr>
      <p:sp>
        <p:nvSpPr>
          <p:cNvPr id="39" name="Rettangolo 38">
            <a:extLst>
              <a:ext uri="{FF2B5EF4-FFF2-40B4-BE49-F238E27FC236}">
                <a16:creationId xmlns:a16="http://schemas.microsoft.com/office/drawing/2014/main" id="{FD438DA6-45CC-4CA1-9C3E-F90B33851BEC}"/>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1234" name="Shape 1234"/>
          <p:cNvPicPr preferRelativeResize="0"/>
          <p:nvPr/>
        </p:nvPicPr>
        <p:blipFill>
          <a:blip r:embed="rId3">
            <a:alphaModFix/>
          </a:blip>
          <a:stretch>
            <a:fillRect/>
          </a:stretch>
        </p:blipFill>
        <p:spPr>
          <a:xfrm>
            <a:off x="-84000" y="183075"/>
            <a:ext cx="9291700" cy="788900"/>
          </a:xfrm>
          <a:prstGeom prst="rect">
            <a:avLst/>
          </a:prstGeom>
          <a:noFill/>
          <a:ln>
            <a:noFill/>
          </a:ln>
        </p:spPr>
      </p:pic>
      <p:sp>
        <p:nvSpPr>
          <p:cNvPr id="1237" name="Shape 1237"/>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Revenue Plans</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sp>
        <p:nvSpPr>
          <p:cNvPr id="1238" name="Shape 1238"/>
          <p:cNvSpPr txBox="1"/>
          <p:nvPr/>
        </p:nvSpPr>
        <p:spPr>
          <a:xfrm>
            <a:off x="5440700" y="1318250"/>
            <a:ext cx="3908999" cy="609599"/>
          </a:xfrm>
          <a:prstGeom prst="rect">
            <a:avLst/>
          </a:prstGeom>
          <a:noFill/>
          <a:ln>
            <a:noFill/>
          </a:ln>
        </p:spPr>
        <p:txBody>
          <a:bodyPr lIns="91425" tIns="91425" rIns="91425" bIns="91425" anchor="t" anchorCtr="0">
            <a:noAutofit/>
          </a:bodyPr>
          <a:lstStyle/>
          <a:p>
            <a:pPr>
              <a:spcBef>
                <a:spcPts val="0"/>
              </a:spcBef>
              <a:buNone/>
            </a:pPr>
            <a:r>
              <a:rPr lang="en" sz="2400" b="1">
                <a:solidFill>
                  <a:srgbClr val="A9D6D9"/>
                </a:solidFill>
                <a:latin typeface="Roboto"/>
                <a:ea typeface="Roboto"/>
                <a:cs typeface="Roboto"/>
                <a:sym typeface="Roboto"/>
              </a:rPr>
              <a:t>How We’ll Make Money</a:t>
            </a:r>
          </a:p>
        </p:txBody>
      </p:sp>
      <p:grpSp>
        <p:nvGrpSpPr>
          <p:cNvPr id="1239" name="Shape 1239"/>
          <p:cNvGrpSpPr/>
          <p:nvPr/>
        </p:nvGrpSpPr>
        <p:grpSpPr>
          <a:xfrm>
            <a:off x="156665" y="953948"/>
            <a:ext cx="9360574" cy="4189550"/>
            <a:chOff x="156665" y="953948"/>
            <a:chExt cx="9360574" cy="4189550"/>
          </a:xfrm>
        </p:grpSpPr>
        <p:pic>
          <p:nvPicPr>
            <p:cNvPr id="1240" name="Shape 1240"/>
            <p:cNvPicPr preferRelativeResize="0"/>
            <p:nvPr/>
          </p:nvPicPr>
          <p:blipFill rotWithShape="1">
            <a:blip r:embed="rId4">
              <a:alphaModFix/>
            </a:blip>
            <a:srcRect b="29898"/>
            <a:stretch/>
          </p:blipFill>
          <p:spPr>
            <a:xfrm>
              <a:off x="1865700" y="953948"/>
              <a:ext cx="5412624" cy="4189550"/>
            </a:xfrm>
            <a:prstGeom prst="rect">
              <a:avLst/>
            </a:prstGeom>
            <a:noFill/>
            <a:ln>
              <a:noFill/>
            </a:ln>
          </p:spPr>
        </p:pic>
        <p:sp>
          <p:nvSpPr>
            <p:cNvPr id="1241" name="Shape 1241"/>
            <p:cNvSpPr/>
            <p:nvPr/>
          </p:nvSpPr>
          <p:spPr>
            <a:xfrm>
              <a:off x="2118350" y="3421375"/>
              <a:ext cx="536100" cy="536100"/>
            </a:xfrm>
            <a:prstGeom prst="ellipse">
              <a:avLst/>
            </a:prstGeom>
            <a:solidFill>
              <a:schemeClr val="lt1"/>
            </a:solidFill>
            <a:ln w="38100" cap="flat" cmpd="sng">
              <a:solidFill>
                <a:srgbClr val="EFEFE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242" name="Shape 1242"/>
            <p:cNvSpPr/>
            <p:nvPr/>
          </p:nvSpPr>
          <p:spPr>
            <a:xfrm>
              <a:off x="3268975" y="4457700"/>
              <a:ext cx="536100" cy="536100"/>
            </a:xfrm>
            <a:prstGeom prst="ellipse">
              <a:avLst/>
            </a:prstGeom>
            <a:solidFill>
              <a:schemeClr val="lt1"/>
            </a:solidFill>
            <a:ln w="38100" cap="flat" cmpd="sng">
              <a:solidFill>
                <a:srgbClr val="EFEFE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243" name="Shape 1243"/>
            <p:cNvSpPr/>
            <p:nvPr/>
          </p:nvSpPr>
          <p:spPr>
            <a:xfrm>
              <a:off x="4293800" y="4457700"/>
              <a:ext cx="536100" cy="536100"/>
            </a:xfrm>
            <a:prstGeom prst="ellipse">
              <a:avLst/>
            </a:prstGeom>
            <a:solidFill>
              <a:schemeClr val="lt1"/>
            </a:solidFill>
            <a:ln w="38100" cap="flat" cmpd="sng">
              <a:solidFill>
                <a:srgbClr val="EFEFE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244" name="Shape 1244"/>
            <p:cNvSpPr/>
            <p:nvPr/>
          </p:nvSpPr>
          <p:spPr>
            <a:xfrm>
              <a:off x="5391075" y="4457700"/>
              <a:ext cx="536100" cy="536100"/>
            </a:xfrm>
            <a:prstGeom prst="ellipse">
              <a:avLst/>
            </a:prstGeom>
            <a:solidFill>
              <a:schemeClr val="lt1"/>
            </a:solidFill>
            <a:ln w="38100" cap="flat" cmpd="sng">
              <a:solidFill>
                <a:srgbClr val="EFEFE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245" name="Shape 1245"/>
            <p:cNvSpPr/>
            <p:nvPr/>
          </p:nvSpPr>
          <p:spPr>
            <a:xfrm>
              <a:off x="4293800" y="3421375"/>
              <a:ext cx="536100" cy="536100"/>
            </a:xfrm>
            <a:prstGeom prst="ellipse">
              <a:avLst/>
            </a:prstGeom>
            <a:solidFill>
              <a:schemeClr val="lt1"/>
            </a:solidFill>
            <a:ln w="38100" cap="flat" cmpd="sng">
              <a:solidFill>
                <a:srgbClr val="EFEFE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246" name="Shape 1246"/>
            <p:cNvSpPr/>
            <p:nvPr/>
          </p:nvSpPr>
          <p:spPr>
            <a:xfrm>
              <a:off x="6469250" y="3421375"/>
              <a:ext cx="536100" cy="536100"/>
            </a:xfrm>
            <a:prstGeom prst="ellipse">
              <a:avLst/>
            </a:prstGeom>
            <a:solidFill>
              <a:schemeClr val="lt1"/>
            </a:solidFill>
            <a:ln w="38100" cap="flat" cmpd="sng">
              <a:solidFill>
                <a:srgbClr val="EFEFEF"/>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pic>
          <p:nvPicPr>
            <p:cNvPr id="1247" name="Shape 1247"/>
            <p:cNvPicPr preferRelativeResize="0"/>
            <p:nvPr/>
          </p:nvPicPr>
          <p:blipFill>
            <a:blip r:embed="rId5">
              <a:alphaModFix/>
            </a:blip>
            <a:stretch>
              <a:fillRect/>
            </a:stretch>
          </p:blipFill>
          <p:spPr>
            <a:xfrm>
              <a:off x="4336425" y="3463985"/>
              <a:ext cx="450850" cy="450850"/>
            </a:xfrm>
            <a:prstGeom prst="rect">
              <a:avLst/>
            </a:prstGeom>
            <a:noFill/>
            <a:ln>
              <a:noFill/>
            </a:ln>
          </p:spPr>
        </p:pic>
        <p:pic>
          <p:nvPicPr>
            <p:cNvPr id="1248" name="Shape 1248"/>
            <p:cNvPicPr preferRelativeResize="0"/>
            <p:nvPr/>
          </p:nvPicPr>
          <p:blipFill>
            <a:blip r:embed="rId6">
              <a:alphaModFix/>
            </a:blip>
            <a:stretch>
              <a:fillRect/>
            </a:stretch>
          </p:blipFill>
          <p:spPr>
            <a:xfrm>
              <a:off x="3358835" y="4546475"/>
              <a:ext cx="358549" cy="358549"/>
            </a:xfrm>
            <a:prstGeom prst="rect">
              <a:avLst/>
            </a:prstGeom>
            <a:noFill/>
            <a:ln>
              <a:noFill/>
            </a:ln>
          </p:spPr>
        </p:pic>
        <p:pic>
          <p:nvPicPr>
            <p:cNvPr id="1249" name="Shape 1249"/>
            <p:cNvPicPr preferRelativeResize="0"/>
            <p:nvPr/>
          </p:nvPicPr>
          <p:blipFill>
            <a:blip r:embed="rId7">
              <a:alphaModFix/>
            </a:blip>
            <a:stretch>
              <a:fillRect/>
            </a:stretch>
          </p:blipFill>
          <p:spPr>
            <a:xfrm>
              <a:off x="5433700" y="4477465"/>
              <a:ext cx="450850" cy="450850"/>
            </a:xfrm>
            <a:prstGeom prst="rect">
              <a:avLst/>
            </a:prstGeom>
            <a:noFill/>
            <a:ln>
              <a:noFill/>
            </a:ln>
          </p:spPr>
        </p:pic>
        <p:pic>
          <p:nvPicPr>
            <p:cNvPr id="1250" name="Shape 1250"/>
            <p:cNvPicPr preferRelativeResize="0"/>
            <p:nvPr/>
          </p:nvPicPr>
          <p:blipFill>
            <a:blip r:embed="rId8">
              <a:alphaModFix/>
            </a:blip>
            <a:stretch>
              <a:fillRect/>
            </a:stretch>
          </p:blipFill>
          <p:spPr>
            <a:xfrm>
              <a:off x="2189787" y="3492812"/>
              <a:ext cx="393225" cy="393225"/>
            </a:xfrm>
            <a:prstGeom prst="rect">
              <a:avLst/>
            </a:prstGeom>
            <a:noFill/>
            <a:ln>
              <a:noFill/>
            </a:ln>
          </p:spPr>
        </p:pic>
        <p:pic>
          <p:nvPicPr>
            <p:cNvPr id="1251" name="Shape 1251"/>
            <p:cNvPicPr preferRelativeResize="0"/>
            <p:nvPr/>
          </p:nvPicPr>
          <p:blipFill>
            <a:blip r:embed="rId9">
              <a:alphaModFix/>
            </a:blip>
            <a:stretch>
              <a:fillRect/>
            </a:stretch>
          </p:blipFill>
          <p:spPr>
            <a:xfrm>
              <a:off x="6558025" y="3510121"/>
              <a:ext cx="358549" cy="358549"/>
            </a:xfrm>
            <a:prstGeom prst="rect">
              <a:avLst/>
            </a:prstGeom>
            <a:noFill/>
            <a:ln>
              <a:noFill/>
            </a:ln>
          </p:spPr>
        </p:pic>
        <p:pic>
          <p:nvPicPr>
            <p:cNvPr id="1252" name="Shape 1252"/>
            <p:cNvPicPr preferRelativeResize="0"/>
            <p:nvPr/>
          </p:nvPicPr>
          <p:blipFill>
            <a:blip r:embed="rId10">
              <a:alphaModFix/>
            </a:blip>
            <a:stretch>
              <a:fillRect/>
            </a:stretch>
          </p:blipFill>
          <p:spPr>
            <a:xfrm>
              <a:off x="4336419" y="4492705"/>
              <a:ext cx="450849" cy="450849"/>
            </a:xfrm>
            <a:prstGeom prst="rect">
              <a:avLst/>
            </a:prstGeom>
            <a:noFill/>
            <a:ln>
              <a:noFill/>
            </a:ln>
          </p:spPr>
        </p:pic>
        <p:cxnSp>
          <p:nvCxnSpPr>
            <p:cNvPr id="1253" name="Shape 1253"/>
            <p:cNvCxnSpPr>
              <a:endCxn id="1254" idx="6"/>
            </p:cNvCxnSpPr>
            <p:nvPr/>
          </p:nvCxnSpPr>
          <p:spPr>
            <a:xfrm rot="5400000" flipH="1">
              <a:off x="996974" y="2263399"/>
              <a:ext cx="1463400" cy="1150800"/>
            </a:xfrm>
            <a:prstGeom prst="curvedConnector2">
              <a:avLst/>
            </a:prstGeom>
            <a:noFill/>
            <a:ln w="28575" cap="flat" cmpd="sng">
              <a:solidFill>
                <a:schemeClr val="lt1"/>
              </a:solidFill>
              <a:prstDash val="solid"/>
              <a:round/>
              <a:headEnd type="none" w="lg" len="lg"/>
              <a:tailEnd type="none" w="lg" len="lg"/>
            </a:ln>
          </p:spPr>
        </p:cxnSp>
        <p:sp>
          <p:nvSpPr>
            <p:cNvPr id="1254" name="Shape 1254"/>
            <p:cNvSpPr/>
            <p:nvPr/>
          </p:nvSpPr>
          <p:spPr>
            <a:xfrm>
              <a:off x="794775" y="1927850"/>
              <a:ext cx="358499" cy="358499"/>
            </a:xfrm>
            <a:prstGeom prst="ellipse">
              <a:avLst/>
            </a:prstGeom>
            <a:solidFill>
              <a:srgbClr val="7FB3E6"/>
            </a:solidFill>
            <a:ln w="38100" cap="flat" cmpd="sng">
              <a:solidFill>
                <a:schemeClr val="lt1"/>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255" name="Shape 1255"/>
            <p:cNvSpPr txBox="1"/>
            <p:nvPr/>
          </p:nvSpPr>
          <p:spPr>
            <a:xfrm>
              <a:off x="192965" y="2257431"/>
              <a:ext cx="1562099" cy="581700"/>
            </a:xfrm>
            <a:prstGeom prst="rect">
              <a:avLst/>
            </a:prstGeom>
            <a:noFill/>
            <a:ln>
              <a:noFill/>
            </a:ln>
          </p:spPr>
          <p:txBody>
            <a:bodyPr lIns="91425" tIns="91425" rIns="91425" bIns="91425" anchor="t" anchorCtr="0">
              <a:noAutofit/>
            </a:bodyPr>
            <a:lstStyle/>
            <a:p>
              <a:pPr algn="ctr" rtl="0">
                <a:spcBef>
                  <a:spcPts val="0"/>
                </a:spcBef>
                <a:buNone/>
              </a:pPr>
              <a:r>
                <a:rPr lang="en" sz="1200" b="1">
                  <a:solidFill>
                    <a:srgbClr val="B7B7B7"/>
                  </a:solidFill>
                  <a:latin typeface="Roboto Slab"/>
                  <a:ea typeface="Roboto Slab"/>
                  <a:cs typeface="Roboto Slab"/>
                  <a:sym typeface="Roboto Slab"/>
                </a:rPr>
                <a:t>Subscription</a:t>
              </a:r>
            </a:p>
            <a:p>
              <a:pPr lvl="0" algn="ctr" rtl="0">
                <a:spcBef>
                  <a:spcPts val="0"/>
                </a:spcBef>
                <a:buNone/>
              </a:pPr>
              <a:r>
                <a:rPr lang="en" sz="1200" b="1">
                  <a:solidFill>
                    <a:srgbClr val="B7B7B7"/>
                  </a:solidFill>
                  <a:latin typeface="Roboto Slab"/>
                  <a:ea typeface="Roboto Slab"/>
                  <a:cs typeface="Roboto Slab"/>
                  <a:sym typeface="Roboto Slab"/>
                </a:rPr>
                <a:t>Fees</a:t>
              </a:r>
            </a:p>
          </p:txBody>
        </p:sp>
        <p:cxnSp>
          <p:nvCxnSpPr>
            <p:cNvPr id="1256" name="Shape 1256"/>
            <p:cNvCxnSpPr/>
            <p:nvPr/>
          </p:nvCxnSpPr>
          <p:spPr>
            <a:xfrm rot="5400000" flipH="1">
              <a:off x="3222949" y="2239385"/>
              <a:ext cx="1296000" cy="1153200"/>
            </a:xfrm>
            <a:prstGeom prst="curvedConnector3">
              <a:avLst>
                <a:gd name="adj1" fmla="val 50000"/>
              </a:avLst>
            </a:prstGeom>
            <a:noFill/>
            <a:ln w="28575" cap="flat" cmpd="sng">
              <a:solidFill>
                <a:schemeClr val="lt1"/>
              </a:solidFill>
              <a:prstDash val="solid"/>
              <a:round/>
              <a:headEnd type="none" w="lg" len="lg"/>
              <a:tailEnd type="none" w="lg" len="lg"/>
            </a:ln>
          </p:spPr>
        </p:cxnSp>
        <p:sp>
          <p:nvSpPr>
            <p:cNvPr id="1257" name="Shape 1257"/>
            <p:cNvSpPr/>
            <p:nvPr/>
          </p:nvSpPr>
          <p:spPr>
            <a:xfrm>
              <a:off x="3088400" y="1874525"/>
              <a:ext cx="358499" cy="358499"/>
            </a:xfrm>
            <a:prstGeom prst="ellipse">
              <a:avLst/>
            </a:prstGeom>
            <a:solidFill>
              <a:srgbClr val="F08B7C"/>
            </a:solidFill>
            <a:ln w="38100" cap="flat" cmpd="sng">
              <a:solidFill>
                <a:schemeClr val="lt1"/>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258" name="Shape 1258"/>
            <p:cNvSpPr txBox="1"/>
            <p:nvPr/>
          </p:nvSpPr>
          <p:spPr>
            <a:xfrm>
              <a:off x="1491040" y="1762918"/>
              <a:ext cx="1562099" cy="581700"/>
            </a:xfrm>
            <a:prstGeom prst="rect">
              <a:avLst/>
            </a:prstGeom>
            <a:noFill/>
            <a:ln>
              <a:noFill/>
            </a:ln>
          </p:spPr>
          <p:txBody>
            <a:bodyPr lIns="91425" tIns="91425" rIns="91425" bIns="91425" anchor="t" anchorCtr="0">
              <a:noAutofit/>
            </a:bodyPr>
            <a:lstStyle/>
            <a:p>
              <a:pPr lvl="0" algn="r" rtl="0">
                <a:spcBef>
                  <a:spcPts val="0"/>
                </a:spcBef>
                <a:buNone/>
              </a:pPr>
              <a:r>
                <a:rPr lang="en" sz="1200" b="1">
                  <a:solidFill>
                    <a:srgbClr val="B7B7B7"/>
                  </a:solidFill>
                  <a:latin typeface="Roboto Slab"/>
                  <a:ea typeface="Roboto Slab"/>
                  <a:cs typeface="Roboto Slab"/>
                  <a:sym typeface="Roboto Slab"/>
                </a:rPr>
                <a:t>In App</a:t>
              </a:r>
            </a:p>
            <a:p>
              <a:pPr lvl="0" algn="r" rtl="0">
                <a:spcBef>
                  <a:spcPts val="0"/>
                </a:spcBef>
                <a:buNone/>
              </a:pPr>
              <a:r>
                <a:rPr lang="en" sz="1200" b="1">
                  <a:solidFill>
                    <a:srgbClr val="B7B7B7"/>
                  </a:solidFill>
                  <a:latin typeface="Roboto Slab"/>
                  <a:ea typeface="Roboto Slab"/>
                  <a:cs typeface="Roboto Slab"/>
                  <a:sym typeface="Roboto Slab"/>
                </a:rPr>
                <a:t>Purchases</a:t>
              </a:r>
            </a:p>
          </p:txBody>
        </p:sp>
        <p:cxnSp>
          <p:nvCxnSpPr>
            <p:cNvPr id="1259" name="Shape 1259"/>
            <p:cNvCxnSpPr>
              <a:endCxn id="1260" idx="6"/>
            </p:cNvCxnSpPr>
            <p:nvPr/>
          </p:nvCxnSpPr>
          <p:spPr>
            <a:xfrm rot="10800000">
              <a:off x="1116974" y="4136724"/>
              <a:ext cx="2151900" cy="642300"/>
            </a:xfrm>
            <a:prstGeom prst="curvedConnector3">
              <a:avLst>
                <a:gd name="adj1" fmla="val 50000"/>
              </a:avLst>
            </a:prstGeom>
            <a:noFill/>
            <a:ln w="28575" cap="flat" cmpd="sng">
              <a:solidFill>
                <a:schemeClr val="lt1"/>
              </a:solidFill>
              <a:prstDash val="solid"/>
              <a:round/>
              <a:headEnd type="none" w="lg" len="lg"/>
              <a:tailEnd type="none" w="lg" len="lg"/>
            </a:ln>
          </p:spPr>
        </p:cxnSp>
        <p:sp>
          <p:nvSpPr>
            <p:cNvPr id="1260" name="Shape 1260"/>
            <p:cNvSpPr/>
            <p:nvPr/>
          </p:nvSpPr>
          <p:spPr>
            <a:xfrm>
              <a:off x="758475" y="3957475"/>
              <a:ext cx="358499" cy="358499"/>
            </a:xfrm>
            <a:prstGeom prst="ellipse">
              <a:avLst/>
            </a:prstGeom>
            <a:solidFill>
              <a:schemeClr val="dk2"/>
            </a:solidFill>
            <a:ln w="38100" cap="flat" cmpd="sng">
              <a:solidFill>
                <a:schemeClr val="lt1"/>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261" name="Shape 1261"/>
            <p:cNvSpPr txBox="1"/>
            <p:nvPr/>
          </p:nvSpPr>
          <p:spPr>
            <a:xfrm>
              <a:off x="156665" y="4285656"/>
              <a:ext cx="1562099" cy="581700"/>
            </a:xfrm>
            <a:prstGeom prst="rect">
              <a:avLst/>
            </a:prstGeom>
            <a:noFill/>
            <a:ln>
              <a:noFill/>
            </a:ln>
          </p:spPr>
          <p:txBody>
            <a:bodyPr lIns="91425" tIns="91425" rIns="91425" bIns="91425" anchor="t" anchorCtr="0">
              <a:noAutofit/>
            </a:bodyPr>
            <a:lstStyle/>
            <a:p>
              <a:pPr lvl="0" algn="ctr" rtl="0">
                <a:spcBef>
                  <a:spcPts val="0"/>
                </a:spcBef>
                <a:buNone/>
              </a:pPr>
              <a:r>
                <a:rPr lang="en" sz="1200" b="1">
                  <a:solidFill>
                    <a:srgbClr val="B7B7B7"/>
                  </a:solidFill>
                  <a:latin typeface="Roboto Slab"/>
                  <a:ea typeface="Roboto Slab"/>
                  <a:cs typeface="Roboto Slab"/>
                  <a:sym typeface="Roboto Slab"/>
                </a:rPr>
                <a:t>Affiliates</a:t>
              </a:r>
            </a:p>
          </p:txBody>
        </p:sp>
        <p:cxnSp>
          <p:nvCxnSpPr>
            <p:cNvPr id="1262" name="Shape 1262"/>
            <p:cNvCxnSpPr/>
            <p:nvPr/>
          </p:nvCxnSpPr>
          <p:spPr>
            <a:xfrm rot="10800000" flipH="1">
              <a:off x="6899200" y="2659474"/>
              <a:ext cx="1391699" cy="1048200"/>
            </a:xfrm>
            <a:prstGeom prst="curvedConnector3">
              <a:avLst>
                <a:gd name="adj1" fmla="val 50000"/>
              </a:avLst>
            </a:prstGeom>
            <a:noFill/>
            <a:ln w="28575" cap="flat" cmpd="sng">
              <a:solidFill>
                <a:schemeClr val="lt1"/>
              </a:solidFill>
              <a:prstDash val="solid"/>
              <a:round/>
              <a:headEnd type="none" w="lg" len="lg"/>
              <a:tailEnd type="none" w="lg" len="lg"/>
            </a:ln>
          </p:spPr>
        </p:cxnSp>
        <p:sp>
          <p:nvSpPr>
            <p:cNvPr id="1263" name="Shape 1263"/>
            <p:cNvSpPr/>
            <p:nvPr/>
          </p:nvSpPr>
          <p:spPr>
            <a:xfrm>
              <a:off x="8193800" y="2484125"/>
              <a:ext cx="358499" cy="358499"/>
            </a:xfrm>
            <a:prstGeom prst="ellipse">
              <a:avLst/>
            </a:prstGeom>
            <a:solidFill>
              <a:srgbClr val="A5C961"/>
            </a:solidFill>
            <a:ln w="38100" cap="flat" cmpd="sng">
              <a:solidFill>
                <a:schemeClr val="lt1"/>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264" name="Shape 1264"/>
            <p:cNvSpPr txBox="1"/>
            <p:nvPr/>
          </p:nvSpPr>
          <p:spPr>
            <a:xfrm>
              <a:off x="7584635" y="2799063"/>
              <a:ext cx="1562099" cy="581700"/>
            </a:xfrm>
            <a:prstGeom prst="rect">
              <a:avLst/>
            </a:prstGeom>
            <a:noFill/>
            <a:ln>
              <a:noFill/>
            </a:ln>
          </p:spPr>
          <p:txBody>
            <a:bodyPr lIns="91425" tIns="91425" rIns="91425" bIns="91425" anchor="t" anchorCtr="0">
              <a:noAutofit/>
            </a:bodyPr>
            <a:lstStyle/>
            <a:p>
              <a:pPr lvl="0" algn="ctr" rtl="0">
                <a:spcBef>
                  <a:spcPts val="0"/>
                </a:spcBef>
                <a:buNone/>
              </a:pPr>
              <a:r>
                <a:rPr lang="en" sz="1200" b="1">
                  <a:solidFill>
                    <a:srgbClr val="B7B7B7"/>
                  </a:solidFill>
                  <a:latin typeface="Roboto Slab"/>
                  <a:ea typeface="Roboto Slab"/>
                  <a:cs typeface="Roboto Slab"/>
                  <a:sym typeface="Roboto Slab"/>
                </a:rPr>
                <a:t>Partnerships</a:t>
              </a:r>
            </a:p>
          </p:txBody>
        </p:sp>
        <p:cxnSp>
          <p:nvCxnSpPr>
            <p:cNvPr id="1265" name="Shape 1265"/>
            <p:cNvCxnSpPr>
              <a:endCxn id="1249" idx="3"/>
            </p:cNvCxnSpPr>
            <p:nvPr/>
          </p:nvCxnSpPr>
          <p:spPr>
            <a:xfrm flipH="1">
              <a:off x="5884550" y="4404390"/>
              <a:ext cx="1887900" cy="298500"/>
            </a:xfrm>
            <a:prstGeom prst="curvedConnector3">
              <a:avLst>
                <a:gd name="adj1" fmla="val 50000"/>
              </a:avLst>
            </a:prstGeom>
            <a:noFill/>
            <a:ln w="28575" cap="flat" cmpd="sng">
              <a:solidFill>
                <a:schemeClr val="lt1"/>
              </a:solidFill>
              <a:prstDash val="solid"/>
              <a:round/>
              <a:headEnd type="none" w="lg" len="lg"/>
              <a:tailEnd type="none" w="lg" len="lg"/>
            </a:ln>
          </p:spPr>
        </p:cxnSp>
        <p:sp>
          <p:nvSpPr>
            <p:cNvPr id="1266" name="Shape 1266"/>
            <p:cNvSpPr/>
            <p:nvPr/>
          </p:nvSpPr>
          <p:spPr>
            <a:xfrm>
              <a:off x="7600875" y="4187975"/>
              <a:ext cx="358499" cy="358499"/>
            </a:xfrm>
            <a:prstGeom prst="ellipse">
              <a:avLst/>
            </a:prstGeom>
            <a:solidFill>
              <a:srgbClr val="FDCC5B"/>
            </a:solidFill>
            <a:ln w="38100" cap="flat" cmpd="sng">
              <a:solidFill>
                <a:schemeClr val="lt1"/>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267" name="Shape 1267"/>
            <p:cNvSpPr txBox="1"/>
            <p:nvPr/>
          </p:nvSpPr>
          <p:spPr>
            <a:xfrm>
              <a:off x="7955139" y="4085848"/>
              <a:ext cx="1562099" cy="581700"/>
            </a:xfrm>
            <a:prstGeom prst="rect">
              <a:avLst/>
            </a:prstGeom>
            <a:noFill/>
            <a:ln>
              <a:noFill/>
            </a:ln>
          </p:spPr>
          <p:txBody>
            <a:bodyPr lIns="91425" tIns="91425" rIns="91425" bIns="91425" anchor="t" anchorCtr="0">
              <a:noAutofit/>
            </a:bodyPr>
            <a:lstStyle/>
            <a:p>
              <a:pPr rtl="0">
                <a:spcBef>
                  <a:spcPts val="0"/>
                </a:spcBef>
                <a:buNone/>
              </a:pPr>
              <a:r>
                <a:rPr lang="en" sz="1200" b="1">
                  <a:solidFill>
                    <a:srgbClr val="B7B7B7"/>
                  </a:solidFill>
                  <a:latin typeface="Roboto Slab"/>
                  <a:ea typeface="Roboto Slab"/>
                  <a:cs typeface="Roboto Slab"/>
                  <a:sym typeface="Roboto Slab"/>
                </a:rPr>
                <a:t>External </a:t>
              </a:r>
            </a:p>
            <a:p>
              <a:pPr lvl="0" rtl="0">
                <a:spcBef>
                  <a:spcPts val="0"/>
                </a:spcBef>
                <a:buNone/>
              </a:pPr>
              <a:r>
                <a:rPr lang="en" sz="1200" b="1">
                  <a:solidFill>
                    <a:srgbClr val="B7B7B7"/>
                  </a:solidFill>
                  <a:latin typeface="Roboto Slab"/>
                  <a:ea typeface="Roboto Slab"/>
                  <a:cs typeface="Roboto Slab"/>
                  <a:sym typeface="Roboto Slab"/>
                </a:rPr>
                <a:t>Authors</a:t>
              </a:r>
            </a:p>
          </p:txBody>
        </p:sp>
        <p:cxnSp>
          <p:nvCxnSpPr>
            <p:cNvPr id="1268" name="Shape 1268"/>
            <p:cNvCxnSpPr>
              <a:stCxn id="1252" idx="0"/>
            </p:cNvCxnSpPr>
            <p:nvPr/>
          </p:nvCxnSpPr>
          <p:spPr>
            <a:xfrm rot="-5400000">
              <a:off x="4416044" y="2637505"/>
              <a:ext cx="2001000" cy="1709400"/>
            </a:xfrm>
            <a:prstGeom prst="curvedConnector3">
              <a:avLst>
                <a:gd name="adj1" fmla="val 50000"/>
              </a:avLst>
            </a:prstGeom>
            <a:noFill/>
            <a:ln w="28575" cap="flat" cmpd="sng">
              <a:solidFill>
                <a:schemeClr val="lt1"/>
              </a:solidFill>
              <a:prstDash val="solid"/>
              <a:round/>
              <a:headEnd type="none" w="lg" len="lg"/>
              <a:tailEnd type="none" w="lg" len="lg"/>
            </a:ln>
          </p:spPr>
        </p:cxnSp>
        <p:sp>
          <p:nvSpPr>
            <p:cNvPr id="1269" name="Shape 1269"/>
            <p:cNvSpPr/>
            <p:nvPr/>
          </p:nvSpPr>
          <p:spPr>
            <a:xfrm>
              <a:off x="6110750" y="2233025"/>
              <a:ext cx="358499" cy="358499"/>
            </a:xfrm>
            <a:prstGeom prst="ellipse">
              <a:avLst/>
            </a:prstGeom>
            <a:solidFill>
              <a:srgbClr val="A9D6D9"/>
            </a:solidFill>
            <a:ln w="38100" cap="flat" cmpd="sng">
              <a:solidFill>
                <a:schemeClr val="lt1"/>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270" name="Shape 1270"/>
            <p:cNvSpPr txBox="1"/>
            <p:nvPr/>
          </p:nvSpPr>
          <p:spPr>
            <a:xfrm>
              <a:off x="6169714" y="2233026"/>
              <a:ext cx="1562099" cy="581700"/>
            </a:xfrm>
            <a:prstGeom prst="rect">
              <a:avLst/>
            </a:prstGeom>
            <a:noFill/>
            <a:ln>
              <a:noFill/>
            </a:ln>
          </p:spPr>
          <p:txBody>
            <a:bodyPr lIns="91425" tIns="91425" rIns="91425" bIns="91425" anchor="t" anchorCtr="0">
              <a:noAutofit/>
            </a:bodyPr>
            <a:lstStyle/>
            <a:p>
              <a:pPr lvl="0" algn="ctr" rtl="0">
                <a:spcBef>
                  <a:spcPts val="0"/>
                </a:spcBef>
                <a:buNone/>
              </a:pPr>
              <a:r>
                <a:rPr lang="en" sz="1200" b="1">
                  <a:solidFill>
                    <a:srgbClr val="B7B7B7"/>
                  </a:solidFill>
                  <a:latin typeface="Roboto Slab"/>
                  <a:ea typeface="Roboto Slab"/>
                  <a:cs typeface="Roboto Slab"/>
                  <a:sym typeface="Roboto Slab"/>
                </a:rPr>
                <a:t>In-site ADV</a:t>
              </a:r>
            </a:p>
          </p:txBody>
        </p:sp>
      </p:grpSp>
      <p:pic>
        <p:nvPicPr>
          <p:cNvPr id="40" name="Immagine 39">
            <a:extLst>
              <a:ext uri="{FF2B5EF4-FFF2-40B4-BE49-F238E27FC236}">
                <a16:creationId xmlns:a16="http://schemas.microsoft.com/office/drawing/2014/main" id="{FE42AE92-71A1-4383-84AE-4F3D54BDAEE2}"/>
              </a:ext>
            </a:extLst>
          </p:cNvPr>
          <p:cNvPicPr>
            <a:picLocks noChangeAspect="1"/>
          </p:cNvPicPr>
          <p:nvPr/>
        </p:nvPicPr>
        <p:blipFill rotWithShape="1">
          <a:blip r:embed="rId11"/>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39"/>
                                        </p:tgtEl>
                                        <p:attrNameLst>
                                          <p:attrName>style.visibility</p:attrName>
                                        </p:attrNameLst>
                                      </p:cBhvr>
                                      <p:to>
                                        <p:strVal val="visible"/>
                                      </p:to>
                                    </p:set>
                                    <p:anim calcmode="lin" valueType="num">
                                      <p:cBhvr additive="base">
                                        <p:cTn id="7" dur="700"/>
                                        <p:tgtEl>
                                          <p:spTgt spid="1239"/>
                                        </p:tgtEl>
                                        <p:attrNameLst>
                                          <p:attrName>ppt_x</p:attrName>
                                        </p:attrNameLst>
                                      </p:cBhvr>
                                      <p:tavLst>
                                        <p:tav tm="0">
                                          <p:val>
                                            <p:strVal val="#ppt_x-1"/>
                                          </p:val>
                                        </p:tav>
                                        <p:tav tm="100000">
                                          <p:val>
                                            <p:strVal val="#ppt_x"/>
                                          </p:val>
                                        </p:tav>
                                      </p:tavLst>
                                    </p:anim>
                                  </p:childTnLst>
                                </p:cTn>
                              </p:par>
                            </p:childTnLst>
                          </p:cTn>
                        </p:par>
                        <p:par>
                          <p:cTn id="8" fill="hold">
                            <p:stCondLst>
                              <p:cond delay="700"/>
                            </p:stCondLst>
                            <p:childTnLst>
                              <p:par>
                                <p:cTn id="9" presetID="2" presetClass="entr" presetSubtype="2" fill="hold" nodeType="afterEffect">
                                  <p:stCondLst>
                                    <p:cond delay="0"/>
                                  </p:stCondLst>
                                  <p:childTnLst>
                                    <p:set>
                                      <p:cBhvr>
                                        <p:cTn id="10" dur="1" fill="hold">
                                          <p:stCondLst>
                                            <p:cond delay="0"/>
                                          </p:stCondLst>
                                        </p:cTn>
                                        <p:tgtEl>
                                          <p:spTgt spid="1238"/>
                                        </p:tgtEl>
                                        <p:attrNameLst>
                                          <p:attrName>style.visibility</p:attrName>
                                        </p:attrNameLst>
                                      </p:cBhvr>
                                      <p:to>
                                        <p:strVal val="visible"/>
                                      </p:to>
                                    </p:set>
                                    <p:anim calcmode="lin" valueType="num">
                                      <p:cBhvr additive="base">
                                        <p:cTn id="11" dur="500"/>
                                        <p:tgtEl>
                                          <p:spTgt spid="123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1274"/>
        <p:cNvGrpSpPr/>
        <p:nvPr/>
      </p:nvGrpSpPr>
      <p:grpSpPr>
        <a:xfrm>
          <a:off x="0" y="0"/>
          <a:ext cx="0" cy="0"/>
          <a:chOff x="0" y="0"/>
          <a:chExt cx="0" cy="0"/>
        </a:xfrm>
      </p:grpSpPr>
      <p:sp>
        <p:nvSpPr>
          <p:cNvPr id="32" name="Rettangolo 31">
            <a:extLst>
              <a:ext uri="{FF2B5EF4-FFF2-40B4-BE49-F238E27FC236}">
                <a16:creationId xmlns:a16="http://schemas.microsoft.com/office/drawing/2014/main" id="{D3AF85B6-7EB6-4EB6-AD5F-8EDB468E1677}"/>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1275" name="Shape 1275"/>
          <p:cNvPicPr preferRelativeResize="0"/>
          <p:nvPr/>
        </p:nvPicPr>
        <p:blipFill>
          <a:blip r:embed="rId3">
            <a:alphaModFix/>
          </a:blip>
          <a:stretch>
            <a:fillRect/>
          </a:stretch>
        </p:blipFill>
        <p:spPr>
          <a:xfrm>
            <a:off x="-84000" y="183075"/>
            <a:ext cx="9291700" cy="788900"/>
          </a:xfrm>
          <a:prstGeom prst="rect">
            <a:avLst/>
          </a:prstGeom>
          <a:noFill/>
          <a:ln>
            <a:noFill/>
          </a:ln>
        </p:spPr>
      </p:pic>
      <p:sp>
        <p:nvSpPr>
          <p:cNvPr id="1278" name="Shape 1278"/>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Revenue Plans</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grpSp>
        <p:nvGrpSpPr>
          <p:cNvPr id="1279" name="Shape 1279"/>
          <p:cNvGrpSpPr/>
          <p:nvPr/>
        </p:nvGrpSpPr>
        <p:grpSpPr>
          <a:xfrm>
            <a:off x="2963242" y="1496382"/>
            <a:ext cx="3171825" cy="3171825"/>
            <a:chOff x="2963242" y="1496382"/>
            <a:chExt cx="3171825" cy="3171825"/>
          </a:xfrm>
        </p:grpSpPr>
        <p:pic>
          <p:nvPicPr>
            <p:cNvPr id="1280" name="Shape 1280"/>
            <p:cNvPicPr preferRelativeResize="0"/>
            <p:nvPr/>
          </p:nvPicPr>
          <p:blipFill>
            <a:blip r:embed="rId4">
              <a:alphaModFix/>
            </a:blip>
            <a:stretch>
              <a:fillRect/>
            </a:stretch>
          </p:blipFill>
          <p:spPr>
            <a:xfrm>
              <a:off x="2963242" y="1496382"/>
              <a:ext cx="3171825" cy="3171825"/>
            </a:xfrm>
            <a:prstGeom prst="rect">
              <a:avLst/>
            </a:prstGeom>
            <a:noFill/>
            <a:ln>
              <a:noFill/>
            </a:ln>
          </p:spPr>
        </p:pic>
        <p:sp>
          <p:nvSpPr>
            <p:cNvPr id="1281" name="Shape 1281"/>
            <p:cNvSpPr txBox="1"/>
            <p:nvPr/>
          </p:nvSpPr>
          <p:spPr>
            <a:xfrm>
              <a:off x="3093719" y="2546030"/>
              <a:ext cx="2857499" cy="806700"/>
            </a:xfrm>
            <a:prstGeom prst="rect">
              <a:avLst/>
            </a:prstGeom>
            <a:noFill/>
            <a:ln>
              <a:noFill/>
            </a:ln>
          </p:spPr>
          <p:txBody>
            <a:bodyPr lIns="91425" tIns="91425" rIns="91425" bIns="91425" anchor="t" anchorCtr="0">
              <a:noAutofit/>
            </a:bodyPr>
            <a:lstStyle/>
            <a:p>
              <a:pPr lvl="0" algn="ctr" rtl="0">
                <a:spcBef>
                  <a:spcPts val="0"/>
                </a:spcBef>
                <a:buNone/>
              </a:pPr>
              <a:r>
                <a:rPr lang="en" sz="3600" b="1">
                  <a:solidFill>
                    <a:srgbClr val="F08B7C"/>
                  </a:solidFill>
                  <a:latin typeface="Roboto"/>
                  <a:ea typeface="Roboto"/>
                  <a:cs typeface="Roboto"/>
                  <a:sym typeface="Roboto"/>
                </a:rPr>
                <a:t>$ 1.000.000</a:t>
              </a:r>
            </a:p>
          </p:txBody>
        </p:sp>
        <p:sp>
          <p:nvSpPr>
            <p:cNvPr id="1282" name="Shape 1282"/>
            <p:cNvSpPr txBox="1"/>
            <p:nvPr/>
          </p:nvSpPr>
          <p:spPr>
            <a:xfrm>
              <a:off x="3093719" y="3092211"/>
              <a:ext cx="2857499" cy="806700"/>
            </a:xfrm>
            <a:prstGeom prst="rect">
              <a:avLst/>
            </a:prstGeom>
            <a:noFill/>
            <a:ln>
              <a:noFill/>
            </a:ln>
          </p:spPr>
          <p:txBody>
            <a:bodyPr lIns="91425" tIns="91425" rIns="91425" bIns="91425" anchor="t" anchorCtr="0">
              <a:noAutofit/>
            </a:bodyPr>
            <a:lstStyle/>
            <a:p>
              <a:pPr lvl="0" algn="ctr" rtl="0">
                <a:spcBef>
                  <a:spcPts val="0"/>
                </a:spcBef>
                <a:buNone/>
              </a:pPr>
              <a:r>
                <a:rPr lang="en" sz="2400">
                  <a:solidFill>
                    <a:schemeClr val="dk2"/>
                  </a:solidFill>
                  <a:latin typeface="Roboto Slab"/>
                  <a:ea typeface="Roboto Slab"/>
                  <a:cs typeface="Roboto Slab"/>
                  <a:sym typeface="Roboto Slab"/>
                </a:rPr>
                <a:t>The First Year</a:t>
              </a:r>
            </a:p>
          </p:txBody>
        </p:sp>
      </p:grpSp>
      <p:grpSp>
        <p:nvGrpSpPr>
          <p:cNvPr id="1283" name="Shape 1283"/>
          <p:cNvGrpSpPr/>
          <p:nvPr/>
        </p:nvGrpSpPr>
        <p:grpSpPr>
          <a:xfrm>
            <a:off x="906775" y="1424950"/>
            <a:ext cx="2049761" cy="1447800"/>
            <a:chOff x="906775" y="1424950"/>
            <a:chExt cx="2049761" cy="1447800"/>
          </a:xfrm>
        </p:grpSpPr>
        <p:sp>
          <p:nvSpPr>
            <p:cNvPr id="1284" name="Shape 1284"/>
            <p:cNvSpPr/>
            <p:nvPr/>
          </p:nvSpPr>
          <p:spPr>
            <a:xfrm>
              <a:off x="967750" y="1424950"/>
              <a:ext cx="1447800" cy="1447800"/>
            </a:xfrm>
            <a:prstGeom prst="ellipse">
              <a:avLst/>
            </a:prstGeom>
            <a:solidFill>
              <a:srgbClr val="A5C961"/>
            </a:solidFill>
            <a:ln>
              <a:noFill/>
            </a:ln>
          </p:spPr>
          <p:txBody>
            <a:bodyPr lIns="91425" tIns="91425" rIns="91425" bIns="91425" anchor="ctr" anchorCtr="0">
              <a:noAutofit/>
            </a:bodyPr>
            <a:lstStyle/>
            <a:p>
              <a:pPr>
                <a:spcBef>
                  <a:spcPts val="0"/>
                </a:spcBef>
                <a:buNone/>
              </a:pPr>
              <a:endParaRPr/>
            </a:p>
          </p:txBody>
        </p:sp>
        <p:sp>
          <p:nvSpPr>
            <p:cNvPr id="1285" name="Shape 1285"/>
            <p:cNvSpPr/>
            <p:nvPr/>
          </p:nvSpPr>
          <p:spPr>
            <a:xfrm rot="-9826924" flipH="1">
              <a:off x="2119878" y="2211795"/>
              <a:ext cx="797016" cy="398568"/>
            </a:xfrm>
            <a:prstGeom prst="rightArrow">
              <a:avLst>
                <a:gd name="adj1" fmla="val 50000"/>
                <a:gd name="adj2" fmla="val 50000"/>
              </a:avLst>
            </a:prstGeom>
            <a:solidFill>
              <a:srgbClr val="A5C961"/>
            </a:solidFill>
            <a:ln>
              <a:noFill/>
            </a:ln>
          </p:spPr>
          <p:txBody>
            <a:bodyPr lIns="91425" tIns="91425" rIns="91425" bIns="91425" anchor="ctr" anchorCtr="0">
              <a:noAutofit/>
            </a:bodyPr>
            <a:lstStyle/>
            <a:p>
              <a:pPr>
                <a:spcBef>
                  <a:spcPts val="0"/>
                </a:spcBef>
                <a:buNone/>
              </a:pPr>
              <a:endParaRPr/>
            </a:p>
          </p:txBody>
        </p:sp>
        <p:sp>
          <p:nvSpPr>
            <p:cNvPr id="1286" name="Shape 1286"/>
            <p:cNvSpPr txBox="1"/>
            <p:nvPr/>
          </p:nvSpPr>
          <p:spPr>
            <a:xfrm>
              <a:off x="1135391" y="1601084"/>
              <a:ext cx="1104899" cy="806700"/>
            </a:xfrm>
            <a:prstGeom prst="rect">
              <a:avLst/>
            </a:prstGeom>
            <a:noFill/>
            <a:ln>
              <a:noFill/>
            </a:ln>
          </p:spPr>
          <p:txBody>
            <a:bodyPr lIns="91425" tIns="91425" rIns="91425" bIns="91425" anchor="t" anchorCtr="0">
              <a:noAutofit/>
            </a:bodyPr>
            <a:lstStyle/>
            <a:p>
              <a:pPr lvl="0" algn="ctr" rtl="0">
                <a:spcBef>
                  <a:spcPts val="0"/>
                </a:spcBef>
                <a:buNone/>
              </a:pPr>
              <a:r>
                <a:rPr lang="en" sz="3600" b="1">
                  <a:solidFill>
                    <a:schemeClr val="lt1"/>
                  </a:solidFill>
                  <a:latin typeface="Roboto"/>
                  <a:ea typeface="Roboto"/>
                  <a:cs typeface="Roboto"/>
                  <a:sym typeface="Roboto"/>
                </a:rPr>
                <a:t>10%</a:t>
              </a:r>
            </a:p>
          </p:txBody>
        </p:sp>
        <p:sp>
          <p:nvSpPr>
            <p:cNvPr id="1287" name="Shape 1287"/>
            <p:cNvSpPr txBox="1"/>
            <p:nvPr/>
          </p:nvSpPr>
          <p:spPr>
            <a:xfrm>
              <a:off x="906775" y="2137518"/>
              <a:ext cx="1562099" cy="581700"/>
            </a:xfrm>
            <a:prstGeom prst="rect">
              <a:avLst/>
            </a:prstGeom>
            <a:noFill/>
            <a:ln>
              <a:noFill/>
            </a:ln>
          </p:spPr>
          <p:txBody>
            <a:bodyPr lIns="91425" tIns="91425" rIns="91425" bIns="91425" anchor="t" anchorCtr="0">
              <a:noAutofit/>
            </a:bodyPr>
            <a:lstStyle/>
            <a:p>
              <a:pPr lvl="0" algn="ctr" rtl="0">
                <a:spcBef>
                  <a:spcPts val="0"/>
                </a:spcBef>
                <a:buNone/>
              </a:pPr>
              <a:r>
                <a:rPr lang="en" sz="1200" b="1">
                  <a:solidFill>
                    <a:schemeClr val="lt1"/>
                  </a:solidFill>
                  <a:latin typeface="Roboto Slab"/>
                  <a:ea typeface="Roboto Slab"/>
                  <a:cs typeface="Roboto Slab"/>
                  <a:sym typeface="Roboto Slab"/>
                </a:rPr>
                <a:t>Subscription</a:t>
              </a:r>
            </a:p>
            <a:p>
              <a:pPr lvl="0" algn="ctr" rtl="0">
                <a:spcBef>
                  <a:spcPts val="0"/>
                </a:spcBef>
                <a:buNone/>
              </a:pPr>
              <a:r>
                <a:rPr lang="en" sz="1200" b="1">
                  <a:solidFill>
                    <a:schemeClr val="lt1"/>
                  </a:solidFill>
                  <a:latin typeface="Roboto Slab"/>
                  <a:ea typeface="Roboto Slab"/>
                  <a:cs typeface="Roboto Slab"/>
                  <a:sym typeface="Roboto Slab"/>
                </a:rPr>
                <a:t>Fees</a:t>
              </a:r>
            </a:p>
          </p:txBody>
        </p:sp>
      </p:grpSp>
      <p:grpSp>
        <p:nvGrpSpPr>
          <p:cNvPr id="1288" name="Shape 1288"/>
          <p:cNvGrpSpPr/>
          <p:nvPr/>
        </p:nvGrpSpPr>
        <p:grpSpPr>
          <a:xfrm>
            <a:off x="6134446" y="3397150"/>
            <a:ext cx="2072292" cy="1447800"/>
            <a:chOff x="6134446" y="3397150"/>
            <a:chExt cx="2072292" cy="1447800"/>
          </a:xfrm>
        </p:grpSpPr>
        <p:sp>
          <p:nvSpPr>
            <p:cNvPr id="1289" name="Shape 1289"/>
            <p:cNvSpPr/>
            <p:nvPr/>
          </p:nvSpPr>
          <p:spPr>
            <a:xfrm rot="1485695" flipH="1">
              <a:off x="6181199" y="3579275"/>
              <a:ext cx="797195" cy="398671"/>
            </a:xfrm>
            <a:prstGeom prst="rightArrow">
              <a:avLst>
                <a:gd name="adj1" fmla="val 50000"/>
                <a:gd name="adj2" fmla="val 50000"/>
              </a:avLst>
            </a:prstGeom>
            <a:solidFill>
              <a:srgbClr val="7FB3E6"/>
            </a:solidFill>
            <a:ln>
              <a:noFill/>
            </a:ln>
          </p:spPr>
          <p:txBody>
            <a:bodyPr lIns="91425" tIns="91425" rIns="91425" bIns="91425" anchor="ctr" anchorCtr="0">
              <a:noAutofit/>
            </a:bodyPr>
            <a:lstStyle/>
            <a:p>
              <a:pPr>
                <a:spcBef>
                  <a:spcPts val="0"/>
                </a:spcBef>
                <a:buNone/>
              </a:pPr>
              <a:endParaRPr/>
            </a:p>
          </p:txBody>
        </p:sp>
        <p:grpSp>
          <p:nvGrpSpPr>
            <p:cNvPr id="1290" name="Shape 1290"/>
            <p:cNvGrpSpPr/>
            <p:nvPr/>
          </p:nvGrpSpPr>
          <p:grpSpPr>
            <a:xfrm>
              <a:off x="6644639" y="3397150"/>
              <a:ext cx="1562099" cy="1447800"/>
              <a:chOff x="6644639" y="3397150"/>
              <a:chExt cx="1562099" cy="1447800"/>
            </a:xfrm>
          </p:grpSpPr>
          <p:sp>
            <p:nvSpPr>
              <p:cNvPr id="1291" name="Shape 1291"/>
              <p:cNvSpPr/>
              <p:nvPr/>
            </p:nvSpPr>
            <p:spPr>
              <a:xfrm>
                <a:off x="6690375" y="3397150"/>
                <a:ext cx="1447800" cy="1447800"/>
              </a:xfrm>
              <a:prstGeom prst="ellipse">
                <a:avLst/>
              </a:prstGeom>
              <a:solidFill>
                <a:srgbClr val="7FB3E6"/>
              </a:solidFill>
              <a:ln>
                <a:noFill/>
              </a:ln>
            </p:spPr>
            <p:txBody>
              <a:bodyPr lIns="91425" tIns="91425" rIns="91425" bIns="91425" anchor="ctr" anchorCtr="0">
                <a:noAutofit/>
              </a:bodyPr>
              <a:lstStyle/>
              <a:p>
                <a:pPr>
                  <a:spcBef>
                    <a:spcPts val="0"/>
                  </a:spcBef>
                  <a:buNone/>
                </a:pPr>
                <a:endParaRPr/>
              </a:p>
            </p:txBody>
          </p:sp>
          <p:sp>
            <p:nvSpPr>
              <p:cNvPr id="1292" name="Shape 1292"/>
              <p:cNvSpPr txBox="1"/>
              <p:nvPr/>
            </p:nvSpPr>
            <p:spPr>
              <a:xfrm>
                <a:off x="6888507" y="3572522"/>
                <a:ext cx="1104899" cy="806700"/>
              </a:xfrm>
              <a:prstGeom prst="rect">
                <a:avLst/>
              </a:prstGeom>
              <a:noFill/>
              <a:ln>
                <a:noFill/>
              </a:ln>
            </p:spPr>
            <p:txBody>
              <a:bodyPr lIns="91425" tIns="91425" rIns="91425" bIns="91425" anchor="t" anchorCtr="0">
                <a:noAutofit/>
              </a:bodyPr>
              <a:lstStyle/>
              <a:p>
                <a:pPr lvl="0" algn="ctr" rtl="0">
                  <a:spcBef>
                    <a:spcPts val="0"/>
                  </a:spcBef>
                  <a:buNone/>
                </a:pPr>
                <a:r>
                  <a:rPr lang="en" sz="3600" b="1">
                    <a:solidFill>
                      <a:schemeClr val="lt1"/>
                    </a:solidFill>
                    <a:latin typeface="Roboto"/>
                    <a:ea typeface="Roboto"/>
                    <a:cs typeface="Roboto"/>
                    <a:sym typeface="Roboto"/>
                  </a:rPr>
                  <a:t>30%</a:t>
                </a:r>
              </a:p>
            </p:txBody>
          </p:sp>
          <p:sp>
            <p:nvSpPr>
              <p:cNvPr id="1293" name="Shape 1293"/>
              <p:cNvSpPr txBox="1"/>
              <p:nvPr/>
            </p:nvSpPr>
            <p:spPr>
              <a:xfrm>
                <a:off x="6644639" y="4088493"/>
                <a:ext cx="1562099" cy="581700"/>
              </a:xfrm>
              <a:prstGeom prst="rect">
                <a:avLst/>
              </a:prstGeom>
              <a:noFill/>
              <a:ln>
                <a:noFill/>
              </a:ln>
            </p:spPr>
            <p:txBody>
              <a:bodyPr lIns="91425" tIns="91425" rIns="91425" bIns="91425" anchor="t" anchorCtr="0">
                <a:noAutofit/>
              </a:bodyPr>
              <a:lstStyle/>
              <a:p>
                <a:pPr lvl="0" algn="ctr" rtl="0">
                  <a:spcBef>
                    <a:spcPts val="0"/>
                  </a:spcBef>
                  <a:buNone/>
                </a:pPr>
                <a:r>
                  <a:rPr lang="en" sz="1200" b="1">
                    <a:solidFill>
                      <a:schemeClr val="lt1"/>
                    </a:solidFill>
                    <a:latin typeface="Roboto Slab"/>
                    <a:ea typeface="Roboto Slab"/>
                    <a:cs typeface="Roboto Slab"/>
                    <a:sym typeface="Roboto Slab"/>
                  </a:rPr>
                  <a:t>In App</a:t>
                </a:r>
              </a:p>
              <a:p>
                <a:pPr lvl="0" algn="ctr" rtl="0">
                  <a:spcBef>
                    <a:spcPts val="0"/>
                  </a:spcBef>
                  <a:buNone/>
                </a:pPr>
                <a:r>
                  <a:rPr lang="en" sz="1200" b="1">
                    <a:solidFill>
                      <a:schemeClr val="lt1"/>
                    </a:solidFill>
                    <a:latin typeface="Roboto Slab"/>
                    <a:ea typeface="Roboto Slab"/>
                    <a:cs typeface="Roboto Slab"/>
                    <a:sym typeface="Roboto Slab"/>
                  </a:rPr>
                  <a:t>Purchases</a:t>
                </a:r>
              </a:p>
            </p:txBody>
          </p:sp>
        </p:grpSp>
      </p:grpSp>
      <p:grpSp>
        <p:nvGrpSpPr>
          <p:cNvPr id="1294" name="Shape 1294"/>
          <p:cNvGrpSpPr/>
          <p:nvPr/>
        </p:nvGrpSpPr>
        <p:grpSpPr>
          <a:xfrm>
            <a:off x="891575" y="3372142"/>
            <a:ext cx="2072334" cy="1472807"/>
            <a:chOff x="891575" y="3372142"/>
            <a:chExt cx="2072334" cy="1472807"/>
          </a:xfrm>
        </p:grpSpPr>
        <p:sp>
          <p:nvSpPr>
            <p:cNvPr id="1295" name="Shape 1295"/>
            <p:cNvSpPr/>
            <p:nvPr/>
          </p:nvSpPr>
          <p:spPr>
            <a:xfrm>
              <a:off x="967750" y="3397150"/>
              <a:ext cx="1447800" cy="1447800"/>
            </a:xfrm>
            <a:prstGeom prst="ellipse">
              <a:avLst/>
            </a:prstGeom>
            <a:solidFill>
              <a:srgbClr val="F08B7C"/>
            </a:solidFill>
            <a:ln>
              <a:noFill/>
            </a:ln>
          </p:spPr>
          <p:txBody>
            <a:bodyPr lIns="91425" tIns="91425" rIns="91425" bIns="91425" anchor="ctr" anchorCtr="0">
              <a:noAutofit/>
            </a:bodyPr>
            <a:lstStyle/>
            <a:p>
              <a:pPr>
                <a:spcBef>
                  <a:spcPts val="0"/>
                </a:spcBef>
                <a:buNone/>
              </a:pPr>
              <a:endParaRPr/>
            </a:p>
          </p:txBody>
        </p:sp>
        <p:sp>
          <p:nvSpPr>
            <p:cNvPr id="1296" name="Shape 1296"/>
            <p:cNvSpPr/>
            <p:nvPr/>
          </p:nvSpPr>
          <p:spPr>
            <a:xfrm rot="9350169" flipH="1">
              <a:off x="2119876" y="3517869"/>
              <a:ext cx="797366" cy="398546"/>
            </a:xfrm>
            <a:prstGeom prst="rightArrow">
              <a:avLst>
                <a:gd name="adj1" fmla="val 50000"/>
                <a:gd name="adj2" fmla="val 50000"/>
              </a:avLst>
            </a:prstGeom>
            <a:solidFill>
              <a:srgbClr val="F08B7C"/>
            </a:solidFill>
            <a:ln>
              <a:noFill/>
            </a:ln>
          </p:spPr>
          <p:txBody>
            <a:bodyPr lIns="91425" tIns="91425" rIns="91425" bIns="91425" anchor="ctr" anchorCtr="0">
              <a:noAutofit/>
            </a:bodyPr>
            <a:lstStyle/>
            <a:p>
              <a:pPr>
                <a:spcBef>
                  <a:spcPts val="0"/>
                </a:spcBef>
                <a:buNone/>
              </a:pPr>
              <a:endParaRPr/>
            </a:p>
          </p:txBody>
        </p:sp>
        <p:sp>
          <p:nvSpPr>
            <p:cNvPr id="1297" name="Shape 1297"/>
            <p:cNvSpPr txBox="1"/>
            <p:nvPr/>
          </p:nvSpPr>
          <p:spPr>
            <a:xfrm>
              <a:off x="1150631" y="3727680"/>
              <a:ext cx="1104899" cy="806700"/>
            </a:xfrm>
            <a:prstGeom prst="rect">
              <a:avLst/>
            </a:prstGeom>
            <a:noFill/>
            <a:ln>
              <a:noFill/>
            </a:ln>
          </p:spPr>
          <p:txBody>
            <a:bodyPr lIns="91425" tIns="91425" rIns="91425" bIns="91425" anchor="t" anchorCtr="0">
              <a:noAutofit/>
            </a:bodyPr>
            <a:lstStyle/>
            <a:p>
              <a:pPr lvl="0" algn="ctr" rtl="0">
                <a:spcBef>
                  <a:spcPts val="0"/>
                </a:spcBef>
                <a:buNone/>
              </a:pPr>
              <a:r>
                <a:rPr lang="en" sz="3600" b="1">
                  <a:solidFill>
                    <a:schemeClr val="lt1"/>
                  </a:solidFill>
                  <a:latin typeface="Roboto"/>
                  <a:ea typeface="Roboto"/>
                  <a:cs typeface="Roboto"/>
                  <a:sym typeface="Roboto"/>
                </a:rPr>
                <a:t>20%</a:t>
              </a:r>
            </a:p>
          </p:txBody>
        </p:sp>
        <p:sp>
          <p:nvSpPr>
            <p:cNvPr id="1298" name="Shape 1298"/>
            <p:cNvSpPr txBox="1"/>
            <p:nvPr/>
          </p:nvSpPr>
          <p:spPr>
            <a:xfrm>
              <a:off x="891575" y="4263250"/>
              <a:ext cx="1562099" cy="581700"/>
            </a:xfrm>
            <a:prstGeom prst="rect">
              <a:avLst/>
            </a:prstGeom>
            <a:noFill/>
            <a:ln>
              <a:noFill/>
            </a:ln>
          </p:spPr>
          <p:txBody>
            <a:bodyPr lIns="91425" tIns="91425" rIns="91425" bIns="91425" anchor="t" anchorCtr="0">
              <a:noAutofit/>
            </a:bodyPr>
            <a:lstStyle/>
            <a:p>
              <a:pPr lvl="0" algn="ctr" rtl="0">
                <a:spcBef>
                  <a:spcPts val="0"/>
                </a:spcBef>
                <a:buNone/>
              </a:pPr>
              <a:r>
                <a:rPr lang="en" sz="1200" b="1">
                  <a:solidFill>
                    <a:schemeClr val="lt1"/>
                  </a:solidFill>
                  <a:latin typeface="Roboto Slab"/>
                  <a:ea typeface="Roboto Slab"/>
                  <a:cs typeface="Roboto Slab"/>
                  <a:sym typeface="Roboto Slab"/>
                </a:rPr>
                <a:t>Affiliates</a:t>
              </a:r>
            </a:p>
          </p:txBody>
        </p:sp>
      </p:grpSp>
      <p:grpSp>
        <p:nvGrpSpPr>
          <p:cNvPr id="1299" name="Shape 1299"/>
          <p:cNvGrpSpPr/>
          <p:nvPr/>
        </p:nvGrpSpPr>
        <p:grpSpPr>
          <a:xfrm>
            <a:off x="6134756" y="1460662"/>
            <a:ext cx="2072043" cy="1452480"/>
            <a:chOff x="6134756" y="1460662"/>
            <a:chExt cx="2072043" cy="1452480"/>
          </a:xfrm>
        </p:grpSpPr>
        <p:grpSp>
          <p:nvGrpSpPr>
            <p:cNvPr id="1300" name="Shape 1300"/>
            <p:cNvGrpSpPr/>
            <p:nvPr/>
          </p:nvGrpSpPr>
          <p:grpSpPr>
            <a:xfrm>
              <a:off x="6644700" y="1460662"/>
              <a:ext cx="1562099" cy="1447800"/>
              <a:chOff x="6644700" y="1460662"/>
              <a:chExt cx="1562099" cy="1447800"/>
            </a:xfrm>
          </p:grpSpPr>
          <p:sp>
            <p:nvSpPr>
              <p:cNvPr id="1301" name="Shape 1301"/>
              <p:cNvSpPr/>
              <p:nvPr/>
            </p:nvSpPr>
            <p:spPr>
              <a:xfrm>
                <a:off x="6690375" y="1460662"/>
                <a:ext cx="1447800" cy="1447800"/>
              </a:xfrm>
              <a:prstGeom prst="ellipse">
                <a:avLst/>
              </a:prstGeom>
              <a:solidFill>
                <a:srgbClr val="A8D5D7"/>
              </a:solidFill>
              <a:ln>
                <a:noFill/>
              </a:ln>
            </p:spPr>
            <p:txBody>
              <a:bodyPr lIns="91425" tIns="91425" rIns="91425" bIns="91425" anchor="ctr" anchorCtr="0">
                <a:noAutofit/>
              </a:bodyPr>
              <a:lstStyle/>
              <a:p>
                <a:pPr>
                  <a:spcBef>
                    <a:spcPts val="0"/>
                  </a:spcBef>
                  <a:buNone/>
                </a:pPr>
                <a:endParaRPr/>
              </a:p>
            </p:txBody>
          </p:sp>
          <p:sp>
            <p:nvSpPr>
              <p:cNvPr id="1302" name="Shape 1302"/>
              <p:cNvSpPr txBox="1"/>
              <p:nvPr/>
            </p:nvSpPr>
            <p:spPr>
              <a:xfrm>
                <a:off x="6873257" y="1657982"/>
                <a:ext cx="1104899" cy="806700"/>
              </a:xfrm>
              <a:prstGeom prst="rect">
                <a:avLst/>
              </a:prstGeom>
              <a:noFill/>
              <a:ln>
                <a:noFill/>
              </a:ln>
            </p:spPr>
            <p:txBody>
              <a:bodyPr lIns="91425" tIns="91425" rIns="91425" bIns="91425" anchor="t" anchorCtr="0">
                <a:noAutofit/>
              </a:bodyPr>
              <a:lstStyle/>
              <a:p>
                <a:pPr lvl="0" algn="ctr" rtl="0">
                  <a:spcBef>
                    <a:spcPts val="0"/>
                  </a:spcBef>
                  <a:buNone/>
                </a:pPr>
                <a:r>
                  <a:rPr lang="en" sz="3600" b="1">
                    <a:solidFill>
                      <a:schemeClr val="lt1"/>
                    </a:solidFill>
                    <a:latin typeface="Roboto"/>
                    <a:ea typeface="Roboto"/>
                    <a:cs typeface="Roboto"/>
                    <a:sym typeface="Roboto"/>
                  </a:rPr>
                  <a:t>40%</a:t>
                </a:r>
              </a:p>
            </p:txBody>
          </p:sp>
          <p:sp>
            <p:nvSpPr>
              <p:cNvPr id="1303" name="Shape 1303"/>
              <p:cNvSpPr txBox="1"/>
              <p:nvPr/>
            </p:nvSpPr>
            <p:spPr>
              <a:xfrm>
                <a:off x="6644700" y="2193366"/>
                <a:ext cx="1562099" cy="581700"/>
              </a:xfrm>
              <a:prstGeom prst="rect">
                <a:avLst/>
              </a:prstGeom>
              <a:noFill/>
              <a:ln>
                <a:noFill/>
              </a:ln>
            </p:spPr>
            <p:txBody>
              <a:bodyPr lIns="91425" tIns="91425" rIns="91425" bIns="91425" anchor="t" anchorCtr="0">
                <a:noAutofit/>
              </a:bodyPr>
              <a:lstStyle/>
              <a:p>
                <a:pPr lvl="0" algn="ctr" rtl="0">
                  <a:spcBef>
                    <a:spcPts val="0"/>
                  </a:spcBef>
                  <a:buNone/>
                </a:pPr>
                <a:r>
                  <a:rPr lang="en" sz="1200" b="1">
                    <a:solidFill>
                      <a:schemeClr val="lt1"/>
                    </a:solidFill>
                    <a:latin typeface="Roboto Slab"/>
                    <a:ea typeface="Roboto Slab"/>
                    <a:cs typeface="Roboto Slab"/>
                    <a:sym typeface="Roboto Slab"/>
                  </a:rPr>
                  <a:t>Partnerships</a:t>
                </a:r>
              </a:p>
            </p:txBody>
          </p:sp>
        </p:grpSp>
        <p:sp>
          <p:nvSpPr>
            <p:cNvPr id="1304" name="Shape 1304"/>
            <p:cNvSpPr/>
            <p:nvPr/>
          </p:nvSpPr>
          <p:spPr>
            <a:xfrm rot="-1406355" flipH="1">
              <a:off x="6181215" y="2372418"/>
              <a:ext cx="797181" cy="398650"/>
            </a:xfrm>
            <a:prstGeom prst="rightArrow">
              <a:avLst>
                <a:gd name="adj1" fmla="val 50000"/>
                <a:gd name="adj2" fmla="val 50000"/>
              </a:avLst>
            </a:prstGeom>
            <a:solidFill>
              <a:srgbClr val="A8D5D7"/>
            </a:solidFill>
            <a:ln>
              <a:noFill/>
            </a:ln>
          </p:spPr>
          <p:txBody>
            <a:bodyPr lIns="91425" tIns="91425" rIns="91425" bIns="91425" anchor="ctr" anchorCtr="0">
              <a:noAutofit/>
            </a:bodyPr>
            <a:lstStyle/>
            <a:p>
              <a:pPr>
                <a:spcBef>
                  <a:spcPts val="0"/>
                </a:spcBef>
                <a:buNone/>
              </a:pPr>
              <a:endParaRPr/>
            </a:p>
          </p:txBody>
        </p:sp>
      </p:grpSp>
      <p:pic>
        <p:nvPicPr>
          <p:cNvPr id="33" name="Immagine 32">
            <a:extLst>
              <a:ext uri="{FF2B5EF4-FFF2-40B4-BE49-F238E27FC236}">
                <a16:creationId xmlns:a16="http://schemas.microsoft.com/office/drawing/2014/main" id="{2E0EEAC3-CCBD-461E-9421-F99BA5AA1E55}"/>
              </a:ext>
            </a:extLst>
          </p:cNvPr>
          <p:cNvPicPr>
            <a:picLocks noChangeAspect="1"/>
          </p:cNvPicPr>
          <p:nvPr/>
        </p:nvPicPr>
        <p:blipFill rotWithShape="1">
          <a:blip r:embed="rId5"/>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279"/>
                                        </p:tgtEl>
                                        <p:attrNameLst>
                                          <p:attrName>style.visibility</p:attrName>
                                        </p:attrNameLst>
                                      </p:cBhvr>
                                      <p:to>
                                        <p:strVal val="visible"/>
                                      </p:to>
                                    </p:set>
                                    <p:anim calcmode="lin" valueType="num">
                                      <p:cBhvr additive="base">
                                        <p:cTn id="7" dur="1000"/>
                                        <p:tgtEl>
                                          <p:spTgt spid="1279"/>
                                        </p:tgtEl>
                                        <p:attrNameLst>
                                          <p:attrName>ppt_w</p:attrName>
                                        </p:attrNameLst>
                                      </p:cBhvr>
                                      <p:tavLst>
                                        <p:tav tm="0">
                                          <p:val>
                                            <p:strVal val="0"/>
                                          </p:val>
                                        </p:tav>
                                        <p:tav tm="100000">
                                          <p:val>
                                            <p:strVal val="#ppt_w"/>
                                          </p:val>
                                        </p:tav>
                                      </p:tavLst>
                                    </p:anim>
                                    <p:anim calcmode="lin" valueType="num">
                                      <p:cBhvr additive="base">
                                        <p:cTn id="8" dur="1000"/>
                                        <p:tgtEl>
                                          <p:spTgt spid="1279"/>
                                        </p:tgtEl>
                                        <p:attrNameLst>
                                          <p:attrName>ppt_h</p:attrName>
                                        </p:attrNameLst>
                                      </p:cBhvr>
                                      <p:tavLst>
                                        <p:tav tm="0">
                                          <p:val>
                                            <p:strVal val="0"/>
                                          </p:val>
                                        </p:tav>
                                        <p:tav tm="100000">
                                          <p:val>
                                            <p:strVal val="#ppt_h"/>
                                          </p:val>
                                        </p:tav>
                                      </p:tavLst>
                                    </p:anim>
                                  </p:childTnLst>
                                </p:cTn>
                              </p:par>
                            </p:childTnLst>
                          </p:cTn>
                        </p:par>
                        <p:par>
                          <p:cTn id="9" fill="hold">
                            <p:stCondLst>
                              <p:cond delay="1000"/>
                            </p:stCondLst>
                            <p:childTnLst>
                              <p:par>
                                <p:cTn id="10" presetID="23" presetClass="entr" presetSubtype="16" fill="hold" nodeType="afterEffect">
                                  <p:stCondLst>
                                    <p:cond delay="0"/>
                                  </p:stCondLst>
                                  <p:childTnLst>
                                    <p:set>
                                      <p:cBhvr>
                                        <p:cTn id="11" dur="1" fill="hold">
                                          <p:stCondLst>
                                            <p:cond delay="0"/>
                                          </p:stCondLst>
                                        </p:cTn>
                                        <p:tgtEl>
                                          <p:spTgt spid="1283"/>
                                        </p:tgtEl>
                                        <p:attrNameLst>
                                          <p:attrName>style.visibility</p:attrName>
                                        </p:attrNameLst>
                                      </p:cBhvr>
                                      <p:to>
                                        <p:strVal val="visible"/>
                                      </p:to>
                                    </p:set>
                                    <p:anim calcmode="lin" valueType="num">
                                      <p:cBhvr additive="base">
                                        <p:cTn id="12" dur="1000"/>
                                        <p:tgtEl>
                                          <p:spTgt spid="1283"/>
                                        </p:tgtEl>
                                        <p:attrNameLst>
                                          <p:attrName>ppt_w</p:attrName>
                                        </p:attrNameLst>
                                      </p:cBhvr>
                                      <p:tavLst>
                                        <p:tav tm="0">
                                          <p:val>
                                            <p:strVal val="0"/>
                                          </p:val>
                                        </p:tav>
                                        <p:tav tm="100000">
                                          <p:val>
                                            <p:strVal val="#ppt_w"/>
                                          </p:val>
                                        </p:tav>
                                      </p:tavLst>
                                    </p:anim>
                                    <p:anim calcmode="lin" valueType="num">
                                      <p:cBhvr additive="base">
                                        <p:cTn id="13" dur="1000"/>
                                        <p:tgtEl>
                                          <p:spTgt spid="1283"/>
                                        </p:tgtEl>
                                        <p:attrNameLst>
                                          <p:attrName>ppt_h</p:attrName>
                                        </p:attrNameLst>
                                      </p:cBhvr>
                                      <p:tavLst>
                                        <p:tav tm="0">
                                          <p:val>
                                            <p:strVal val="0"/>
                                          </p:val>
                                        </p:tav>
                                        <p:tav tm="100000">
                                          <p:val>
                                            <p:strVal val="#ppt_h"/>
                                          </p:val>
                                        </p:tav>
                                      </p:tavLst>
                                    </p:anim>
                                  </p:childTnLst>
                                </p:cTn>
                              </p:par>
                            </p:childTnLst>
                          </p:cTn>
                        </p:par>
                        <p:par>
                          <p:cTn id="14" fill="hold">
                            <p:stCondLst>
                              <p:cond delay="2000"/>
                            </p:stCondLst>
                            <p:childTnLst>
                              <p:par>
                                <p:cTn id="15" presetID="23" presetClass="entr" presetSubtype="16" fill="hold" nodeType="afterEffect">
                                  <p:stCondLst>
                                    <p:cond delay="0"/>
                                  </p:stCondLst>
                                  <p:childTnLst>
                                    <p:set>
                                      <p:cBhvr>
                                        <p:cTn id="16" dur="1" fill="hold">
                                          <p:stCondLst>
                                            <p:cond delay="0"/>
                                          </p:stCondLst>
                                        </p:cTn>
                                        <p:tgtEl>
                                          <p:spTgt spid="1294"/>
                                        </p:tgtEl>
                                        <p:attrNameLst>
                                          <p:attrName>style.visibility</p:attrName>
                                        </p:attrNameLst>
                                      </p:cBhvr>
                                      <p:to>
                                        <p:strVal val="visible"/>
                                      </p:to>
                                    </p:set>
                                    <p:anim calcmode="lin" valueType="num">
                                      <p:cBhvr additive="base">
                                        <p:cTn id="17" dur="1000"/>
                                        <p:tgtEl>
                                          <p:spTgt spid="1294"/>
                                        </p:tgtEl>
                                        <p:attrNameLst>
                                          <p:attrName>ppt_w</p:attrName>
                                        </p:attrNameLst>
                                      </p:cBhvr>
                                      <p:tavLst>
                                        <p:tav tm="0">
                                          <p:val>
                                            <p:strVal val="0"/>
                                          </p:val>
                                        </p:tav>
                                        <p:tav tm="100000">
                                          <p:val>
                                            <p:strVal val="#ppt_w"/>
                                          </p:val>
                                        </p:tav>
                                      </p:tavLst>
                                    </p:anim>
                                    <p:anim calcmode="lin" valueType="num">
                                      <p:cBhvr additive="base">
                                        <p:cTn id="18" dur="1000"/>
                                        <p:tgtEl>
                                          <p:spTgt spid="1294"/>
                                        </p:tgtEl>
                                        <p:attrNameLst>
                                          <p:attrName>ppt_h</p:attrName>
                                        </p:attrNameLst>
                                      </p:cBhvr>
                                      <p:tavLst>
                                        <p:tav tm="0">
                                          <p:val>
                                            <p:strVal val="0"/>
                                          </p:val>
                                        </p:tav>
                                        <p:tav tm="100000">
                                          <p:val>
                                            <p:strVal val="#ppt_h"/>
                                          </p:val>
                                        </p:tav>
                                      </p:tavLst>
                                    </p:anim>
                                  </p:childTnLst>
                                </p:cTn>
                              </p:par>
                            </p:childTnLst>
                          </p:cTn>
                        </p:par>
                        <p:par>
                          <p:cTn id="19" fill="hold">
                            <p:stCondLst>
                              <p:cond delay="3000"/>
                            </p:stCondLst>
                            <p:childTnLst>
                              <p:par>
                                <p:cTn id="20" presetID="23" presetClass="entr" presetSubtype="16" fill="hold" nodeType="afterEffect">
                                  <p:stCondLst>
                                    <p:cond delay="0"/>
                                  </p:stCondLst>
                                  <p:childTnLst>
                                    <p:set>
                                      <p:cBhvr>
                                        <p:cTn id="21" dur="1" fill="hold">
                                          <p:stCondLst>
                                            <p:cond delay="0"/>
                                          </p:stCondLst>
                                        </p:cTn>
                                        <p:tgtEl>
                                          <p:spTgt spid="1299"/>
                                        </p:tgtEl>
                                        <p:attrNameLst>
                                          <p:attrName>style.visibility</p:attrName>
                                        </p:attrNameLst>
                                      </p:cBhvr>
                                      <p:to>
                                        <p:strVal val="visible"/>
                                      </p:to>
                                    </p:set>
                                    <p:anim calcmode="lin" valueType="num">
                                      <p:cBhvr additive="base">
                                        <p:cTn id="22" dur="1000"/>
                                        <p:tgtEl>
                                          <p:spTgt spid="1299"/>
                                        </p:tgtEl>
                                        <p:attrNameLst>
                                          <p:attrName>ppt_w</p:attrName>
                                        </p:attrNameLst>
                                      </p:cBhvr>
                                      <p:tavLst>
                                        <p:tav tm="0">
                                          <p:val>
                                            <p:strVal val="0"/>
                                          </p:val>
                                        </p:tav>
                                        <p:tav tm="100000">
                                          <p:val>
                                            <p:strVal val="#ppt_w"/>
                                          </p:val>
                                        </p:tav>
                                      </p:tavLst>
                                    </p:anim>
                                    <p:anim calcmode="lin" valueType="num">
                                      <p:cBhvr additive="base">
                                        <p:cTn id="23" dur="1000"/>
                                        <p:tgtEl>
                                          <p:spTgt spid="1299"/>
                                        </p:tgtEl>
                                        <p:attrNameLst>
                                          <p:attrName>ppt_h</p:attrName>
                                        </p:attrNameLst>
                                      </p:cBhvr>
                                      <p:tavLst>
                                        <p:tav tm="0">
                                          <p:val>
                                            <p:strVal val="0"/>
                                          </p:val>
                                        </p:tav>
                                        <p:tav tm="100000">
                                          <p:val>
                                            <p:strVal val="#ppt_h"/>
                                          </p:val>
                                        </p:tav>
                                      </p:tavLst>
                                    </p:anim>
                                  </p:childTnLst>
                                </p:cTn>
                              </p:par>
                            </p:childTnLst>
                          </p:cTn>
                        </p:par>
                        <p:par>
                          <p:cTn id="24" fill="hold">
                            <p:stCondLst>
                              <p:cond delay="4000"/>
                            </p:stCondLst>
                            <p:childTnLst>
                              <p:par>
                                <p:cTn id="25" presetID="23" presetClass="entr" presetSubtype="16" fill="hold" nodeType="afterEffect">
                                  <p:stCondLst>
                                    <p:cond delay="0"/>
                                  </p:stCondLst>
                                  <p:childTnLst>
                                    <p:set>
                                      <p:cBhvr>
                                        <p:cTn id="26" dur="1" fill="hold">
                                          <p:stCondLst>
                                            <p:cond delay="0"/>
                                          </p:stCondLst>
                                        </p:cTn>
                                        <p:tgtEl>
                                          <p:spTgt spid="1288"/>
                                        </p:tgtEl>
                                        <p:attrNameLst>
                                          <p:attrName>style.visibility</p:attrName>
                                        </p:attrNameLst>
                                      </p:cBhvr>
                                      <p:to>
                                        <p:strVal val="visible"/>
                                      </p:to>
                                    </p:set>
                                    <p:anim calcmode="lin" valueType="num">
                                      <p:cBhvr additive="base">
                                        <p:cTn id="27" dur="1000"/>
                                        <p:tgtEl>
                                          <p:spTgt spid="1288"/>
                                        </p:tgtEl>
                                        <p:attrNameLst>
                                          <p:attrName>ppt_w</p:attrName>
                                        </p:attrNameLst>
                                      </p:cBhvr>
                                      <p:tavLst>
                                        <p:tav tm="0">
                                          <p:val>
                                            <p:strVal val="0"/>
                                          </p:val>
                                        </p:tav>
                                        <p:tav tm="100000">
                                          <p:val>
                                            <p:strVal val="#ppt_w"/>
                                          </p:val>
                                        </p:tav>
                                      </p:tavLst>
                                    </p:anim>
                                    <p:anim calcmode="lin" valueType="num">
                                      <p:cBhvr additive="base">
                                        <p:cTn id="28" dur="1000"/>
                                        <p:tgtEl>
                                          <p:spTgt spid="128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1308"/>
        <p:cNvGrpSpPr/>
        <p:nvPr/>
      </p:nvGrpSpPr>
      <p:grpSpPr>
        <a:xfrm>
          <a:off x="0" y="0"/>
          <a:ext cx="0" cy="0"/>
          <a:chOff x="0" y="0"/>
          <a:chExt cx="0" cy="0"/>
        </a:xfrm>
      </p:grpSpPr>
      <p:sp>
        <p:nvSpPr>
          <p:cNvPr id="31" name="Rettangolo 30">
            <a:extLst>
              <a:ext uri="{FF2B5EF4-FFF2-40B4-BE49-F238E27FC236}">
                <a16:creationId xmlns:a16="http://schemas.microsoft.com/office/drawing/2014/main" id="{D9283BD7-0308-49F2-9CFF-2969A45D2FBB}"/>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1309" name="Shape 1309"/>
          <p:cNvPicPr preferRelativeResize="0"/>
          <p:nvPr/>
        </p:nvPicPr>
        <p:blipFill>
          <a:blip r:embed="rId3">
            <a:alphaModFix/>
          </a:blip>
          <a:stretch>
            <a:fillRect/>
          </a:stretch>
        </p:blipFill>
        <p:spPr>
          <a:xfrm>
            <a:off x="-84000" y="183075"/>
            <a:ext cx="9291700" cy="788900"/>
          </a:xfrm>
          <a:prstGeom prst="rect">
            <a:avLst/>
          </a:prstGeom>
          <a:noFill/>
          <a:ln>
            <a:noFill/>
          </a:ln>
        </p:spPr>
      </p:pic>
      <p:sp>
        <p:nvSpPr>
          <p:cNvPr id="1312" name="Shape 1312"/>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Revenue Plans</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grpSp>
        <p:nvGrpSpPr>
          <p:cNvPr id="1313" name="Shape 1313"/>
          <p:cNvGrpSpPr/>
          <p:nvPr/>
        </p:nvGrpSpPr>
        <p:grpSpPr>
          <a:xfrm>
            <a:off x="3802389" y="2230750"/>
            <a:ext cx="1562099" cy="5035675"/>
            <a:chOff x="3802389" y="2230750"/>
            <a:chExt cx="1562099" cy="5035675"/>
          </a:xfrm>
        </p:grpSpPr>
        <p:sp>
          <p:nvSpPr>
            <p:cNvPr id="1314" name="Shape 1314"/>
            <p:cNvSpPr/>
            <p:nvPr/>
          </p:nvSpPr>
          <p:spPr>
            <a:xfrm>
              <a:off x="3862545" y="3658625"/>
              <a:ext cx="1441799" cy="3607800"/>
            </a:xfrm>
            <a:prstGeom prst="roundRect">
              <a:avLst>
                <a:gd name="adj" fmla="val 9266"/>
              </a:avLst>
            </a:prstGeom>
            <a:solidFill>
              <a:srgbClr val="FDCC5B"/>
            </a:solidFill>
            <a:ln>
              <a:noFill/>
            </a:ln>
          </p:spPr>
          <p:txBody>
            <a:bodyPr lIns="91425" tIns="91425" rIns="91425" bIns="91425" anchor="ctr" anchorCtr="0">
              <a:noAutofit/>
            </a:bodyPr>
            <a:lstStyle/>
            <a:p>
              <a:pPr>
                <a:spcBef>
                  <a:spcPts val="0"/>
                </a:spcBef>
                <a:buNone/>
              </a:pPr>
              <a:endParaRPr/>
            </a:p>
          </p:txBody>
        </p:sp>
        <p:sp>
          <p:nvSpPr>
            <p:cNvPr id="1315" name="Shape 1315"/>
            <p:cNvSpPr/>
            <p:nvPr/>
          </p:nvSpPr>
          <p:spPr>
            <a:xfrm>
              <a:off x="4127900" y="2230750"/>
              <a:ext cx="911100" cy="911100"/>
            </a:xfrm>
            <a:prstGeom prst="ellipse">
              <a:avLst/>
            </a:prstGeom>
            <a:noFill/>
            <a:ln w="38100" cap="flat" cmpd="sng">
              <a:solidFill>
                <a:srgbClr val="FDCC5B"/>
              </a:solidFill>
              <a:prstDash val="dashDot"/>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316" name="Shape 1316"/>
            <p:cNvSpPr txBox="1"/>
            <p:nvPr/>
          </p:nvSpPr>
          <p:spPr>
            <a:xfrm>
              <a:off x="3802389" y="3220061"/>
              <a:ext cx="1562099" cy="581700"/>
            </a:xfrm>
            <a:prstGeom prst="rect">
              <a:avLst/>
            </a:prstGeom>
            <a:noFill/>
            <a:ln>
              <a:noFill/>
            </a:ln>
          </p:spPr>
          <p:txBody>
            <a:bodyPr lIns="91425" tIns="91425" rIns="91425" bIns="91425" anchor="t" anchorCtr="0">
              <a:noAutofit/>
            </a:bodyPr>
            <a:lstStyle/>
            <a:p>
              <a:pPr lvl="0" algn="ctr" rtl="0">
                <a:spcBef>
                  <a:spcPts val="0"/>
                </a:spcBef>
                <a:buNone/>
              </a:pPr>
              <a:r>
                <a:rPr lang="en" sz="1200" b="1">
                  <a:solidFill>
                    <a:srgbClr val="B7B7B7"/>
                  </a:solidFill>
                  <a:latin typeface="Roboto Slab"/>
                  <a:ea typeface="Roboto Slab"/>
                  <a:cs typeface="Roboto Slab"/>
                  <a:sym typeface="Roboto Slab"/>
                </a:rPr>
                <a:t>In-site ADV</a:t>
              </a:r>
            </a:p>
          </p:txBody>
        </p:sp>
        <p:pic>
          <p:nvPicPr>
            <p:cNvPr id="1317" name="Shape 1317"/>
            <p:cNvPicPr preferRelativeResize="0"/>
            <p:nvPr/>
          </p:nvPicPr>
          <p:blipFill>
            <a:blip r:embed="rId4">
              <a:alphaModFix/>
            </a:blip>
            <a:stretch>
              <a:fillRect/>
            </a:stretch>
          </p:blipFill>
          <p:spPr>
            <a:xfrm>
              <a:off x="4236455" y="2343182"/>
              <a:ext cx="686224" cy="686224"/>
            </a:xfrm>
            <a:prstGeom prst="rect">
              <a:avLst/>
            </a:prstGeom>
            <a:noFill/>
            <a:ln>
              <a:noFill/>
            </a:ln>
          </p:spPr>
        </p:pic>
      </p:grpSp>
      <p:grpSp>
        <p:nvGrpSpPr>
          <p:cNvPr id="1318" name="Shape 1318"/>
          <p:cNvGrpSpPr/>
          <p:nvPr/>
        </p:nvGrpSpPr>
        <p:grpSpPr>
          <a:xfrm>
            <a:off x="2065375" y="2821275"/>
            <a:ext cx="1562099" cy="4445155"/>
            <a:chOff x="2065375" y="2821275"/>
            <a:chExt cx="1562099" cy="4445155"/>
          </a:xfrm>
        </p:grpSpPr>
        <p:sp>
          <p:nvSpPr>
            <p:cNvPr id="1319" name="Shape 1319"/>
            <p:cNvSpPr/>
            <p:nvPr/>
          </p:nvSpPr>
          <p:spPr>
            <a:xfrm>
              <a:off x="2125522" y="4273330"/>
              <a:ext cx="1441799" cy="2993099"/>
            </a:xfrm>
            <a:prstGeom prst="roundRect">
              <a:avLst>
                <a:gd name="adj" fmla="val 9266"/>
              </a:avLst>
            </a:prstGeom>
            <a:solidFill>
              <a:srgbClr val="F08B7C"/>
            </a:solidFill>
            <a:ln>
              <a:noFill/>
            </a:ln>
          </p:spPr>
          <p:txBody>
            <a:bodyPr lIns="91425" tIns="91425" rIns="91425" bIns="91425" anchor="ctr" anchorCtr="0">
              <a:noAutofit/>
            </a:bodyPr>
            <a:lstStyle/>
            <a:p>
              <a:pPr>
                <a:spcBef>
                  <a:spcPts val="0"/>
                </a:spcBef>
                <a:buNone/>
              </a:pPr>
              <a:endParaRPr/>
            </a:p>
          </p:txBody>
        </p:sp>
        <p:sp>
          <p:nvSpPr>
            <p:cNvPr id="1320" name="Shape 1320"/>
            <p:cNvSpPr/>
            <p:nvPr/>
          </p:nvSpPr>
          <p:spPr>
            <a:xfrm>
              <a:off x="2390875" y="2821275"/>
              <a:ext cx="911100" cy="911100"/>
            </a:xfrm>
            <a:prstGeom prst="ellipse">
              <a:avLst/>
            </a:prstGeom>
            <a:noFill/>
            <a:ln w="38100" cap="flat" cmpd="sng">
              <a:solidFill>
                <a:srgbClr val="F08B7C"/>
              </a:solidFill>
              <a:prstDash val="dashDot"/>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321" name="Shape 1321"/>
            <p:cNvSpPr txBox="1"/>
            <p:nvPr/>
          </p:nvSpPr>
          <p:spPr>
            <a:xfrm>
              <a:off x="2065375" y="3820339"/>
              <a:ext cx="1562099" cy="581700"/>
            </a:xfrm>
            <a:prstGeom prst="rect">
              <a:avLst/>
            </a:prstGeom>
            <a:noFill/>
            <a:ln>
              <a:noFill/>
            </a:ln>
          </p:spPr>
          <p:txBody>
            <a:bodyPr lIns="91425" tIns="91425" rIns="91425" bIns="91425" anchor="t" anchorCtr="0">
              <a:noAutofit/>
            </a:bodyPr>
            <a:lstStyle/>
            <a:p>
              <a:pPr lvl="0" algn="ctr" rtl="0">
                <a:spcBef>
                  <a:spcPts val="0"/>
                </a:spcBef>
                <a:buNone/>
              </a:pPr>
              <a:r>
                <a:rPr lang="en" sz="1200" b="1">
                  <a:solidFill>
                    <a:srgbClr val="B7B7B7"/>
                  </a:solidFill>
                  <a:latin typeface="Roboto Slab"/>
                  <a:ea typeface="Roboto Slab"/>
                  <a:cs typeface="Roboto Slab"/>
                  <a:sym typeface="Roboto Slab"/>
                </a:rPr>
                <a:t>In App Purchases</a:t>
              </a:r>
            </a:p>
          </p:txBody>
        </p:sp>
        <p:pic>
          <p:nvPicPr>
            <p:cNvPr id="1322" name="Shape 1322"/>
            <p:cNvPicPr preferRelativeResize="0"/>
            <p:nvPr/>
          </p:nvPicPr>
          <p:blipFill>
            <a:blip r:embed="rId5">
              <a:alphaModFix/>
            </a:blip>
            <a:stretch>
              <a:fillRect/>
            </a:stretch>
          </p:blipFill>
          <p:spPr>
            <a:xfrm>
              <a:off x="2578370" y="3008775"/>
              <a:ext cx="536100" cy="536100"/>
            </a:xfrm>
            <a:prstGeom prst="rect">
              <a:avLst/>
            </a:prstGeom>
            <a:noFill/>
            <a:ln>
              <a:noFill/>
            </a:ln>
          </p:spPr>
        </p:pic>
      </p:grpSp>
      <p:grpSp>
        <p:nvGrpSpPr>
          <p:cNvPr id="1323" name="Shape 1323"/>
          <p:cNvGrpSpPr/>
          <p:nvPr/>
        </p:nvGrpSpPr>
        <p:grpSpPr>
          <a:xfrm>
            <a:off x="7276460" y="2185012"/>
            <a:ext cx="1562099" cy="4981739"/>
            <a:chOff x="7276460" y="2185012"/>
            <a:chExt cx="1562099" cy="4981739"/>
          </a:xfrm>
        </p:grpSpPr>
        <p:sp>
          <p:nvSpPr>
            <p:cNvPr id="1324" name="Shape 1324"/>
            <p:cNvSpPr/>
            <p:nvPr/>
          </p:nvSpPr>
          <p:spPr>
            <a:xfrm>
              <a:off x="7336591" y="3558951"/>
              <a:ext cx="1441799" cy="3607800"/>
            </a:xfrm>
            <a:prstGeom prst="roundRect">
              <a:avLst>
                <a:gd name="adj" fmla="val 9266"/>
              </a:avLst>
            </a:prstGeom>
            <a:solidFill>
              <a:srgbClr val="A5C961"/>
            </a:solidFill>
            <a:ln>
              <a:noFill/>
            </a:ln>
          </p:spPr>
          <p:txBody>
            <a:bodyPr lIns="91425" tIns="91425" rIns="91425" bIns="91425" anchor="ctr" anchorCtr="0">
              <a:noAutofit/>
            </a:bodyPr>
            <a:lstStyle/>
            <a:p>
              <a:pPr>
                <a:spcBef>
                  <a:spcPts val="0"/>
                </a:spcBef>
                <a:buNone/>
              </a:pPr>
              <a:endParaRPr/>
            </a:p>
          </p:txBody>
        </p:sp>
        <p:sp>
          <p:nvSpPr>
            <p:cNvPr id="1325" name="Shape 1325"/>
            <p:cNvSpPr/>
            <p:nvPr/>
          </p:nvSpPr>
          <p:spPr>
            <a:xfrm>
              <a:off x="7564175" y="2185012"/>
              <a:ext cx="911100" cy="911100"/>
            </a:xfrm>
            <a:prstGeom prst="ellipse">
              <a:avLst/>
            </a:prstGeom>
            <a:noFill/>
            <a:ln w="38100" cap="flat" cmpd="sng">
              <a:solidFill>
                <a:srgbClr val="A5C961"/>
              </a:solidFill>
              <a:prstDash val="dashDot"/>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326" name="Shape 1326"/>
            <p:cNvSpPr txBox="1"/>
            <p:nvPr/>
          </p:nvSpPr>
          <p:spPr>
            <a:xfrm>
              <a:off x="7276460" y="3137873"/>
              <a:ext cx="1562099" cy="581700"/>
            </a:xfrm>
            <a:prstGeom prst="rect">
              <a:avLst/>
            </a:prstGeom>
            <a:noFill/>
            <a:ln>
              <a:noFill/>
            </a:ln>
          </p:spPr>
          <p:txBody>
            <a:bodyPr lIns="91425" tIns="91425" rIns="91425" bIns="91425" anchor="t" anchorCtr="0">
              <a:noAutofit/>
            </a:bodyPr>
            <a:lstStyle/>
            <a:p>
              <a:pPr lvl="0" algn="ctr" rtl="0">
                <a:spcBef>
                  <a:spcPts val="0"/>
                </a:spcBef>
                <a:buNone/>
              </a:pPr>
              <a:r>
                <a:rPr lang="en" sz="1200" b="1">
                  <a:solidFill>
                    <a:srgbClr val="B7B7B7"/>
                  </a:solidFill>
                  <a:latin typeface="Roboto Slab"/>
                  <a:ea typeface="Roboto Slab"/>
                  <a:cs typeface="Roboto Slab"/>
                  <a:sym typeface="Roboto Slab"/>
                </a:rPr>
                <a:t>Partnerships</a:t>
              </a:r>
            </a:p>
          </p:txBody>
        </p:sp>
        <p:pic>
          <p:nvPicPr>
            <p:cNvPr id="1327" name="Shape 1327"/>
            <p:cNvPicPr preferRelativeResize="0"/>
            <p:nvPr/>
          </p:nvPicPr>
          <p:blipFill>
            <a:blip r:embed="rId6">
              <a:alphaModFix/>
            </a:blip>
            <a:stretch>
              <a:fillRect/>
            </a:stretch>
          </p:blipFill>
          <p:spPr>
            <a:xfrm>
              <a:off x="7728814" y="2314785"/>
              <a:ext cx="581699" cy="581699"/>
            </a:xfrm>
            <a:prstGeom prst="rect">
              <a:avLst/>
            </a:prstGeom>
            <a:noFill/>
            <a:ln>
              <a:noFill/>
            </a:ln>
          </p:spPr>
        </p:pic>
      </p:grpSp>
      <p:grpSp>
        <p:nvGrpSpPr>
          <p:cNvPr id="1328" name="Shape 1328"/>
          <p:cNvGrpSpPr/>
          <p:nvPr/>
        </p:nvGrpSpPr>
        <p:grpSpPr>
          <a:xfrm>
            <a:off x="312415" y="1441075"/>
            <a:ext cx="1623000" cy="4373312"/>
            <a:chOff x="312415" y="1441075"/>
            <a:chExt cx="1623000" cy="4373312"/>
          </a:xfrm>
        </p:grpSpPr>
        <p:sp>
          <p:nvSpPr>
            <p:cNvPr id="1329" name="Shape 1329"/>
            <p:cNvSpPr/>
            <p:nvPr/>
          </p:nvSpPr>
          <p:spPr>
            <a:xfrm>
              <a:off x="388500" y="2821287"/>
              <a:ext cx="1441799" cy="2993099"/>
            </a:xfrm>
            <a:prstGeom prst="roundRect">
              <a:avLst>
                <a:gd name="adj" fmla="val 9266"/>
              </a:avLst>
            </a:prstGeom>
            <a:solidFill>
              <a:srgbClr val="7FB3E6"/>
            </a:solidFill>
            <a:ln>
              <a:noFill/>
            </a:ln>
          </p:spPr>
          <p:txBody>
            <a:bodyPr lIns="91425" tIns="91425" rIns="91425" bIns="91425" anchor="ctr" anchorCtr="0">
              <a:noAutofit/>
            </a:bodyPr>
            <a:lstStyle/>
            <a:p>
              <a:pPr>
                <a:spcBef>
                  <a:spcPts val="0"/>
                </a:spcBef>
                <a:buNone/>
              </a:pPr>
              <a:endParaRPr/>
            </a:p>
          </p:txBody>
        </p:sp>
        <p:sp>
          <p:nvSpPr>
            <p:cNvPr id="1330" name="Shape 1330"/>
            <p:cNvSpPr/>
            <p:nvPr/>
          </p:nvSpPr>
          <p:spPr>
            <a:xfrm>
              <a:off x="653850" y="1441075"/>
              <a:ext cx="911100" cy="911100"/>
            </a:xfrm>
            <a:prstGeom prst="ellipse">
              <a:avLst/>
            </a:prstGeom>
            <a:noFill/>
            <a:ln w="38100" cap="flat" cmpd="sng">
              <a:solidFill>
                <a:srgbClr val="7FB3E6"/>
              </a:solidFill>
              <a:prstDash val="dashDot"/>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331" name="Shape 1331"/>
            <p:cNvSpPr txBox="1"/>
            <p:nvPr/>
          </p:nvSpPr>
          <p:spPr>
            <a:xfrm>
              <a:off x="312415" y="2395455"/>
              <a:ext cx="1623000" cy="581700"/>
            </a:xfrm>
            <a:prstGeom prst="rect">
              <a:avLst/>
            </a:prstGeom>
            <a:noFill/>
            <a:ln>
              <a:noFill/>
            </a:ln>
          </p:spPr>
          <p:txBody>
            <a:bodyPr lIns="91425" tIns="91425" rIns="91425" bIns="91425" anchor="t" anchorCtr="0">
              <a:noAutofit/>
            </a:bodyPr>
            <a:lstStyle/>
            <a:p>
              <a:pPr lvl="0" algn="ctr" rtl="0">
                <a:spcBef>
                  <a:spcPts val="0"/>
                </a:spcBef>
                <a:buNone/>
              </a:pPr>
              <a:r>
                <a:rPr lang="en" sz="1200" b="1">
                  <a:solidFill>
                    <a:srgbClr val="B7B7B7"/>
                  </a:solidFill>
                  <a:latin typeface="Roboto Slab"/>
                  <a:ea typeface="Roboto Slab"/>
                  <a:cs typeface="Roboto Slab"/>
                  <a:sym typeface="Roboto Slab"/>
                </a:rPr>
                <a:t>Subscription Fees</a:t>
              </a:r>
            </a:p>
          </p:txBody>
        </p:sp>
        <p:pic>
          <p:nvPicPr>
            <p:cNvPr id="1332" name="Shape 1332"/>
            <p:cNvPicPr preferRelativeResize="0"/>
            <p:nvPr/>
          </p:nvPicPr>
          <p:blipFill>
            <a:blip r:embed="rId7">
              <a:alphaModFix/>
            </a:blip>
            <a:stretch>
              <a:fillRect/>
            </a:stretch>
          </p:blipFill>
          <p:spPr>
            <a:xfrm>
              <a:off x="811657" y="1605775"/>
              <a:ext cx="581699" cy="581699"/>
            </a:xfrm>
            <a:prstGeom prst="rect">
              <a:avLst/>
            </a:prstGeom>
            <a:noFill/>
            <a:ln>
              <a:noFill/>
            </a:ln>
          </p:spPr>
        </p:pic>
      </p:grpSp>
      <p:grpSp>
        <p:nvGrpSpPr>
          <p:cNvPr id="1333" name="Shape 1333"/>
          <p:cNvGrpSpPr/>
          <p:nvPr/>
        </p:nvGrpSpPr>
        <p:grpSpPr>
          <a:xfrm>
            <a:off x="5539435" y="1273912"/>
            <a:ext cx="1562099" cy="4999368"/>
            <a:chOff x="5539435" y="1273912"/>
            <a:chExt cx="1562099" cy="4999368"/>
          </a:xfrm>
        </p:grpSpPr>
        <p:sp>
          <p:nvSpPr>
            <p:cNvPr id="1334" name="Shape 1334"/>
            <p:cNvSpPr/>
            <p:nvPr/>
          </p:nvSpPr>
          <p:spPr>
            <a:xfrm>
              <a:off x="5599568" y="2665480"/>
              <a:ext cx="1441799" cy="3607800"/>
            </a:xfrm>
            <a:prstGeom prst="roundRect">
              <a:avLst>
                <a:gd name="adj" fmla="val 9266"/>
              </a:avLst>
            </a:prstGeom>
            <a:solidFill>
              <a:srgbClr val="A8D5D7"/>
            </a:solidFill>
            <a:ln>
              <a:noFill/>
            </a:ln>
          </p:spPr>
          <p:txBody>
            <a:bodyPr lIns="91425" tIns="91425" rIns="91425" bIns="91425" anchor="ctr" anchorCtr="0">
              <a:noAutofit/>
            </a:bodyPr>
            <a:lstStyle/>
            <a:p>
              <a:pPr>
                <a:spcBef>
                  <a:spcPts val="0"/>
                </a:spcBef>
                <a:buNone/>
              </a:pPr>
              <a:endParaRPr/>
            </a:p>
          </p:txBody>
        </p:sp>
        <p:sp>
          <p:nvSpPr>
            <p:cNvPr id="1335" name="Shape 1335"/>
            <p:cNvSpPr/>
            <p:nvPr/>
          </p:nvSpPr>
          <p:spPr>
            <a:xfrm>
              <a:off x="5864925" y="1273912"/>
              <a:ext cx="911100" cy="911100"/>
            </a:xfrm>
            <a:prstGeom prst="ellipse">
              <a:avLst/>
            </a:prstGeom>
            <a:noFill/>
            <a:ln w="38100" cap="flat" cmpd="sng">
              <a:solidFill>
                <a:srgbClr val="A8D5D7"/>
              </a:solidFill>
              <a:prstDash val="dashDot"/>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336" name="Shape 1336"/>
            <p:cNvSpPr txBox="1"/>
            <p:nvPr/>
          </p:nvSpPr>
          <p:spPr>
            <a:xfrm>
              <a:off x="5539435" y="2230738"/>
              <a:ext cx="1562099" cy="581700"/>
            </a:xfrm>
            <a:prstGeom prst="rect">
              <a:avLst/>
            </a:prstGeom>
            <a:noFill/>
            <a:ln>
              <a:noFill/>
            </a:ln>
          </p:spPr>
          <p:txBody>
            <a:bodyPr lIns="91425" tIns="91425" rIns="91425" bIns="91425" anchor="t" anchorCtr="0">
              <a:noAutofit/>
            </a:bodyPr>
            <a:lstStyle/>
            <a:p>
              <a:pPr lvl="0" algn="ctr" rtl="0">
                <a:spcBef>
                  <a:spcPts val="0"/>
                </a:spcBef>
                <a:buNone/>
              </a:pPr>
              <a:r>
                <a:rPr lang="en" sz="1200" b="1">
                  <a:solidFill>
                    <a:srgbClr val="B7B7B7"/>
                  </a:solidFill>
                  <a:latin typeface="Roboto Slab"/>
                  <a:ea typeface="Roboto Slab"/>
                  <a:cs typeface="Roboto Slab"/>
                  <a:sym typeface="Roboto Slab"/>
                </a:rPr>
                <a:t>Up sells</a:t>
              </a:r>
            </a:p>
          </p:txBody>
        </p:sp>
        <p:pic>
          <p:nvPicPr>
            <p:cNvPr id="1337" name="Shape 1337"/>
            <p:cNvPicPr preferRelativeResize="0"/>
            <p:nvPr/>
          </p:nvPicPr>
          <p:blipFill>
            <a:blip r:embed="rId8">
              <a:alphaModFix/>
            </a:blip>
            <a:stretch>
              <a:fillRect/>
            </a:stretch>
          </p:blipFill>
          <p:spPr>
            <a:xfrm>
              <a:off x="6010392" y="1441062"/>
              <a:ext cx="604937" cy="604937"/>
            </a:xfrm>
            <a:prstGeom prst="rect">
              <a:avLst/>
            </a:prstGeom>
            <a:noFill/>
            <a:ln>
              <a:noFill/>
            </a:ln>
          </p:spPr>
        </p:pic>
      </p:grpSp>
      <p:pic>
        <p:nvPicPr>
          <p:cNvPr id="32" name="Immagine 31">
            <a:extLst>
              <a:ext uri="{FF2B5EF4-FFF2-40B4-BE49-F238E27FC236}">
                <a16:creationId xmlns:a16="http://schemas.microsoft.com/office/drawing/2014/main" id="{1872A424-6B76-44A6-A749-6726D25125F3}"/>
              </a:ext>
            </a:extLst>
          </p:cNvPr>
          <p:cNvPicPr>
            <a:picLocks noChangeAspect="1"/>
          </p:cNvPicPr>
          <p:nvPr/>
        </p:nvPicPr>
        <p:blipFill rotWithShape="1">
          <a:blip r:embed="rId9"/>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28"/>
                                        </p:tgtEl>
                                        <p:attrNameLst>
                                          <p:attrName>style.visibility</p:attrName>
                                        </p:attrNameLst>
                                      </p:cBhvr>
                                      <p:to>
                                        <p:strVal val="visible"/>
                                      </p:to>
                                    </p:set>
                                    <p:anim calcmode="lin" valueType="num">
                                      <p:cBhvr additive="base">
                                        <p:cTn id="7" dur="500"/>
                                        <p:tgtEl>
                                          <p:spTgt spid="1328"/>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318"/>
                                        </p:tgtEl>
                                        <p:attrNameLst>
                                          <p:attrName>style.visibility</p:attrName>
                                        </p:attrNameLst>
                                      </p:cBhvr>
                                      <p:to>
                                        <p:strVal val="visible"/>
                                      </p:to>
                                    </p:set>
                                    <p:anim calcmode="lin" valueType="num">
                                      <p:cBhvr additive="base">
                                        <p:cTn id="11" dur="500"/>
                                        <p:tgtEl>
                                          <p:spTgt spid="1318"/>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1313"/>
                                        </p:tgtEl>
                                        <p:attrNameLst>
                                          <p:attrName>style.visibility</p:attrName>
                                        </p:attrNameLst>
                                      </p:cBhvr>
                                      <p:to>
                                        <p:strVal val="visible"/>
                                      </p:to>
                                    </p:set>
                                    <p:anim calcmode="lin" valueType="num">
                                      <p:cBhvr additive="base">
                                        <p:cTn id="15" dur="500"/>
                                        <p:tgtEl>
                                          <p:spTgt spid="1313"/>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1333"/>
                                        </p:tgtEl>
                                        <p:attrNameLst>
                                          <p:attrName>style.visibility</p:attrName>
                                        </p:attrNameLst>
                                      </p:cBhvr>
                                      <p:to>
                                        <p:strVal val="visible"/>
                                      </p:to>
                                    </p:set>
                                    <p:anim calcmode="lin" valueType="num">
                                      <p:cBhvr additive="base">
                                        <p:cTn id="19" dur="500"/>
                                        <p:tgtEl>
                                          <p:spTgt spid="1333"/>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1323"/>
                                        </p:tgtEl>
                                        <p:attrNameLst>
                                          <p:attrName>style.visibility</p:attrName>
                                        </p:attrNameLst>
                                      </p:cBhvr>
                                      <p:to>
                                        <p:strVal val="visible"/>
                                      </p:to>
                                    </p:set>
                                    <p:anim calcmode="lin" valueType="num">
                                      <p:cBhvr additive="base">
                                        <p:cTn id="23" dur="500"/>
                                        <p:tgtEl>
                                          <p:spTgt spid="13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7" name="Rettangolo 6">
            <a:extLst>
              <a:ext uri="{FF2B5EF4-FFF2-40B4-BE49-F238E27FC236}">
                <a16:creationId xmlns:a16="http://schemas.microsoft.com/office/drawing/2014/main" id="{757440B8-369E-4DD3-A801-24457FB5348B}"/>
              </a:ext>
            </a:extLst>
          </p:cNvPr>
          <p:cNvSpPr/>
          <p:nvPr/>
        </p:nvSpPr>
        <p:spPr>
          <a:xfrm>
            <a:off x="0" y="2774227"/>
            <a:ext cx="9144000" cy="620399"/>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sp>
        <p:nvSpPr>
          <p:cNvPr id="32" name="Shape 32"/>
          <p:cNvSpPr txBox="1"/>
          <p:nvPr/>
        </p:nvSpPr>
        <p:spPr>
          <a:xfrm>
            <a:off x="3240750" y="4349050"/>
            <a:ext cx="2662499" cy="290700"/>
          </a:xfrm>
          <a:prstGeom prst="rect">
            <a:avLst/>
          </a:prstGeom>
          <a:noFill/>
          <a:ln>
            <a:noFill/>
          </a:ln>
        </p:spPr>
        <p:txBody>
          <a:bodyPr lIns="91425" tIns="91425" rIns="91425" bIns="91425" anchor="t" anchorCtr="0">
            <a:noAutofit/>
          </a:bodyPr>
          <a:lstStyle/>
          <a:p>
            <a:pPr algn="ctr">
              <a:spcBef>
                <a:spcPts val="0"/>
              </a:spcBef>
              <a:buNone/>
            </a:pPr>
            <a:r>
              <a:rPr lang="en" sz="1000" dirty="0">
                <a:latin typeface="Roboto Slab"/>
                <a:ea typeface="Roboto Slab"/>
                <a:cs typeface="Roboto Slab"/>
                <a:sym typeface="Roboto Slab"/>
              </a:rPr>
              <a:t>www.startupwebsite.com</a:t>
            </a:r>
          </a:p>
        </p:txBody>
      </p:sp>
      <p:sp>
        <p:nvSpPr>
          <p:cNvPr id="33" name="Shape 33"/>
          <p:cNvSpPr txBox="1"/>
          <p:nvPr/>
        </p:nvSpPr>
        <p:spPr>
          <a:xfrm>
            <a:off x="242325" y="2831150"/>
            <a:ext cx="3437309" cy="620399"/>
          </a:xfrm>
          <a:prstGeom prst="rect">
            <a:avLst/>
          </a:prstGeom>
          <a:noFill/>
          <a:ln>
            <a:noFill/>
          </a:ln>
        </p:spPr>
        <p:txBody>
          <a:bodyPr lIns="91425" tIns="91425" rIns="91425" bIns="91425" anchor="t" anchorCtr="0">
            <a:noAutofit/>
          </a:bodyPr>
          <a:lstStyle/>
          <a:p>
            <a:pPr lvl="0" rtl="0">
              <a:spcBef>
                <a:spcPts val="0"/>
              </a:spcBef>
              <a:buClr>
                <a:schemeClr val="dk1"/>
              </a:buClr>
              <a:buSzPct val="55000"/>
              <a:buFont typeface="Arial"/>
              <a:buNone/>
            </a:pPr>
            <a:r>
              <a:rPr lang="it-IT" sz="2000" b="1" dirty="0">
                <a:solidFill>
                  <a:schemeClr val="lt1"/>
                </a:solidFill>
                <a:latin typeface="Roboto Slab"/>
                <a:ea typeface="Roboto Slab"/>
                <a:cs typeface="Roboto Slab"/>
                <a:sym typeface="Roboto Slab"/>
              </a:rPr>
              <a:t>WAY TO MARKET</a:t>
            </a:r>
            <a:endParaRPr lang="en" sz="2000" b="1" dirty="0">
              <a:solidFill>
                <a:schemeClr val="lt1"/>
              </a:solidFill>
              <a:latin typeface="Roboto Slab"/>
              <a:ea typeface="Roboto Slab"/>
              <a:cs typeface="Roboto Slab"/>
              <a:sym typeface="Roboto Slab"/>
            </a:endParaRPr>
          </a:p>
          <a:p>
            <a:pPr>
              <a:spcBef>
                <a:spcPts val="0"/>
              </a:spcBef>
              <a:buNone/>
            </a:pPr>
            <a:endParaRPr dirty="0"/>
          </a:p>
        </p:txBody>
      </p:sp>
      <p:sp>
        <p:nvSpPr>
          <p:cNvPr id="34" name="Shape 34"/>
          <p:cNvSpPr txBox="1"/>
          <p:nvPr/>
        </p:nvSpPr>
        <p:spPr>
          <a:xfrm>
            <a:off x="4373750" y="2889275"/>
            <a:ext cx="4604400" cy="430500"/>
          </a:xfrm>
          <a:prstGeom prst="rect">
            <a:avLst/>
          </a:prstGeom>
          <a:noFill/>
          <a:ln>
            <a:noFill/>
          </a:ln>
        </p:spPr>
        <p:txBody>
          <a:bodyPr lIns="91425" tIns="91425" rIns="91425" bIns="91425" anchor="t" anchorCtr="0">
            <a:noAutofit/>
          </a:bodyPr>
          <a:lstStyle/>
          <a:p>
            <a:pPr lvl="0" algn="r" rtl="0">
              <a:spcBef>
                <a:spcPts val="0"/>
              </a:spcBef>
              <a:buNone/>
            </a:pPr>
            <a:r>
              <a:rPr lang="en">
                <a:solidFill>
                  <a:schemeClr val="lt1"/>
                </a:solidFill>
                <a:latin typeface="Roboto"/>
                <a:ea typeface="Roboto"/>
                <a:cs typeface="Roboto"/>
                <a:sym typeface="Roboto"/>
              </a:rPr>
              <a:t>Use These Slides To Describe Your Market</a:t>
            </a:r>
          </a:p>
          <a:p>
            <a:pPr lvl="0" rtl="0">
              <a:spcBef>
                <a:spcPts val="0"/>
              </a:spcBef>
              <a:buNone/>
            </a:pPr>
            <a:endParaRPr/>
          </a:p>
        </p:txBody>
      </p:sp>
      <p:pic>
        <p:nvPicPr>
          <p:cNvPr id="3" name="Immagine 2">
            <a:extLst>
              <a:ext uri="{FF2B5EF4-FFF2-40B4-BE49-F238E27FC236}">
                <a16:creationId xmlns:a16="http://schemas.microsoft.com/office/drawing/2014/main" id="{0DA18343-295D-48A2-9447-D43C713212AD}"/>
              </a:ext>
            </a:extLst>
          </p:cNvPr>
          <p:cNvPicPr>
            <a:picLocks noChangeAspect="1"/>
          </p:cNvPicPr>
          <p:nvPr/>
        </p:nvPicPr>
        <p:blipFill rotWithShape="1">
          <a:blip r:embed="rId3"/>
          <a:srcRect t="42749" b="42199"/>
          <a:stretch/>
        </p:blipFill>
        <p:spPr>
          <a:xfrm>
            <a:off x="1283546" y="1069126"/>
            <a:ext cx="6576908" cy="989948"/>
          </a:xfrm>
          <a:prstGeom prst="rect">
            <a:avLst/>
          </a:prstGeom>
        </p:spPr>
      </p:pic>
    </p:spTree>
    <p:extLst>
      <p:ext uri="{BB962C8B-B14F-4D97-AF65-F5344CB8AC3E}">
        <p14:creationId xmlns:p14="http://schemas.microsoft.com/office/powerpoint/2010/main" val="3830298430"/>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1000"/>
                                        <p:tgtEl>
                                          <p:spTgt spid="33"/>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1000"/>
                                        <p:tgtEl>
                                          <p:spTgt spid="34"/>
                                        </p:tgtEl>
                                        <p:attrNameLst>
                                          <p:attrName>ppt_x</p:attrName>
                                        </p:attrNameLst>
                                      </p:cBhvr>
                                      <p:tavLst>
                                        <p:tav tm="0">
                                          <p:val>
                                            <p:strVal val="#ppt_x+1"/>
                                          </p:val>
                                        </p:tav>
                                        <p:tav tm="100000">
                                          <p:val>
                                            <p:strVal val="#ppt_x"/>
                                          </p:val>
                                        </p:tav>
                                      </p:tavLst>
                                    </p:anim>
                                  </p:childTnLst>
                                </p:cTn>
                              </p:par>
                            </p:childTnLst>
                          </p:cTn>
                        </p:par>
                        <p:par>
                          <p:cTn id="12" fill="hold">
                            <p:stCondLst>
                              <p:cond delay="2000"/>
                            </p:stCondLst>
                            <p:childTnLst>
                              <p:par>
                                <p:cTn id="13" presetID="23" presetClass="entr" presetSubtype="16"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additive="base">
                                        <p:cTn id="15" dur="1000"/>
                                        <p:tgtEl>
                                          <p:spTgt spid="32"/>
                                        </p:tgtEl>
                                        <p:attrNameLst>
                                          <p:attrName>ppt_w</p:attrName>
                                        </p:attrNameLst>
                                      </p:cBhvr>
                                      <p:tavLst>
                                        <p:tav tm="0">
                                          <p:val>
                                            <p:strVal val="0"/>
                                          </p:val>
                                        </p:tav>
                                        <p:tav tm="100000">
                                          <p:val>
                                            <p:strVal val="#ppt_w"/>
                                          </p:val>
                                        </p:tav>
                                      </p:tavLst>
                                    </p:anim>
                                    <p:anim calcmode="lin" valueType="num">
                                      <p:cBhvr additive="base">
                                        <p:cTn id="16" dur="1000"/>
                                        <p:tgtEl>
                                          <p:spTgt spid="3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1351"/>
        <p:cNvGrpSpPr/>
        <p:nvPr/>
      </p:nvGrpSpPr>
      <p:grpSpPr>
        <a:xfrm>
          <a:off x="0" y="0"/>
          <a:ext cx="0" cy="0"/>
          <a:chOff x="0" y="0"/>
          <a:chExt cx="0" cy="0"/>
        </a:xfrm>
      </p:grpSpPr>
      <p:sp>
        <p:nvSpPr>
          <p:cNvPr id="41" name="Rettangolo 40">
            <a:extLst>
              <a:ext uri="{FF2B5EF4-FFF2-40B4-BE49-F238E27FC236}">
                <a16:creationId xmlns:a16="http://schemas.microsoft.com/office/drawing/2014/main" id="{02FCC1C4-984E-4FCA-98EC-7373A572EC22}"/>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grpSp>
        <p:nvGrpSpPr>
          <p:cNvPr id="1352" name="Shape 1352"/>
          <p:cNvGrpSpPr/>
          <p:nvPr/>
        </p:nvGrpSpPr>
        <p:grpSpPr>
          <a:xfrm>
            <a:off x="978050" y="4171105"/>
            <a:ext cx="5826679" cy="604925"/>
            <a:chOff x="978050" y="4171105"/>
            <a:chExt cx="5826679" cy="604925"/>
          </a:xfrm>
        </p:grpSpPr>
        <p:sp>
          <p:nvSpPr>
            <p:cNvPr id="1353" name="Shape 1353"/>
            <p:cNvSpPr/>
            <p:nvPr/>
          </p:nvSpPr>
          <p:spPr>
            <a:xfrm>
              <a:off x="978050" y="4254048"/>
              <a:ext cx="5533611" cy="478103"/>
            </a:xfrm>
            <a:prstGeom prst="rect">
              <a:avLst/>
            </a:prstGeom>
            <a:solidFill>
              <a:srgbClr val="A8D5D7"/>
            </a:solidFill>
            <a:ln>
              <a:noFill/>
            </a:ln>
          </p:spPr>
          <p:txBody>
            <a:bodyPr lIns="91425" tIns="91425" rIns="91425" bIns="91425" anchor="ctr" anchorCtr="0">
              <a:noAutofit/>
            </a:bodyPr>
            <a:lstStyle/>
            <a:p>
              <a:pPr>
                <a:spcBef>
                  <a:spcPts val="0"/>
                </a:spcBef>
                <a:buNone/>
              </a:pPr>
              <a:endParaRPr/>
            </a:p>
          </p:txBody>
        </p:sp>
        <p:pic>
          <p:nvPicPr>
            <p:cNvPr id="1354" name="Shape 1354"/>
            <p:cNvPicPr preferRelativeResize="0"/>
            <p:nvPr/>
          </p:nvPicPr>
          <p:blipFill>
            <a:blip r:embed="rId3">
              <a:alphaModFix/>
            </a:blip>
            <a:stretch>
              <a:fillRect/>
            </a:stretch>
          </p:blipFill>
          <p:spPr>
            <a:xfrm>
              <a:off x="993296" y="4171105"/>
              <a:ext cx="604925" cy="604925"/>
            </a:xfrm>
            <a:prstGeom prst="rect">
              <a:avLst/>
            </a:prstGeom>
            <a:noFill/>
            <a:ln>
              <a:noFill/>
            </a:ln>
          </p:spPr>
        </p:pic>
        <p:sp>
          <p:nvSpPr>
            <p:cNvPr id="1355" name="Shape 1355"/>
            <p:cNvSpPr txBox="1"/>
            <p:nvPr/>
          </p:nvSpPr>
          <p:spPr>
            <a:xfrm>
              <a:off x="1598229" y="4301775"/>
              <a:ext cx="5206499" cy="434999"/>
            </a:xfrm>
            <a:prstGeom prst="rect">
              <a:avLst/>
            </a:prstGeom>
            <a:noFill/>
            <a:ln>
              <a:noFill/>
            </a:ln>
          </p:spPr>
          <p:txBody>
            <a:bodyPr lIns="91425" tIns="91425" rIns="91425" bIns="91425" anchor="t" anchorCtr="0">
              <a:noAutofit/>
            </a:bodyPr>
            <a:lstStyle/>
            <a:p>
              <a:pPr lvl="0" rtl="0">
                <a:spcBef>
                  <a:spcPts val="0"/>
                </a:spcBef>
                <a:buNone/>
              </a:pPr>
              <a:r>
                <a:rPr lang="en" b="1">
                  <a:solidFill>
                    <a:schemeClr val="lt1"/>
                  </a:solidFill>
                  <a:latin typeface="Roboto Slab"/>
                  <a:ea typeface="Roboto Slab"/>
                  <a:cs typeface="Roboto Slab"/>
                  <a:sym typeface="Roboto Slab"/>
                </a:rPr>
                <a:t>1.000.000 USERS IN THE FIRST YEAR</a:t>
              </a:r>
            </a:p>
            <a:p>
              <a:pPr lvl="0" algn="ctr" rtl="0">
                <a:spcBef>
                  <a:spcPts val="0"/>
                </a:spcBef>
                <a:buNone/>
              </a:pPr>
              <a:endParaRPr sz="800" b="1">
                <a:solidFill>
                  <a:schemeClr val="lt1"/>
                </a:solidFill>
                <a:latin typeface="Roboto Slab"/>
                <a:ea typeface="Roboto Slab"/>
                <a:cs typeface="Roboto Slab"/>
                <a:sym typeface="Roboto Slab"/>
              </a:endParaRPr>
            </a:p>
          </p:txBody>
        </p:sp>
      </p:grpSp>
      <p:grpSp>
        <p:nvGrpSpPr>
          <p:cNvPr id="1356" name="Shape 1356"/>
          <p:cNvGrpSpPr/>
          <p:nvPr/>
        </p:nvGrpSpPr>
        <p:grpSpPr>
          <a:xfrm>
            <a:off x="5126294" y="4126041"/>
            <a:ext cx="2768099" cy="606225"/>
            <a:chOff x="5126294" y="4126041"/>
            <a:chExt cx="2768099" cy="606225"/>
          </a:xfrm>
        </p:grpSpPr>
        <p:pic>
          <p:nvPicPr>
            <p:cNvPr id="1357" name="Shape 1357"/>
            <p:cNvPicPr preferRelativeResize="0"/>
            <p:nvPr/>
          </p:nvPicPr>
          <p:blipFill>
            <a:blip r:embed="rId4">
              <a:alphaModFix/>
            </a:blip>
            <a:stretch>
              <a:fillRect/>
            </a:stretch>
          </p:blipFill>
          <p:spPr>
            <a:xfrm>
              <a:off x="6191515" y="4126041"/>
              <a:ext cx="638008" cy="606225"/>
            </a:xfrm>
            <a:prstGeom prst="rect">
              <a:avLst/>
            </a:prstGeom>
            <a:noFill/>
            <a:ln>
              <a:noFill/>
            </a:ln>
          </p:spPr>
        </p:pic>
        <p:sp>
          <p:nvSpPr>
            <p:cNvPr id="1358" name="Shape 1358"/>
            <p:cNvSpPr txBox="1"/>
            <p:nvPr/>
          </p:nvSpPr>
          <p:spPr>
            <a:xfrm>
              <a:off x="5126294" y="4156969"/>
              <a:ext cx="2768099" cy="434999"/>
            </a:xfrm>
            <a:prstGeom prst="rect">
              <a:avLst/>
            </a:prstGeom>
            <a:noFill/>
            <a:ln>
              <a:noFill/>
            </a:ln>
          </p:spPr>
          <p:txBody>
            <a:bodyPr lIns="91425" tIns="91425" rIns="91425" bIns="91425" anchor="t" anchorCtr="0">
              <a:noAutofit/>
            </a:bodyPr>
            <a:lstStyle/>
            <a:p>
              <a:pPr lvl="0" algn="ctr" rtl="0">
                <a:spcBef>
                  <a:spcPts val="0"/>
                </a:spcBef>
                <a:buNone/>
              </a:pPr>
              <a:r>
                <a:rPr lang="en" sz="1000" b="1">
                  <a:solidFill>
                    <a:schemeClr val="lt1"/>
                  </a:solidFill>
                  <a:latin typeface="Roboto Slab"/>
                  <a:ea typeface="Roboto Slab"/>
                  <a:cs typeface="Roboto Slab"/>
                  <a:sym typeface="Roboto Slab"/>
                </a:rPr>
                <a:t>GOAL</a:t>
              </a:r>
            </a:p>
          </p:txBody>
        </p:sp>
      </p:grpSp>
      <p:pic>
        <p:nvPicPr>
          <p:cNvPr id="1359" name="Shape 1359"/>
          <p:cNvPicPr preferRelativeResize="0"/>
          <p:nvPr/>
        </p:nvPicPr>
        <p:blipFill>
          <a:blip r:embed="rId5">
            <a:alphaModFix/>
          </a:blip>
          <a:stretch>
            <a:fillRect/>
          </a:stretch>
        </p:blipFill>
        <p:spPr>
          <a:xfrm>
            <a:off x="-84000" y="183075"/>
            <a:ext cx="9291700" cy="788900"/>
          </a:xfrm>
          <a:prstGeom prst="rect">
            <a:avLst/>
          </a:prstGeom>
          <a:noFill/>
          <a:ln>
            <a:noFill/>
          </a:ln>
        </p:spPr>
      </p:pic>
      <p:sp>
        <p:nvSpPr>
          <p:cNvPr id="1362" name="Shape 1362"/>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Way To Market</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grpSp>
        <p:nvGrpSpPr>
          <p:cNvPr id="1363" name="Shape 1363"/>
          <p:cNvGrpSpPr/>
          <p:nvPr/>
        </p:nvGrpSpPr>
        <p:grpSpPr>
          <a:xfrm>
            <a:off x="978050" y="1491475"/>
            <a:ext cx="5724685" cy="581699"/>
            <a:chOff x="978050" y="1491475"/>
            <a:chExt cx="5724685" cy="581699"/>
          </a:xfrm>
        </p:grpSpPr>
        <p:sp>
          <p:nvSpPr>
            <p:cNvPr id="1364" name="Shape 1364"/>
            <p:cNvSpPr/>
            <p:nvPr/>
          </p:nvSpPr>
          <p:spPr>
            <a:xfrm>
              <a:off x="978050" y="1511466"/>
              <a:ext cx="5724685" cy="545048"/>
            </a:xfrm>
            <a:prstGeom prst="rect">
              <a:avLst/>
            </a:prstGeom>
            <a:solidFill>
              <a:schemeClr val="lt1"/>
            </a:solidFill>
            <a:ln>
              <a:noFill/>
            </a:ln>
          </p:spPr>
          <p:txBody>
            <a:bodyPr lIns="91425" tIns="91425" rIns="91425" bIns="91425" anchor="ctr" anchorCtr="0">
              <a:noAutofit/>
            </a:bodyPr>
            <a:lstStyle/>
            <a:p>
              <a:pPr>
                <a:spcBef>
                  <a:spcPts val="0"/>
                </a:spcBef>
                <a:buNone/>
              </a:pPr>
              <a:endParaRPr/>
            </a:p>
          </p:txBody>
        </p:sp>
        <p:pic>
          <p:nvPicPr>
            <p:cNvPr id="1365" name="Shape 1365"/>
            <p:cNvPicPr preferRelativeResize="0"/>
            <p:nvPr/>
          </p:nvPicPr>
          <p:blipFill>
            <a:blip r:embed="rId6">
              <a:alphaModFix/>
            </a:blip>
            <a:stretch>
              <a:fillRect/>
            </a:stretch>
          </p:blipFill>
          <p:spPr>
            <a:xfrm>
              <a:off x="993297" y="1491475"/>
              <a:ext cx="581699" cy="581699"/>
            </a:xfrm>
            <a:prstGeom prst="rect">
              <a:avLst/>
            </a:prstGeom>
            <a:noFill/>
            <a:ln>
              <a:noFill/>
            </a:ln>
          </p:spPr>
        </p:pic>
        <p:sp>
          <p:nvSpPr>
            <p:cNvPr id="1366" name="Shape 1366"/>
            <p:cNvSpPr txBox="1"/>
            <p:nvPr/>
          </p:nvSpPr>
          <p:spPr>
            <a:xfrm>
              <a:off x="1560125" y="1600475"/>
              <a:ext cx="2768099" cy="434999"/>
            </a:xfrm>
            <a:prstGeom prst="rect">
              <a:avLst/>
            </a:prstGeom>
            <a:noFill/>
            <a:ln>
              <a:noFill/>
            </a:ln>
          </p:spPr>
          <p:txBody>
            <a:bodyPr lIns="91425" tIns="91425" rIns="91425" bIns="91425" anchor="t" anchorCtr="0">
              <a:noAutofit/>
            </a:bodyPr>
            <a:lstStyle/>
            <a:p>
              <a:pPr lvl="0" rtl="0">
                <a:spcBef>
                  <a:spcPts val="0"/>
                </a:spcBef>
                <a:buNone/>
              </a:pPr>
              <a:r>
                <a:rPr lang="en" b="1">
                  <a:solidFill>
                    <a:schemeClr val="dk2"/>
                  </a:solidFill>
                  <a:latin typeface="Roboto Slab"/>
                  <a:ea typeface="Roboto Slab"/>
                  <a:cs typeface="Roboto Slab"/>
                  <a:sym typeface="Roboto Slab"/>
                </a:rPr>
                <a:t>EMAIL MARKETING</a:t>
              </a:r>
            </a:p>
            <a:p>
              <a:pPr lvl="0" algn="ctr" rtl="0">
                <a:spcBef>
                  <a:spcPts val="0"/>
                </a:spcBef>
                <a:buNone/>
              </a:pPr>
              <a:endParaRPr sz="800" b="1">
                <a:solidFill>
                  <a:schemeClr val="dk2"/>
                </a:solidFill>
                <a:latin typeface="Roboto Slab"/>
                <a:ea typeface="Roboto Slab"/>
                <a:cs typeface="Roboto Slab"/>
                <a:sym typeface="Roboto Slab"/>
              </a:endParaRPr>
            </a:p>
          </p:txBody>
        </p:sp>
      </p:grpSp>
      <p:grpSp>
        <p:nvGrpSpPr>
          <p:cNvPr id="1367" name="Shape 1367"/>
          <p:cNvGrpSpPr/>
          <p:nvPr/>
        </p:nvGrpSpPr>
        <p:grpSpPr>
          <a:xfrm>
            <a:off x="978050" y="2199146"/>
            <a:ext cx="5724685" cy="545048"/>
            <a:chOff x="978050" y="2199146"/>
            <a:chExt cx="5724685" cy="545048"/>
          </a:xfrm>
        </p:grpSpPr>
        <p:sp>
          <p:nvSpPr>
            <p:cNvPr id="1368" name="Shape 1368"/>
            <p:cNvSpPr/>
            <p:nvPr/>
          </p:nvSpPr>
          <p:spPr>
            <a:xfrm>
              <a:off x="978050" y="2199146"/>
              <a:ext cx="5724685" cy="545048"/>
            </a:xfrm>
            <a:prstGeom prst="rect">
              <a:avLst/>
            </a:prstGeom>
            <a:solidFill>
              <a:schemeClr val="lt1"/>
            </a:solidFill>
            <a:ln>
              <a:noFill/>
            </a:ln>
          </p:spPr>
          <p:txBody>
            <a:bodyPr lIns="91425" tIns="91425" rIns="91425" bIns="91425" anchor="ctr" anchorCtr="0">
              <a:noAutofit/>
            </a:bodyPr>
            <a:lstStyle/>
            <a:p>
              <a:pPr>
                <a:spcBef>
                  <a:spcPts val="0"/>
                </a:spcBef>
                <a:buNone/>
              </a:pPr>
              <a:endParaRPr/>
            </a:p>
          </p:txBody>
        </p:sp>
        <p:pic>
          <p:nvPicPr>
            <p:cNvPr id="1369" name="Shape 1369"/>
            <p:cNvPicPr preferRelativeResize="0"/>
            <p:nvPr/>
          </p:nvPicPr>
          <p:blipFill>
            <a:blip r:embed="rId7">
              <a:alphaModFix/>
            </a:blip>
            <a:stretch>
              <a:fillRect/>
            </a:stretch>
          </p:blipFill>
          <p:spPr>
            <a:xfrm>
              <a:off x="1038959" y="2231515"/>
              <a:ext cx="485050" cy="485050"/>
            </a:xfrm>
            <a:prstGeom prst="rect">
              <a:avLst/>
            </a:prstGeom>
            <a:noFill/>
            <a:ln>
              <a:noFill/>
            </a:ln>
          </p:spPr>
        </p:pic>
        <p:sp>
          <p:nvSpPr>
            <p:cNvPr id="1370" name="Shape 1370"/>
            <p:cNvSpPr txBox="1"/>
            <p:nvPr/>
          </p:nvSpPr>
          <p:spPr>
            <a:xfrm>
              <a:off x="1567745" y="2279409"/>
              <a:ext cx="2768099" cy="434999"/>
            </a:xfrm>
            <a:prstGeom prst="rect">
              <a:avLst/>
            </a:prstGeom>
            <a:noFill/>
            <a:ln>
              <a:noFill/>
            </a:ln>
          </p:spPr>
          <p:txBody>
            <a:bodyPr lIns="91425" tIns="91425" rIns="91425" bIns="91425" anchor="t" anchorCtr="0">
              <a:noAutofit/>
            </a:bodyPr>
            <a:lstStyle/>
            <a:p>
              <a:pPr lvl="0" rtl="0">
                <a:spcBef>
                  <a:spcPts val="0"/>
                </a:spcBef>
                <a:buNone/>
              </a:pPr>
              <a:r>
                <a:rPr lang="en" b="1">
                  <a:solidFill>
                    <a:schemeClr val="dk2"/>
                  </a:solidFill>
                  <a:latin typeface="Roboto Slab"/>
                  <a:ea typeface="Roboto Slab"/>
                  <a:cs typeface="Roboto Slab"/>
                  <a:sym typeface="Roboto Slab"/>
                </a:rPr>
                <a:t>IN-APP ADVERTISING</a:t>
              </a:r>
            </a:p>
          </p:txBody>
        </p:sp>
      </p:grpSp>
      <p:grpSp>
        <p:nvGrpSpPr>
          <p:cNvPr id="1371" name="Shape 1371"/>
          <p:cNvGrpSpPr/>
          <p:nvPr/>
        </p:nvGrpSpPr>
        <p:grpSpPr>
          <a:xfrm>
            <a:off x="978050" y="2874925"/>
            <a:ext cx="5724685" cy="604924"/>
            <a:chOff x="978050" y="2874925"/>
            <a:chExt cx="5724685" cy="604924"/>
          </a:xfrm>
        </p:grpSpPr>
        <p:sp>
          <p:nvSpPr>
            <p:cNvPr id="1372" name="Shape 1372"/>
            <p:cNvSpPr/>
            <p:nvPr/>
          </p:nvSpPr>
          <p:spPr>
            <a:xfrm>
              <a:off x="978050" y="2893572"/>
              <a:ext cx="5724685" cy="545048"/>
            </a:xfrm>
            <a:prstGeom prst="rect">
              <a:avLst/>
            </a:prstGeom>
            <a:solidFill>
              <a:schemeClr val="lt1"/>
            </a:solidFill>
            <a:ln>
              <a:noFill/>
            </a:ln>
          </p:spPr>
          <p:txBody>
            <a:bodyPr lIns="91425" tIns="91425" rIns="91425" bIns="91425" anchor="ctr" anchorCtr="0">
              <a:noAutofit/>
            </a:bodyPr>
            <a:lstStyle/>
            <a:p>
              <a:pPr>
                <a:spcBef>
                  <a:spcPts val="0"/>
                </a:spcBef>
                <a:buNone/>
              </a:pPr>
              <a:endParaRPr/>
            </a:p>
          </p:txBody>
        </p:sp>
        <p:pic>
          <p:nvPicPr>
            <p:cNvPr id="1373" name="Shape 1373"/>
            <p:cNvPicPr preferRelativeResize="0"/>
            <p:nvPr/>
          </p:nvPicPr>
          <p:blipFill>
            <a:blip r:embed="rId8">
              <a:alphaModFix/>
            </a:blip>
            <a:stretch>
              <a:fillRect/>
            </a:stretch>
          </p:blipFill>
          <p:spPr>
            <a:xfrm>
              <a:off x="993300" y="2874925"/>
              <a:ext cx="604924" cy="604924"/>
            </a:xfrm>
            <a:prstGeom prst="rect">
              <a:avLst/>
            </a:prstGeom>
            <a:noFill/>
            <a:ln>
              <a:noFill/>
            </a:ln>
          </p:spPr>
        </p:pic>
        <p:sp>
          <p:nvSpPr>
            <p:cNvPr id="1374" name="Shape 1374"/>
            <p:cNvSpPr txBox="1"/>
            <p:nvPr/>
          </p:nvSpPr>
          <p:spPr>
            <a:xfrm>
              <a:off x="1575350" y="2973255"/>
              <a:ext cx="2768099" cy="434999"/>
            </a:xfrm>
            <a:prstGeom prst="rect">
              <a:avLst/>
            </a:prstGeom>
            <a:noFill/>
            <a:ln>
              <a:noFill/>
            </a:ln>
          </p:spPr>
          <p:txBody>
            <a:bodyPr lIns="91425" tIns="91425" rIns="91425" bIns="91425" anchor="t" anchorCtr="0">
              <a:noAutofit/>
            </a:bodyPr>
            <a:lstStyle/>
            <a:p>
              <a:pPr lvl="0" rtl="0">
                <a:spcBef>
                  <a:spcPts val="0"/>
                </a:spcBef>
                <a:buNone/>
              </a:pPr>
              <a:r>
                <a:rPr lang="en" b="1">
                  <a:solidFill>
                    <a:schemeClr val="dk2"/>
                  </a:solidFill>
                  <a:latin typeface="Roboto Slab"/>
                  <a:ea typeface="Roboto Slab"/>
                  <a:cs typeface="Roboto Slab"/>
                  <a:sym typeface="Roboto Slab"/>
                </a:rPr>
                <a:t>LOCAL ADVERTISING</a:t>
              </a:r>
            </a:p>
            <a:p>
              <a:pPr lvl="0" algn="ctr" rtl="0">
                <a:spcBef>
                  <a:spcPts val="0"/>
                </a:spcBef>
                <a:buNone/>
              </a:pPr>
              <a:endParaRPr sz="800" b="1">
                <a:solidFill>
                  <a:schemeClr val="dk2"/>
                </a:solidFill>
                <a:latin typeface="Roboto Slab"/>
                <a:ea typeface="Roboto Slab"/>
                <a:cs typeface="Roboto Slab"/>
                <a:sym typeface="Roboto Slab"/>
              </a:endParaRPr>
            </a:p>
          </p:txBody>
        </p:sp>
      </p:grpSp>
      <p:grpSp>
        <p:nvGrpSpPr>
          <p:cNvPr id="1375" name="Shape 1375"/>
          <p:cNvGrpSpPr/>
          <p:nvPr/>
        </p:nvGrpSpPr>
        <p:grpSpPr>
          <a:xfrm>
            <a:off x="978050" y="3536557"/>
            <a:ext cx="5724685" cy="604937"/>
            <a:chOff x="978050" y="3536557"/>
            <a:chExt cx="5724685" cy="604937"/>
          </a:xfrm>
        </p:grpSpPr>
        <p:sp>
          <p:nvSpPr>
            <p:cNvPr id="1376" name="Shape 1376"/>
            <p:cNvSpPr/>
            <p:nvPr/>
          </p:nvSpPr>
          <p:spPr>
            <a:xfrm>
              <a:off x="978050" y="3573816"/>
              <a:ext cx="5724685" cy="545048"/>
            </a:xfrm>
            <a:prstGeom prst="rect">
              <a:avLst/>
            </a:prstGeom>
            <a:solidFill>
              <a:schemeClr val="lt1"/>
            </a:solidFill>
            <a:ln>
              <a:noFill/>
            </a:ln>
          </p:spPr>
          <p:txBody>
            <a:bodyPr lIns="91425" tIns="91425" rIns="91425" bIns="91425" anchor="ctr" anchorCtr="0">
              <a:noAutofit/>
            </a:bodyPr>
            <a:lstStyle/>
            <a:p>
              <a:pPr>
                <a:spcBef>
                  <a:spcPts val="0"/>
                </a:spcBef>
                <a:buNone/>
              </a:pPr>
              <a:endParaRPr/>
            </a:p>
          </p:txBody>
        </p:sp>
        <p:pic>
          <p:nvPicPr>
            <p:cNvPr id="1377" name="Shape 1377"/>
            <p:cNvPicPr preferRelativeResize="0"/>
            <p:nvPr/>
          </p:nvPicPr>
          <p:blipFill>
            <a:blip r:embed="rId9">
              <a:alphaModFix/>
            </a:blip>
            <a:stretch>
              <a:fillRect/>
            </a:stretch>
          </p:blipFill>
          <p:spPr>
            <a:xfrm>
              <a:off x="993292" y="3536557"/>
              <a:ext cx="604937" cy="604937"/>
            </a:xfrm>
            <a:prstGeom prst="rect">
              <a:avLst/>
            </a:prstGeom>
            <a:noFill/>
            <a:ln>
              <a:noFill/>
            </a:ln>
          </p:spPr>
        </p:pic>
        <p:sp>
          <p:nvSpPr>
            <p:cNvPr id="1378" name="Shape 1378"/>
            <p:cNvSpPr txBox="1"/>
            <p:nvPr/>
          </p:nvSpPr>
          <p:spPr>
            <a:xfrm>
              <a:off x="1582970" y="3652189"/>
              <a:ext cx="2768099" cy="434999"/>
            </a:xfrm>
            <a:prstGeom prst="rect">
              <a:avLst/>
            </a:prstGeom>
            <a:noFill/>
            <a:ln>
              <a:noFill/>
            </a:ln>
          </p:spPr>
          <p:txBody>
            <a:bodyPr lIns="91425" tIns="91425" rIns="91425" bIns="91425" anchor="t" anchorCtr="0">
              <a:noAutofit/>
            </a:bodyPr>
            <a:lstStyle/>
            <a:p>
              <a:pPr lvl="0" rtl="0">
                <a:spcBef>
                  <a:spcPts val="0"/>
                </a:spcBef>
                <a:buNone/>
              </a:pPr>
              <a:r>
                <a:rPr lang="en" b="1">
                  <a:solidFill>
                    <a:schemeClr val="dk2"/>
                  </a:solidFill>
                  <a:latin typeface="Roboto Slab"/>
                  <a:ea typeface="Roboto Slab"/>
                  <a:cs typeface="Roboto Slab"/>
                  <a:sym typeface="Roboto Slab"/>
                </a:rPr>
                <a:t>GOOGLE ADWORDS</a:t>
              </a:r>
            </a:p>
            <a:p>
              <a:pPr lvl="0" algn="ctr" rtl="0">
                <a:spcBef>
                  <a:spcPts val="0"/>
                </a:spcBef>
                <a:buNone/>
              </a:pPr>
              <a:endParaRPr sz="800" b="1">
                <a:solidFill>
                  <a:schemeClr val="dk2"/>
                </a:solidFill>
                <a:latin typeface="Roboto Slab"/>
                <a:ea typeface="Roboto Slab"/>
                <a:cs typeface="Roboto Slab"/>
                <a:sym typeface="Roboto Slab"/>
              </a:endParaRPr>
            </a:p>
          </p:txBody>
        </p:sp>
      </p:grpSp>
      <p:grpSp>
        <p:nvGrpSpPr>
          <p:cNvPr id="1379" name="Shape 1379"/>
          <p:cNvGrpSpPr/>
          <p:nvPr/>
        </p:nvGrpSpPr>
        <p:grpSpPr>
          <a:xfrm>
            <a:off x="5103435" y="3442266"/>
            <a:ext cx="2768099" cy="703473"/>
            <a:chOff x="5103435" y="3442266"/>
            <a:chExt cx="2768099" cy="703473"/>
          </a:xfrm>
        </p:grpSpPr>
        <p:pic>
          <p:nvPicPr>
            <p:cNvPr id="1380" name="Shape 1380"/>
            <p:cNvPicPr preferRelativeResize="0"/>
            <p:nvPr/>
          </p:nvPicPr>
          <p:blipFill>
            <a:blip r:embed="rId10">
              <a:alphaModFix/>
            </a:blip>
            <a:stretch>
              <a:fillRect/>
            </a:stretch>
          </p:blipFill>
          <p:spPr>
            <a:xfrm>
              <a:off x="5876077" y="3442266"/>
              <a:ext cx="1268878" cy="703473"/>
            </a:xfrm>
            <a:prstGeom prst="rect">
              <a:avLst/>
            </a:prstGeom>
            <a:noFill/>
            <a:ln>
              <a:noFill/>
            </a:ln>
          </p:spPr>
        </p:pic>
        <p:sp>
          <p:nvSpPr>
            <p:cNvPr id="1381" name="Shape 1381"/>
            <p:cNvSpPr txBox="1"/>
            <p:nvPr/>
          </p:nvSpPr>
          <p:spPr>
            <a:xfrm>
              <a:off x="5103435" y="3637775"/>
              <a:ext cx="2768099" cy="434999"/>
            </a:xfrm>
            <a:prstGeom prst="rect">
              <a:avLst/>
            </a:prstGeom>
            <a:noFill/>
            <a:ln>
              <a:noFill/>
            </a:ln>
          </p:spPr>
          <p:txBody>
            <a:bodyPr lIns="91425" tIns="91425" rIns="91425" bIns="91425" anchor="t" anchorCtr="0">
              <a:noAutofit/>
            </a:bodyPr>
            <a:lstStyle/>
            <a:p>
              <a:pPr lvl="0" algn="ctr" rtl="0">
                <a:spcBef>
                  <a:spcPts val="0"/>
                </a:spcBef>
                <a:buNone/>
              </a:pPr>
              <a:r>
                <a:rPr lang="en" b="1">
                  <a:solidFill>
                    <a:schemeClr val="lt1"/>
                  </a:solidFill>
                  <a:latin typeface="Roboto Slab"/>
                  <a:ea typeface="Roboto Slab"/>
                  <a:cs typeface="Roboto Slab"/>
                  <a:sym typeface="Roboto Slab"/>
                </a:rPr>
                <a:t>4 STEP</a:t>
              </a:r>
            </a:p>
          </p:txBody>
        </p:sp>
      </p:grpSp>
      <p:grpSp>
        <p:nvGrpSpPr>
          <p:cNvPr id="1382" name="Shape 1382"/>
          <p:cNvGrpSpPr/>
          <p:nvPr/>
        </p:nvGrpSpPr>
        <p:grpSpPr>
          <a:xfrm>
            <a:off x="5111055" y="2767954"/>
            <a:ext cx="2768099" cy="754890"/>
            <a:chOff x="5111055" y="2767954"/>
            <a:chExt cx="2768099" cy="754890"/>
          </a:xfrm>
        </p:grpSpPr>
        <p:pic>
          <p:nvPicPr>
            <p:cNvPr id="1383" name="Shape 1383"/>
            <p:cNvPicPr preferRelativeResize="0"/>
            <p:nvPr/>
          </p:nvPicPr>
          <p:blipFill>
            <a:blip r:embed="rId11">
              <a:alphaModFix/>
            </a:blip>
            <a:stretch>
              <a:fillRect/>
            </a:stretch>
          </p:blipFill>
          <p:spPr>
            <a:xfrm>
              <a:off x="5583932" y="2767954"/>
              <a:ext cx="1852053" cy="754890"/>
            </a:xfrm>
            <a:prstGeom prst="rect">
              <a:avLst/>
            </a:prstGeom>
            <a:noFill/>
            <a:ln>
              <a:noFill/>
            </a:ln>
          </p:spPr>
        </p:pic>
        <p:sp>
          <p:nvSpPr>
            <p:cNvPr id="1384" name="Shape 1384"/>
            <p:cNvSpPr txBox="1"/>
            <p:nvPr/>
          </p:nvSpPr>
          <p:spPr>
            <a:xfrm>
              <a:off x="5111055" y="3042367"/>
              <a:ext cx="2768099" cy="434999"/>
            </a:xfrm>
            <a:prstGeom prst="rect">
              <a:avLst/>
            </a:prstGeom>
            <a:noFill/>
            <a:ln>
              <a:noFill/>
            </a:ln>
          </p:spPr>
          <p:txBody>
            <a:bodyPr lIns="91425" tIns="91425" rIns="91425" bIns="91425" anchor="t" anchorCtr="0">
              <a:noAutofit/>
            </a:bodyPr>
            <a:lstStyle/>
            <a:p>
              <a:pPr lvl="0" algn="ctr" rtl="0">
                <a:spcBef>
                  <a:spcPts val="0"/>
                </a:spcBef>
                <a:buNone/>
              </a:pPr>
              <a:r>
                <a:rPr lang="en" b="1">
                  <a:solidFill>
                    <a:schemeClr val="lt1"/>
                  </a:solidFill>
                  <a:latin typeface="Roboto Slab"/>
                  <a:ea typeface="Roboto Slab"/>
                  <a:cs typeface="Roboto Slab"/>
                  <a:sym typeface="Roboto Slab"/>
                </a:rPr>
                <a:t>3 STEP</a:t>
              </a:r>
            </a:p>
          </p:txBody>
        </p:sp>
      </p:grpSp>
      <p:grpSp>
        <p:nvGrpSpPr>
          <p:cNvPr id="1385" name="Shape 1385"/>
          <p:cNvGrpSpPr/>
          <p:nvPr/>
        </p:nvGrpSpPr>
        <p:grpSpPr>
          <a:xfrm>
            <a:off x="5103435" y="2056507"/>
            <a:ext cx="2768099" cy="830313"/>
            <a:chOff x="5103435" y="2056507"/>
            <a:chExt cx="2768099" cy="830313"/>
          </a:xfrm>
        </p:grpSpPr>
        <p:pic>
          <p:nvPicPr>
            <p:cNvPr id="1386" name="Shape 1386"/>
            <p:cNvPicPr preferRelativeResize="0"/>
            <p:nvPr/>
          </p:nvPicPr>
          <p:blipFill>
            <a:blip r:embed="rId12">
              <a:alphaModFix/>
            </a:blip>
            <a:stretch>
              <a:fillRect/>
            </a:stretch>
          </p:blipFill>
          <p:spPr>
            <a:xfrm>
              <a:off x="5237591" y="2056507"/>
              <a:ext cx="2533218" cy="830313"/>
            </a:xfrm>
            <a:prstGeom prst="rect">
              <a:avLst/>
            </a:prstGeom>
            <a:noFill/>
            <a:ln>
              <a:noFill/>
            </a:ln>
          </p:spPr>
        </p:pic>
        <p:sp>
          <p:nvSpPr>
            <p:cNvPr id="1387" name="Shape 1387"/>
            <p:cNvSpPr txBox="1"/>
            <p:nvPr/>
          </p:nvSpPr>
          <p:spPr>
            <a:xfrm>
              <a:off x="5103435" y="2400175"/>
              <a:ext cx="2768099" cy="434999"/>
            </a:xfrm>
            <a:prstGeom prst="rect">
              <a:avLst/>
            </a:prstGeom>
            <a:noFill/>
            <a:ln>
              <a:noFill/>
            </a:ln>
          </p:spPr>
          <p:txBody>
            <a:bodyPr lIns="91425" tIns="91425" rIns="91425" bIns="91425" anchor="t" anchorCtr="0">
              <a:noAutofit/>
            </a:bodyPr>
            <a:lstStyle/>
            <a:p>
              <a:pPr lvl="0" algn="ctr" rtl="0">
                <a:spcBef>
                  <a:spcPts val="0"/>
                </a:spcBef>
                <a:buNone/>
              </a:pPr>
              <a:r>
                <a:rPr lang="en" b="1">
                  <a:solidFill>
                    <a:schemeClr val="lt1"/>
                  </a:solidFill>
                  <a:latin typeface="Roboto Slab"/>
                  <a:ea typeface="Roboto Slab"/>
                  <a:cs typeface="Roboto Slab"/>
                  <a:sym typeface="Roboto Slab"/>
                </a:rPr>
                <a:t>2 STEP</a:t>
              </a:r>
            </a:p>
          </p:txBody>
        </p:sp>
      </p:grpSp>
      <p:grpSp>
        <p:nvGrpSpPr>
          <p:cNvPr id="1388" name="Shape 1388"/>
          <p:cNvGrpSpPr/>
          <p:nvPr/>
        </p:nvGrpSpPr>
        <p:grpSpPr>
          <a:xfrm>
            <a:off x="4877422" y="1303118"/>
            <a:ext cx="3223267" cy="917190"/>
            <a:chOff x="4877422" y="1303118"/>
            <a:chExt cx="3223267" cy="917190"/>
          </a:xfrm>
        </p:grpSpPr>
        <p:pic>
          <p:nvPicPr>
            <p:cNvPr id="1389" name="Shape 1389"/>
            <p:cNvPicPr preferRelativeResize="0"/>
            <p:nvPr/>
          </p:nvPicPr>
          <p:blipFill>
            <a:blip r:embed="rId13">
              <a:alphaModFix/>
            </a:blip>
            <a:stretch>
              <a:fillRect/>
            </a:stretch>
          </p:blipFill>
          <p:spPr>
            <a:xfrm>
              <a:off x="4877422" y="1303118"/>
              <a:ext cx="3223267" cy="917190"/>
            </a:xfrm>
            <a:prstGeom prst="rect">
              <a:avLst/>
            </a:prstGeom>
            <a:noFill/>
            <a:ln>
              <a:noFill/>
            </a:ln>
          </p:spPr>
        </p:pic>
        <p:sp>
          <p:nvSpPr>
            <p:cNvPr id="1390" name="Shape 1390"/>
            <p:cNvSpPr txBox="1"/>
            <p:nvPr/>
          </p:nvSpPr>
          <p:spPr>
            <a:xfrm>
              <a:off x="5103425" y="1744855"/>
              <a:ext cx="2768099" cy="434999"/>
            </a:xfrm>
            <a:prstGeom prst="rect">
              <a:avLst/>
            </a:prstGeom>
            <a:noFill/>
            <a:ln>
              <a:noFill/>
            </a:ln>
          </p:spPr>
          <p:txBody>
            <a:bodyPr lIns="91425" tIns="91425" rIns="91425" bIns="91425" anchor="t" anchorCtr="0">
              <a:noAutofit/>
            </a:bodyPr>
            <a:lstStyle/>
            <a:p>
              <a:pPr lvl="0" algn="ctr" rtl="0">
                <a:spcBef>
                  <a:spcPts val="0"/>
                </a:spcBef>
                <a:buNone/>
              </a:pPr>
              <a:r>
                <a:rPr lang="en" b="1">
                  <a:solidFill>
                    <a:schemeClr val="lt1"/>
                  </a:solidFill>
                  <a:latin typeface="Roboto Slab"/>
                  <a:ea typeface="Roboto Slab"/>
                  <a:cs typeface="Roboto Slab"/>
                  <a:sym typeface="Roboto Slab"/>
                </a:rPr>
                <a:t>1 STEP</a:t>
              </a:r>
            </a:p>
          </p:txBody>
        </p:sp>
      </p:grpSp>
      <p:pic>
        <p:nvPicPr>
          <p:cNvPr id="42" name="Immagine 41">
            <a:extLst>
              <a:ext uri="{FF2B5EF4-FFF2-40B4-BE49-F238E27FC236}">
                <a16:creationId xmlns:a16="http://schemas.microsoft.com/office/drawing/2014/main" id="{E4C92BF2-4AC8-4914-B2B5-7FF078ED154E}"/>
              </a:ext>
            </a:extLst>
          </p:cNvPr>
          <p:cNvPicPr>
            <a:picLocks noChangeAspect="1"/>
          </p:cNvPicPr>
          <p:nvPr/>
        </p:nvPicPr>
        <p:blipFill rotWithShape="1">
          <a:blip r:embed="rId14"/>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356"/>
                                        </p:tgtEl>
                                        <p:attrNameLst>
                                          <p:attrName>style.visibility</p:attrName>
                                        </p:attrNameLst>
                                      </p:cBhvr>
                                      <p:to>
                                        <p:strVal val="visible"/>
                                      </p:to>
                                    </p:set>
                                    <p:anim calcmode="lin" valueType="num">
                                      <p:cBhvr additive="base">
                                        <p:cTn id="7" dur="1000"/>
                                        <p:tgtEl>
                                          <p:spTgt spid="1356"/>
                                        </p:tgtEl>
                                        <p:attrNameLst>
                                          <p:attrName>ppt_w</p:attrName>
                                        </p:attrNameLst>
                                      </p:cBhvr>
                                      <p:tavLst>
                                        <p:tav tm="0">
                                          <p:val>
                                            <p:strVal val="0"/>
                                          </p:val>
                                        </p:tav>
                                        <p:tav tm="100000">
                                          <p:val>
                                            <p:strVal val="#ppt_w"/>
                                          </p:val>
                                        </p:tav>
                                      </p:tavLst>
                                    </p:anim>
                                    <p:anim calcmode="lin" valueType="num">
                                      <p:cBhvr additive="base">
                                        <p:cTn id="8" dur="1000"/>
                                        <p:tgtEl>
                                          <p:spTgt spid="1356"/>
                                        </p:tgtEl>
                                        <p:attrNameLst>
                                          <p:attrName>ppt_h</p:attrName>
                                        </p:attrNameLst>
                                      </p:cBhvr>
                                      <p:tavLst>
                                        <p:tav tm="0">
                                          <p:val>
                                            <p:strVal val="0"/>
                                          </p:val>
                                        </p:tav>
                                        <p:tav tm="100000">
                                          <p:val>
                                            <p:strVal val="#ppt_h"/>
                                          </p:val>
                                        </p:tav>
                                      </p:tavLst>
                                    </p:anim>
                                  </p:childTnLst>
                                </p:cTn>
                              </p:par>
                            </p:childTnLst>
                          </p:cTn>
                        </p:par>
                        <p:par>
                          <p:cTn id="9" fill="hold">
                            <p:stCondLst>
                              <p:cond delay="1000"/>
                            </p:stCondLst>
                            <p:childTnLst>
                              <p:par>
                                <p:cTn id="10" presetID="23" presetClass="entr" presetSubtype="16" fill="hold" nodeType="afterEffect">
                                  <p:stCondLst>
                                    <p:cond delay="0"/>
                                  </p:stCondLst>
                                  <p:childTnLst>
                                    <p:set>
                                      <p:cBhvr>
                                        <p:cTn id="11" dur="1" fill="hold">
                                          <p:stCondLst>
                                            <p:cond delay="0"/>
                                          </p:stCondLst>
                                        </p:cTn>
                                        <p:tgtEl>
                                          <p:spTgt spid="1379"/>
                                        </p:tgtEl>
                                        <p:attrNameLst>
                                          <p:attrName>style.visibility</p:attrName>
                                        </p:attrNameLst>
                                      </p:cBhvr>
                                      <p:to>
                                        <p:strVal val="visible"/>
                                      </p:to>
                                    </p:set>
                                    <p:anim calcmode="lin" valueType="num">
                                      <p:cBhvr additive="base">
                                        <p:cTn id="12" dur="1000"/>
                                        <p:tgtEl>
                                          <p:spTgt spid="1379"/>
                                        </p:tgtEl>
                                        <p:attrNameLst>
                                          <p:attrName>ppt_w</p:attrName>
                                        </p:attrNameLst>
                                      </p:cBhvr>
                                      <p:tavLst>
                                        <p:tav tm="0">
                                          <p:val>
                                            <p:strVal val="0"/>
                                          </p:val>
                                        </p:tav>
                                        <p:tav tm="100000">
                                          <p:val>
                                            <p:strVal val="#ppt_w"/>
                                          </p:val>
                                        </p:tav>
                                      </p:tavLst>
                                    </p:anim>
                                    <p:anim calcmode="lin" valueType="num">
                                      <p:cBhvr additive="base">
                                        <p:cTn id="13" dur="1000"/>
                                        <p:tgtEl>
                                          <p:spTgt spid="1379"/>
                                        </p:tgtEl>
                                        <p:attrNameLst>
                                          <p:attrName>ppt_h</p:attrName>
                                        </p:attrNameLst>
                                      </p:cBhvr>
                                      <p:tavLst>
                                        <p:tav tm="0">
                                          <p:val>
                                            <p:strVal val="0"/>
                                          </p:val>
                                        </p:tav>
                                        <p:tav tm="100000">
                                          <p:val>
                                            <p:strVal val="#ppt_h"/>
                                          </p:val>
                                        </p:tav>
                                      </p:tavLst>
                                    </p:anim>
                                  </p:childTnLst>
                                </p:cTn>
                              </p:par>
                            </p:childTnLst>
                          </p:cTn>
                        </p:par>
                        <p:par>
                          <p:cTn id="14" fill="hold">
                            <p:stCondLst>
                              <p:cond delay="2000"/>
                            </p:stCondLst>
                            <p:childTnLst>
                              <p:par>
                                <p:cTn id="15" presetID="23" presetClass="entr" presetSubtype="16" fill="hold" nodeType="afterEffect">
                                  <p:stCondLst>
                                    <p:cond delay="0"/>
                                  </p:stCondLst>
                                  <p:childTnLst>
                                    <p:set>
                                      <p:cBhvr>
                                        <p:cTn id="16" dur="1" fill="hold">
                                          <p:stCondLst>
                                            <p:cond delay="0"/>
                                          </p:stCondLst>
                                        </p:cTn>
                                        <p:tgtEl>
                                          <p:spTgt spid="1382"/>
                                        </p:tgtEl>
                                        <p:attrNameLst>
                                          <p:attrName>style.visibility</p:attrName>
                                        </p:attrNameLst>
                                      </p:cBhvr>
                                      <p:to>
                                        <p:strVal val="visible"/>
                                      </p:to>
                                    </p:set>
                                    <p:anim calcmode="lin" valueType="num">
                                      <p:cBhvr additive="base">
                                        <p:cTn id="17" dur="1000"/>
                                        <p:tgtEl>
                                          <p:spTgt spid="1382"/>
                                        </p:tgtEl>
                                        <p:attrNameLst>
                                          <p:attrName>ppt_w</p:attrName>
                                        </p:attrNameLst>
                                      </p:cBhvr>
                                      <p:tavLst>
                                        <p:tav tm="0">
                                          <p:val>
                                            <p:strVal val="0"/>
                                          </p:val>
                                        </p:tav>
                                        <p:tav tm="100000">
                                          <p:val>
                                            <p:strVal val="#ppt_w"/>
                                          </p:val>
                                        </p:tav>
                                      </p:tavLst>
                                    </p:anim>
                                    <p:anim calcmode="lin" valueType="num">
                                      <p:cBhvr additive="base">
                                        <p:cTn id="18" dur="1000"/>
                                        <p:tgtEl>
                                          <p:spTgt spid="1382"/>
                                        </p:tgtEl>
                                        <p:attrNameLst>
                                          <p:attrName>ppt_h</p:attrName>
                                        </p:attrNameLst>
                                      </p:cBhvr>
                                      <p:tavLst>
                                        <p:tav tm="0">
                                          <p:val>
                                            <p:strVal val="0"/>
                                          </p:val>
                                        </p:tav>
                                        <p:tav tm="100000">
                                          <p:val>
                                            <p:strVal val="#ppt_h"/>
                                          </p:val>
                                        </p:tav>
                                      </p:tavLst>
                                    </p:anim>
                                  </p:childTnLst>
                                </p:cTn>
                              </p:par>
                            </p:childTnLst>
                          </p:cTn>
                        </p:par>
                        <p:par>
                          <p:cTn id="19" fill="hold">
                            <p:stCondLst>
                              <p:cond delay="3000"/>
                            </p:stCondLst>
                            <p:childTnLst>
                              <p:par>
                                <p:cTn id="20" presetID="23" presetClass="entr" presetSubtype="16" fill="hold" nodeType="afterEffect">
                                  <p:stCondLst>
                                    <p:cond delay="0"/>
                                  </p:stCondLst>
                                  <p:childTnLst>
                                    <p:set>
                                      <p:cBhvr>
                                        <p:cTn id="21" dur="1" fill="hold">
                                          <p:stCondLst>
                                            <p:cond delay="0"/>
                                          </p:stCondLst>
                                        </p:cTn>
                                        <p:tgtEl>
                                          <p:spTgt spid="1385"/>
                                        </p:tgtEl>
                                        <p:attrNameLst>
                                          <p:attrName>style.visibility</p:attrName>
                                        </p:attrNameLst>
                                      </p:cBhvr>
                                      <p:to>
                                        <p:strVal val="visible"/>
                                      </p:to>
                                    </p:set>
                                    <p:anim calcmode="lin" valueType="num">
                                      <p:cBhvr additive="base">
                                        <p:cTn id="22" dur="1000"/>
                                        <p:tgtEl>
                                          <p:spTgt spid="1385"/>
                                        </p:tgtEl>
                                        <p:attrNameLst>
                                          <p:attrName>ppt_w</p:attrName>
                                        </p:attrNameLst>
                                      </p:cBhvr>
                                      <p:tavLst>
                                        <p:tav tm="0">
                                          <p:val>
                                            <p:strVal val="0"/>
                                          </p:val>
                                        </p:tav>
                                        <p:tav tm="100000">
                                          <p:val>
                                            <p:strVal val="#ppt_w"/>
                                          </p:val>
                                        </p:tav>
                                      </p:tavLst>
                                    </p:anim>
                                    <p:anim calcmode="lin" valueType="num">
                                      <p:cBhvr additive="base">
                                        <p:cTn id="23" dur="1000"/>
                                        <p:tgtEl>
                                          <p:spTgt spid="1385"/>
                                        </p:tgtEl>
                                        <p:attrNameLst>
                                          <p:attrName>ppt_h</p:attrName>
                                        </p:attrNameLst>
                                      </p:cBhvr>
                                      <p:tavLst>
                                        <p:tav tm="0">
                                          <p:val>
                                            <p:strVal val="0"/>
                                          </p:val>
                                        </p:tav>
                                        <p:tav tm="100000">
                                          <p:val>
                                            <p:strVal val="#ppt_h"/>
                                          </p:val>
                                        </p:tav>
                                      </p:tavLst>
                                    </p:anim>
                                  </p:childTnLst>
                                </p:cTn>
                              </p:par>
                            </p:childTnLst>
                          </p:cTn>
                        </p:par>
                        <p:par>
                          <p:cTn id="24" fill="hold">
                            <p:stCondLst>
                              <p:cond delay="4000"/>
                            </p:stCondLst>
                            <p:childTnLst>
                              <p:par>
                                <p:cTn id="25" presetID="23" presetClass="entr" presetSubtype="16" fill="hold" nodeType="afterEffect">
                                  <p:stCondLst>
                                    <p:cond delay="0"/>
                                  </p:stCondLst>
                                  <p:childTnLst>
                                    <p:set>
                                      <p:cBhvr>
                                        <p:cTn id="26" dur="1" fill="hold">
                                          <p:stCondLst>
                                            <p:cond delay="0"/>
                                          </p:stCondLst>
                                        </p:cTn>
                                        <p:tgtEl>
                                          <p:spTgt spid="1388"/>
                                        </p:tgtEl>
                                        <p:attrNameLst>
                                          <p:attrName>style.visibility</p:attrName>
                                        </p:attrNameLst>
                                      </p:cBhvr>
                                      <p:to>
                                        <p:strVal val="visible"/>
                                      </p:to>
                                    </p:set>
                                    <p:anim calcmode="lin" valueType="num">
                                      <p:cBhvr additive="base">
                                        <p:cTn id="27" dur="1000"/>
                                        <p:tgtEl>
                                          <p:spTgt spid="1388"/>
                                        </p:tgtEl>
                                        <p:attrNameLst>
                                          <p:attrName>ppt_w</p:attrName>
                                        </p:attrNameLst>
                                      </p:cBhvr>
                                      <p:tavLst>
                                        <p:tav tm="0">
                                          <p:val>
                                            <p:strVal val="0"/>
                                          </p:val>
                                        </p:tav>
                                        <p:tav tm="100000">
                                          <p:val>
                                            <p:strVal val="#ppt_w"/>
                                          </p:val>
                                        </p:tav>
                                      </p:tavLst>
                                    </p:anim>
                                    <p:anim calcmode="lin" valueType="num">
                                      <p:cBhvr additive="base">
                                        <p:cTn id="28" dur="1000"/>
                                        <p:tgtEl>
                                          <p:spTgt spid="1388"/>
                                        </p:tgtEl>
                                        <p:attrNameLst>
                                          <p:attrName>ppt_h</p:attrName>
                                        </p:attrNameLst>
                                      </p:cBhvr>
                                      <p:tavLst>
                                        <p:tav tm="0">
                                          <p:val>
                                            <p:strVal val="0"/>
                                          </p:val>
                                        </p:tav>
                                        <p:tav tm="100000">
                                          <p:val>
                                            <p:strVal val="#ppt_h"/>
                                          </p:val>
                                        </p:tav>
                                      </p:tavLst>
                                    </p:anim>
                                  </p:childTnLst>
                                </p:cTn>
                              </p:par>
                            </p:childTnLst>
                          </p:cTn>
                        </p:par>
                        <p:par>
                          <p:cTn id="29" fill="hold">
                            <p:stCondLst>
                              <p:cond delay="5000"/>
                            </p:stCondLst>
                            <p:childTnLst>
                              <p:par>
                                <p:cTn id="30" presetID="2" presetClass="entr" presetSubtype="8" fill="hold" nodeType="afterEffect">
                                  <p:stCondLst>
                                    <p:cond delay="0"/>
                                  </p:stCondLst>
                                  <p:childTnLst>
                                    <p:set>
                                      <p:cBhvr>
                                        <p:cTn id="31" dur="1" fill="hold">
                                          <p:stCondLst>
                                            <p:cond delay="0"/>
                                          </p:stCondLst>
                                        </p:cTn>
                                        <p:tgtEl>
                                          <p:spTgt spid="1363"/>
                                        </p:tgtEl>
                                        <p:attrNameLst>
                                          <p:attrName>style.visibility</p:attrName>
                                        </p:attrNameLst>
                                      </p:cBhvr>
                                      <p:to>
                                        <p:strVal val="visible"/>
                                      </p:to>
                                    </p:set>
                                    <p:anim calcmode="lin" valueType="num">
                                      <p:cBhvr additive="base">
                                        <p:cTn id="32" dur="1000"/>
                                        <p:tgtEl>
                                          <p:spTgt spid="1363"/>
                                        </p:tgtEl>
                                        <p:attrNameLst>
                                          <p:attrName>ppt_x</p:attrName>
                                        </p:attrNameLst>
                                      </p:cBhvr>
                                      <p:tavLst>
                                        <p:tav tm="0">
                                          <p:val>
                                            <p:strVal val="#ppt_x-1"/>
                                          </p:val>
                                        </p:tav>
                                        <p:tav tm="100000">
                                          <p:val>
                                            <p:strVal val="#ppt_x"/>
                                          </p:val>
                                        </p:tav>
                                      </p:tavLst>
                                    </p:anim>
                                  </p:childTnLst>
                                </p:cTn>
                              </p:par>
                            </p:childTnLst>
                          </p:cTn>
                        </p:par>
                        <p:par>
                          <p:cTn id="33" fill="hold">
                            <p:stCondLst>
                              <p:cond delay="6000"/>
                            </p:stCondLst>
                            <p:childTnLst>
                              <p:par>
                                <p:cTn id="34" presetID="2" presetClass="entr" presetSubtype="8" fill="hold" nodeType="afterEffect">
                                  <p:stCondLst>
                                    <p:cond delay="0"/>
                                  </p:stCondLst>
                                  <p:childTnLst>
                                    <p:set>
                                      <p:cBhvr>
                                        <p:cTn id="35" dur="1" fill="hold">
                                          <p:stCondLst>
                                            <p:cond delay="0"/>
                                          </p:stCondLst>
                                        </p:cTn>
                                        <p:tgtEl>
                                          <p:spTgt spid="1367"/>
                                        </p:tgtEl>
                                        <p:attrNameLst>
                                          <p:attrName>style.visibility</p:attrName>
                                        </p:attrNameLst>
                                      </p:cBhvr>
                                      <p:to>
                                        <p:strVal val="visible"/>
                                      </p:to>
                                    </p:set>
                                    <p:anim calcmode="lin" valueType="num">
                                      <p:cBhvr additive="base">
                                        <p:cTn id="36" dur="1000"/>
                                        <p:tgtEl>
                                          <p:spTgt spid="1367"/>
                                        </p:tgtEl>
                                        <p:attrNameLst>
                                          <p:attrName>ppt_x</p:attrName>
                                        </p:attrNameLst>
                                      </p:cBhvr>
                                      <p:tavLst>
                                        <p:tav tm="0">
                                          <p:val>
                                            <p:strVal val="#ppt_x-1"/>
                                          </p:val>
                                        </p:tav>
                                        <p:tav tm="100000">
                                          <p:val>
                                            <p:strVal val="#ppt_x"/>
                                          </p:val>
                                        </p:tav>
                                      </p:tavLst>
                                    </p:anim>
                                  </p:childTnLst>
                                </p:cTn>
                              </p:par>
                            </p:childTnLst>
                          </p:cTn>
                        </p:par>
                        <p:par>
                          <p:cTn id="37" fill="hold">
                            <p:stCondLst>
                              <p:cond delay="7000"/>
                            </p:stCondLst>
                            <p:childTnLst>
                              <p:par>
                                <p:cTn id="38" presetID="2" presetClass="entr" presetSubtype="8" fill="hold" nodeType="afterEffect">
                                  <p:stCondLst>
                                    <p:cond delay="0"/>
                                  </p:stCondLst>
                                  <p:childTnLst>
                                    <p:set>
                                      <p:cBhvr>
                                        <p:cTn id="39" dur="1" fill="hold">
                                          <p:stCondLst>
                                            <p:cond delay="0"/>
                                          </p:stCondLst>
                                        </p:cTn>
                                        <p:tgtEl>
                                          <p:spTgt spid="1371"/>
                                        </p:tgtEl>
                                        <p:attrNameLst>
                                          <p:attrName>style.visibility</p:attrName>
                                        </p:attrNameLst>
                                      </p:cBhvr>
                                      <p:to>
                                        <p:strVal val="visible"/>
                                      </p:to>
                                    </p:set>
                                    <p:anim calcmode="lin" valueType="num">
                                      <p:cBhvr additive="base">
                                        <p:cTn id="40" dur="1000"/>
                                        <p:tgtEl>
                                          <p:spTgt spid="1371"/>
                                        </p:tgtEl>
                                        <p:attrNameLst>
                                          <p:attrName>ppt_x</p:attrName>
                                        </p:attrNameLst>
                                      </p:cBhvr>
                                      <p:tavLst>
                                        <p:tav tm="0">
                                          <p:val>
                                            <p:strVal val="#ppt_x-1"/>
                                          </p:val>
                                        </p:tav>
                                        <p:tav tm="100000">
                                          <p:val>
                                            <p:strVal val="#ppt_x"/>
                                          </p:val>
                                        </p:tav>
                                      </p:tavLst>
                                    </p:anim>
                                  </p:childTnLst>
                                </p:cTn>
                              </p:par>
                            </p:childTnLst>
                          </p:cTn>
                        </p:par>
                        <p:par>
                          <p:cTn id="41" fill="hold">
                            <p:stCondLst>
                              <p:cond delay="8000"/>
                            </p:stCondLst>
                            <p:childTnLst>
                              <p:par>
                                <p:cTn id="42" presetID="2" presetClass="entr" presetSubtype="8" fill="hold" nodeType="afterEffect">
                                  <p:stCondLst>
                                    <p:cond delay="0"/>
                                  </p:stCondLst>
                                  <p:childTnLst>
                                    <p:set>
                                      <p:cBhvr>
                                        <p:cTn id="43" dur="1" fill="hold">
                                          <p:stCondLst>
                                            <p:cond delay="0"/>
                                          </p:stCondLst>
                                        </p:cTn>
                                        <p:tgtEl>
                                          <p:spTgt spid="1375"/>
                                        </p:tgtEl>
                                        <p:attrNameLst>
                                          <p:attrName>style.visibility</p:attrName>
                                        </p:attrNameLst>
                                      </p:cBhvr>
                                      <p:to>
                                        <p:strVal val="visible"/>
                                      </p:to>
                                    </p:set>
                                    <p:anim calcmode="lin" valueType="num">
                                      <p:cBhvr additive="base">
                                        <p:cTn id="44" dur="1000"/>
                                        <p:tgtEl>
                                          <p:spTgt spid="1375"/>
                                        </p:tgtEl>
                                        <p:attrNameLst>
                                          <p:attrName>ppt_x</p:attrName>
                                        </p:attrNameLst>
                                      </p:cBhvr>
                                      <p:tavLst>
                                        <p:tav tm="0">
                                          <p:val>
                                            <p:strVal val="#ppt_x-1"/>
                                          </p:val>
                                        </p:tav>
                                        <p:tav tm="100000">
                                          <p:val>
                                            <p:strVal val="#ppt_x"/>
                                          </p:val>
                                        </p:tav>
                                      </p:tavLst>
                                    </p:anim>
                                  </p:childTnLst>
                                </p:cTn>
                              </p:par>
                            </p:childTnLst>
                          </p:cTn>
                        </p:par>
                        <p:par>
                          <p:cTn id="45" fill="hold">
                            <p:stCondLst>
                              <p:cond delay="9000"/>
                            </p:stCondLst>
                            <p:childTnLst>
                              <p:par>
                                <p:cTn id="46" presetID="2" presetClass="entr" presetSubtype="8" fill="hold" nodeType="afterEffect">
                                  <p:stCondLst>
                                    <p:cond delay="0"/>
                                  </p:stCondLst>
                                  <p:childTnLst>
                                    <p:set>
                                      <p:cBhvr>
                                        <p:cTn id="47" dur="1" fill="hold">
                                          <p:stCondLst>
                                            <p:cond delay="0"/>
                                          </p:stCondLst>
                                        </p:cTn>
                                        <p:tgtEl>
                                          <p:spTgt spid="1352"/>
                                        </p:tgtEl>
                                        <p:attrNameLst>
                                          <p:attrName>style.visibility</p:attrName>
                                        </p:attrNameLst>
                                      </p:cBhvr>
                                      <p:to>
                                        <p:strVal val="visible"/>
                                      </p:to>
                                    </p:set>
                                    <p:anim calcmode="lin" valueType="num">
                                      <p:cBhvr additive="base">
                                        <p:cTn id="48" dur="1000"/>
                                        <p:tgtEl>
                                          <p:spTgt spid="135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1394"/>
        <p:cNvGrpSpPr/>
        <p:nvPr/>
      </p:nvGrpSpPr>
      <p:grpSpPr>
        <a:xfrm>
          <a:off x="0" y="0"/>
          <a:ext cx="0" cy="0"/>
          <a:chOff x="0" y="0"/>
          <a:chExt cx="0" cy="0"/>
        </a:xfrm>
      </p:grpSpPr>
      <p:sp>
        <p:nvSpPr>
          <p:cNvPr id="41" name="Rettangolo 40">
            <a:extLst>
              <a:ext uri="{FF2B5EF4-FFF2-40B4-BE49-F238E27FC236}">
                <a16:creationId xmlns:a16="http://schemas.microsoft.com/office/drawing/2014/main" id="{2356EBFB-BB61-4038-A831-A5CF8E018820}"/>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1395" name="Shape 1395"/>
          <p:cNvPicPr preferRelativeResize="0"/>
          <p:nvPr/>
        </p:nvPicPr>
        <p:blipFill>
          <a:blip r:embed="rId3">
            <a:alphaModFix/>
          </a:blip>
          <a:stretch>
            <a:fillRect/>
          </a:stretch>
        </p:blipFill>
        <p:spPr>
          <a:xfrm>
            <a:off x="-84000" y="183075"/>
            <a:ext cx="9291700" cy="788900"/>
          </a:xfrm>
          <a:prstGeom prst="rect">
            <a:avLst/>
          </a:prstGeom>
          <a:noFill/>
          <a:ln>
            <a:noFill/>
          </a:ln>
        </p:spPr>
      </p:pic>
      <p:sp>
        <p:nvSpPr>
          <p:cNvPr id="1398" name="Shape 1398"/>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Way To Market</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grpSp>
        <p:nvGrpSpPr>
          <p:cNvPr id="1399" name="Shape 1399"/>
          <p:cNvGrpSpPr/>
          <p:nvPr/>
        </p:nvGrpSpPr>
        <p:grpSpPr>
          <a:xfrm>
            <a:off x="251485" y="1676675"/>
            <a:ext cx="1844431" cy="2707650"/>
            <a:chOff x="251485" y="1676675"/>
            <a:chExt cx="1844431" cy="2707650"/>
          </a:xfrm>
        </p:grpSpPr>
        <p:pic>
          <p:nvPicPr>
            <p:cNvPr id="1400" name="Shape 1400"/>
            <p:cNvPicPr preferRelativeResize="0"/>
            <p:nvPr/>
          </p:nvPicPr>
          <p:blipFill>
            <a:blip r:embed="rId4">
              <a:alphaModFix/>
            </a:blip>
            <a:stretch>
              <a:fillRect/>
            </a:stretch>
          </p:blipFill>
          <p:spPr>
            <a:xfrm>
              <a:off x="251485" y="2077144"/>
              <a:ext cx="1844431" cy="1141531"/>
            </a:xfrm>
            <a:prstGeom prst="rect">
              <a:avLst/>
            </a:prstGeom>
            <a:noFill/>
            <a:ln>
              <a:noFill/>
            </a:ln>
          </p:spPr>
        </p:pic>
        <p:pic>
          <p:nvPicPr>
            <p:cNvPr id="1401" name="Shape 1401"/>
            <p:cNvPicPr preferRelativeResize="0"/>
            <p:nvPr/>
          </p:nvPicPr>
          <p:blipFill>
            <a:blip r:embed="rId5">
              <a:alphaModFix/>
            </a:blip>
            <a:stretch>
              <a:fillRect/>
            </a:stretch>
          </p:blipFill>
          <p:spPr>
            <a:xfrm>
              <a:off x="867087" y="2354800"/>
              <a:ext cx="581699" cy="581699"/>
            </a:xfrm>
            <a:prstGeom prst="rect">
              <a:avLst/>
            </a:prstGeom>
            <a:noFill/>
            <a:ln>
              <a:noFill/>
            </a:ln>
          </p:spPr>
        </p:pic>
        <p:sp>
          <p:nvSpPr>
            <p:cNvPr id="1402" name="Shape 1402"/>
            <p:cNvSpPr txBox="1"/>
            <p:nvPr/>
          </p:nvSpPr>
          <p:spPr>
            <a:xfrm>
              <a:off x="261550" y="1676675"/>
              <a:ext cx="1792799" cy="434999"/>
            </a:xfrm>
            <a:prstGeom prst="rect">
              <a:avLst/>
            </a:prstGeom>
            <a:noFill/>
            <a:ln>
              <a:noFill/>
            </a:ln>
          </p:spPr>
          <p:txBody>
            <a:bodyPr lIns="91425" tIns="91425" rIns="91425" bIns="91425" anchor="t" anchorCtr="0">
              <a:noAutofit/>
            </a:bodyPr>
            <a:lstStyle/>
            <a:p>
              <a:pPr lvl="0" algn="ctr" rtl="0">
                <a:spcBef>
                  <a:spcPts val="0"/>
                </a:spcBef>
                <a:buNone/>
              </a:pPr>
              <a:r>
                <a:rPr lang="en" sz="1100" b="1">
                  <a:solidFill>
                    <a:schemeClr val="dk2"/>
                  </a:solidFill>
                  <a:latin typeface="Roboto Slab"/>
                  <a:ea typeface="Roboto Slab"/>
                  <a:cs typeface="Roboto Slab"/>
                  <a:sym typeface="Roboto Slab"/>
                </a:rPr>
                <a:t>EMAIL MARKETING</a:t>
              </a:r>
            </a:p>
            <a:p>
              <a:pPr lvl="0" algn="ctr" rtl="0">
                <a:spcBef>
                  <a:spcPts val="0"/>
                </a:spcBef>
                <a:buNone/>
              </a:pPr>
              <a:endParaRPr sz="1100" b="1">
                <a:solidFill>
                  <a:schemeClr val="dk2"/>
                </a:solidFill>
                <a:latin typeface="Roboto Slab"/>
                <a:ea typeface="Roboto Slab"/>
                <a:cs typeface="Roboto Slab"/>
                <a:sym typeface="Roboto Slab"/>
              </a:endParaRPr>
            </a:p>
          </p:txBody>
        </p:sp>
        <p:sp>
          <p:nvSpPr>
            <p:cNvPr id="1403" name="Shape 1403"/>
            <p:cNvSpPr txBox="1"/>
            <p:nvPr/>
          </p:nvSpPr>
          <p:spPr>
            <a:xfrm>
              <a:off x="396225" y="3247575"/>
              <a:ext cx="1472700" cy="221100"/>
            </a:xfrm>
            <a:prstGeom prst="rect">
              <a:avLst/>
            </a:prstGeom>
            <a:noFill/>
            <a:ln>
              <a:noFill/>
            </a:ln>
          </p:spPr>
          <p:txBody>
            <a:bodyPr lIns="91425" tIns="91425" rIns="91425" bIns="91425" anchor="t" anchorCtr="0">
              <a:noAutofit/>
            </a:bodyPr>
            <a:lstStyle/>
            <a:p>
              <a:pPr lvl="0" algn="ctr" rtl="0">
                <a:spcBef>
                  <a:spcPts val="0"/>
                </a:spcBef>
                <a:buClr>
                  <a:schemeClr val="dk1"/>
                </a:buClr>
                <a:buSzPct val="100000"/>
                <a:buFont typeface="Arial"/>
                <a:buNone/>
              </a:pPr>
              <a:r>
                <a:rPr lang="en" sz="1100">
                  <a:solidFill>
                    <a:srgbClr val="F08B7C"/>
                  </a:solidFill>
                  <a:latin typeface="Roboto"/>
                  <a:ea typeface="Roboto"/>
                  <a:cs typeface="Roboto"/>
                  <a:sym typeface="Roboto"/>
                </a:rPr>
                <a:t>investment $ 2.500</a:t>
              </a:r>
            </a:p>
            <a:p>
              <a:pPr algn="ctr">
                <a:spcBef>
                  <a:spcPts val="0"/>
                </a:spcBef>
                <a:buNone/>
              </a:pPr>
              <a:endParaRPr sz="1100"/>
            </a:p>
          </p:txBody>
        </p:sp>
        <p:sp>
          <p:nvSpPr>
            <p:cNvPr id="1404" name="Shape 1404"/>
            <p:cNvSpPr txBox="1"/>
            <p:nvPr/>
          </p:nvSpPr>
          <p:spPr>
            <a:xfrm>
              <a:off x="396225" y="3497575"/>
              <a:ext cx="1472700" cy="221100"/>
            </a:xfrm>
            <a:prstGeom prst="rect">
              <a:avLst/>
            </a:prstGeom>
            <a:noFill/>
            <a:ln>
              <a:noFill/>
            </a:ln>
          </p:spPr>
          <p:txBody>
            <a:bodyPr lIns="91425" tIns="91425" rIns="91425" bIns="91425" anchor="t" anchorCtr="0">
              <a:noAutofit/>
            </a:bodyPr>
            <a:lstStyle/>
            <a:p>
              <a:pPr lvl="0" algn="ctr" rtl="0">
                <a:spcBef>
                  <a:spcPts val="0"/>
                </a:spcBef>
                <a:buNone/>
              </a:pPr>
              <a:r>
                <a:rPr lang="en" sz="900">
                  <a:solidFill>
                    <a:schemeClr val="dk2"/>
                  </a:solidFill>
                  <a:latin typeface="Roboto"/>
                  <a:ea typeface="Roboto"/>
                  <a:cs typeface="Roboto"/>
                  <a:sym typeface="Roboto"/>
                </a:rPr>
                <a:t>SEPTEMBER 2016</a:t>
              </a:r>
            </a:p>
            <a:p>
              <a:pPr lvl="0" algn="ctr" rtl="0">
                <a:spcBef>
                  <a:spcPts val="0"/>
                </a:spcBef>
                <a:buNone/>
              </a:pPr>
              <a:endParaRPr sz="900">
                <a:solidFill>
                  <a:schemeClr val="dk2"/>
                </a:solidFill>
              </a:endParaRPr>
            </a:p>
          </p:txBody>
        </p:sp>
        <p:sp>
          <p:nvSpPr>
            <p:cNvPr id="1405" name="Shape 1405"/>
            <p:cNvSpPr txBox="1"/>
            <p:nvPr/>
          </p:nvSpPr>
          <p:spPr>
            <a:xfrm>
              <a:off x="450525" y="3779525"/>
              <a:ext cx="1364099" cy="604800"/>
            </a:xfrm>
            <a:prstGeom prst="rect">
              <a:avLst/>
            </a:prstGeom>
            <a:noFill/>
            <a:ln>
              <a:noFill/>
            </a:ln>
          </p:spPr>
          <p:txBody>
            <a:bodyPr lIns="91425" tIns="91425" rIns="91425" bIns="91425" anchor="t" anchorCtr="0">
              <a:noAutofit/>
            </a:bodyPr>
            <a:lstStyle/>
            <a:p>
              <a:pPr lvl="0" algn="ctr" rtl="0">
                <a:spcBef>
                  <a:spcPts val="0"/>
                </a:spcBef>
                <a:buClr>
                  <a:schemeClr val="dk1"/>
                </a:buClr>
                <a:buSzPct val="122222"/>
                <a:buFont typeface="Arial"/>
                <a:buNone/>
              </a:pPr>
              <a:r>
                <a:rPr lang="en" sz="900">
                  <a:latin typeface="Roboto Slab"/>
                  <a:ea typeface="Roboto Slab"/>
                  <a:cs typeface="Roboto Slab"/>
                  <a:sym typeface="Roboto Slab"/>
                </a:rPr>
                <a:t>Lorem ipsum dolor sit amet, consectetur </a:t>
              </a:r>
            </a:p>
            <a:p>
              <a:pPr lvl="0" algn="ctr" rtl="0">
                <a:spcBef>
                  <a:spcPts val="0"/>
                </a:spcBef>
                <a:buClr>
                  <a:schemeClr val="dk1"/>
                </a:buClr>
                <a:buSzPct val="122222"/>
                <a:buFont typeface="Arial"/>
                <a:buNone/>
              </a:pPr>
              <a:r>
                <a:rPr lang="en" sz="900">
                  <a:latin typeface="Roboto Slab"/>
                  <a:ea typeface="Roboto Slab"/>
                  <a:cs typeface="Roboto Slab"/>
                  <a:sym typeface="Roboto Slab"/>
                </a:rPr>
                <a:t>Vivamus ac massa.</a:t>
              </a:r>
            </a:p>
            <a:p>
              <a:pPr algn="ctr">
                <a:spcBef>
                  <a:spcPts val="0"/>
                </a:spcBef>
                <a:buNone/>
              </a:pPr>
              <a:endParaRPr sz="900">
                <a:latin typeface="Roboto Slab"/>
                <a:ea typeface="Roboto Slab"/>
                <a:cs typeface="Roboto Slab"/>
                <a:sym typeface="Roboto Slab"/>
              </a:endParaRPr>
            </a:p>
          </p:txBody>
        </p:sp>
      </p:grpSp>
      <p:grpSp>
        <p:nvGrpSpPr>
          <p:cNvPr id="1406" name="Shape 1406"/>
          <p:cNvGrpSpPr/>
          <p:nvPr/>
        </p:nvGrpSpPr>
        <p:grpSpPr>
          <a:xfrm>
            <a:off x="1940493" y="1676675"/>
            <a:ext cx="1844431" cy="2700014"/>
            <a:chOff x="1940493" y="1676675"/>
            <a:chExt cx="1844431" cy="2700014"/>
          </a:xfrm>
        </p:grpSpPr>
        <p:pic>
          <p:nvPicPr>
            <p:cNvPr id="1407" name="Shape 1407"/>
            <p:cNvPicPr preferRelativeResize="0"/>
            <p:nvPr/>
          </p:nvPicPr>
          <p:blipFill>
            <a:blip r:embed="rId6">
              <a:alphaModFix/>
            </a:blip>
            <a:stretch>
              <a:fillRect/>
            </a:stretch>
          </p:blipFill>
          <p:spPr>
            <a:xfrm>
              <a:off x="1940493" y="2075579"/>
              <a:ext cx="1844431" cy="1143100"/>
            </a:xfrm>
            <a:prstGeom prst="rect">
              <a:avLst/>
            </a:prstGeom>
            <a:noFill/>
            <a:ln>
              <a:noFill/>
            </a:ln>
          </p:spPr>
        </p:pic>
        <p:pic>
          <p:nvPicPr>
            <p:cNvPr id="1408" name="Shape 1408"/>
            <p:cNvPicPr preferRelativeResize="0"/>
            <p:nvPr/>
          </p:nvPicPr>
          <p:blipFill>
            <a:blip r:embed="rId7">
              <a:alphaModFix/>
            </a:blip>
            <a:stretch>
              <a:fillRect/>
            </a:stretch>
          </p:blipFill>
          <p:spPr>
            <a:xfrm>
              <a:off x="2574570" y="2377600"/>
              <a:ext cx="536100" cy="536100"/>
            </a:xfrm>
            <a:prstGeom prst="rect">
              <a:avLst/>
            </a:prstGeom>
            <a:noFill/>
            <a:ln>
              <a:noFill/>
            </a:ln>
          </p:spPr>
        </p:pic>
        <p:sp>
          <p:nvSpPr>
            <p:cNvPr id="1409" name="Shape 1409"/>
            <p:cNvSpPr txBox="1"/>
            <p:nvPr/>
          </p:nvSpPr>
          <p:spPr>
            <a:xfrm>
              <a:off x="2109299" y="1676675"/>
              <a:ext cx="1472700" cy="434999"/>
            </a:xfrm>
            <a:prstGeom prst="rect">
              <a:avLst/>
            </a:prstGeom>
            <a:noFill/>
            <a:ln>
              <a:noFill/>
            </a:ln>
          </p:spPr>
          <p:txBody>
            <a:bodyPr lIns="91425" tIns="91425" rIns="91425" bIns="91425" anchor="t" anchorCtr="0">
              <a:noAutofit/>
            </a:bodyPr>
            <a:lstStyle/>
            <a:p>
              <a:pPr lvl="0" algn="ctr" rtl="0">
                <a:spcBef>
                  <a:spcPts val="0"/>
                </a:spcBef>
                <a:buNone/>
              </a:pPr>
              <a:r>
                <a:rPr lang="en" sz="1100" b="1">
                  <a:solidFill>
                    <a:schemeClr val="dk2"/>
                  </a:solidFill>
                  <a:latin typeface="Roboto Slab"/>
                  <a:ea typeface="Roboto Slab"/>
                  <a:cs typeface="Roboto Slab"/>
                  <a:sym typeface="Roboto Slab"/>
                </a:rPr>
                <a:t>GUEST POSTS</a:t>
              </a:r>
            </a:p>
          </p:txBody>
        </p:sp>
        <p:sp>
          <p:nvSpPr>
            <p:cNvPr id="1410" name="Shape 1410"/>
            <p:cNvSpPr txBox="1"/>
            <p:nvPr/>
          </p:nvSpPr>
          <p:spPr>
            <a:xfrm>
              <a:off x="2109300" y="3239940"/>
              <a:ext cx="1472700" cy="221100"/>
            </a:xfrm>
            <a:prstGeom prst="rect">
              <a:avLst/>
            </a:prstGeom>
            <a:noFill/>
            <a:ln>
              <a:noFill/>
            </a:ln>
          </p:spPr>
          <p:txBody>
            <a:bodyPr lIns="91425" tIns="91425" rIns="91425" bIns="91425" anchor="t" anchorCtr="0">
              <a:noAutofit/>
            </a:bodyPr>
            <a:lstStyle/>
            <a:p>
              <a:pPr lvl="0" algn="ctr" rtl="0">
                <a:spcBef>
                  <a:spcPts val="0"/>
                </a:spcBef>
                <a:buNone/>
              </a:pPr>
              <a:r>
                <a:rPr lang="en" sz="1100">
                  <a:solidFill>
                    <a:srgbClr val="7FB3E6"/>
                  </a:solidFill>
                  <a:latin typeface="Roboto"/>
                  <a:ea typeface="Roboto"/>
                  <a:cs typeface="Roboto"/>
                  <a:sym typeface="Roboto"/>
                </a:rPr>
                <a:t>investment $ 1.500</a:t>
              </a:r>
            </a:p>
            <a:p>
              <a:pPr lvl="0" algn="ctr" rtl="0">
                <a:spcBef>
                  <a:spcPts val="0"/>
                </a:spcBef>
                <a:buNone/>
              </a:pPr>
              <a:endParaRPr sz="1100"/>
            </a:p>
          </p:txBody>
        </p:sp>
        <p:sp>
          <p:nvSpPr>
            <p:cNvPr id="1411" name="Shape 1411"/>
            <p:cNvSpPr txBox="1"/>
            <p:nvPr/>
          </p:nvSpPr>
          <p:spPr>
            <a:xfrm>
              <a:off x="2109300" y="3489939"/>
              <a:ext cx="1472700" cy="221100"/>
            </a:xfrm>
            <a:prstGeom prst="rect">
              <a:avLst/>
            </a:prstGeom>
            <a:noFill/>
            <a:ln>
              <a:noFill/>
            </a:ln>
          </p:spPr>
          <p:txBody>
            <a:bodyPr lIns="91425" tIns="91425" rIns="91425" bIns="91425" anchor="t" anchorCtr="0">
              <a:noAutofit/>
            </a:bodyPr>
            <a:lstStyle/>
            <a:p>
              <a:pPr lvl="0" algn="ctr" rtl="0">
                <a:spcBef>
                  <a:spcPts val="0"/>
                </a:spcBef>
                <a:buNone/>
              </a:pPr>
              <a:r>
                <a:rPr lang="en" sz="900">
                  <a:solidFill>
                    <a:schemeClr val="dk2"/>
                  </a:solidFill>
                  <a:latin typeface="Roboto"/>
                  <a:ea typeface="Roboto"/>
                  <a:cs typeface="Roboto"/>
                  <a:sym typeface="Roboto"/>
                </a:rPr>
                <a:t>OCTOBER 2016</a:t>
              </a:r>
            </a:p>
            <a:p>
              <a:pPr lvl="0" algn="ctr" rtl="0">
                <a:spcBef>
                  <a:spcPts val="0"/>
                </a:spcBef>
                <a:buNone/>
              </a:pPr>
              <a:endParaRPr sz="900">
                <a:solidFill>
                  <a:schemeClr val="dk2"/>
                </a:solidFill>
              </a:endParaRPr>
            </a:p>
          </p:txBody>
        </p:sp>
        <p:sp>
          <p:nvSpPr>
            <p:cNvPr id="1412" name="Shape 1412"/>
            <p:cNvSpPr txBox="1"/>
            <p:nvPr/>
          </p:nvSpPr>
          <p:spPr>
            <a:xfrm>
              <a:off x="2163600" y="3771889"/>
              <a:ext cx="1364099" cy="604800"/>
            </a:xfrm>
            <a:prstGeom prst="rect">
              <a:avLst/>
            </a:prstGeom>
            <a:noFill/>
            <a:ln>
              <a:noFill/>
            </a:ln>
          </p:spPr>
          <p:txBody>
            <a:bodyPr lIns="91425" tIns="91425" rIns="91425" bIns="91425" anchor="t" anchorCtr="0">
              <a:noAutofit/>
            </a:bodyPr>
            <a:lstStyle/>
            <a:p>
              <a:pPr lvl="0" algn="ctr" rtl="0">
                <a:spcBef>
                  <a:spcPts val="0"/>
                </a:spcBef>
                <a:buNone/>
              </a:pPr>
              <a:r>
                <a:rPr lang="en" sz="900">
                  <a:latin typeface="Roboto Slab"/>
                  <a:ea typeface="Roboto Slab"/>
                  <a:cs typeface="Roboto Slab"/>
                  <a:sym typeface="Roboto Slab"/>
                </a:rPr>
                <a:t>Lorem ipsum dolor sit amet, consectetur </a:t>
              </a:r>
            </a:p>
            <a:p>
              <a:pPr lvl="0" algn="ctr" rtl="0">
                <a:spcBef>
                  <a:spcPts val="0"/>
                </a:spcBef>
                <a:buNone/>
              </a:pPr>
              <a:r>
                <a:rPr lang="en" sz="900">
                  <a:latin typeface="Roboto Slab"/>
                  <a:ea typeface="Roboto Slab"/>
                  <a:cs typeface="Roboto Slab"/>
                  <a:sym typeface="Roboto Slab"/>
                </a:rPr>
                <a:t>Vivamus ac massa.</a:t>
              </a:r>
            </a:p>
            <a:p>
              <a:pPr lvl="0" algn="ctr" rtl="0">
                <a:spcBef>
                  <a:spcPts val="0"/>
                </a:spcBef>
                <a:buNone/>
              </a:pPr>
              <a:endParaRPr sz="900">
                <a:latin typeface="Roboto Slab"/>
                <a:ea typeface="Roboto Slab"/>
                <a:cs typeface="Roboto Slab"/>
                <a:sym typeface="Roboto Slab"/>
              </a:endParaRPr>
            </a:p>
          </p:txBody>
        </p:sp>
      </p:grpSp>
      <p:grpSp>
        <p:nvGrpSpPr>
          <p:cNvPr id="1413" name="Shape 1413"/>
          <p:cNvGrpSpPr/>
          <p:nvPr/>
        </p:nvGrpSpPr>
        <p:grpSpPr>
          <a:xfrm>
            <a:off x="3625384" y="1676675"/>
            <a:ext cx="1838133" cy="2692414"/>
            <a:chOff x="3625384" y="1676675"/>
            <a:chExt cx="1838133" cy="2692414"/>
          </a:xfrm>
        </p:grpSpPr>
        <p:pic>
          <p:nvPicPr>
            <p:cNvPr id="1414" name="Shape 1414"/>
            <p:cNvPicPr preferRelativeResize="0"/>
            <p:nvPr/>
          </p:nvPicPr>
          <p:blipFill>
            <a:blip r:embed="rId8">
              <a:alphaModFix/>
            </a:blip>
            <a:stretch>
              <a:fillRect/>
            </a:stretch>
          </p:blipFill>
          <p:spPr>
            <a:xfrm>
              <a:off x="3625384" y="2077147"/>
              <a:ext cx="1838133" cy="1141531"/>
            </a:xfrm>
            <a:prstGeom prst="rect">
              <a:avLst/>
            </a:prstGeom>
            <a:noFill/>
            <a:ln>
              <a:noFill/>
            </a:ln>
          </p:spPr>
        </p:pic>
        <p:pic>
          <p:nvPicPr>
            <p:cNvPr id="1415" name="Shape 1415"/>
            <p:cNvPicPr preferRelativeResize="0"/>
            <p:nvPr/>
          </p:nvPicPr>
          <p:blipFill>
            <a:blip r:embed="rId9">
              <a:alphaModFix/>
            </a:blip>
            <a:stretch>
              <a:fillRect/>
            </a:stretch>
          </p:blipFill>
          <p:spPr>
            <a:xfrm>
              <a:off x="4202917" y="2304807"/>
              <a:ext cx="686224" cy="686224"/>
            </a:xfrm>
            <a:prstGeom prst="rect">
              <a:avLst/>
            </a:prstGeom>
            <a:noFill/>
            <a:ln>
              <a:noFill/>
            </a:ln>
          </p:spPr>
        </p:pic>
        <p:sp>
          <p:nvSpPr>
            <p:cNvPr id="1416" name="Shape 1416"/>
            <p:cNvSpPr txBox="1"/>
            <p:nvPr/>
          </p:nvSpPr>
          <p:spPr>
            <a:xfrm>
              <a:off x="3784925" y="1676675"/>
              <a:ext cx="1472700" cy="434999"/>
            </a:xfrm>
            <a:prstGeom prst="rect">
              <a:avLst/>
            </a:prstGeom>
            <a:noFill/>
            <a:ln>
              <a:noFill/>
            </a:ln>
          </p:spPr>
          <p:txBody>
            <a:bodyPr lIns="91425" tIns="91425" rIns="91425" bIns="91425" anchor="t" anchorCtr="0">
              <a:noAutofit/>
            </a:bodyPr>
            <a:lstStyle/>
            <a:p>
              <a:pPr lvl="0" algn="ctr" rtl="0">
                <a:spcBef>
                  <a:spcPts val="0"/>
                </a:spcBef>
                <a:buNone/>
              </a:pPr>
              <a:r>
                <a:rPr lang="en" sz="1100" b="1">
                  <a:solidFill>
                    <a:schemeClr val="dk2"/>
                  </a:solidFill>
                  <a:latin typeface="Roboto Slab"/>
                  <a:ea typeface="Roboto Slab"/>
                  <a:cs typeface="Roboto Slab"/>
                  <a:sym typeface="Roboto Slab"/>
                </a:rPr>
                <a:t>RADIO SPOT</a:t>
              </a:r>
            </a:p>
            <a:p>
              <a:pPr lvl="0" algn="ctr" rtl="0">
                <a:spcBef>
                  <a:spcPts val="0"/>
                </a:spcBef>
                <a:buNone/>
              </a:pPr>
              <a:endParaRPr sz="1100" b="1">
                <a:solidFill>
                  <a:schemeClr val="dk2"/>
                </a:solidFill>
                <a:latin typeface="Roboto Slab"/>
                <a:ea typeface="Roboto Slab"/>
                <a:cs typeface="Roboto Slab"/>
                <a:sym typeface="Roboto Slab"/>
              </a:endParaRPr>
            </a:p>
          </p:txBody>
        </p:sp>
        <p:sp>
          <p:nvSpPr>
            <p:cNvPr id="1417" name="Shape 1417"/>
            <p:cNvSpPr txBox="1"/>
            <p:nvPr/>
          </p:nvSpPr>
          <p:spPr>
            <a:xfrm>
              <a:off x="3777305" y="3232340"/>
              <a:ext cx="1472700" cy="221100"/>
            </a:xfrm>
            <a:prstGeom prst="rect">
              <a:avLst/>
            </a:prstGeom>
            <a:noFill/>
            <a:ln>
              <a:noFill/>
            </a:ln>
          </p:spPr>
          <p:txBody>
            <a:bodyPr lIns="91425" tIns="91425" rIns="91425" bIns="91425" anchor="t" anchorCtr="0">
              <a:noAutofit/>
            </a:bodyPr>
            <a:lstStyle/>
            <a:p>
              <a:pPr lvl="0" algn="ctr" rtl="0">
                <a:spcBef>
                  <a:spcPts val="0"/>
                </a:spcBef>
                <a:buNone/>
              </a:pPr>
              <a:r>
                <a:rPr lang="en" sz="1100">
                  <a:solidFill>
                    <a:srgbClr val="FDCC5B"/>
                  </a:solidFill>
                  <a:latin typeface="Roboto"/>
                  <a:ea typeface="Roboto"/>
                  <a:cs typeface="Roboto"/>
                  <a:sym typeface="Roboto"/>
                </a:rPr>
                <a:t>investment $ 12.800</a:t>
              </a:r>
            </a:p>
            <a:p>
              <a:pPr lvl="0" algn="ctr" rtl="0">
                <a:spcBef>
                  <a:spcPts val="0"/>
                </a:spcBef>
                <a:buNone/>
              </a:pPr>
              <a:endParaRPr sz="1100">
                <a:solidFill>
                  <a:srgbClr val="FDCC5B"/>
                </a:solidFill>
              </a:endParaRPr>
            </a:p>
          </p:txBody>
        </p:sp>
        <p:sp>
          <p:nvSpPr>
            <p:cNvPr id="1418" name="Shape 1418"/>
            <p:cNvSpPr txBox="1"/>
            <p:nvPr/>
          </p:nvSpPr>
          <p:spPr>
            <a:xfrm>
              <a:off x="3777305" y="3482339"/>
              <a:ext cx="1472700" cy="221100"/>
            </a:xfrm>
            <a:prstGeom prst="rect">
              <a:avLst/>
            </a:prstGeom>
            <a:noFill/>
            <a:ln>
              <a:noFill/>
            </a:ln>
          </p:spPr>
          <p:txBody>
            <a:bodyPr lIns="91425" tIns="91425" rIns="91425" bIns="91425" anchor="t" anchorCtr="0">
              <a:noAutofit/>
            </a:bodyPr>
            <a:lstStyle/>
            <a:p>
              <a:pPr lvl="0" algn="ctr" rtl="0">
                <a:spcBef>
                  <a:spcPts val="0"/>
                </a:spcBef>
                <a:buNone/>
              </a:pPr>
              <a:r>
                <a:rPr lang="en" sz="900">
                  <a:solidFill>
                    <a:schemeClr val="dk2"/>
                  </a:solidFill>
                  <a:latin typeface="Roboto"/>
                  <a:ea typeface="Roboto"/>
                  <a:cs typeface="Roboto"/>
                  <a:sym typeface="Roboto"/>
                </a:rPr>
                <a:t>NOVEMBER 2016</a:t>
              </a:r>
            </a:p>
            <a:p>
              <a:pPr lvl="0" algn="ctr" rtl="0">
                <a:spcBef>
                  <a:spcPts val="0"/>
                </a:spcBef>
                <a:buNone/>
              </a:pPr>
              <a:endParaRPr sz="900">
                <a:solidFill>
                  <a:schemeClr val="dk2"/>
                </a:solidFill>
              </a:endParaRPr>
            </a:p>
          </p:txBody>
        </p:sp>
        <p:sp>
          <p:nvSpPr>
            <p:cNvPr id="1419" name="Shape 1419"/>
            <p:cNvSpPr txBox="1"/>
            <p:nvPr/>
          </p:nvSpPr>
          <p:spPr>
            <a:xfrm>
              <a:off x="3831605" y="3764289"/>
              <a:ext cx="1364099" cy="604800"/>
            </a:xfrm>
            <a:prstGeom prst="rect">
              <a:avLst/>
            </a:prstGeom>
            <a:noFill/>
            <a:ln>
              <a:noFill/>
            </a:ln>
          </p:spPr>
          <p:txBody>
            <a:bodyPr lIns="91425" tIns="91425" rIns="91425" bIns="91425" anchor="t" anchorCtr="0">
              <a:noAutofit/>
            </a:bodyPr>
            <a:lstStyle/>
            <a:p>
              <a:pPr lvl="0" algn="ctr" rtl="0">
                <a:spcBef>
                  <a:spcPts val="0"/>
                </a:spcBef>
                <a:buNone/>
              </a:pPr>
              <a:r>
                <a:rPr lang="en" sz="900">
                  <a:latin typeface="Roboto Slab"/>
                  <a:ea typeface="Roboto Slab"/>
                  <a:cs typeface="Roboto Slab"/>
                  <a:sym typeface="Roboto Slab"/>
                </a:rPr>
                <a:t>Lorem ipsum dolor sit amet, consectetur </a:t>
              </a:r>
            </a:p>
            <a:p>
              <a:pPr lvl="0" algn="ctr" rtl="0">
                <a:spcBef>
                  <a:spcPts val="0"/>
                </a:spcBef>
                <a:buNone/>
              </a:pPr>
              <a:r>
                <a:rPr lang="en" sz="900">
                  <a:latin typeface="Roboto Slab"/>
                  <a:ea typeface="Roboto Slab"/>
                  <a:cs typeface="Roboto Slab"/>
                  <a:sym typeface="Roboto Slab"/>
                </a:rPr>
                <a:t>Vivamus ac massa.</a:t>
              </a:r>
            </a:p>
            <a:p>
              <a:pPr lvl="0" algn="ctr" rtl="0">
                <a:spcBef>
                  <a:spcPts val="0"/>
                </a:spcBef>
                <a:buNone/>
              </a:pPr>
              <a:endParaRPr sz="900">
                <a:latin typeface="Roboto Slab"/>
                <a:ea typeface="Roboto Slab"/>
                <a:cs typeface="Roboto Slab"/>
                <a:sym typeface="Roboto Slab"/>
              </a:endParaRPr>
            </a:p>
          </p:txBody>
        </p:sp>
      </p:grpSp>
      <p:grpSp>
        <p:nvGrpSpPr>
          <p:cNvPr id="1420" name="Shape 1420"/>
          <p:cNvGrpSpPr/>
          <p:nvPr/>
        </p:nvGrpSpPr>
        <p:grpSpPr>
          <a:xfrm>
            <a:off x="5307114" y="1676675"/>
            <a:ext cx="1844431" cy="2684780"/>
            <a:chOff x="5307114" y="1676675"/>
            <a:chExt cx="1844431" cy="2684780"/>
          </a:xfrm>
        </p:grpSpPr>
        <p:pic>
          <p:nvPicPr>
            <p:cNvPr id="1421" name="Shape 1421"/>
            <p:cNvPicPr preferRelativeResize="0"/>
            <p:nvPr/>
          </p:nvPicPr>
          <p:blipFill>
            <a:blip r:embed="rId10">
              <a:alphaModFix/>
            </a:blip>
            <a:stretch>
              <a:fillRect/>
            </a:stretch>
          </p:blipFill>
          <p:spPr>
            <a:xfrm>
              <a:off x="5307114" y="2075351"/>
              <a:ext cx="1844431" cy="1143327"/>
            </a:xfrm>
            <a:prstGeom prst="rect">
              <a:avLst/>
            </a:prstGeom>
            <a:noFill/>
            <a:ln>
              <a:noFill/>
            </a:ln>
          </p:spPr>
        </p:pic>
        <p:pic>
          <p:nvPicPr>
            <p:cNvPr id="1422" name="Shape 1422"/>
            <p:cNvPicPr preferRelativeResize="0"/>
            <p:nvPr/>
          </p:nvPicPr>
          <p:blipFill>
            <a:blip r:embed="rId11">
              <a:alphaModFix/>
            </a:blip>
            <a:stretch>
              <a:fillRect/>
            </a:stretch>
          </p:blipFill>
          <p:spPr>
            <a:xfrm>
              <a:off x="5911352" y="2345437"/>
              <a:ext cx="604937" cy="604937"/>
            </a:xfrm>
            <a:prstGeom prst="rect">
              <a:avLst/>
            </a:prstGeom>
            <a:noFill/>
            <a:ln>
              <a:noFill/>
            </a:ln>
          </p:spPr>
        </p:pic>
        <p:sp>
          <p:nvSpPr>
            <p:cNvPr id="1423" name="Shape 1423"/>
            <p:cNvSpPr txBox="1"/>
            <p:nvPr/>
          </p:nvSpPr>
          <p:spPr>
            <a:xfrm>
              <a:off x="5445307" y="1676675"/>
              <a:ext cx="1527599" cy="434999"/>
            </a:xfrm>
            <a:prstGeom prst="rect">
              <a:avLst/>
            </a:prstGeom>
            <a:noFill/>
            <a:ln>
              <a:noFill/>
            </a:ln>
          </p:spPr>
          <p:txBody>
            <a:bodyPr lIns="91425" tIns="91425" rIns="91425" bIns="91425" anchor="t" anchorCtr="0">
              <a:noAutofit/>
            </a:bodyPr>
            <a:lstStyle/>
            <a:p>
              <a:pPr lvl="0" algn="ctr" rtl="0">
                <a:spcBef>
                  <a:spcPts val="0"/>
                </a:spcBef>
                <a:buNone/>
              </a:pPr>
              <a:r>
                <a:rPr lang="en" sz="1100" b="1">
                  <a:solidFill>
                    <a:schemeClr val="dk2"/>
                  </a:solidFill>
                  <a:latin typeface="Roboto Slab"/>
                  <a:ea typeface="Roboto Slab"/>
                  <a:cs typeface="Roboto Slab"/>
                  <a:sym typeface="Roboto Slab"/>
                </a:rPr>
                <a:t>GOOGLE ADWORDS</a:t>
              </a:r>
            </a:p>
            <a:p>
              <a:pPr lvl="0" algn="ctr" rtl="0">
                <a:spcBef>
                  <a:spcPts val="0"/>
                </a:spcBef>
                <a:buNone/>
              </a:pPr>
              <a:endParaRPr sz="1100" b="1">
                <a:solidFill>
                  <a:schemeClr val="dk2"/>
                </a:solidFill>
                <a:latin typeface="Roboto Slab"/>
                <a:ea typeface="Roboto Slab"/>
                <a:cs typeface="Roboto Slab"/>
                <a:sym typeface="Roboto Slab"/>
              </a:endParaRPr>
            </a:p>
          </p:txBody>
        </p:sp>
        <p:sp>
          <p:nvSpPr>
            <p:cNvPr id="1424" name="Shape 1424"/>
            <p:cNvSpPr txBox="1"/>
            <p:nvPr/>
          </p:nvSpPr>
          <p:spPr>
            <a:xfrm>
              <a:off x="5490380" y="3224705"/>
              <a:ext cx="1472700" cy="221100"/>
            </a:xfrm>
            <a:prstGeom prst="rect">
              <a:avLst/>
            </a:prstGeom>
            <a:noFill/>
            <a:ln>
              <a:noFill/>
            </a:ln>
          </p:spPr>
          <p:txBody>
            <a:bodyPr lIns="91425" tIns="91425" rIns="91425" bIns="91425" anchor="t" anchorCtr="0">
              <a:noAutofit/>
            </a:bodyPr>
            <a:lstStyle/>
            <a:p>
              <a:pPr lvl="0" algn="ctr" rtl="0">
                <a:spcBef>
                  <a:spcPts val="0"/>
                </a:spcBef>
                <a:buNone/>
              </a:pPr>
              <a:r>
                <a:rPr lang="en" sz="1100">
                  <a:solidFill>
                    <a:srgbClr val="A5C961"/>
                  </a:solidFill>
                  <a:latin typeface="Roboto"/>
                  <a:ea typeface="Roboto"/>
                  <a:cs typeface="Roboto"/>
                  <a:sym typeface="Roboto"/>
                </a:rPr>
                <a:t>investment $ 3.500</a:t>
              </a:r>
            </a:p>
            <a:p>
              <a:pPr lvl="0" algn="ctr" rtl="0">
                <a:spcBef>
                  <a:spcPts val="0"/>
                </a:spcBef>
                <a:buNone/>
              </a:pPr>
              <a:endParaRPr sz="1100"/>
            </a:p>
          </p:txBody>
        </p:sp>
        <p:sp>
          <p:nvSpPr>
            <p:cNvPr id="1425" name="Shape 1425"/>
            <p:cNvSpPr txBox="1"/>
            <p:nvPr/>
          </p:nvSpPr>
          <p:spPr>
            <a:xfrm>
              <a:off x="5490380" y="3474705"/>
              <a:ext cx="1472700" cy="221100"/>
            </a:xfrm>
            <a:prstGeom prst="rect">
              <a:avLst/>
            </a:prstGeom>
            <a:noFill/>
            <a:ln>
              <a:noFill/>
            </a:ln>
          </p:spPr>
          <p:txBody>
            <a:bodyPr lIns="91425" tIns="91425" rIns="91425" bIns="91425" anchor="t" anchorCtr="0">
              <a:noAutofit/>
            </a:bodyPr>
            <a:lstStyle/>
            <a:p>
              <a:pPr lvl="0" algn="ctr" rtl="0">
                <a:spcBef>
                  <a:spcPts val="0"/>
                </a:spcBef>
                <a:buNone/>
              </a:pPr>
              <a:r>
                <a:rPr lang="en" sz="900">
                  <a:solidFill>
                    <a:schemeClr val="dk2"/>
                  </a:solidFill>
                  <a:latin typeface="Roboto"/>
                  <a:ea typeface="Roboto"/>
                  <a:cs typeface="Roboto"/>
                  <a:sym typeface="Roboto"/>
                </a:rPr>
                <a:t>NOVEMBER 2016</a:t>
              </a:r>
            </a:p>
            <a:p>
              <a:pPr lvl="0" algn="ctr" rtl="0">
                <a:spcBef>
                  <a:spcPts val="0"/>
                </a:spcBef>
                <a:buNone/>
              </a:pPr>
              <a:endParaRPr sz="900">
                <a:solidFill>
                  <a:schemeClr val="dk2"/>
                </a:solidFill>
              </a:endParaRPr>
            </a:p>
          </p:txBody>
        </p:sp>
        <p:sp>
          <p:nvSpPr>
            <p:cNvPr id="1426" name="Shape 1426"/>
            <p:cNvSpPr txBox="1"/>
            <p:nvPr/>
          </p:nvSpPr>
          <p:spPr>
            <a:xfrm>
              <a:off x="5544680" y="3756655"/>
              <a:ext cx="1364099" cy="604800"/>
            </a:xfrm>
            <a:prstGeom prst="rect">
              <a:avLst/>
            </a:prstGeom>
            <a:noFill/>
            <a:ln>
              <a:noFill/>
            </a:ln>
          </p:spPr>
          <p:txBody>
            <a:bodyPr lIns="91425" tIns="91425" rIns="91425" bIns="91425" anchor="t" anchorCtr="0">
              <a:noAutofit/>
            </a:bodyPr>
            <a:lstStyle/>
            <a:p>
              <a:pPr lvl="0" algn="ctr" rtl="0">
                <a:spcBef>
                  <a:spcPts val="0"/>
                </a:spcBef>
                <a:buNone/>
              </a:pPr>
              <a:r>
                <a:rPr lang="en" sz="900">
                  <a:latin typeface="Roboto Slab"/>
                  <a:ea typeface="Roboto Slab"/>
                  <a:cs typeface="Roboto Slab"/>
                  <a:sym typeface="Roboto Slab"/>
                </a:rPr>
                <a:t>Lorem ipsum dolor sit amet, consectetur </a:t>
              </a:r>
            </a:p>
            <a:p>
              <a:pPr lvl="0" algn="ctr" rtl="0">
                <a:spcBef>
                  <a:spcPts val="0"/>
                </a:spcBef>
                <a:buNone/>
              </a:pPr>
              <a:r>
                <a:rPr lang="en" sz="900">
                  <a:latin typeface="Roboto Slab"/>
                  <a:ea typeface="Roboto Slab"/>
                  <a:cs typeface="Roboto Slab"/>
                  <a:sym typeface="Roboto Slab"/>
                </a:rPr>
                <a:t>Vivamus ac massa.</a:t>
              </a:r>
            </a:p>
            <a:p>
              <a:pPr lvl="0" algn="ctr" rtl="0">
                <a:spcBef>
                  <a:spcPts val="0"/>
                </a:spcBef>
                <a:buNone/>
              </a:pPr>
              <a:endParaRPr sz="900">
                <a:latin typeface="Roboto Slab"/>
                <a:ea typeface="Roboto Slab"/>
                <a:cs typeface="Roboto Slab"/>
                <a:sym typeface="Roboto Slab"/>
              </a:endParaRPr>
            </a:p>
          </p:txBody>
        </p:sp>
      </p:grpSp>
      <p:grpSp>
        <p:nvGrpSpPr>
          <p:cNvPr id="1427" name="Shape 1427"/>
          <p:cNvGrpSpPr/>
          <p:nvPr/>
        </p:nvGrpSpPr>
        <p:grpSpPr>
          <a:xfrm>
            <a:off x="6987593" y="1676675"/>
            <a:ext cx="1844431" cy="2675539"/>
            <a:chOff x="6987593" y="1676675"/>
            <a:chExt cx="1844431" cy="2675539"/>
          </a:xfrm>
        </p:grpSpPr>
        <p:pic>
          <p:nvPicPr>
            <p:cNvPr id="1428" name="Shape 1428"/>
            <p:cNvPicPr preferRelativeResize="0"/>
            <p:nvPr/>
          </p:nvPicPr>
          <p:blipFill>
            <a:blip r:embed="rId12">
              <a:alphaModFix/>
            </a:blip>
            <a:stretch>
              <a:fillRect/>
            </a:stretch>
          </p:blipFill>
          <p:spPr>
            <a:xfrm>
              <a:off x="6987593" y="2072622"/>
              <a:ext cx="1844431" cy="1146056"/>
            </a:xfrm>
            <a:prstGeom prst="rect">
              <a:avLst/>
            </a:prstGeom>
            <a:noFill/>
            <a:ln>
              <a:noFill/>
            </a:ln>
          </p:spPr>
        </p:pic>
        <p:pic>
          <p:nvPicPr>
            <p:cNvPr id="1429" name="Shape 1429"/>
            <p:cNvPicPr preferRelativeResize="0"/>
            <p:nvPr/>
          </p:nvPicPr>
          <p:blipFill>
            <a:blip r:embed="rId13">
              <a:alphaModFix/>
            </a:blip>
            <a:stretch>
              <a:fillRect/>
            </a:stretch>
          </p:blipFill>
          <p:spPr>
            <a:xfrm>
              <a:off x="7609610" y="2320050"/>
              <a:ext cx="581699" cy="581699"/>
            </a:xfrm>
            <a:prstGeom prst="rect">
              <a:avLst/>
            </a:prstGeom>
            <a:noFill/>
            <a:ln>
              <a:noFill/>
            </a:ln>
          </p:spPr>
        </p:pic>
        <p:sp>
          <p:nvSpPr>
            <p:cNvPr id="1430" name="Shape 1430"/>
            <p:cNvSpPr txBox="1"/>
            <p:nvPr/>
          </p:nvSpPr>
          <p:spPr>
            <a:xfrm>
              <a:off x="7130103" y="1676675"/>
              <a:ext cx="1527599" cy="434999"/>
            </a:xfrm>
            <a:prstGeom prst="rect">
              <a:avLst/>
            </a:prstGeom>
            <a:noFill/>
            <a:ln>
              <a:noFill/>
            </a:ln>
          </p:spPr>
          <p:txBody>
            <a:bodyPr lIns="91425" tIns="91425" rIns="91425" bIns="91425" anchor="t" anchorCtr="0">
              <a:noAutofit/>
            </a:bodyPr>
            <a:lstStyle/>
            <a:p>
              <a:pPr lvl="0" algn="ctr" rtl="0">
                <a:spcBef>
                  <a:spcPts val="0"/>
                </a:spcBef>
                <a:buNone/>
              </a:pPr>
              <a:r>
                <a:rPr lang="en" sz="1100" b="1">
                  <a:solidFill>
                    <a:schemeClr val="dk2"/>
                  </a:solidFill>
                  <a:latin typeface="Roboto Slab"/>
                  <a:ea typeface="Roboto Slab"/>
                  <a:cs typeface="Roboto Slab"/>
                  <a:sym typeface="Roboto Slab"/>
                </a:rPr>
                <a:t>TV SPOT</a:t>
              </a:r>
            </a:p>
            <a:p>
              <a:pPr lvl="0" algn="ctr" rtl="0">
                <a:spcBef>
                  <a:spcPts val="0"/>
                </a:spcBef>
                <a:buNone/>
              </a:pPr>
              <a:endParaRPr sz="1100" b="1">
                <a:solidFill>
                  <a:schemeClr val="dk2"/>
                </a:solidFill>
                <a:latin typeface="Roboto Slab"/>
                <a:ea typeface="Roboto Slab"/>
                <a:cs typeface="Roboto Slab"/>
                <a:sym typeface="Roboto Slab"/>
              </a:endParaRPr>
            </a:p>
          </p:txBody>
        </p:sp>
        <p:sp>
          <p:nvSpPr>
            <p:cNvPr id="1431" name="Shape 1431"/>
            <p:cNvSpPr txBox="1"/>
            <p:nvPr/>
          </p:nvSpPr>
          <p:spPr>
            <a:xfrm>
              <a:off x="7203454" y="3215465"/>
              <a:ext cx="1472700" cy="221100"/>
            </a:xfrm>
            <a:prstGeom prst="rect">
              <a:avLst/>
            </a:prstGeom>
            <a:noFill/>
            <a:ln>
              <a:noFill/>
            </a:ln>
          </p:spPr>
          <p:txBody>
            <a:bodyPr lIns="91425" tIns="91425" rIns="91425" bIns="91425" anchor="t" anchorCtr="0">
              <a:noAutofit/>
            </a:bodyPr>
            <a:lstStyle/>
            <a:p>
              <a:pPr lvl="0" algn="ctr" rtl="0">
                <a:spcBef>
                  <a:spcPts val="0"/>
                </a:spcBef>
                <a:buNone/>
              </a:pPr>
              <a:r>
                <a:rPr lang="en" sz="1100">
                  <a:solidFill>
                    <a:srgbClr val="A8D5D7"/>
                  </a:solidFill>
                  <a:latin typeface="Roboto"/>
                  <a:ea typeface="Roboto"/>
                  <a:cs typeface="Roboto"/>
                  <a:sym typeface="Roboto"/>
                </a:rPr>
                <a:t>investment $ 22.500</a:t>
              </a:r>
            </a:p>
            <a:p>
              <a:pPr lvl="0" algn="ctr" rtl="0">
                <a:spcBef>
                  <a:spcPts val="0"/>
                </a:spcBef>
                <a:buNone/>
              </a:pPr>
              <a:endParaRPr sz="1100"/>
            </a:p>
          </p:txBody>
        </p:sp>
        <p:sp>
          <p:nvSpPr>
            <p:cNvPr id="1432" name="Shape 1432"/>
            <p:cNvSpPr txBox="1"/>
            <p:nvPr/>
          </p:nvSpPr>
          <p:spPr>
            <a:xfrm>
              <a:off x="7203454" y="3465464"/>
              <a:ext cx="1472700" cy="221100"/>
            </a:xfrm>
            <a:prstGeom prst="rect">
              <a:avLst/>
            </a:prstGeom>
            <a:noFill/>
            <a:ln>
              <a:noFill/>
            </a:ln>
          </p:spPr>
          <p:txBody>
            <a:bodyPr lIns="91425" tIns="91425" rIns="91425" bIns="91425" anchor="t" anchorCtr="0">
              <a:noAutofit/>
            </a:bodyPr>
            <a:lstStyle/>
            <a:p>
              <a:pPr lvl="0" algn="ctr" rtl="0">
                <a:spcBef>
                  <a:spcPts val="0"/>
                </a:spcBef>
                <a:buNone/>
              </a:pPr>
              <a:r>
                <a:rPr lang="en" sz="900">
                  <a:solidFill>
                    <a:schemeClr val="dk2"/>
                  </a:solidFill>
                  <a:latin typeface="Roboto"/>
                  <a:ea typeface="Roboto"/>
                  <a:cs typeface="Roboto"/>
                  <a:sym typeface="Roboto"/>
                </a:rPr>
                <a:t>DECEMBER 2016</a:t>
              </a:r>
            </a:p>
            <a:p>
              <a:pPr lvl="0" algn="ctr" rtl="0">
                <a:spcBef>
                  <a:spcPts val="0"/>
                </a:spcBef>
                <a:buNone/>
              </a:pPr>
              <a:endParaRPr sz="900">
                <a:solidFill>
                  <a:schemeClr val="dk2"/>
                </a:solidFill>
              </a:endParaRPr>
            </a:p>
          </p:txBody>
        </p:sp>
        <p:sp>
          <p:nvSpPr>
            <p:cNvPr id="1433" name="Shape 1433"/>
            <p:cNvSpPr txBox="1"/>
            <p:nvPr/>
          </p:nvSpPr>
          <p:spPr>
            <a:xfrm>
              <a:off x="7257754" y="3747414"/>
              <a:ext cx="1364099" cy="604800"/>
            </a:xfrm>
            <a:prstGeom prst="rect">
              <a:avLst/>
            </a:prstGeom>
            <a:noFill/>
            <a:ln>
              <a:noFill/>
            </a:ln>
          </p:spPr>
          <p:txBody>
            <a:bodyPr lIns="91425" tIns="91425" rIns="91425" bIns="91425" anchor="t" anchorCtr="0">
              <a:noAutofit/>
            </a:bodyPr>
            <a:lstStyle/>
            <a:p>
              <a:pPr lvl="0" algn="ctr" rtl="0">
                <a:spcBef>
                  <a:spcPts val="0"/>
                </a:spcBef>
                <a:buNone/>
              </a:pPr>
              <a:r>
                <a:rPr lang="en" sz="900">
                  <a:latin typeface="Roboto Slab"/>
                  <a:ea typeface="Roboto Slab"/>
                  <a:cs typeface="Roboto Slab"/>
                  <a:sym typeface="Roboto Slab"/>
                </a:rPr>
                <a:t>Lorem ipsum dolor sit amet, consectetur </a:t>
              </a:r>
            </a:p>
            <a:p>
              <a:pPr lvl="0" algn="ctr" rtl="0">
                <a:spcBef>
                  <a:spcPts val="0"/>
                </a:spcBef>
                <a:buNone/>
              </a:pPr>
              <a:r>
                <a:rPr lang="en" sz="900">
                  <a:latin typeface="Roboto Slab"/>
                  <a:ea typeface="Roboto Slab"/>
                  <a:cs typeface="Roboto Slab"/>
                  <a:sym typeface="Roboto Slab"/>
                </a:rPr>
                <a:t>Vivamus ac massa.</a:t>
              </a:r>
            </a:p>
            <a:p>
              <a:pPr lvl="0" algn="ctr" rtl="0">
                <a:spcBef>
                  <a:spcPts val="0"/>
                </a:spcBef>
                <a:buNone/>
              </a:pPr>
              <a:endParaRPr sz="900">
                <a:latin typeface="Roboto Slab"/>
                <a:ea typeface="Roboto Slab"/>
                <a:cs typeface="Roboto Slab"/>
                <a:sym typeface="Roboto Slab"/>
              </a:endParaRPr>
            </a:p>
          </p:txBody>
        </p:sp>
      </p:grpSp>
      <p:pic>
        <p:nvPicPr>
          <p:cNvPr id="42" name="Immagine 41">
            <a:extLst>
              <a:ext uri="{FF2B5EF4-FFF2-40B4-BE49-F238E27FC236}">
                <a16:creationId xmlns:a16="http://schemas.microsoft.com/office/drawing/2014/main" id="{D61052DB-4427-478D-9EC6-C4775EF9CA98}"/>
              </a:ext>
            </a:extLst>
          </p:cNvPr>
          <p:cNvPicPr>
            <a:picLocks noChangeAspect="1"/>
          </p:cNvPicPr>
          <p:nvPr/>
        </p:nvPicPr>
        <p:blipFill rotWithShape="1">
          <a:blip r:embed="rId14"/>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99"/>
                                        </p:tgtEl>
                                        <p:attrNameLst>
                                          <p:attrName>style.visibility</p:attrName>
                                        </p:attrNameLst>
                                      </p:cBhvr>
                                      <p:to>
                                        <p:strVal val="visible"/>
                                      </p:to>
                                    </p:set>
                                    <p:anim calcmode="lin" valueType="num">
                                      <p:cBhvr additive="base">
                                        <p:cTn id="7" dur="1000"/>
                                        <p:tgtEl>
                                          <p:spTgt spid="1399"/>
                                        </p:tgtEl>
                                        <p:attrNameLst>
                                          <p:attrName>ppt_y</p:attrName>
                                        </p:attrNameLst>
                                      </p:cBhvr>
                                      <p:tavLst>
                                        <p:tav tm="0">
                                          <p:val>
                                            <p:strVal val="#ppt_y+1"/>
                                          </p:val>
                                        </p:tav>
                                        <p:tav tm="100000">
                                          <p:val>
                                            <p:strVal val="#ppt_y"/>
                                          </p:val>
                                        </p:tav>
                                      </p:tavLst>
                                    </p:anim>
                                  </p:childTnLst>
                                </p:cTn>
                              </p:par>
                            </p:childTnLst>
                          </p:cTn>
                        </p:par>
                        <p:par>
                          <p:cTn id="8" fill="hold">
                            <p:stCondLst>
                              <p:cond delay="1000"/>
                            </p:stCondLst>
                            <p:childTnLst>
                              <p:par>
                                <p:cTn id="9" presetID="2" presetClass="entr" presetSubtype="4" fill="hold" nodeType="afterEffect">
                                  <p:stCondLst>
                                    <p:cond delay="0"/>
                                  </p:stCondLst>
                                  <p:childTnLst>
                                    <p:set>
                                      <p:cBhvr>
                                        <p:cTn id="10" dur="1" fill="hold">
                                          <p:stCondLst>
                                            <p:cond delay="0"/>
                                          </p:stCondLst>
                                        </p:cTn>
                                        <p:tgtEl>
                                          <p:spTgt spid="1406"/>
                                        </p:tgtEl>
                                        <p:attrNameLst>
                                          <p:attrName>style.visibility</p:attrName>
                                        </p:attrNameLst>
                                      </p:cBhvr>
                                      <p:to>
                                        <p:strVal val="visible"/>
                                      </p:to>
                                    </p:set>
                                    <p:anim calcmode="lin" valueType="num">
                                      <p:cBhvr additive="base">
                                        <p:cTn id="11" dur="1000"/>
                                        <p:tgtEl>
                                          <p:spTgt spid="1406"/>
                                        </p:tgtEl>
                                        <p:attrNameLst>
                                          <p:attrName>ppt_y</p:attrName>
                                        </p:attrNameLst>
                                      </p:cBhvr>
                                      <p:tavLst>
                                        <p:tav tm="0">
                                          <p:val>
                                            <p:strVal val="#ppt_y+1"/>
                                          </p:val>
                                        </p:tav>
                                        <p:tav tm="100000">
                                          <p:val>
                                            <p:strVal val="#ppt_y"/>
                                          </p:val>
                                        </p:tav>
                                      </p:tavLst>
                                    </p:anim>
                                  </p:childTnLst>
                                </p:cTn>
                              </p:par>
                            </p:childTnLst>
                          </p:cTn>
                        </p:par>
                        <p:par>
                          <p:cTn id="12" fill="hold">
                            <p:stCondLst>
                              <p:cond delay="2000"/>
                            </p:stCondLst>
                            <p:childTnLst>
                              <p:par>
                                <p:cTn id="13" presetID="2" presetClass="entr" presetSubtype="4" fill="hold" nodeType="afterEffect">
                                  <p:stCondLst>
                                    <p:cond delay="0"/>
                                  </p:stCondLst>
                                  <p:childTnLst>
                                    <p:set>
                                      <p:cBhvr>
                                        <p:cTn id="14" dur="1" fill="hold">
                                          <p:stCondLst>
                                            <p:cond delay="0"/>
                                          </p:stCondLst>
                                        </p:cTn>
                                        <p:tgtEl>
                                          <p:spTgt spid="1413"/>
                                        </p:tgtEl>
                                        <p:attrNameLst>
                                          <p:attrName>style.visibility</p:attrName>
                                        </p:attrNameLst>
                                      </p:cBhvr>
                                      <p:to>
                                        <p:strVal val="visible"/>
                                      </p:to>
                                    </p:set>
                                    <p:anim calcmode="lin" valueType="num">
                                      <p:cBhvr additive="base">
                                        <p:cTn id="15" dur="1000"/>
                                        <p:tgtEl>
                                          <p:spTgt spid="1413"/>
                                        </p:tgtEl>
                                        <p:attrNameLst>
                                          <p:attrName>ppt_y</p:attrName>
                                        </p:attrNameLst>
                                      </p:cBhvr>
                                      <p:tavLst>
                                        <p:tav tm="0">
                                          <p:val>
                                            <p:strVal val="#ppt_y+1"/>
                                          </p:val>
                                        </p:tav>
                                        <p:tav tm="100000">
                                          <p:val>
                                            <p:strVal val="#ppt_y"/>
                                          </p:val>
                                        </p:tav>
                                      </p:tavLst>
                                    </p:anim>
                                  </p:childTnLst>
                                </p:cTn>
                              </p:par>
                            </p:childTnLst>
                          </p:cTn>
                        </p:par>
                        <p:par>
                          <p:cTn id="16" fill="hold">
                            <p:stCondLst>
                              <p:cond delay="3000"/>
                            </p:stCondLst>
                            <p:childTnLst>
                              <p:par>
                                <p:cTn id="17" presetID="2" presetClass="entr" presetSubtype="4" fill="hold" nodeType="afterEffect">
                                  <p:stCondLst>
                                    <p:cond delay="0"/>
                                  </p:stCondLst>
                                  <p:childTnLst>
                                    <p:set>
                                      <p:cBhvr>
                                        <p:cTn id="18" dur="1" fill="hold">
                                          <p:stCondLst>
                                            <p:cond delay="0"/>
                                          </p:stCondLst>
                                        </p:cTn>
                                        <p:tgtEl>
                                          <p:spTgt spid="1420"/>
                                        </p:tgtEl>
                                        <p:attrNameLst>
                                          <p:attrName>style.visibility</p:attrName>
                                        </p:attrNameLst>
                                      </p:cBhvr>
                                      <p:to>
                                        <p:strVal val="visible"/>
                                      </p:to>
                                    </p:set>
                                    <p:anim calcmode="lin" valueType="num">
                                      <p:cBhvr additive="base">
                                        <p:cTn id="19" dur="1000"/>
                                        <p:tgtEl>
                                          <p:spTgt spid="1420"/>
                                        </p:tgtEl>
                                        <p:attrNameLst>
                                          <p:attrName>ppt_y</p:attrName>
                                        </p:attrNameLst>
                                      </p:cBhvr>
                                      <p:tavLst>
                                        <p:tav tm="0">
                                          <p:val>
                                            <p:strVal val="#ppt_y+1"/>
                                          </p:val>
                                        </p:tav>
                                        <p:tav tm="100000">
                                          <p:val>
                                            <p:strVal val="#ppt_y"/>
                                          </p:val>
                                        </p:tav>
                                      </p:tavLst>
                                    </p:anim>
                                  </p:childTnLst>
                                </p:cTn>
                              </p:par>
                            </p:childTnLst>
                          </p:cTn>
                        </p:par>
                        <p:par>
                          <p:cTn id="20" fill="hold">
                            <p:stCondLst>
                              <p:cond delay="4000"/>
                            </p:stCondLst>
                            <p:childTnLst>
                              <p:par>
                                <p:cTn id="21" presetID="2" presetClass="entr" presetSubtype="4" fill="hold" nodeType="afterEffect">
                                  <p:stCondLst>
                                    <p:cond delay="0"/>
                                  </p:stCondLst>
                                  <p:childTnLst>
                                    <p:set>
                                      <p:cBhvr>
                                        <p:cTn id="22" dur="1" fill="hold">
                                          <p:stCondLst>
                                            <p:cond delay="0"/>
                                          </p:stCondLst>
                                        </p:cTn>
                                        <p:tgtEl>
                                          <p:spTgt spid="1427"/>
                                        </p:tgtEl>
                                        <p:attrNameLst>
                                          <p:attrName>style.visibility</p:attrName>
                                        </p:attrNameLst>
                                      </p:cBhvr>
                                      <p:to>
                                        <p:strVal val="visible"/>
                                      </p:to>
                                    </p:set>
                                    <p:anim calcmode="lin" valueType="num">
                                      <p:cBhvr additive="base">
                                        <p:cTn id="23" dur="1000"/>
                                        <p:tgtEl>
                                          <p:spTgt spid="14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1520"/>
        <p:cNvGrpSpPr/>
        <p:nvPr/>
      </p:nvGrpSpPr>
      <p:grpSpPr>
        <a:xfrm>
          <a:off x="0" y="0"/>
          <a:ext cx="0" cy="0"/>
          <a:chOff x="0" y="0"/>
          <a:chExt cx="0" cy="0"/>
        </a:xfrm>
      </p:grpSpPr>
      <p:sp>
        <p:nvSpPr>
          <p:cNvPr id="39" name="Rettangolo 38">
            <a:extLst>
              <a:ext uri="{FF2B5EF4-FFF2-40B4-BE49-F238E27FC236}">
                <a16:creationId xmlns:a16="http://schemas.microsoft.com/office/drawing/2014/main" id="{6F7D3B3A-DCEF-421F-B319-A3F59E0BD59B}"/>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1521" name="Shape 1521"/>
          <p:cNvPicPr preferRelativeResize="0"/>
          <p:nvPr/>
        </p:nvPicPr>
        <p:blipFill>
          <a:blip r:embed="rId3">
            <a:alphaModFix/>
          </a:blip>
          <a:stretch>
            <a:fillRect/>
          </a:stretch>
        </p:blipFill>
        <p:spPr>
          <a:xfrm>
            <a:off x="-84000" y="183075"/>
            <a:ext cx="9291700" cy="788900"/>
          </a:xfrm>
          <a:prstGeom prst="rect">
            <a:avLst/>
          </a:prstGeom>
          <a:noFill/>
          <a:ln>
            <a:noFill/>
          </a:ln>
        </p:spPr>
      </p:pic>
      <p:sp>
        <p:nvSpPr>
          <p:cNvPr id="1524" name="Shape 1524"/>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Way To Market</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grpSp>
        <p:nvGrpSpPr>
          <p:cNvPr id="1525" name="Shape 1525"/>
          <p:cNvGrpSpPr/>
          <p:nvPr/>
        </p:nvGrpSpPr>
        <p:grpSpPr>
          <a:xfrm>
            <a:off x="4109147" y="1135389"/>
            <a:ext cx="4623324" cy="3802400"/>
            <a:chOff x="4109147" y="1135389"/>
            <a:chExt cx="4623324" cy="3802400"/>
          </a:xfrm>
        </p:grpSpPr>
        <p:pic>
          <p:nvPicPr>
            <p:cNvPr id="1526" name="Shape 1526"/>
            <p:cNvPicPr preferRelativeResize="0"/>
            <p:nvPr/>
          </p:nvPicPr>
          <p:blipFill>
            <a:blip r:embed="rId4">
              <a:alphaModFix/>
            </a:blip>
            <a:stretch>
              <a:fillRect/>
            </a:stretch>
          </p:blipFill>
          <p:spPr>
            <a:xfrm>
              <a:off x="4447075" y="1135389"/>
              <a:ext cx="3940674" cy="3802400"/>
            </a:xfrm>
            <a:prstGeom prst="rect">
              <a:avLst/>
            </a:prstGeom>
            <a:noFill/>
            <a:ln>
              <a:noFill/>
            </a:ln>
          </p:spPr>
        </p:pic>
        <p:pic>
          <p:nvPicPr>
            <p:cNvPr id="1527" name="Shape 1527"/>
            <p:cNvPicPr preferRelativeResize="0"/>
            <p:nvPr/>
          </p:nvPicPr>
          <p:blipFill>
            <a:blip r:embed="rId5">
              <a:alphaModFix/>
            </a:blip>
            <a:stretch>
              <a:fillRect/>
            </a:stretch>
          </p:blipFill>
          <p:spPr>
            <a:xfrm>
              <a:off x="7514004" y="2426725"/>
              <a:ext cx="644125" cy="644125"/>
            </a:xfrm>
            <a:prstGeom prst="rect">
              <a:avLst/>
            </a:prstGeom>
            <a:noFill/>
            <a:ln>
              <a:noFill/>
            </a:ln>
          </p:spPr>
        </p:pic>
        <p:pic>
          <p:nvPicPr>
            <p:cNvPr id="1528" name="Shape 1528"/>
            <p:cNvPicPr preferRelativeResize="0"/>
            <p:nvPr/>
          </p:nvPicPr>
          <p:blipFill>
            <a:blip r:embed="rId6">
              <a:alphaModFix/>
            </a:blip>
            <a:stretch>
              <a:fillRect/>
            </a:stretch>
          </p:blipFill>
          <p:spPr>
            <a:xfrm>
              <a:off x="6070364" y="3834974"/>
              <a:ext cx="644125" cy="644125"/>
            </a:xfrm>
            <a:prstGeom prst="rect">
              <a:avLst/>
            </a:prstGeom>
            <a:noFill/>
            <a:ln>
              <a:noFill/>
            </a:ln>
          </p:spPr>
        </p:pic>
        <p:pic>
          <p:nvPicPr>
            <p:cNvPr id="1529" name="Shape 1529"/>
            <p:cNvPicPr preferRelativeResize="0"/>
            <p:nvPr/>
          </p:nvPicPr>
          <p:blipFill>
            <a:blip r:embed="rId7">
              <a:alphaModFix/>
            </a:blip>
            <a:stretch>
              <a:fillRect/>
            </a:stretch>
          </p:blipFill>
          <p:spPr>
            <a:xfrm>
              <a:off x="6093225" y="1196575"/>
              <a:ext cx="581699" cy="581699"/>
            </a:xfrm>
            <a:prstGeom prst="rect">
              <a:avLst/>
            </a:prstGeom>
            <a:noFill/>
            <a:ln>
              <a:noFill/>
            </a:ln>
          </p:spPr>
        </p:pic>
        <p:pic>
          <p:nvPicPr>
            <p:cNvPr id="1530" name="Shape 1530"/>
            <p:cNvPicPr preferRelativeResize="0"/>
            <p:nvPr/>
          </p:nvPicPr>
          <p:blipFill>
            <a:blip r:embed="rId8">
              <a:alphaModFix/>
            </a:blip>
            <a:stretch>
              <a:fillRect/>
            </a:stretch>
          </p:blipFill>
          <p:spPr>
            <a:xfrm>
              <a:off x="4703067" y="2419092"/>
              <a:ext cx="604937" cy="604937"/>
            </a:xfrm>
            <a:prstGeom prst="rect">
              <a:avLst/>
            </a:prstGeom>
            <a:noFill/>
            <a:ln>
              <a:noFill/>
            </a:ln>
          </p:spPr>
        </p:pic>
        <p:sp>
          <p:nvSpPr>
            <p:cNvPr id="1531" name="Shape 1531"/>
            <p:cNvSpPr txBox="1"/>
            <p:nvPr/>
          </p:nvSpPr>
          <p:spPr>
            <a:xfrm>
              <a:off x="5488860" y="1631427"/>
              <a:ext cx="1792799" cy="434999"/>
            </a:xfrm>
            <a:prstGeom prst="rect">
              <a:avLst/>
            </a:prstGeom>
            <a:noFill/>
            <a:ln>
              <a:noFill/>
            </a:ln>
          </p:spPr>
          <p:txBody>
            <a:bodyPr lIns="91425" tIns="91425" rIns="91425" bIns="91425" anchor="t" anchorCtr="0">
              <a:noAutofit/>
            </a:bodyPr>
            <a:lstStyle/>
            <a:p>
              <a:pPr algn="ctr" rtl="0">
                <a:spcBef>
                  <a:spcPts val="0"/>
                </a:spcBef>
                <a:buNone/>
              </a:pPr>
              <a:r>
                <a:rPr lang="en" sz="900" b="1">
                  <a:solidFill>
                    <a:schemeClr val="dk2"/>
                  </a:solidFill>
                  <a:latin typeface="Roboto Slab"/>
                  <a:ea typeface="Roboto Slab"/>
                  <a:cs typeface="Roboto Slab"/>
                  <a:sym typeface="Roboto Slab"/>
                </a:rPr>
                <a:t>EMAIL </a:t>
              </a:r>
            </a:p>
            <a:p>
              <a:pPr lvl="0" algn="ctr" rtl="0">
                <a:spcBef>
                  <a:spcPts val="0"/>
                </a:spcBef>
                <a:buNone/>
              </a:pPr>
              <a:r>
                <a:rPr lang="en" sz="900" b="1">
                  <a:solidFill>
                    <a:schemeClr val="dk2"/>
                  </a:solidFill>
                  <a:latin typeface="Roboto Slab"/>
                  <a:ea typeface="Roboto Slab"/>
                  <a:cs typeface="Roboto Slab"/>
                  <a:sym typeface="Roboto Slab"/>
                </a:rPr>
                <a:t>MARKETING</a:t>
              </a:r>
            </a:p>
            <a:p>
              <a:pPr lvl="0" algn="ctr" rtl="0">
                <a:spcBef>
                  <a:spcPts val="0"/>
                </a:spcBef>
                <a:buNone/>
              </a:pPr>
              <a:endParaRPr sz="900" b="1">
                <a:solidFill>
                  <a:schemeClr val="dk2"/>
                </a:solidFill>
                <a:latin typeface="Roboto Slab"/>
                <a:ea typeface="Roboto Slab"/>
                <a:cs typeface="Roboto Slab"/>
                <a:sym typeface="Roboto Slab"/>
              </a:endParaRPr>
            </a:p>
          </p:txBody>
        </p:sp>
        <p:sp>
          <p:nvSpPr>
            <p:cNvPr id="1532" name="Shape 1532"/>
            <p:cNvSpPr txBox="1"/>
            <p:nvPr/>
          </p:nvSpPr>
          <p:spPr>
            <a:xfrm>
              <a:off x="4109147" y="2860902"/>
              <a:ext cx="1792799" cy="4349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dk2"/>
                  </a:solidFill>
                  <a:latin typeface="Roboto Slab"/>
                  <a:ea typeface="Roboto Slab"/>
                  <a:cs typeface="Roboto Slab"/>
                  <a:sym typeface="Roboto Slab"/>
                </a:rPr>
                <a:t>SEO</a:t>
              </a:r>
            </a:p>
            <a:p>
              <a:pPr lvl="0" algn="ctr" rtl="0">
                <a:spcBef>
                  <a:spcPts val="0"/>
                </a:spcBef>
                <a:buNone/>
              </a:pPr>
              <a:r>
                <a:rPr lang="en" sz="900" b="1">
                  <a:solidFill>
                    <a:schemeClr val="dk2"/>
                  </a:solidFill>
                  <a:latin typeface="Roboto Slab"/>
                  <a:ea typeface="Roboto Slab"/>
                  <a:cs typeface="Roboto Slab"/>
                  <a:sym typeface="Roboto Slab"/>
                </a:rPr>
                <a:t>SEM</a:t>
              </a:r>
            </a:p>
            <a:p>
              <a:pPr lvl="0" algn="ctr" rtl="0">
                <a:spcBef>
                  <a:spcPts val="0"/>
                </a:spcBef>
                <a:buNone/>
              </a:pPr>
              <a:endParaRPr sz="900" b="1">
                <a:solidFill>
                  <a:schemeClr val="dk2"/>
                </a:solidFill>
                <a:latin typeface="Roboto Slab"/>
                <a:ea typeface="Roboto Slab"/>
                <a:cs typeface="Roboto Slab"/>
                <a:sym typeface="Roboto Slab"/>
              </a:endParaRPr>
            </a:p>
          </p:txBody>
        </p:sp>
        <p:sp>
          <p:nvSpPr>
            <p:cNvPr id="1533" name="Shape 1533"/>
            <p:cNvSpPr txBox="1"/>
            <p:nvPr/>
          </p:nvSpPr>
          <p:spPr>
            <a:xfrm>
              <a:off x="5496035" y="4354417"/>
              <a:ext cx="1792799" cy="4349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dk2"/>
                  </a:solidFill>
                  <a:latin typeface="Roboto Slab"/>
                  <a:ea typeface="Roboto Slab"/>
                  <a:cs typeface="Roboto Slab"/>
                  <a:sym typeface="Roboto Slab"/>
                </a:rPr>
                <a:t>SOCIAL </a:t>
              </a:r>
            </a:p>
            <a:p>
              <a:pPr lvl="0" algn="ctr" rtl="0">
                <a:spcBef>
                  <a:spcPts val="0"/>
                </a:spcBef>
                <a:buNone/>
              </a:pPr>
              <a:r>
                <a:rPr lang="en" sz="900" b="1">
                  <a:solidFill>
                    <a:schemeClr val="dk2"/>
                  </a:solidFill>
                  <a:latin typeface="Roboto Slab"/>
                  <a:ea typeface="Roboto Slab"/>
                  <a:cs typeface="Roboto Slab"/>
                  <a:sym typeface="Roboto Slab"/>
                </a:rPr>
                <a:t>EVENTS</a:t>
              </a:r>
            </a:p>
            <a:p>
              <a:pPr lvl="0" algn="ctr" rtl="0">
                <a:spcBef>
                  <a:spcPts val="0"/>
                </a:spcBef>
                <a:buNone/>
              </a:pPr>
              <a:endParaRPr sz="900" b="1">
                <a:solidFill>
                  <a:schemeClr val="dk2"/>
                </a:solidFill>
                <a:latin typeface="Roboto Slab"/>
                <a:ea typeface="Roboto Slab"/>
                <a:cs typeface="Roboto Slab"/>
                <a:sym typeface="Roboto Slab"/>
              </a:endParaRPr>
            </a:p>
          </p:txBody>
        </p:sp>
        <p:sp>
          <p:nvSpPr>
            <p:cNvPr id="1534" name="Shape 1534"/>
            <p:cNvSpPr txBox="1"/>
            <p:nvPr/>
          </p:nvSpPr>
          <p:spPr>
            <a:xfrm>
              <a:off x="6939672" y="2921867"/>
              <a:ext cx="1792799" cy="434999"/>
            </a:xfrm>
            <a:prstGeom prst="rect">
              <a:avLst/>
            </a:prstGeom>
            <a:noFill/>
            <a:ln>
              <a:noFill/>
            </a:ln>
          </p:spPr>
          <p:txBody>
            <a:bodyPr lIns="91425" tIns="91425" rIns="91425" bIns="91425" anchor="t" anchorCtr="0">
              <a:noAutofit/>
            </a:bodyPr>
            <a:lstStyle/>
            <a:p>
              <a:pPr lvl="0" algn="ctr" rtl="0">
                <a:spcBef>
                  <a:spcPts val="0"/>
                </a:spcBef>
                <a:buNone/>
              </a:pPr>
              <a:r>
                <a:rPr lang="en" sz="900" b="1">
                  <a:solidFill>
                    <a:schemeClr val="dk2"/>
                  </a:solidFill>
                  <a:latin typeface="Roboto Slab"/>
                  <a:ea typeface="Roboto Slab"/>
                  <a:cs typeface="Roboto Slab"/>
                  <a:sym typeface="Roboto Slab"/>
                </a:rPr>
                <a:t>GUEST</a:t>
              </a:r>
            </a:p>
            <a:p>
              <a:pPr lvl="0" algn="ctr" rtl="0">
                <a:spcBef>
                  <a:spcPts val="0"/>
                </a:spcBef>
                <a:buNone/>
              </a:pPr>
              <a:r>
                <a:rPr lang="en" sz="900" b="1">
                  <a:solidFill>
                    <a:schemeClr val="dk2"/>
                  </a:solidFill>
                  <a:latin typeface="Roboto Slab"/>
                  <a:ea typeface="Roboto Slab"/>
                  <a:cs typeface="Roboto Slab"/>
                  <a:sym typeface="Roboto Slab"/>
                </a:rPr>
                <a:t>POSTS</a:t>
              </a:r>
            </a:p>
            <a:p>
              <a:pPr lvl="0" algn="ctr" rtl="0">
                <a:spcBef>
                  <a:spcPts val="0"/>
                </a:spcBef>
                <a:buNone/>
              </a:pPr>
              <a:endParaRPr sz="900" b="1">
                <a:solidFill>
                  <a:schemeClr val="dk2"/>
                </a:solidFill>
                <a:latin typeface="Roboto Slab"/>
                <a:ea typeface="Roboto Slab"/>
                <a:cs typeface="Roboto Slab"/>
                <a:sym typeface="Roboto Slab"/>
              </a:endParaRPr>
            </a:p>
          </p:txBody>
        </p:sp>
        <p:sp>
          <p:nvSpPr>
            <p:cNvPr id="1535" name="Shape 1535"/>
            <p:cNvSpPr txBox="1"/>
            <p:nvPr/>
          </p:nvSpPr>
          <p:spPr>
            <a:xfrm>
              <a:off x="5365800" y="2671850"/>
              <a:ext cx="2090399" cy="789000"/>
            </a:xfrm>
            <a:prstGeom prst="rect">
              <a:avLst/>
            </a:prstGeom>
            <a:noFill/>
            <a:ln>
              <a:noFill/>
            </a:ln>
          </p:spPr>
          <p:txBody>
            <a:bodyPr lIns="91425" tIns="91425" rIns="91425" bIns="91425" anchor="t" anchorCtr="0">
              <a:noAutofit/>
            </a:bodyPr>
            <a:lstStyle/>
            <a:p>
              <a:pPr lvl="0" algn="ctr" rtl="0">
                <a:spcBef>
                  <a:spcPts val="0"/>
                </a:spcBef>
                <a:buNone/>
              </a:pPr>
              <a:r>
                <a:rPr lang="en" sz="1800" b="1">
                  <a:solidFill>
                    <a:schemeClr val="dk2"/>
                  </a:solidFill>
                  <a:latin typeface="Roboto Slab"/>
                  <a:ea typeface="Roboto Slab"/>
                  <a:cs typeface="Roboto Slab"/>
                  <a:sym typeface="Roboto Slab"/>
                </a:rPr>
                <a:t>MEDIA MIX </a:t>
              </a:r>
              <a:br>
                <a:rPr lang="en" sz="1800" b="1">
                  <a:solidFill>
                    <a:schemeClr val="dk2"/>
                  </a:solidFill>
                  <a:latin typeface="Roboto Slab"/>
                  <a:ea typeface="Roboto Slab"/>
                  <a:cs typeface="Roboto Slab"/>
                  <a:sym typeface="Roboto Slab"/>
                </a:rPr>
              </a:br>
              <a:r>
                <a:rPr lang="en" sz="1200">
                  <a:solidFill>
                    <a:schemeClr val="dk2"/>
                  </a:solidFill>
                  <a:latin typeface="Roboto Slab"/>
                  <a:ea typeface="Roboto Slab"/>
                  <a:cs typeface="Roboto Slab"/>
                  <a:sym typeface="Roboto Slab"/>
                </a:rPr>
                <a:t>for the kickstart</a:t>
              </a:r>
            </a:p>
          </p:txBody>
        </p:sp>
      </p:grpSp>
      <p:grpSp>
        <p:nvGrpSpPr>
          <p:cNvPr id="1536" name="Shape 1536"/>
          <p:cNvGrpSpPr/>
          <p:nvPr/>
        </p:nvGrpSpPr>
        <p:grpSpPr>
          <a:xfrm>
            <a:off x="723589" y="1464739"/>
            <a:ext cx="3776747" cy="966495"/>
            <a:chOff x="723589" y="1464739"/>
            <a:chExt cx="3776747" cy="966495"/>
          </a:xfrm>
        </p:grpSpPr>
        <p:grpSp>
          <p:nvGrpSpPr>
            <p:cNvPr id="1537" name="Shape 1537"/>
            <p:cNvGrpSpPr/>
            <p:nvPr/>
          </p:nvGrpSpPr>
          <p:grpSpPr>
            <a:xfrm>
              <a:off x="723589" y="1464739"/>
              <a:ext cx="877678" cy="966495"/>
              <a:chOff x="723589" y="1464739"/>
              <a:chExt cx="877678" cy="966495"/>
            </a:xfrm>
          </p:grpSpPr>
          <p:grpSp>
            <p:nvGrpSpPr>
              <p:cNvPr id="1538" name="Shape 1538"/>
              <p:cNvGrpSpPr/>
              <p:nvPr/>
            </p:nvGrpSpPr>
            <p:grpSpPr>
              <a:xfrm>
                <a:off x="723589" y="1464739"/>
                <a:ext cx="877678" cy="966495"/>
                <a:chOff x="1649600" y="1217575"/>
                <a:chExt cx="995099" cy="1095799"/>
              </a:xfrm>
            </p:grpSpPr>
            <p:sp>
              <p:nvSpPr>
                <p:cNvPr id="1539" name="Shape 1539"/>
                <p:cNvSpPr/>
                <p:nvPr/>
              </p:nvSpPr>
              <p:spPr>
                <a:xfrm>
                  <a:off x="1649600" y="1318275"/>
                  <a:ext cx="995099" cy="995099"/>
                </a:xfrm>
                <a:prstGeom prst="roundRect">
                  <a:avLst>
                    <a:gd name="adj" fmla="val 16667"/>
                  </a:avLst>
                </a:prstGeom>
                <a:solidFill>
                  <a:srgbClr val="89AEB0"/>
                </a:solidFill>
                <a:ln>
                  <a:noFill/>
                </a:ln>
              </p:spPr>
              <p:txBody>
                <a:bodyPr lIns="91425" tIns="91425" rIns="91425" bIns="91425" anchor="ctr" anchorCtr="0">
                  <a:noAutofit/>
                </a:bodyPr>
                <a:lstStyle/>
                <a:p>
                  <a:pPr>
                    <a:spcBef>
                      <a:spcPts val="0"/>
                    </a:spcBef>
                    <a:buNone/>
                  </a:pPr>
                  <a:endParaRPr/>
                </a:p>
              </p:txBody>
            </p:sp>
            <p:sp>
              <p:nvSpPr>
                <p:cNvPr id="1540" name="Shape 1540"/>
                <p:cNvSpPr/>
                <p:nvPr/>
              </p:nvSpPr>
              <p:spPr>
                <a:xfrm>
                  <a:off x="1649600" y="1217575"/>
                  <a:ext cx="995099" cy="995099"/>
                </a:xfrm>
                <a:prstGeom prst="roundRect">
                  <a:avLst>
                    <a:gd name="adj" fmla="val 16667"/>
                  </a:avLst>
                </a:prstGeom>
                <a:solidFill>
                  <a:srgbClr val="A8D5D7"/>
                </a:solidFill>
                <a:ln>
                  <a:noFill/>
                </a:ln>
              </p:spPr>
              <p:txBody>
                <a:bodyPr lIns="91425" tIns="91425" rIns="91425" bIns="91425" anchor="ctr" anchorCtr="0">
                  <a:noAutofit/>
                </a:bodyPr>
                <a:lstStyle/>
                <a:p>
                  <a:pPr>
                    <a:spcBef>
                      <a:spcPts val="0"/>
                    </a:spcBef>
                    <a:buNone/>
                  </a:pPr>
                  <a:endParaRPr/>
                </a:p>
              </p:txBody>
            </p:sp>
          </p:grpSp>
          <p:pic>
            <p:nvPicPr>
              <p:cNvPr id="1541" name="Shape 1541"/>
              <p:cNvPicPr preferRelativeResize="0"/>
              <p:nvPr/>
            </p:nvPicPr>
            <p:blipFill>
              <a:blip r:embed="rId9">
                <a:alphaModFix/>
              </a:blip>
              <a:stretch>
                <a:fillRect/>
              </a:stretch>
            </p:blipFill>
            <p:spPr>
              <a:xfrm>
                <a:off x="767987" y="1537002"/>
                <a:ext cx="788899" cy="788899"/>
              </a:xfrm>
              <a:prstGeom prst="rect">
                <a:avLst/>
              </a:prstGeom>
              <a:noFill/>
              <a:ln>
                <a:noFill/>
              </a:ln>
            </p:spPr>
          </p:pic>
        </p:grpSp>
        <p:sp>
          <p:nvSpPr>
            <p:cNvPr id="1542" name="Shape 1542"/>
            <p:cNvSpPr txBox="1"/>
            <p:nvPr/>
          </p:nvSpPr>
          <p:spPr>
            <a:xfrm>
              <a:off x="1732237" y="1464750"/>
              <a:ext cx="2768099" cy="434999"/>
            </a:xfrm>
            <a:prstGeom prst="rect">
              <a:avLst/>
            </a:prstGeom>
            <a:noFill/>
            <a:ln>
              <a:noFill/>
            </a:ln>
          </p:spPr>
          <p:txBody>
            <a:bodyPr lIns="91425" tIns="91425" rIns="91425" bIns="91425" anchor="t" anchorCtr="0">
              <a:noAutofit/>
            </a:bodyPr>
            <a:lstStyle/>
            <a:p>
              <a:pPr lvl="0" rtl="0">
                <a:spcBef>
                  <a:spcPts val="0"/>
                </a:spcBef>
                <a:buClr>
                  <a:schemeClr val="dk1"/>
                </a:buClr>
                <a:buSzPct val="91666"/>
                <a:buFont typeface="Arial"/>
                <a:buNone/>
              </a:pPr>
              <a:r>
                <a:rPr lang="en" sz="1200" b="1">
                  <a:solidFill>
                    <a:schemeClr val="dk2"/>
                  </a:solidFill>
                  <a:latin typeface="Roboto Slab"/>
                  <a:ea typeface="Roboto Slab"/>
                  <a:cs typeface="Roboto Slab"/>
                  <a:sym typeface="Roboto Slab"/>
                </a:rPr>
                <a:t>First Step: Create a mailing list</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sz="800" b="1">
                <a:solidFill>
                  <a:schemeClr val="dk2"/>
                </a:solidFill>
                <a:latin typeface="Roboto Slab"/>
                <a:ea typeface="Roboto Slab"/>
                <a:cs typeface="Roboto Slab"/>
                <a:sym typeface="Roboto Slab"/>
              </a:endParaRPr>
            </a:p>
          </p:txBody>
        </p:sp>
        <p:sp>
          <p:nvSpPr>
            <p:cNvPr id="1543" name="Shape 1543"/>
            <p:cNvSpPr txBox="1"/>
            <p:nvPr/>
          </p:nvSpPr>
          <p:spPr>
            <a:xfrm>
              <a:off x="1732250" y="1778275"/>
              <a:ext cx="2193599" cy="604800"/>
            </a:xfrm>
            <a:prstGeom prst="rect">
              <a:avLst/>
            </a:prstGeom>
            <a:noFill/>
            <a:ln>
              <a:noFill/>
            </a:ln>
          </p:spPr>
          <p:txBody>
            <a:bodyPr lIns="91425" tIns="91425" rIns="91425" bIns="91425" anchor="t" anchorCtr="0">
              <a:noAutofit/>
            </a:bodyPr>
            <a:lstStyle/>
            <a:p>
              <a:pPr lvl="0"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rtl="0">
                <a:spcBef>
                  <a:spcPts val="0"/>
                </a:spcBef>
                <a:buClr>
                  <a:srgbClr val="000000"/>
                </a:buClr>
                <a:buFont typeface="Arial"/>
                <a:buNone/>
              </a:pPr>
              <a:endParaRPr sz="900">
                <a:latin typeface="Roboto"/>
                <a:ea typeface="Roboto"/>
                <a:cs typeface="Roboto"/>
                <a:sym typeface="Roboto"/>
              </a:endParaRPr>
            </a:p>
          </p:txBody>
        </p:sp>
      </p:grpSp>
      <p:grpSp>
        <p:nvGrpSpPr>
          <p:cNvPr id="1544" name="Shape 1544"/>
          <p:cNvGrpSpPr/>
          <p:nvPr/>
        </p:nvGrpSpPr>
        <p:grpSpPr>
          <a:xfrm>
            <a:off x="723606" y="2595148"/>
            <a:ext cx="3795705" cy="966495"/>
            <a:chOff x="723606" y="2595148"/>
            <a:chExt cx="3795705" cy="966495"/>
          </a:xfrm>
        </p:grpSpPr>
        <p:grpSp>
          <p:nvGrpSpPr>
            <p:cNvPr id="1545" name="Shape 1545"/>
            <p:cNvGrpSpPr/>
            <p:nvPr/>
          </p:nvGrpSpPr>
          <p:grpSpPr>
            <a:xfrm>
              <a:off x="723606" y="2595148"/>
              <a:ext cx="877678" cy="966495"/>
              <a:chOff x="846550" y="3039175"/>
              <a:chExt cx="995099" cy="1095799"/>
            </a:xfrm>
          </p:grpSpPr>
          <p:sp>
            <p:nvSpPr>
              <p:cNvPr id="1546" name="Shape 1546"/>
              <p:cNvSpPr/>
              <p:nvPr/>
            </p:nvSpPr>
            <p:spPr>
              <a:xfrm>
                <a:off x="846550" y="3139875"/>
                <a:ext cx="995099" cy="995099"/>
              </a:xfrm>
              <a:prstGeom prst="roundRect">
                <a:avLst>
                  <a:gd name="adj" fmla="val 16667"/>
                </a:avLst>
              </a:prstGeom>
              <a:solidFill>
                <a:srgbClr val="C06F63"/>
              </a:solidFill>
              <a:ln>
                <a:noFill/>
              </a:ln>
            </p:spPr>
            <p:txBody>
              <a:bodyPr lIns="91425" tIns="91425" rIns="91425" bIns="91425" anchor="ctr" anchorCtr="0">
                <a:noAutofit/>
              </a:bodyPr>
              <a:lstStyle/>
              <a:p>
                <a:pPr>
                  <a:spcBef>
                    <a:spcPts val="0"/>
                  </a:spcBef>
                  <a:buNone/>
                </a:pPr>
                <a:endParaRPr/>
              </a:p>
            </p:txBody>
          </p:sp>
          <p:sp>
            <p:nvSpPr>
              <p:cNvPr id="1547" name="Shape 1547"/>
              <p:cNvSpPr/>
              <p:nvPr/>
            </p:nvSpPr>
            <p:spPr>
              <a:xfrm>
                <a:off x="846550" y="3039175"/>
                <a:ext cx="995099" cy="995099"/>
              </a:xfrm>
              <a:prstGeom prst="roundRect">
                <a:avLst>
                  <a:gd name="adj" fmla="val 16667"/>
                </a:avLst>
              </a:prstGeom>
              <a:solidFill>
                <a:srgbClr val="F08B7C"/>
              </a:solidFill>
              <a:ln>
                <a:noFill/>
              </a:ln>
            </p:spPr>
            <p:txBody>
              <a:bodyPr lIns="91425" tIns="91425" rIns="91425" bIns="91425" anchor="ctr" anchorCtr="0">
                <a:noAutofit/>
              </a:bodyPr>
              <a:lstStyle/>
              <a:p>
                <a:pPr>
                  <a:spcBef>
                    <a:spcPts val="0"/>
                  </a:spcBef>
                  <a:buNone/>
                </a:pPr>
                <a:endParaRPr/>
              </a:p>
            </p:txBody>
          </p:sp>
        </p:grpSp>
        <p:pic>
          <p:nvPicPr>
            <p:cNvPr id="1548" name="Shape 1548"/>
            <p:cNvPicPr preferRelativeResize="0"/>
            <p:nvPr/>
          </p:nvPicPr>
          <p:blipFill>
            <a:blip r:embed="rId10">
              <a:alphaModFix/>
            </a:blip>
            <a:stretch>
              <a:fillRect/>
            </a:stretch>
          </p:blipFill>
          <p:spPr>
            <a:xfrm>
              <a:off x="730037" y="2604767"/>
              <a:ext cx="864824" cy="864824"/>
            </a:xfrm>
            <a:prstGeom prst="rect">
              <a:avLst/>
            </a:prstGeom>
            <a:noFill/>
            <a:ln>
              <a:noFill/>
            </a:ln>
          </p:spPr>
        </p:pic>
        <p:sp>
          <p:nvSpPr>
            <p:cNvPr id="1549" name="Shape 1549"/>
            <p:cNvSpPr txBox="1"/>
            <p:nvPr/>
          </p:nvSpPr>
          <p:spPr>
            <a:xfrm>
              <a:off x="1751212" y="2604775"/>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chemeClr val="dk2"/>
                  </a:solidFill>
                  <a:latin typeface="Roboto Slab"/>
                  <a:ea typeface="Roboto Slab"/>
                  <a:cs typeface="Roboto Slab"/>
                  <a:sym typeface="Roboto Slab"/>
                </a:rPr>
                <a:t>Second Step: Content creation</a:t>
              </a:r>
            </a:p>
            <a:p>
              <a:pPr lvl="0" algn="ctr" rtl="0">
                <a:spcBef>
                  <a:spcPts val="0"/>
                </a:spcBef>
                <a:buNone/>
              </a:pPr>
              <a:endParaRPr sz="800" b="1">
                <a:solidFill>
                  <a:schemeClr val="dk2"/>
                </a:solidFill>
                <a:latin typeface="Roboto Slab"/>
                <a:ea typeface="Roboto Slab"/>
                <a:cs typeface="Roboto Slab"/>
                <a:sym typeface="Roboto Slab"/>
              </a:endParaRPr>
            </a:p>
          </p:txBody>
        </p:sp>
        <p:sp>
          <p:nvSpPr>
            <p:cNvPr id="1550" name="Shape 1550"/>
            <p:cNvSpPr txBox="1"/>
            <p:nvPr/>
          </p:nvSpPr>
          <p:spPr>
            <a:xfrm>
              <a:off x="1761344" y="2876155"/>
              <a:ext cx="2193599" cy="604800"/>
            </a:xfrm>
            <a:prstGeom prst="rect">
              <a:avLst/>
            </a:prstGeom>
            <a:noFill/>
            <a:ln>
              <a:noFill/>
            </a:ln>
          </p:spPr>
          <p:txBody>
            <a:bodyPr lIns="91425" tIns="91425" rIns="91425" bIns="91425" anchor="t" anchorCtr="0">
              <a:noAutofit/>
            </a:bodyPr>
            <a:lstStyle/>
            <a:p>
              <a:pPr lvl="0"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rtl="0">
                <a:spcBef>
                  <a:spcPts val="0"/>
                </a:spcBef>
                <a:buNone/>
              </a:pPr>
              <a:endParaRPr sz="900">
                <a:latin typeface="Roboto"/>
                <a:ea typeface="Roboto"/>
                <a:cs typeface="Roboto"/>
                <a:sym typeface="Roboto"/>
              </a:endParaRPr>
            </a:p>
          </p:txBody>
        </p:sp>
      </p:grpSp>
      <p:grpSp>
        <p:nvGrpSpPr>
          <p:cNvPr id="1551" name="Shape 1551"/>
          <p:cNvGrpSpPr/>
          <p:nvPr/>
        </p:nvGrpSpPr>
        <p:grpSpPr>
          <a:xfrm>
            <a:off x="722187" y="3725584"/>
            <a:ext cx="3799624" cy="966495"/>
            <a:chOff x="722187" y="3725584"/>
            <a:chExt cx="3799624" cy="966495"/>
          </a:xfrm>
        </p:grpSpPr>
        <p:grpSp>
          <p:nvGrpSpPr>
            <p:cNvPr id="1552" name="Shape 1552"/>
            <p:cNvGrpSpPr/>
            <p:nvPr/>
          </p:nvGrpSpPr>
          <p:grpSpPr>
            <a:xfrm>
              <a:off x="722188" y="3725584"/>
              <a:ext cx="877678" cy="966495"/>
              <a:chOff x="6955650" y="1444825"/>
              <a:chExt cx="995099" cy="1095799"/>
            </a:xfrm>
          </p:grpSpPr>
          <p:sp>
            <p:nvSpPr>
              <p:cNvPr id="1553" name="Shape 1553"/>
              <p:cNvSpPr/>
              <p:nvPr/>
            </p:nvSpPr>
            <p:spPr>
              <a:xfrm>
                <a:off x="6955650" y="1545525"/>
                <a:ext cx="995099" cy="995099"/>
              </a:xfrm>
              <a:prstGeom prst="roundRect">
                <a:avLst>
                  <a:gd name="adj" fmla="val 16667"/>
                </a:avLst>
              </a:prstGeom>
              <a:solidFill>
                <a:srgbClr val="87A54F"/>
              </a:solidFill>
              <a:ln>
                <a:noFill/>
              </a:ln>
            </p:spPr>
            <p:txBody>
              <a:bodyPr lIns="91425" tIns="91425" rIns="91425" bIns="91425" anchor="ctr" anchorCtr="0">
                <a:noAutofit/>
              </a:bodyPr>
              <a:lstStyle/>
              <a:p>
                <a:pPr>
                  <a:spcBef>
                    <a:spcPts val="0"/>
                  </a:spcBef>
                  <a:buNone/>
                </a:pPr>
                <a:endParaRPr/>
              </a:p>
            </p:txBody>
          </p:sp>
          <p:sp>
            <p:nvSpPr>
              <p:cNvPr id="1554" name="Shape 1554"/>
              <p:cNvSpPr/>
              <p:nvPr/>
            </p:nvSpPr>
            <p:spPr>
              <a:xfrm>
                <a:off x="6955650" y="1444825"/>
                <a:ext cx="995099" cy="995099"/>
              </a:xfrm>
              <a:prstGeom prst="roundRect">
                <a:avLst>
                  <a:gd name="adj" fmla="val 16667"/>
                </a:avLst>
              </a:prstGeom>
              <a:solidFill>
                <a:srgbClr val="A5C961"/>
              </a:solidFill>
              <a:ln>
                <a:noFill/>
              </a:ln>
            </p:spPr>
            <p:txBody>
              <a:bodyPr lIns="91425" tIns="91425" rIns="91425" bIns="91425" anchor="ctr" anchorCtr="0">
                <a:noAutofit/>
              </a:bodyPr>
              <a:lstStyle/>
              <a:p>
                <a:pPr>
                  <a:spcBef>
                    <a:spcPts val="0"/>
                  </a:spcBef>
                  <a:buNone/>
                </a:pPr>
                <a:endParaRPr/>
              </a:p>
            </p:txBody>
          </p:sp>
        </p:grpSp>
        <p:pic>
          <p:nvPicPr>
            <p:cNvPr id="1555" name="Shape 1555"/>
            <p:cNvPicPr preferRelativeResize="0"/>
            <p:nvPr/>
          </p:nvPicPr>
          <p:blipFill>
            <a:blip r:embed="rId11">
              <a:alphaModFix/>
            </a:blip>
            <a:stretch>
              <a:fillRect/>
            </a:stretch>
          </p:blipFill>
          <p:spPr>
            <a:xfrm>
              <a:off x="722187" y="3740802"/>
              <a:ext cx="877675" cy="877675"/>
            </a:xfrm>
            <a:prstGeom prst="rect">
              <a:avLst/>
            </a:prstGeom>
            <a:noFill/>
            <a:ln>
              <a:noFill/>
            </a:ln>
          </p:spPr>
        </p:pic>
        <p:sp>
          <p:nvSpPr>
            <p:cNvPr id="1556" name="Shape 1556"/>
            <p:cNvSpPr txBox="1"/>
            <p:nvPr/>
          </p:nvSpPr>
          <p:spPr>
            <a:xfrm>
              <a:off x="1753712" y="3744800"/>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chemeClr val="dk2"/>
                  </a:solidFill>
                  <a:latin typeface="Roboto Slab"/>
                  <a:ea typeface="Roboto Slab"/>
                  <a:cs typeface="Roboto Slab"/>
                  <a:sym typeface="Roboto Slab"/>
                </a:rPr>
                <a:t>Third Step: Social Advertising</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sz="800" b="1">
                <a:solidFill>
                  <a:schemeClr val="dk2"/>
                </a:solidFill>
                <a:latin typeface="Roboto Slab"/>
                <a:ea typeface="Roboto Slab"/>
                <a:cs typeface="Roboto Slab"/>
                <a:sym typeface="Roboto Slab"/>
              </a:endParaRPr>
            </a:p>
          </p:txBody>
        </p:sp>
        <p:sp>
          <p:nvSpPr>
            <p:cNvPr id="1557" name="Shape 1557"/>
            <p:cNvSpPr txBox="1"/>
            <p:nvPr/>
          </p:nvSpPr>
          <p:spPr>
            <a:xfrm>
              <a:off x="1761344" y="4021300"/>
              <a:ext cx="2193599" cy="604800"/>
            </a:xfrm>
            <a:prstGeom prst="rect">
              <a:avLst/>
            </a:prstGeom>
            <a:noFill/>
            <a:ln>
              <a:noFill/>
            </a:ln>
          </p:spPr>
          <p:txBody>
            <a:bodyPr lIns="91425" tIns="91425" rIns="91425" bIns="91425" anchor="t" anchorCtr="0">
              <a:noAutofit/>
            </a:bodyPr>
            <a:lstStyle/>
            <a:p>
              <a:pPr lvl="0"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rtl="0">
                <a:spcBef>
                  <a:spcPts val="0"/>
                </a:spcBef>
                <a:buNone/>
              </a:pPr>
              <a:endParaRPr sz="900">
                <a:latin typeface="Roboto"/>
                <a:ea typeface="Roboto"/>
                <a:cs typeface="Roboto"/>
                <a:sym typeface="Roboto"/>
              </a:endParaRPr>
            </a:p>
          </p:txBody>
        </p:sp>
      </p:grpSp>
      <p:pic>
        <p:nvPicPr>
          <p:cNvPr id="40" name="Immagine 39">
            <a:extLst>
              <a:ext uri="{FF2B5EF4-FFF2-40B4-BE49-F238E27FC236}">
                <a16:creationId xmlns:a16="http://schemas.microsoft.com/office/drawing/2014/main" id="{E4FFE1F5-8151-463C-88D1-BE23B377E186}"/>
              </a:ext>
            </a:extLst>
          </p:cNvPr>
          <p:cNvPicPr>
            <a:picLocks noChangeAspect="1"/>
          </p:cNvPicPr>
          <p:nvPr/>
        </p:nvPicPr>
        <p:blipFill rotWithShape="1">
          <a:blip r:embed="rId12"/>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536"/>
                                        </p:tgtEl>
                                        <p:attrNameLst>
                                          <p:attrName>style.visibility</p:attrName>
                                        </p:attrNameLst>
                                      </p:cBhvr>
                                      <p:to>
                                        <p:strVal val="visible"/>
                                      </p:to>
                                    </p:set>
                                    <p:anim calcmode="lin" valueType="num">
                                      <p:cBhvr additive="base">
                                        <p:cTn id="7" dur="1000"/>
                                        <p:tgtEl>
                                          <p:spTgt spid="1536"/>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 presetClass="entr" presetSubtype="8" fill="hold" nodeType="afterEffect">
                                  <p:stCondLst>
                                    <p:cond delay="0"/>
                                  </p:stCondLst>
                                  <p:childTnLst>
                                    <p:set>
                                      <p:cBhvr>
                                        <p:cTn id="10" dur="1" fill="hold">
                                          <p:stCondLst>
                                            <p:cond delay="0"/>
                                          </p:stCondLst>
                                        </p:cTn>
                                        <p:tgtEl>
                                          <p:spTgt spid="1544"/>
                                        </p:tgtEl>
                                        <p:attrNameLst>
                                          <p:attrName>style.visibility</p:attrName>
                                        </p:attrNameLst>
                                      </p:cBhvr>
                                      <p:to>
                                        <p:strVal val="visible"/>
                                      </p:to>
                                    </p:set>
                                    <p:anim calcmode="lin" valueType="num">
                                      <p:cBhvr additive="base">
                                        <p:cTn id="11" dur="1000"/>
                                        <p:tgtEl>
                                          <p:spTgt spid="1544"/>
                                        </p:tgtEl>
                                        <p:attrNameLst>
                                          <p:attrName>ppt_x</p:attrName>
                                        </p:attrNameLst>
                                      </p:cBhvr>
                                      <p:tavLst>
                                        <p:tav tm="0">
                                          <p:val>
                                            <p:strVal val="#ppt_x-1"/>
                                          </p:val>
                                        </p:tav>
                                        <p:tav tm="100000">
                                          <p:val>
                                            <p:strVal val="#ppt_x"/>
                                          </p:val>
                                        </p:tav>
                                      </p:tavLst>
                                    </p:anim>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1551"/>
                                        </p:tgtEl>
                                        <p:attrNameLst>
                                          <p:attrName>style.visibility</p:attrName>
                                        </p:attrNameLst>
                                      </p:cBhvr>
                                      <p:to>
                                        <p:strVal val="visible"/>
                                      </p:to>
                                    </p:set>
                                    <p:anim calcmode="lin" valueType="num">
                                      <p:cBhvr additive="base">
                                        <p:cTn id="15" dur="1000"/>
                                        <p:tgtEl>
                                          <p:spTgt spid="1551"/>
                                        </p:tgtEl>
                                        <p:attrNameLst>
                                          <p:attrName>ppt_x</p:attrName>
                                        </p:attrNameLst>
                                      </p:cBhvr>
                                      <p:tavLst>
                                        <p:tav tm="0">
                                          <p:val>
                                            <p:strVal val="#ppt_x-1"/>
                                          </p:val>
                                        </p:tav>
                                        <p:tav tm="100000">
                                          <p:val>
                                            <p:strVal val="#ppt_x"/>
                                          </p:val>
                                        </p:tav>
                                      </p:tavLst>
                                    </p:anim>
                                  </p:childTnLst>
                                </p:cTn>
                              </p:par>
                            </p:childTnLst>
                          </p:cTn>
                        </p:par>
                        <p:par>
                          <p:cTn id="16" fill="hold">
                            <p:stCondLst>
                              <p:cond delay="3000"/>
                            </p:stCondLst>
                            <p:childTnLst>
                              <p:par>
                                <p:cTn id="17" presetID="2" presetClass="entr" presetSubtype="2" fill="hold" nodeType="afterEffect">
                                  <p:stCondLst>
                                    <p:cond delay="0"/>
                                  </p:stCondLst>
                                  <p:childTnLst>
                                    <p:set>
                                      <p:cBhvr>
                                        <p:cTn id="18" dur="1" fill="hold">
                                          <p:stCondLst>
                                            <p:cond delay="0"/>
                                          </p:stCondLst>
                                        </p:cTn>
                                        <p:tgtEl>
                                          <p:spTgt spid="1525"/>
                                        </p:tgtEl>
                                        <p:attrNameLst>
                                          <p:attrName>style.visibility</p:attrName>
                                        </p:attrNameLst>
                                      </p:cBhvr>
                                      <p:to>
                                        <p:strVal val="visible"/>
                                      </p:to>
                                    </p:set>
                                    <p:anim calcmode="lin" valueType="num">
                                      <p:cBhvr additive="base">
                                        <p:cTn id="19" dur="1000"/>
                                        <p:tgtEl>
                                          <p:spTgt spid="152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1561"/>
        <p:cNvGrpSpPr/>
        <p:nvPr/>
      </p:nvGrpSpPr>
      <p:grpSpPr>
        <a:xfrm>
          <a:off x="0" y="0"/>
          <a:ext cx="0" cy="0"/>
          <a:chOff x="0" y="0"/>
          <a:chExt cx="0" cy="0"/>
        </a:xfrm>
      </p:grpSpPr>
      <p:sp>
        <p:nvSpPr>
          <p:cNvPr id="29" name="Rettangolo 28">
            <a:extLst>
              <a:ext uri="{FF2B5EF4-FFF2-40B4-BE49-F238E27FC236}">
                <a16:creationId xmlns:a16="http://schemas.microsoft.com/office/drawing/2014/main" id="{73C6C779-B863-466F-9277-CF3A80FF734C}"/>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1562" name="Shape 1562"/>
          <p:cNvPicPr preferRelativeResize="0"/>
          <p:nvPr/>
        </p:nvPicPr>
        <p:blipFill>
          <a:blip r:embed="rId3">
            <a:alphaModFix/>
          </a:blip>
          <a:stretch>
            <a:fillRect/>
          </a:stretch>
        </p:blipFill>
        <p:spPr>
          <a:xfrm>
            <a:off x="-84000" y="183075"/>
            <a:ext cx="9291700" cy="788900"/>
          </a:xfrm>
          <a:prstGeom prst="rect">
            <a:avLst/>
          </a:prstGeom>
          <a:noFill/>
          <a:ln>
            <a:noFill/>
          </a:ln>
        </p:spPr>
      </p:pic>
      <p:sp>
        <p:nvSpPr>
          <p:cNvPr id="1565" name="Shape 1565"/>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Way To Market</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grpSp>
        <p:nvGrpSpPr>
          <p:cNvPr id="1566" name="Shape 1566"/>
          <p:cNvGrpSpPr/>
          <p:nvPr/>
        </p:nvGrpSpPr>
        <p:grpSpPr>
          <a:xfrm>
            <a:off x="494370" y="1413125"/>
            <a:ext cx="4245275" cy="3392249"/>
            <a:chOff x="494370" y="1413125"/>
            <a:chExt cx="4245275" cy="3392249"/>
          </a:xfrm>
        </p:grpSpPr>
        <p:pic>
          <p:nvPicPr>
            <p:cNvPr id="1567" name="Shape 1567"/>
            <p:cNvPicPr preferRelativeResize="0"/>
            <p:nvPr/>
          </p:nvPicPr>
          <p:blipFill>
            <a:blip r:embed="rId4">
              <a:alphaModFix/>
            </a:blip>
            <a:stretch>
              <a:fillRect/>
            </a:stretch>
          </p:blipFill>
          <p:spPr>
            <a:xfrm>
              <a:off x="494370" y="1413125"/>
              <a:ext cx="4245275" cy="3392249"/>
            </a:xfrm>
            <a:prstGeom prst="rect">
              <a:avLst/>
            </a:prstGeom>
            <a:noFill/>
            <a:ln>
              <a:noFill/>
            </a:ln>
          </p:spPr>
        </p:pic>
        <p:pic>
          <p:nvPicPr>
            <p:cNvPr id="1568" name="Shape 1568"/>
            <p:cNvPicPr preferRelativeResize="0"/>
            <p:nvPr/>
          </p:nvPicPr>
          <p:blipFill>
            <a:blip r:embed="rId5">
              <a:alphaModFix/>
            </a:blip>
            <a:stretch>
              <a:fillRect/>
            </a:stretch>
          </p:blipFill>
          <p:spPr>
            <a:xfrm>
              <a:off x="692957" y="1749757"/>
              <a:ext cx="3848100" cy="2238375"/>
            </a:xfrm>
            <a:prstGeom prst="rect">
              <a:avLst/>
            </a:prstGeom>
            <a:noFill/>
            <a:ln>
              <a:noFill/>
            </a:ln>
          </p:spPr>
        </p:pic>
      </p:grpSp>
      <p:grpSp>
        <p:nvGrpSpPr>
          <p:cNvPr id="1569" name="Shape 1569"/>
          <p:cNvGrpSpPr/>
          <p:nvPr/>
        </p:nvGrpSpPr>
        <p:grpSpPr>
          <a:xfrm>
            <a:off x="5122414" y="1464739"/>
            <a:ext cx="3847698" cy="966617"/>
            <a:chOff x="5122414" y="1464739"/>
            <a:chExt cx="3847698" cy="966617"/>
          </a:xfrm>
        </p:grpSpPr>
        <p:sp>
          <p:nvSpPr>
            <p:cNvPr id="1570" name="Shape 1570"/>
            <p:cNvSpPr/>
            <p:nvPr/>
          </p:nvSpPr>
          <p:spPr>
            <a:xfrm>
              <a:off x="5122414" y="1553556"/>
              <a:ext cx="877800" cy="877800"/>
            </a:xfrm>
            <a:prstGeom prst="roundRect">
              <a:avLst>
                <a:gd name="adj" fmla="val 16667"/>
              </a:avLst>
            </a:prstGeom>
            <a:solidFill>
              <a:srgbClr val="9FC5E8"/>
            </a:solidFill>
            <a:ln>
              <a:noFill/>
            </a:ln>
          </p:spPr>
          <p:txBody>
            <a:bodyPr lIns="91425" tIns="91425" rIns="91425" bIns="91425" anchor="ctr" anchorCtr="0">
              <a:noAutofit/>
            </a:bodyPr>
            <a:lstStyle/>
            <a:p>
              <a:pPr>
                <a:spcBef>
                  <a:spcPts val="0"/>
                </a:spcBef>
                <a:buNone/>
              </a:pPr>
              <a:endParaRPr/>
            </a:p>
          </p:txBody>
        </p:sp>
        <p:sp>
          <p:nvSpPr>
            <p:cNvPr id="1571" name="Shape 1571"/>
            <p:cNvSpPr/>
            <p:nvPr/>
          </p:nvSpPr>
          <p:spPr>
            <a:xfrm>
              <a:off x="5122414" y="1464739"/>
              <a:ext cx="877800" cy="877800"/>
            </a:xfrm>
            <a:prstGeom prst="roundRect">
              <a:avLst>
                <a:gd name="adj" fmla="val 16667"/>
              </a:avLst>
            </a:prstGeom>
            <a:solidFill>
              <a:srgbClr val="6FA8DC"/>
            </a:solidFill>
            <a:ln>
              <a:noFill/>
            </a:ln>
          </p:spPr>
          <p:txBody>
            <a:bodyPr lIns="91425" tIns="91425" rIns="91425" bIns="91425" anchor="ctr" anchorCtr="0">
              <a:noAutofit/>
            </a:bodyPr>
            <a:lstStyle/>
            <a:p>
              <a:pPr>
                <a:spcBef>
                  <a:spcPts val="0"/>
                </a:spcBef>
                <a:buNone/>
              </a:pPr>
              <a:endParaRPr/>
            </a:p>
          </p:txBody>
        </p:sp>
        <p:pic>
          <p:nvPicPr>
            <p:cNvPr id="1572" name="Shape 1572"/>
            <p:cNvPicPr preferRelativeResize="0"/>
            <p:nvPr/>
          </p:nvPicPr>
          <p:blipFill>
            <a:blip r:embed="rId6">
              <a:alphaModFix/>
            </a:blip>
            <a:stretch>
              <a:fillRect/>
            </a:stretch>
          </p:blipFill>
          <p:spPr>
            <a:xfrm>
              <a:off x="5345726" y="1700695"/>
              <a:ext cx="446292" cy="446299"/>
            </a:xfrm>
            <a:prstGeom prst="rect">
              <a:avLst/>
            </a:prstGeom>
            <a:noFill/>
            <a:ln>
              <a:noFill/>
            </a:ln>
          </p:spPr>
        </p:pic>
        <p:sp>
          <p:nvSpPr>
            <p:cNvPr id="1573" name="Shape 1573"/>
            <p:cNvSpPr txBox="1"/>
            <p:nvPr/>
          </p:nvSpPr>
          <p:spPr>
            <a:xfrm>
              <a:off x="6202012" y="1464750"/>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chemeClr val="dk2"/>
                  </a:solidFill>
                  <a:latin typeface="Roboto Slab"/>
                  <a:ea typeface="Roboto Slab"/>
                  <a:cs typeface="Roboto Slab"/>
                  <a:sym typeface="Roboto Slab"/>
                </a:rPr>
                <a:t>We’ll Start With Facebook</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sz="800" b="1">
                <a:solidFill>
                  <a:schemeClr val="dk2"/>
                </a:solidFill>
                <a:latin typeface="Roboto Slab"/>
                <a:ea typeface="Roboto Slab"/>
                <a:cs typeface="Roboto Slab"/>
                <a:sym typeface="Roboto Slab"/>
              </a:endParaRPr>
            </a:p>
          </p:txBody>
        </p:sp>
        <p:sp>
          <p:nvSpPr>
            <p:cNvPr id="1574" name="Shape 1574"/>
            <p:cNvSpPr txBox="1"/>
            <p:nvPr/>
          </p:nvSpPr>
          <p:spPr>
            <a:xfrm>
              <a:off x="6202025" y="1778275"/>
              <a:ext cx="2193599" cy="604800"/>
            </a:xfrm>
            <a:prstGeom prst="rect">
              <a:avLst/>
            </a:prstGeom>
            <a:noFill/>
            <a:ln>
              <a:noFill/>
            </a:ln>
          </p:spPr>
          <p:txBody>
            <a:bodyPr lIns="91425" tIns="91425" rIns="91425" bIns="91425" anchor="t" anchorCtr="0">
              <a:noAutofit/>
            </a:bodyPr>
            <a:lstStyle/>
            <a:p>
              <a:pPr lvl="0"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rtl="0">
                <a:spcBef>
                  <a:spcPts val="0"/>
                </a:spcBef>
                <a:buNone/>
              </a:pPr>
              <a:endParaRPr sz="900">
                <a:latin typeface="Roboto"/>
                <a:ea typeface="Roboto"/>
                <a:cs typeface="Roboto"/>
                <a:sym typeface="Roboto"/>
              </a:endParaRPr>
            </a:p>
          </p:txBody>
        </p:sp>
      </p:grpSp>
      <p:grpSp>
        <p:nvGrpSpPr>
          <p:cNvPr id="1575" name="Shape 1575"/>
          <p:cNvGrpSpPr/>
          <p:nvPr/>
        </p:nvGrpSpPr>
        <p:grpSpPr>
          <a:xfrm>
            <a:off x="5122431" y="2595148"/>
            <a:ext cx="3866655" cy="966495"/>
            <a:chOff x="5122431" y="2595148"/>
            <a:chExt cx="3866655" cy="966495"/>
          </a:xfrm>
        </p:grpSpPr>
        <p:grpSp>
          <p:nvGrpSpPr>
            <p:cNvPr id="1576" name="Shape 1576"/>
            <p:cNvGrpSpPr/>
            <p:nvPr/>
          </p:nvGrpSpPr>
          <p:grpSpPr>
            <a:xfrm>
              <a:off x="5122431" y="2595148"/>
              <a:ext cx="877678" cy="966495"/>
              <a:chOff x="846550" y="3039175"/>
              <a:chExt cx="995099" cy="1095799"/>
            </a:xfrm>
          </p:grpSpPr>
          <p:sp>
            <p:nvSpPr>
              <p:cNvPr id="1577" name="Shape 1577"/>
              <p:cNvSpPr/>
              <p:nvPr/>
            </p:nvSpPr>
            <p:spPr>
              <a:xfrm>
                <a:off x="846550" y="3139875"/>
                <a:ext cx="995099" cy="995099"/>
              </a:xfrm>
              <a:prstGeom prst="roundRect">
                <a:avLst>
                  <a:gd name="adj" fmla="val 16667"/>
                </a:avLst>
              </a:prstGeom>
              <a:solidFill>
                <a:srgbClr val="EA9999"/>
              </a:solidFill>
              <a:ln>
                <a:noFill/>
              </a:ln>
            </p:spPr>
            <p:txBody>
              <a:bodyPr lIns="91425" tIns="91425" rIns="91425" bIns="91425" anchor="ctr" anchorCtr="0">
                <a:noAutofit/>
              </a:bodyPr>
              <a:lstStyle/>
              <a:p>
                <a:pPr>
                  <a:spcBef>
                    <a:spcPts val="0"/>
                  </a:spcBef>
                  <a:buNone/>
                </a:pPr>
                <a:endParaRPr/>
              </a:p>
            </p:txBody>
          </p:sp>
          <p:sp>
            <p:nvSpPr>
              <p:cNvPr id="1578" name="Shape 1578"/>
              <p:cNvSpPr/>
              <p:nvPr/>
            </p:nvSpPr>
            <p:spPr>
              <a:xfrm>
                <a:off x="846550" y="3039175"/>
                <a:ext cx="995099" cy="995099"/>
              </a:xfrm>
              <a:prstGeom prst="roundRect">
                <a:avLst>
                  <a:gd name="adj" fmla="val 16667"/>
                </a:avLst>
              </a:prstGeom>
              <a:solidFill>
                <a:srgbClr val="E06666"/>
              </a:solidFill>
              <a:ln>
                <a:noFill/>
              </a:ln>
            </p:spPr>
            <p:txBody>
              <a:bodyPr lIns="91425" tIns="91425" rIns="91425" bIns="91425" anchor="ctr" anchorCtr="0">
                <a:noAutofit/>
              </a:bodyPr>
              <a:lstStyle/>
              <a:p>
                <a:pPr>
                  <a:spcBef>
                    <a:spcPts val="0"/>
                  </a:spcBef>
                  <a:buNone/>
                </a:pPr>
                <a:endParaRPr/>
              </a:p>
            </p:txBody>
          </p:sp>
        </p:grpSp>
        <p:pic>
          <p:nvPicPr>
            <p:cNvPr id="1579" name="Shape 1579"/>
            <p:cNvPicPr preferRelativeResize="0"/>
            <p:nvPr/>
          </p:nvPicPr>
          <p:blipFill>
            <a:blip r:embed="rId7">
              <a:alphaModFix/>
            </a:blip>
            <a:stretch>
              <a:fillRect/>
            </a:stretch>
          </p:blipFill>
          <p:spPr>
            <a:xfrm>
              <a:off x="5345719" y="2826487"/>
              <a:ext cx="446292" cy="446299"/>
            </a:xfrm>
            <a:prstGeom prst="rect">
              <a:avLst/>
            </a:prstGeom>
            <a:noFill/>
            <a:ln>
              <a:noFill/>
            </a:ln>
          </p:spPr>
        </p:pic>
        <p:sp>
          <p:nvSpPr>
            <p:cNvPr id="1580" name="Shape 1580"/>
            <p:cNvSpPr txBox="1"/>
            <p:nvPr/>
          </p:nvSpPr>
          <p:spPr>
            <a:xfrm>
              <a:off x="6220987" y="2604775"/>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chemeClr val="dk2"/>
                  </a:solidFill>
                  <a:latin typeface="Roboto Slab"/>
                  <a:ea typeface="Roboto Slab"/>
                  <a:cs typeface="Roboto Slab"/>
                  <a:sym typeface="Roboto Slab"/>
                </a:rPr>
                <a:t>We’ll Launch Our Youtube Video</a:t>
              </a:r>
            </a:p>
            <a:p>
              <a:pPr lvl="0" algn="ctr" rtl="0">
                <a:spcBef>
                  <a:spcPts val="0"/>
                </a:spcBef>
                <a:buNone/>
              </a:pPr>
              <a:endParaRPr sz="800" b="1">
                <a:solidFill>
                  <a:schemeClr val="dk2"/>
                </a:solidFill>
                <a:latin typeface="Roboto Slab"/>
                <a:ea typeface="Roboto Slab"/>
                <a:cs typeface="Roboto Slab"/>
                <a:sym typeface="Roboto Slab"/>
              </a:endParaRPr>
            </a:p>
          </p:txBody>
        </p:sp>
        <p:sp>
          <p:nvSpPr>
            <p:cNvPr id="1581" name="Shape 1581"/>
            <p:cNvSpPr txBox="1"/>
            <p:nvPr/>
          </p:nvSpPr>
          <p:spPr>
            <a:xfrm>
              <a:off x="6231119" y="2876155"/>
              <a:ext cx="2193599" cy="604800"/>
            </a:xfrm>
            <a:prstGeom prst="rect">
              <a:avLst/>
            </a:prstGeom>
            <a:noFill/>
            <a:ln>
              <a:noFill/>
            </a:ln>
          </p:spPr>
          <p:txBody>
            <a:bodyPr lIns="91425" tIns="91425" rIns="91425" bIns="91425" anchor="t" anchorCtr="0">
              <a:noAutofit/>
            </a:bodyPr>
            <a:lstStyle/>
            <a:p>
              <a:pPr lvl="0"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rtl="0">
                <a:spcBef>
                  <a:spcPts val="0"/>
                </a:spcBef>
                <a:buNone/>
              </a:pPr>
              <a:endParaRPr sz="900">
                <a:latin typeface="Roboto"/>
                <a:ea typeface="Roboto"/>
                <a:cs typeface="Roboto"/>
                <a:sym typeface="Roboto"/>
              </a:endParaRPr>
            </a:p>
          </p:txBody>
        </p:sp>
      </p:grpSp>
      <p:grpSp>
        <p:nvGrpSpPr>
          <p:cNvPr id="1582" name="Shape 1582"/>
          <p:cNvGrpSpPr/>
          <p:nvPr/>
        </p:nvGrpSpPr>
        <p:grpSpPr>
          <a:xfrm>
            <a:off x="5121013" y="3725584"/>
            <a:ext cx="3870573" cy="966495"/>
            <a:chOff x="5121013" y="3725584"/>
            <a:chExt cx="3870573" cy="966495"/>
          </a:xfrm>
        </p:grpSpPr>
        <p:grpSp>
          <p:nvGrpSpPr>
            <p:cNvPr id="1583" name="Shape 1583"/>
            <p:cNvGrpSpPr/>
            <p:nvPr/>
          </p:nvGrpSpPr>
          <p:grpSpPr>
            <a:xfrm>
              <a:off x="5121013" y="3725584"/>
              <a:ext cx="877678" cy="966495"/>
              <a:chOff x="6955650" y="1444825"/>
              <a:chExt cx="995099" cy="1095799"/>
            </a:xfrm>
          </p:grpSpPr>
          <p:sp>
            <p:nvSpPr>
              <p:cNvPr id="1584" name="Shape 1584"/>
              <p:cNvSpPr/>
              <p:nvPr/>
            </p:nvSpPr>
            <p:spPr>
              <a:xfrm>
                <a:off x="6955650" y="1545525"/>
                <a:ext cx="995099" cy="995099"/>
              </a:xfrm>
              <a:prstGeom prst="roundRect">
                <a:avLst>
                  <a:gd name="adj" fmla="val 16667"/>
                </a:avLst>
              </a:prstGeom>
              <a:solidFill>
                <a:srgbClr val="A8D5D7">
                  <a:alpha val="55000"/>
                </a:srgbClr>
              </a:solidFill>
              <a:ln>
                <a:noFill/>
              </a:ln>
            </p:spPr>
            <p:txBody>
              <a:bodyPr lIns="91425" tIns="91425" rIns="91425" bIns="91425" anchor="ctr" anchorCtr="0">
                <a:noAutofit/>
              </a:bodyPr>
              <a:lstStyle/>
              <a:p>
                <a:pPr>
                  <a:spcBef>
                    <a:spcPts val="0"/>
                  </a:spcBef>
                  <a:buNone/>
                </a:pPr>
                <a:endParaRPr/>
              </a:p>
            </p:txBody>
          </p:sp>
          <p:sp>
            <p:nvSpPr>
              <p:cNvPr id="1585" name="Shape 1585"/>
              <p:cNvSpPr/>
              <p:nvPr/>
            </p:nvSpPr>
            <p:spPr>
              <a:xfrm>
                <a:off x="6955650" y="1444825"/>
                <a:ext cx="995099" cy="995099"/>
              </a:xfrm>
              <a:prstGeom prst="roundRect">
                <a:avLst>
                  <a:gd name="adj" fmla="val 16667"/>
                </a:avLst>
              </a:prstGeom>
              <a:solidFill>
                <a:srgbClr val="A9D6D9"/>
              </a:solidFill>
              <a:ln>
                <a:noFill/>
              </a:ln>
            </p:spPr>
            <p:txBody>
              <a:bodyPr lIns="91425" tIns="91425" rIns="91425" bIns="91425" anchor="ctr" anchorCtr="0">
                <a:noAutofit/>
              </a:bodyPr>
              <a:lstStyle/>
              <a:p>
                <a:pPr>
                  <a:spcBef>
                    <a:spcPts val="0"/>
                  </a:spcBef>
                  <a:buNone/>
                </a:pPr>
                <a:endParaRPr/>
              </a:p>
            </p:txBody>
          </p:sp>
        </p:grpSp>
        <p:pic>
          <p:nvPicPr>
            <p:cNvPr id="1586" name="Shape 1586"/>
            <p:cNvPicPr preferRelativeResize="0"/>
            <p:nvPr/>
          </p:nvPicPr>
          <p:blipFill>
            <a:blip r:embed="rId8">
              <a:alphaModFix/>
            </a:blip>
            <a:stretch>
              <a:fillRect/>
            </a:stretch>
          </p:blipFill>
          <p:spPr>
            <a:xfrm>
              <a:off x="5336712" y="3952286"/>
              <a:ext cx="446292" cy="446299"/>
            </a:xfrm>
            <a:prstGeom prst="rect">
              <a:avLst/>
            </a:prstGeom>
            <a:noFill/>
            <a:ln>
              <a:noFill/>
            </a:ln>
          </p:spPr>
        </p:pic>
        <p:sp>
          <p:nvSpPr>
            <p:cNvPr id="1587" name="Shape 1587"/>
            <p:cNvSpPr txBox="1"/>
            <p:nvPr/>
          </p:nvSpPr>
          <p:spPr>
            <a:xfrm>
              <a:off x="6223487" y="3744800"/>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chemeClr val="dk2"/>
                  </a:solidFill>
                  <a:latin typeface="Roboto Slab"/>
                  <a:ea typeface="Roboto Slab"/>
                  <a:cs typeface="Roboto Slab"/>
                  <a:sym typeface="Roboto Slab"/>
                </a:rPr>
                <a:t>We Start Tweeting Our Products</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sz="800" b="1">
                <a:solidFill>
                  <a:schemeClr val="dk2"/>
                </a:solidFill>
                <a:latin typeface="Roboto Slab"/>
                <a:ea typeface="Roboto Slab"/>
                <a:cs typeface="Roboto Slab"/>
                <a:sym typeface="Roboto Slab"/>
              </a:endParaRPr>
            </a:p>
          </p:txBody>
        </p:sp>
        <p:sp>
          <p:nvSpPr>
            <p:cNvPr id="1588" name="Shape 1588"/>
            <p:cNvSpPr txBox="1"/>
            <p:nvPr/>
          </p:nvSpPr>
          <p:spPr>
            <a:xfrm>
              <a:off x="6231119" y="4021300"/>
              <a:ext cx="2193599" cy="604800"/>
            </a:xfrm>
            <a:prstGeom prst="rect">
              <a:avLst/>
            </a:prstGeom>
            <a:noFill/>
            <a:ln>
              <a:noFill/>
            </a:ln>
          </p:spPr>
          <p:txBody>
            <a:bodyPr lIns="91425" tIns="91425" rIns="91425" bIns="91425" anchor="t" anchorCtr="0">
              <a:noAutofit/>
            </a:bodyPr>
            <a:lstStyle/>
            <a:p>
              <a:pPr lvl="0"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rtl="0">
                <a:spcBef>
                  <a:spcPts val="0"/>
                </a:spcBef>
                <a:buNone/>
              </a:pPr>
              <a:endParaRPr sz="900">
                <a:latin typeface="Roboto"/>
                <a:ea typeface="Roboto"/>
                <a:cs typeface="Roboto"/>
                <a:sym typeface="Roboto"/>
              </a:endParaRPr>
            </a:p>
          </p:txBody>
        </p:sp>
      </p:grpSp>
      <p:pic>
        <p:nvPicPr>
          <p:cNvPr id="30" name="Immagine 29">
            <a:extLst>
              <a:ext uri="{FF2B5EF4-FFF2-40B4-BE49-F238E27FC236}">
                <a16:creationId xmlns:a16="http://schemas.microsoft.com/office/drawing/2014/main" id="{8E024248-550A-4990-A061-9770E0961FB0}"/>
              </a:ext>
            </a:extLst>
          </p:cNvPr>
          <p:cNvPicPr>
            <a:picLocks noChangeAspect="1"/>
          </p:cNvPicPr>
          <p:nvPr/>
        </p:nvPicPr>
        <p:blipFill rotWithShape="1">
          <a:blip r:embed="rId9"/>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569"/>
                                        </p:tgtEl>
                                        <p:attrNameLst>
                                          <p:attrName>style.visibility</p:attrName>
                                        </p:attrNameLst>
                                      </p:cBhvr>
                                      <p:to>
                                        <p:strVal val="visible"/>
                                      </p:to>
                                    </p:set>
                                    <p:anim calcmode="lin" valueType="num">
                                      <p:cBhvr additive="base">
                                        <p:cTn id="7" dur="1000"/>
                                        <p:tgtEl>
                                          <p:spTgt spid="1569"/>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1575"/>
                                        </p:tgtEl>
                                        <p:attrNameLst>
                                          <p:attrName>style.visibility</p:attrName>
                                        </p:attrNameLst>
                                      </p:cBhvr>
                                      <p:to>
                                        <p:strVal val="visible"/>
                                      </p:to>
                                    </p:set>
                                    <p:anim calcmode="lin" valueType="num">
                                      <p:cBhvr additive="base">
                                        <p:cTn id="11" dur="1000"/>
                                        <p:tgtEl>
                                          <p:spTgt spid="1575"/>
                                        </p:tgtEl>
                                        <p:attrNameLst>
                                          <p:attrName>ppt_x</p:attrName>
                                        </p:attrNameLst>
                                      </p:cBhvr>
                                      <p:tavLst>
                                        <p:tav tm="0">
                                          <p:val>
                                            <p:strVal val="#ppt_x+1"/>
                                          </p:val>
                                        </p:tav>
                                        <p:tav tm="100000">
                                          <p:val>
                                            <p:strVal val="#ppt_x"/>
                                          </p:val>
                                        </p:tav>
                                      </p:tavLst>
                                    </p:anim>
                                  </p:childTnLst>
                                </p:cTn>
                              </p:par>
                            </p:childTnLst>
                          </p:cTn>
                        </p:par>
                        <p:par>
                          <p:cTn id="12" fill="hold">
                            <p:stCondLst>
                              <p:cond delay="2000"/>
                            </p:stCondLst>
                            <p:childTnLst>
                              <p:par>
                                <p:cTn id="13" presetID="2" presetClass="entr" presetSubtype="2" fill="hold" nodeType="afterEffect">
                                  <p:stCondLst>
                                    <p:cond delay="0"/>
                                  </p:stCondLst>
                                  <p:childTnLst>
                                    <p:set>
                                      <p:cBhvr>
                                        <p:cTn id="14" dur="1" fill="hold">
                                          <p:stCondLst>
                                            <p:cond delay="0"/>
                                          </p:stCondLst>
                                        </p:cTn>
                                        <p:tgtEl>
                                          <p:spTgt spid="1582"/>
                                        </p:tgtEl>
                                        <p:attrNameLst>
                                          <p:attrName>style.visibility</p:attrName>
                                        </p:attrNameLst>
                                      </p:cBhvr>
                                      <p:to>
                                        <p:strVal val="visible"/>
                                      </p:to>
                                    </p:set>
                                    <p:anim calcmode="lin" valueType="num">
                                      <p:cBhvr additive="base">
                                        <p:cTn id="15" dur="1000"/>
                                        <p:tgtEl>
                                          <p:spTgt spid="1582"/>
                                        </p:tgtEl>
                                        <p:attrNameLst>
                                          <p:attrName>ppt_x</p:attrName>
                                        </p:attrNameLst>
                                      </p:cBhvr>
                                      <p:tavLst>
                                        <p:tav tm="0">
                                          <p:val>
                                            <p:strVal val="#ppt_x+1"/>
                                          </p:val>
                                        </p:tav>
                                        <p:tav tm="100000">
                                          <p:val>
                                            <p:strVal val="#ppt_x"/>
                                          </p:val>
                                        </p:tav>
                                      </p:tavLst>
                                    </p:anim>
                                  </p:childTnLst>
                                </p:cTn>
                              </p:par>
                            </p:childTnLst>
                          </p:cTn>
                        </p:par>
                        <p:par>
                          <p:cTn id="16" fill="hold">
                            <p:stCondLst>
                              <p:cond delay="3000"/>
                            </p:stCondLst>
                            <p:childTnLst>
                              <p:par>
                                <p:cTn id="17" presetID="2" presetClass="entr" presetSubtype="8" fill="hold" nodeType="afterEffect">
                                  <p:stCondLst>
                                    <p:cond delay="0"/>
                                  </p:stCondLst>
                                  <p:childTnLst>
                                    <p:set>
                                      <p:cBhvr>
                                        <p:cTn id="18" dur="1" fill="hold">
                                          <p:stCondLst>
                                            <p:cond delay="0"/>
                                          </p:stCondLst>
                                        </p:cTn>
                                        <p:tgtEl>
                                          <p:spTgt spid="1566"/>
                                        </p:tgtEl>
                                        <p:attrNameLst>
                                          <p:attrName>style.visibility</p:attrName>
                                        </p:attrNameLst>
                                      </p:cBhvr>
                                      <p:to>
                                        <p:strVal val="visible"/>
                                      </p:to>
                                    </p:set>
                                    <p:anim calcmode="lin" valueType="num">
                                      <p:cBhvr additive="base">
                                        <p:cTn id="19" dur="1000"/>
                                        <p:tgtEl>
                                          <p:spTgt spid="15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1620"/>
        <p:cNvGrpSpPr/>
        <p:nvPr/>
      </p:nvGrpSpPr>
      <p:grpSpPr>
        <a:xfrm>
          <a:off x="0" y="0"/>
          <a:ext cx="0" cy="0"/>
          <a:chOff x="0" y="0"/>
          <a:chExt cx="0" cy="0"/>
        </a:xfrm>
      </p:grpSpPr>
      <p:sp>
        <p:nvSpPr>
          <p:cNvPr id="48" name="Rettangolo 47">
            <a:extLst>
              <a:ext uri="{FF2B5EF4-FFF2-40B4-BE49-F238E27FC236}">
                <a16:creationId xmlns:a16="http://schemas.microsoft.com/office/drawing/2014/main" id="{CEC0B66E-9AC5-4DA3-98AB-8FFF9AF3B84F}"/>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1621" name="Shape 1621"/>
          <p:cNvPicPr preferRelativeResize="0"/>
          <p:nvPr/>
        </p:nvPicPr>
        <p:blipFill>
          <a:blip r:embed="rId3">
            <a:alphaModFix/>
          </a:blip>
          <a:stretch>
            <a:fillRect/>
          </a:stretch>
        </p:blipFill>
        <p:spPr>
          <a:xfrm>
            <a:off x="-84000" y="183075"/>
            <a:ext cx="9291700" cy="788900"/>
          </a:xfrm>
          <a:prstGeom prst="rect">
            <a:avLst/>
          </a:prstGeom>
          <a:noFill/>
          <a:ln>
            <a:noFill/>
          </a:ln>
        </p:spPr>
      </p:pic>
      <p:sp>
        <p:nvSpPr>
          <p:cNvPr id="1624" name="Shape 1624"/>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Way To Market</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pic>
        <p:nvPicPr>
          <p:cNvPr id="1625" name="Shape 1625"/>
          <p:cNvPicPr preferRelativeResize="0"/>
          <p:nvPr/>
        </p:nvPicPr>
        <p:blipFill>
          <a:blip r:embed="rId4">
            <a:alphaModFix/>
          </a:blip>
          <a:stretch>
            <a:fillRect/>
          </a:stretch>
        </p:blipFill>
        <p:spPr>
          <a:xfrm>
            <a:off x="2872100" y="2766275"/>
            <a:ext cx="3034736" cy="2028526"/>
          </a:xfrm>
          <a:prstGeom prst="rect">
            <a:avLst/>
          </a:prstGeom>
          <a:noFill/>
          <a:ln>
            <a:noFill/>
          </a:ln>
        </p:spPr>
      </p:pic>
      <p:grpSp>
        <p:nvGrpSpPr>
          <p:cNvPr id="1626" name="Shape 1626"/>
          <p:cNvGrpSpPr/>
          <p:nvPr/>
        </p:nvGrpSpPr>
        <p:grpSpPr>
          <a:xfrm>
            <a:off x="6369224" y="3651973"/>
            <a:ext cx="3681517" cy="966617"/>
            <a:chOff x="6369224" y="3651973"/>
            <a:chExt cx="3681517" cy="966617"/>
          </a:xfrm>
        </p:grpSpPr>
        <p:sp>
          <p:nvSpPr>
            <p:cNvPr id="1627" name="Shape 1627"/>
            <p:cNvSpPr/>
            <p:nvPr/>
          </p:nvSpPr>
          <p:spPr>
            <a:xfrm>
              <a:off x="6369224" y="3740791"/>
              <a:ext cx="877800" cy="877800"/>
            </a:xfrm>
            <a:prstGeom prst="roundRect">
              <a:avLst>
                <a:gd name="adj" fmla="val 16667"/>
              </a:avLst>
            </a:prstGeom>
            <a:solidFill>
              <a:schemeClr val="accent1"/>
            </a:solidFill>
            <a:ln>
              <a:noFill/>
            </a:ln>
          </p:spPr>
          <p:txBody>
            <a:bodyPr lIns="91425" tIns="91425" rIns="91425" bIns="91425" anchor="ctr" anchorCtr="0">
              <a:noAutofit/>
            </a:bodyPr>
            <a:lstStyle/>
            <a:p>
              <a:pPr>
                <a:spcBef>
                  <a:spcPts val="0"/>
                </a:spcBef>
                <a:buNone/>
              </a:pPr>
              <a:endParaRPr/>
            </a:p>
          </p:txBody>
        </p:sp>
        <p:sp>
          <p:nvSpPr>
            <p:cNvPr id="1628" name="Shape 1628"/>
            <p:cNvSpPr/>
            <p:nvPr/>
          </p:nvSpPr>
          <p:spPr>
            <a:xfrm>
              <a:off x="6369224" y="3651973"/>
              <a:ext cx="877800" cy="877800"/>
            </a:xfrm>
            <a:prstGeom prst="roundRect">
              <a:avLst>
                <a:gd name="adj" fmla="val 16667"/>
              </a:avLst>
            </a:prstGeom>
            <a:solidFill>
              <a:srgbClr val="FDCC5B"/>
            </a:solidFill>
            <a:ln>
              <a:noFill/>
            </a:ln>
          </p:spPr>
          <p:txBody>
            <a:bodyPr lIns="91425" tIns="91425" rIns="91425" bIns="91425" anchor="ctr" anchorCtr="0">
              <a:noAutofit/>
            </a:bodyPr>
            <a:lstStyle/>
            <a:p>
              <a:pPr>
                <a:spcBef>
                  <a:spcPts val="0"/>
                </a:spcBef>
                <a:buNone/>
              </a:pPr>
              <a:endParaRPr/>
            </a:p>
          </p:txBody>
        </p:sp>
        <p:pic>
          <p:nvPicPr>
            <p:cNvPr id="1629" name="Shape 1629"/>
            <p:cNvPicPr preferRelativeResize="0"/>
            <p:nvPr/>
          </p:nvPicPr>
          <p:blipFill>
            <a:blip r:embed="rId5">
              <a:alphaModFix/>
            </a:blip>
            <a:stretch>
              <a:fillRect/>
            </a:stretch>
          </p:blipFill>
          <p:spPr>
            <a:xfrm rot="-134">
              <a:off x="6495766" y="3783337"/>
              <a:ext cx="624724" cy="624749"/>
            </a:xfrm>
            <a:prstGeom prst="rect">
              <a:avLst/>
            </a:prstGeom>
            <a:noFill/>
            <a:ln>
              <a:noFill/>
            </a:ln>
          </p:spPr>
        </p:pic>
        <p:sp>
          <p:nvSpPr>
            <p:cNvPr id="1630" name="Shape 1630"/>
            <p:cNvSpPr txBox="1"/>
            <p:nvPr/>
          </p:nvSpPr>
          <p:spPr>
            <a:xfrm>
              <a:off x="7282642" y="3653125"/>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chemeClr val="dk2"/>
                  </a:solidFill>
                  <a:latin typeface="Roboto Slab"/>
                  <a:ea typeface="Roboto Slab"/>
                  <a:cs typeface="Roboto Slab"/>
                  <a:sym typeface="Roboto Slab"/>
                </a:rPr>
                <a:t>Mobile App</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sz="800" b="1">
                <a:solidFill>
                  <a:schemeClr val="dk2"/>
                </a:solidFill>
                <a:latin typeface="Roboto Slab"/>
                <a:ea typeface="Roboto Slab"/>
                <a:cs typeface="Roboto Slab"/>
                <a:sym typeface="Roboto Slab"/>
              </a:endParaRPr>
            </a:p>
          </p:txBody>
        </p:sp>
        <p:sp>
          <p:nvSpPr>
            <p:cNvPr id="1631" name="Shape 1631"/>
            <p:cNvSpPr txBox="1"/>
            <p:nvPr/>
          </p:nvSpPr>
          <p:spPr>
            <a:xfrm>
              <a:off x="7290275" y="3929625"/>
              <a:ext cx="1388999" cy="604800"/>
            </a:xfrm>
            <a:prstGeom prst="rect">
              <a:avLst/>
            </a:prstGeom>
            <a:noFill/>
            <a:ln>
              <a:noFill/>
            </a:ln>
          </p:spPr>
          <p:txBody>
            <a:bodyPr lIns="91425" tIns="91425" rIns="91425" bIns="91425" anchor="t" anchorCtr="0">
              <a:noAutofit/>
            </a:bodyPr>
            <a:lstStyle/>
            <a:p>
              <a:pPr lvl="0"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a:t>
              </a:r>
            </a:p>
            <a:p>
              <a:pPr lvl="0" rtl="0">
                <a:spcBef>
                  <a:spcPts val="0"/>
                </a:spcBef>
                <a:buNone/>
              </a:pPr>
              <a:endParaRPr sz="900">
                <a:latin typeface="Roboto"/>
                <a:ea typeface="Roboto"/>
                <a:cs typeface="Roboto"/>
                <a:sym typeface="Roboto"/>
              </a:endParaRPr>
            </a:p>
          </p:txBody>
        </p:sp>
      </p:grpSp>
      <p:grpSp>
        <p:nvGrpSpPr>
          <p:cNvPr id="1632" name="Shape 1632"/>
          <p:cNvGrpSpPr/>
          <p:nvPr/>
        </p:nvGrpSpPr>
        <p:grpSpPr>
          <a:xfrm>
            <a:off x="1066851" y="2186885"/>
            <a:ext cx="5603061" cy="1903988"/>
            <a:chOff x="1066851" y="2186885"/>
            <a:chExt cx="5603061" cy="1903988"/>
          </a:xfrm>
        </p:grpSpPr>
        <p:sp>
          <p:nvSpPr>
            <p:cNvPr id="1633" name="Shape 1633"/>
            <p:cNvSpPr/>
            <p:nvPr/>
          </p:nvSpPr>
          <p:spPr>
            <a:xfrm>
              <a:off x="4240812" y="3497585"/>
              <a:ext cx="297300" cy="183000"/>
            </a:xfrm>
            <a:prstGeom prst="ellipse">
              <a:avLst/>
            </a:prstGeom>
            <a:solidFill>
              <a:schemeClr val="lt1"/>
            </a:solidFill>
            <a:ln>
              <a:noFill/>
            </a:ln>
          </p:spPr>
          <p:txBody>
            <a:bodyPr lIns="91425" tIns="91425" rIns="91425" bIns="91425" anchor="ctr" anchorCtr="0">
              <a:noAutofit/>
            </a:bodyPr>
            <a:lstStyle/>
            <a:p>
              <a:pPr>
                <a:spcBef>
                  <a:spcPts val="0"/>
                </a:spcBef>
                <a:buNone/>
              </a:pPr>
              <a:endParaRPr/>
            </a:p>
          </p:txBody>
        </p:sp>
        <p:cxnSp>
          <p:nvCxnSpPr>
            <p:cNvPr id="1634" name="Shape 1634"/>
            <p:cNvCxnSpPr>
              <a:stCxn id="1633" idx="0"/>
            </p:cNvCxnSpPr>
            <p:nvPr/>
          </p:nvCxnSpPr>
          <p:spPr>
            <a:xfrm rot="10800000">
              <a:off x="3779562" y="2186885"/>
              <a:ext cx="609900" cy="1310700"/>
            </a:xfrm>
            <a:prstGeom prst="straightConnector1">
              <a:avLst/>
            </a:prstGeom>
            <a:noFill/>
            <a:ln w="38100" cap="flat" cmpd="sng">
              <a:solidFill>
                <a:schemeClr val="lt1"/>
              </a:solidFill>
              <a:prstDash val="dashDot"/>
              <a:round/>
              <a:headEnd type="none" w="lg" len="lg"/>
              <a:tailEnd type="none" w="lg" len="lg"/>
            </a:ln>
          </p:spPr>
        </p:cxnSp>
        <p:cxnSp>
          <p:nvCxnSpPr>
            <p:cNvPr id="1635" name="Shape 1635"/>
            <p:cNvCxnSpPr>
              <a:stCxn id="1636" idx="2"/>
              <a:endCxn id="1633" idx="6"/>
            </p:cNvCxnSpPr>
            <p:nvPr/>
          </p:nvCxnSpPr>
          <p:spPr>
            <a:xfrm flipH="1">
              <a:off x="4538112" y="2392985"/>
              <a:ext cx="2131800" cy="1196100"/>
            </a:xfrm>
            <a:prstGeom prst="straightConnector1">
              <a:avLst/>
            </a:prstGeom>
            <a:noFill/>
            <a:ln w="38100" cap="flat" cmpd="sng">
              <a:solidFill>
                <a:schemeClr val="lt1"/>
              </a:solidFill>
              <a:prstDash val="dashDot"/>
              <a:round/>
              <a:headEnd type="none" w="lg" len="lg"/>
              <a:tailEnd type="none" w="lg" len="lg"/>
            </a:ln>
          </p:spPr>
        </p:cxnSp>
        <p:cxnSp>
          <p:nvCxnSpPr>
            <p:cNvPr id="1637" name="Shape 1637"/>
            <p:cNvCxnSpPr>
              <a:stCxn id="1628" idx="1"/>
              <a:endCxn id="1633" idx="6"/>
            </p:cNvCxnSpPr>
            <p:nvPr/>
          </p:nvCxnSpPr>
          <p:spPr>
            <a:xfrm rot="10800000">
              <a:off x="4538024" y="3588973"/>
              <a:ext cx="1831200" cy="501900"/>
            </a:xfrm>
            <a:prstGeom prst="straightConnector1">
              <a:avLst/>
            </a:prstGeom>
            <a:noFill/>
            <a:ln w="38100" cap="flat" cmpd="sng">
              <a:solidFill>
                <a:schemeClr val="lt1"/>
              </a:solidFill>
              <a:prstDash val="dashDot"/>
              <a:round/>
              <a:headEnd type="none" w="lg" len="lg"/>
              <a:tailEnd type="none" w="lg" len="lg"/>
            </a:ln>
          </p:spPr>
        </p:cxnSp>
        <p:cxnSp>
          <p:nvCxnSpPr>
            <p:cNvPr id="1638" name="Shape 1638"/>
            <p:cNvCxnSpPr>
              <a:endCxn id="1633" idx="3"/>
            </p:cNvCxnSpPr>
            <p:nvPr/>
          </p:nvCxnSpPr>
          <p:spPr>
            <a:xfrm rot="10800000" flipH="1">
              <a:off x="1066851" y="3653785"/>
              <a:ext cx="3217500" cy="346800"/>
            </a:xfrm>
            <a:prstGeom prst="straightConnector1">
              <a:avLst/>
            </a:prstGeom>
            <a:noFill/>
            <a:ln w="38100" cap="flat" cmpd="sng">
              <a:solidFill>
                <a:schemeClr val="lt1"/>
              </a:solidFill>
              <a:prstDash val="dashDot"/>
              <a:round/>
              <a:headEnd type="none" w="lg" len="lg"/>
              <a:tailEnd type="none" w="lg" len="lg"/>
            </a:ln>
          </p:spPr>
        </p:cxnSp>
        <p:cxnSp>
          <p:nvCxnSpPr>
            <p:cNvPr id="1639" name="Shape 1639"/>
            <p:cNvCxnSpPr>
              <a:endCxn id="1633" idx="1"/>
            </p:cNvCxnSpPr>
            <p:nvPr/>
          </p:nvCxnSpPr>
          <p:spPr>
            <a:xfrm>
              <a:off x="1226751" y="2948984"/>
              <a:ext cx="3057600" cy="575399"/>
            </a:xfrm>
            <a:prstGeom prst="straightConnector1">
              <a:avLst/>
            </a:prstGeom>
            <a:noFill/>
            <a:ln w="38100" cap="flat" cmpd="sng">
              <a:solidFill>
                <a:schemeClr val="lt1"/>
              </a:solidFill>
              <a:prstDash val="dashDot"/>
              <a:round/>
              <a:headEnd type="none" w="lg" len="lg"/>
              <a:tailEnd type="none" w="lg" len="lg"/>
            </a:ln>
          </p:spPr>
        </p:cxnSp>
      </p:grpSp>
      <p:grpSp>
        <p:nvGrpSpPr>
          <p:cNvPr id="1640" name="Shape 1640"/>
          <p:cNvGrpSpPr/>
          <p:nvPr/>
        </p:nvGrpSpPr>
        <p:grpSpPr>
          <a:xfrm>
            <a:off x="384389" y="2011514"/>
            <a:ext cx="3633282" cy="966617"/>
            <a:chOff x="384389" y="2011514"/>
            <a:chExt cx="3633282" cy="966617"/>
          </a:xfrm>
        </p:grpSpPr>
        <p:sp>
          <p:nvSpPr>
            <p:cNvPr id="1641" name="Shape 1641"/>
            <p:cNvSpPr/>
            <p:nvPr/>
          </p:nvSpPr>
          <p:spPr>
            <a:xfrm>
              <a:off x="384389" y="2100331"/>
              <a:ext cx="877800" cy="877800"/>
            </a:xfrm>
            <a:prstGeom prst="roundRect">
              <a:avLst>
                <a:gd name="adj" fmla="val 16667"/>
              </a:avLst>
            </a:prstGeom>
            <a:solidFill>
              <a:srgbClr val="89AEB0"/>
            </a:solidFill>
            <a:ln>
              <a:noFill/>
            </a:ln>
          </p:spPr>
          <p:txBody>
            <a:bodyPr lIns="91425" tIns="91425" rIns="91425" bIns="91425" anchor="ctr" anchorCtr="0">
              <a:noAutofit/>
            </a:bodyPr>
            <a:lstStyle/>
            <a:p>
              <a:pPr>
                <a:spcBef>
                  <a:spcPts val="0"/>
                </a:spcBef>
                <a:buNone/>
              </a:pPr>
              <a:endParaRPr/>
            </a:p>
          </p:txBody>
        </p:sp>
        <p:grpSp>
          <p:nvGrpSpPr>
            <p:cNvPr id="1642" name="Shape 1642"/>
            <p:cNvGrpSpPr/>
            <p:nvPr/>
          </p:nvGrpSpPr>
          <p:grpSpPr>
            <a:xfrm>
              <a:off x="384389" y="2011514"/>
              <a:ext cx="3633282" cy="948435"/>
              <a:chOff x="384389" y="2011514"/>
              <a:chExt cx="3633282" cy="948435"/>
            </a:xfrm>
          </p:grpSpPr>
          <p:sp>
            <p:nvSpPr>
              <p:cNvPr id="1643" name="Shape 1643"/>
              <p:cNvSpPr txBox="1"/>
              <p:nvPr/>
            </p:nvSpPr>
            <p:spPr>
              <a:xfrm>
                <a:off x="1249572" y="2041625"/>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chemeClr val="dk2"/>
                    </a:solidFill>
                    <a:latin typeface="Roboto Slab"/>
                    <a:ea typeface="Roboto Slab"/>
                    <a:cs typeface="Roboto Slab"/>
                    <a:sym typeface="Roboto Slab"/>
                  </a:rPr>
                  <a:t>Facebook Campaign</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sz="800" b="1">
                  <a:solidFill>
                    <a:schemeClr val="dk2"/>
                  </a:solidFill>
                  <a:latin typeface="Roboto Slab"/>
                  <a:ea typeface="Roboto Slab"/>
                  <a:cs typeface="Roboto Slab"/>
                  <a:sym typeface="Roboto Slab"/>
                </a:endParaRPr>
              </a:p>
            </p:txBody>
          </p:sp>
          <p:sp>
            <p:nvSpPr>
              <p:cNvPr id="1644" name="Shape 1644"/>
              <p:cNvSpPr txBox="1"/>
              <p:nvPr/>
            </p:nvSpPr>
            <p:spPr>
              <a:xfrm>
                <a:off x="1249584" y="2355150"/>
                <a:ext cx="1646700" cy="604800"/>
              </a:xfrm>
              <a:prstGeom prst="rect">
                <a:avLst/>
              </a:prstGeom>
              <a:noFill/>
              <a:ln>
                <a:noFill/>
              </a:ln>
            </p:spPr>
            <p:txBody>
              <a:bodyPr lIns="91425" tIns="91425" rIns="91425" bIns="91425" anchor="t" anchorCtr="0">
                <a:noAutofit/>
              </a:bodyPr>
              <a:lstStyle/>
              <a:p>
                <a:pPr lvl="0"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r>
                  <a:rPr lang="en" sz="900">
                    <a:latin typeface="Roboto"/>
                    <a:ea typeface="Roboto"/>
                    <a:cs typeface="Roboto"/>
                    <a:sym typeface="Roboto"/>
                  </a:rPr>
                  <a:t>.</a:t>
                </a:r>
              </a:p>
              <a:p>
                <a:pPr lvl="0" rtl="0">
                  <a:spcBef>
                    <a:spcPts val="0"/>
                  </a:spcBef>
                  <a:buNone/>
                </a:pPr>
                <a:endParaRPr sz="900">
                  <a:latin typeface="Roboto"/>
                  <a:ea typeface="Roboto"/>
                  <a:cs typeface="Roboto"/>
                  <a:sym typeface="Roboto"/>
                </a:endParaRPr>
              </a:p>
            </p:txBody>
          </p:sp>
          <p:sp>
            <p:nvSpPr>
              <p:cNvPr id="1645" name="Shape 1645"/>
              <p:cNvSpPr/>
              <p:nvPr/>
            </p:nvSpPr>
            <p:spPr>
              <a:xfrm>
                <a:off x="384389" y="2011514"/>
                <a:ext cx="877800" cy="877800"/>
              </a:xfrm>
              <a:prstGeom prst="roundRect">
                <a:avLst>
                  <a:gd name="adj" fmla="val 16667"/>
                </a:avLst>
              </a:prstGeom>
              <a:solidFill>
                <a:srgbClr val="A8D5D7"/>
              </a:solidFill>
              <a:ln>
                <a:noFill/>
              </a:ln>
            </p:spPr>
            <p:txBody>
              <a:bodyPr lIns="91425" tIns="91425" rIns="91425" bIns="91425" anchor="ctr" anchorCtr="0">
                <a:noAutofit/>
              </a:bodyPr>
              <a:lstStyle/>
              <a:p>
                <a:pPr>
                  <a:spcBef>
                    <a:spcPts val="0"/>
                  </a:spcBef>
                  <a:buNone/>
                </a:pPr>
                <a:endParaRPr/>
              </a:p>
            </p:txBody>
          </p:sp>
          <p:pic>
            <p:nvPicPr>
              <p:cNvPr id="1646" name="Shape 1646"/>
              <p:cNvPicPr preferRelativeResize="0"/>
              <p:nvPr/>
            </p:nvPicPr>
            <p:blipFill>
              <a:blip r:embed="rId6">
                <a:alphaModFix/>
              </a:blip>
              <a:stretch>
                <a:fillRect/>
              </a:stretch>
            </p:blipFill>
            <p:spPr>
              <a:xfrm>
                <a:off x="600087" y="2241144"/>
                <a:ext cx="446292" cy="446299"/>
              </a:xfrm>
              <a:prstGeom prst="rect">
                <a:avLst/>
              </a:prstGeom>
              <a:noFill/>
              <a:ln>
                <a:noFill/>
              </a:ln>
            </p:spPr>
          </p:pic>
        </p:grpSp>
      </p:grpSp>
      <p:grpSp>
        <p:nvGrpSpPr>
          <p:cNvPr id="1647" name="Shape 1647"/>
          <p:cNvGrpSpPr/>
          <p:nvPr/>
        </p:nvGrpSpPr>
        <p:grpSpPr>
          <a:xfrm>
            <a:off x="3235969" y="1215923"/>
            <a:ext cx="3645768" cy="966495"/>
            <a:chOff x="3235969" y="1215923"/>
            <a:chExt cx="3645768" cy="966495"/>
          </a:xfrm>
        </p:grpSpPr>
        <p:sp>
          <p:nvSpPr>
            <p:cNvPr id="1648" name="Shape 1648"/>
            <p:cNvSpPr txBox="1"/>
            <p:nvPr/>
          </p:nvSpPr>
          <p:spPr>
            <a:xfrm>
              <a:off x="4113637" y="1253187"/>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chemeClr val="dk2"/>
                  </a:solidFill>
                  <a:latin typeface="Roboto Slab"/>
                  <a:ea typeface="Roboto Slab"/>
                  <a:cs typeface="Roboto Slab"/>
                  <a:sym typeface="Roboto Slab"/>
                </a:rPr>
                <a:t>Youtube Video Spot</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sz="800" b="1">
                <a:solidFill>
                  <a:schemeClr val="dk2"/>
                </a:solidFill>
                <a:latin typeface="Roboto Slab"/>
                <a:ea typeface="Roboto Slab"/>
                <a:cs typeface="Roboto Slab"/>
                <a:sym typeface="Roboto Slab"/>
              </a:endParaRPr>
            </a:p>
          </p:txBody>
        </p:sp>
        <p:sp>
          <p:nvSpPr>
            <p:cNvPr id="1649" name="Shape 1649"/>
            <p:cNvSpPr txBox="1"/>
            <p:nvPr/>
          </p:nvSpPr>
          <p:spPr>
            <a:xfrm>
              <a:off x="4113650" y="1566712"/>
              <a:ext cx="1646700" cy="604800"/>
            </a:xfrm>
            <a:prstGeom prst="rect">
              <a:avLst/>
            </a:prstGeom>
            <a:noFill/>
            <a:ln>
              <a:noFill/>
            </a:ln>
          </p:spPr>
          <p:txBody>
            <a:bodyPr lIns="91425" tIns="91425" rIns="91425" bIns="91425" anchor="t" anchorCtr="0">
              <a:noAutofit/>
            </a:bodyPr>
            <a:lstStyle/>
            <a:p>
              <a:pPr lvl="0"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r>
                <a:rPr lang="en" sz="900">
                  <a:latin typeface="Roboto"/>
                  <a:ea typeface="Roboto"/>
                  <a:cs typeface="Roboto"/>
                  <a:sym typeface="Roboto"/>
                </a:rPr>
                <a:t>.</a:t>
              </a:r>
            </a:p>
            <a:p>
              <a:pPr lvl="0" rtl="0">
                <a:spcBef>
                  <a:spcPts val="0"/>
                </a:spcBef>
                <a:buNone/>
              </a:pPr>
              <a:endParaRPr sz="900">
                <a:latin typeface="Roboto"/>
                <a:ea typeface="Roboto"/>
                <a:cs typeface="Roboto"/>
                <a:sym typeface="Roboto"/>
              </a:endParaRPr>
            </a:p>
          </p:txBody>
        </p:sp>
        <p:grpSp>
          <p:nvGrpSpPr>
            <p:cNvPr id="1650" name="Shape 1650"/>
            <p:cNvGrpSpPr/>
            <p:nvPr/>
          </p:nvGrpSpPr>
          <p:grpSpPr>
            <a:xfrm>
              <a:off x="3235969" y="1215923"/>
              <a:ext cx="877678" cy="966495"/>
              <a:chOff x="846550" y="3039175"/>
              <a:chExt cx="995099" cy="1095799"/>
            </a:xfrm>
          </p:grpSpPr>
          <p:sp>
            <p:nvSpPr>
              <p:cNvPr id="1651" name="Shape 1651"/>
              <p:cNvSpPr/>
              <p:nvPr/>
            </p:nvSpPr>
            <p:spPr>
              <a:xfrm>
                <a:off x="846550" y="3139875"/>
                <a:ext cx="995099" cy="995099"/>
              </a:xfrm>
              <a:prstGeom prst="roundRect">
                <a:avLst>
                  <a:gd name="adj" fmla="val 16667"/>
                </a:avLst>
              </a:prstGeom>
              <a:solidFill>
                <a:srgbClr val="C06F63"/>
              </a:solidFill>
              <a:ln>
                <a:noFill/>
              </a:ln>
            </p:spPr>
            <p:txBody>
              <a:bodyPr lIns="91425" tIns="91425" rIns="91425" bIns="91425" anchor="ctr" anchorCtr="0">
                <a:noAutofit/>
              </a:bodyPr>
              <a:lstStyle/>
              <a:p>
                <a:pPr>
                  <a:spcBef>
                    <a:spcPts val="0"/>
                  </a:spcBef>
                  <a:buNone/>
                </a:pPr>
                <a:endParaRPr/>
              </a:p>
            </p:txBody>
          </p:sp>
          <p:sp>
            <p:nvSpPr>
              <p:cNvPr id="1652" name="Shape 1652"/>
              <p:cNvSpPr/>
              <p:nvPr/>
            </p:nvSpPr>
            <p:spPr>
              <a:xfrm>
                <a:off x="846550" y="3039175"/>
                <a:ext cx="995099" cy="995099"/>
              </a:xfrm>
              <a:prstGeom prst="roundRect">
                <a:avLst>
                  <a:gd name="adj" fmla="val 16667"/>
                </a:avLst>
              </a:prstGeom>
              <a:solidFill>
                <a:srgbClr val="F08B7C"/>
              </a:solidFill>
              <a:ln>
                <a:noFill/>
              </a:ln>
            </p:spPr>
            <p:txBody>
              <a:bodyPr lIns="91425" tIns="91425" rIns="91425" bIns="91425" anchor="ctr" anchorCtr="0">
                <a:noAutofit/>
              </a:bodyPr>
              <a:lstStyle/>
              <a:p>
                <a:pPr lvl="0" rtl="0">
                  <a:spcBef>
                    <a:spcPts val="0"/>
                  </a:spcBef>
                  <a:buNone/>
                </a:pPr>
                <a:endParaRPr/>
              </a:p>
            </p:txBody>
          </p:sp>
        </p:grpSp>
        <p:pic>
          <p:nvPicPr>
            <p:cNvPr id="1653" name="Shape 1653"/>
            <p:cNvPicPr preferRelativeResize="0"/>
            <p:nvPr/>
          </p:nvPicPr>
          <p:blipFill>
            <a:blip r:embed="rId7">
              <a:alphaModFix/>
            </a:blip>
            <a:stretch>
              <a:fillRect/>
            </a:stretch>
          </p:blipFill>
          <p:spPr>
            <a:xfrm>
              <a:off x="3451657" y="1445533"/>
              <a:ext cx="446292" cy="446299"/>
            </a:xfrm>
            <a:prstGeom prst="rect">
              <a:avLst/>
            </a:prstGeom>
            <a:noFill/>
            <a:ln>
              <a:noFill/>
            </a:ln>
          </p:spPr>
        </p:pic>
      </p:grpSp>
      <p:grpSp>
        <p:nvGrpSpPr>
          <p:cNvPr id="1654" name="Shape 1654"/>
          <p:cNvGrpSpPr/>
          <p:nvPr/>
        </p:nvGrpSpPr>
        <p:grpSpPr>
          <a:xfrm>
            <a:off x="190200" y="3941118"/>
            <a:ext cx="3645761" cy="994744"/>
            <a:chOff x="190200" y="3941118"/>
            <a:chExt cx="3645761" cy="994744"/>
          </a:xfrm>
        </p:grpSpPr>
        <p:sp>
          <p:nvSpPr>
            <p:cNvPr id="1655" name="Shape 1655"/>
            <p:cNvSpPr txBox="1"/>
            <p:nvPr/>
          </p:nvSpPr>
          <p:spPr>
            <a:xfrm>
              <a:off x="1067862" y="4017537"/>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chemeClr val="dk2"/>
                  </a:solidFill>
                  <a:latin typeface="Roboto Slab"/>
                  <a:ea typeface="Roboto Slab"/>
                  <a:cs typeface="Roboto Slab"/>
                  <a:sym typeface="Roboto Slab"/>
                </a:rPr>
                <a:t>Twitter Presence</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sz="800" b="1">
                <a:solidFill>
                  <a:schemeClr val="dk2"/>
                </a:solidFill>
                <a:latin typeface="Roboto Slab"/>
                <a:ea typeface="Roboto Slab"/>
                <a:cs typeface="Roboto Slab"/>
                <a:sym typeface="Roboto Slab"/>
              </a:endParaRPr>
            </a:p>
          </p:txBody>
        </p:sp>
        <p:sp>
          <p:nvSpPr>
            <p:cNvPr id="1656" name="Shape 1656"/>
            <p:cNvSpPr txBox="1"/>
            <p:nvPr/>
          </p:nvSpPr>
          <p:spPr>
            <a:xfrm>
              <a:off x="1067875" y="4331062"/>
              <a:ext cx="1646700" cy="604800"/>
            </a:xfrm>
            <a:prstGeom prst="rect">
              <a:avLst/>
            </a:prstGeom>
            <a:noFill/>
            <a:ln>
              <a:noFill/>
            </a:ln>
          </p:spPr>
          <p:txBody>
            <a:bodyPr lIns="91425" tIns="91425" rIns="91425" bIns="91425" anchor="t" anchorCtr="0">
              <a:noAutofit/>
            </a:bodyPr>
            <a:lstStyle/>
            <a:p>
              <a:pPr lvl="0"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r>
                <a:rPr lang="en" sz="900">
                  <a:latin typeface="Roboto"/>
                  <a:ea typeface="Roboto"/>
                  <a:cs typeface="Roboto"/>
                  <a:sym typeface="Roboto"/>
                </a:rPr>
                <a:t>.</a:t>
              </a:r>
            </a:p>
            <a:p>
              <a:pPr lvl="0" rtl="0">
                <a:spcBef>
                  <a:spcPts val="0"/>
                </a:spcBef>
                <a:buNone/>
              </a:pPr>
              <a:endParaRPr sz="900">
                <a:latin typeface="Roboto"/>
                <a:ea typeface="Roboto"/>
                <a:cs typeface="Roboto"/>
                <a:sym typeface="Roboto"/>
              </a:endParaRPr>
            </a:p>
          </p:txBody>
        </p:sp>
        <p:grpSp>
          <p:nvGrpSpPr>
            <p:cNvPr id="1657" name="Shape 1657"/>
            <p:cNvGrpSpPr/>
            <p:nvPr/>
          </p:nvGrpSpPr>
          <p:grpSpPr>
            <a:xfrm>
              <a:off x="190200" y="3941118"/>
              <a:ext cx="877678" cy="966495"/>
              <a:chOff x="6955650" y="3139875"/>
              <a:chExt cx="995099" cy="1095799"/>
            </a:xfrm>
          </p:grpSpPr>
          <p:sp>
            <p:nvSpPr>
              <p:cNvPr id="1658" name="Shape 1658"/>
              <p:cNvSpPr/>
              <p:nvPr/>
            </p:nvSpPr>
            <p:spPr>
              <a:xfrm>
                <a:off x="6955650" y="3240575"/>
                <a:ext cx="995099" cy="995099"/>
              </a:xfrm>
              <a:prstGeom prst="roundRect">
                <a:avLst>
                  <a:gd name="adj" fmla="val 16667"/>
                </a:avLst>
              </a:prstGeom>
              <a:solidFill>
                <a:srgbClr val="6792BC"/>
              </a:solidFill>
              <a:ln>
                <a:noFill/>
              </a:ln>
            </p:spPr>
            <p:txBody>
              <a:bodyPr lIns="91425" tIns="91425" rIns="91425" bIns="91425" anchor="ctr" anchorCtr="0">
                <a:noAutofit/>
              </a:bodyPr>
              <a:lstStyle/>
              <a:p>
                <a:pPr>
                  <a:spcBef>
                    <a:spcPts val="0"/>
                  </a:spcBef>
                  <a:buNone/>
                </a:pPr>
                <a:endParaRPr/>
              </a:p>
            </p:txBody>
          </p:sp>
          <p:sp>
            <p:nvSpPr>
              <p:cNvPr id="1659" name="Shape 1659"/>
              <p:cNvSpPr/>
              <p:nvPr/>
            </p:nvSpPr>
            <p:spPr>
              <a:xfrm>
                <a:off x="6955650" y="3139875"/>
                <a:ext cx="995099" cy="995099"/>
              </a:xfrm>
              <a:prstGeom prst="roundRect">
                <a:avLst>
                  <a:gd name="adj" fmla="val 16667"/>
                </a:avLst>
              </a:prstGeom>
              <a:solidFill>
                <a:srgbClr val="7FB3E6"/>
              </a:solidFill>
              <a:ln>
                <a:noFill/>
              </a:ln>
            </p:spPr>
            <p:txBody>
              <a:bodyPr lIns="91425" tIns="91425" rIns="91425" bIns="91425" anchor="ctr" anchorCtr="0">
                <a:noAutofit/>
              </a:bodyPr>
              <a:lstStyle/>
              <a:p>
                <a:pPr>
                  <a:spcBef>
                    <a:spcPts val="0"/>
                  </a:spcBef>
                  <a:buNone/>
                </a:pPr>
                <a:endParaRPr/>
              </a:p>
            </p:txBody>
          </p:sp>
        </p:grpSp>
        <p:pic>
          <p:nvPicPr>
            <p:cNvPr id="1660" name="Shape 1660"/>
            <p:cNvPicPr preferRelativeResize="0"/>
            <p:nvPr/>
          </p:nvPicPr>
          <p:blipFill>
            <a:blip r:embed="rId8">
              <a:alphaModFix/>
            </a:blip>
            <a:stretch>
              <a:fillRect/>
            </a:stretch>
          </p:blipFill>
          <p:spPr>
            <a:xfrm>
              <a:off x="405889" y="4164320"/>
              <a:ext cx="446292" cy="446299"/>
            </a:xfrm>
            <a:prstGeom prst="rect">
              <a:avLst/>
            </a:prstGeom>
            <a:noFill/>
            <a:ln>
              <a:noFill/>
            </a:ln>
          </p:spPr>
        </p:pic>
      </p:grpSp>
      <p:grpSp>
        <p:nvGrpSpPr>
          <p:cNvPr id="1661" name="Shape 1661"/>
          <p:cNvGrpSpPr/>
          <p:nvPr/>
        </p:nvGrpSpPr>
        <p:grpSpPr>
          <a:xfrm>
            <a:off x="6383512" y="1652346"/>
            <a:ext cx="3665874" cy="966495"/>
            <a:chOff x="6383512" y="1652346"/>
            <a:chExt cx="3665874" cy="966495"/>
          </a:xfrm>
        </p:grpSpPr>
        <p:sp>
          <p:nvSpPr>
            <p:cNvPr id="1662" name="Shape 1662"/>
            <p:cNvSpPr txBox="1"/>
            <p:nvPr/>
          </p:nvSpPr>
          <p:spPr>
            <a:xfrm>
              <a:off x="7281287" y="1668312"/>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chemeClr val="dk2"/>
                  </a:solidFill>
                  <a:latin typeface="Roboto Slab"/>
                  <a:ea typeface="Roboto Slab"/>
                  <a:cs typeface="Roboto Slab"/>
                  <a:sym typeface="Roboto Slab"/>
                </a:rPr>
                <a:t>Email Marketing</a:t>
              </a:r>
            </a:p>
            <a:p>
              <a:pPr lvl="0" algn="ctr" rtl="0">
                <a:spcBef>
                  <a:spcPts val="0"/>
                </a:spcBef>
                <a:buNone/>
              </a:pPr>
              <a:endParaRPr sz="800" b="1">
                <a:solidFill>
                  <a:schemeClr val="dk2"/>
                </a:solidFill>
                <a:latin typeface="Roboto Slab"/>
                <a:ea typeface="Roboto Slab"/>
                <a:cs typeface="Roboto Slab"/>
                <a:sym typeface="Roboto Slab"/>
              </a:endParaRPr>
            </a:p>
          </p:txBody>
        </p:sp>
        <p:sp>
          <p:nvSpPr>
            <p:cNvPr id="1663" name="Shape 1663"/>
            <p:cNvSpPr txBox="1"/>
            <p:nvPr/>
          </p:nvSpPr>
          <p:spPr>
            <a:xfrm>
              <a:off x="7291423" y="1939700"/>
              <a:ext cx="1510800" cy="604800"/>
            </a:xfrm>
            <a:prstGeom prst="rect">
              <a:avLst/>
            </a:prstGeom>
            <a:noFill/>
            <a:ln>
              <a:noFill/>
            </a:ln>
          </p:spPr>
          <p:txBody>
            <a:bodyPr lIns="91425" tIns="91425" rIns="91425" bIns="91425" anchor="t" anchorCtr="0">
              <a:noAutofit/>
            </a:bodyPr>
            <a:lstStyle/>
            <a:p>
              <a:pPr lvl="0"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a:t>
              </a:r>
            </a:p>
          </p:txBody>
        </p:sp>
        <p:grpSp>
          <p:nvGrpSpPr>
            <p:cNvPr id="1664" name="Shape 1664"/>
            <p:cNvGrpSpPr/>
            <p:nvPr/>
          </p:nvGrpSpPr>
          <p:grpSpPr>
            <a:xfrm>
              <a:off x="6383513" y="1652346"/>
              <a:ext cx="877678" cy="966495"/>
              <a:chOff x="6955650" y="1444825"/>
              <a:chExt cx="995099" cy="1095799"/>
            </a:xfrm>
          </p:grpSpPr>
          <p:sp>
            <p:nvSpPr>
              <p:cNvPr id="1665" name="Shape 1665"/>
              <p:cNvSpPr/>
              <p:nvPr/>
            </p:nvSpPr>
            <p:spPr>
              <a:xfrm>
                <a:off x="6955650" y="1545525"/>
                <a:ext cx="995099" cy="995099"/>
              </a:xfrm>
              <a:prstGeom prst="roundRect">
                <a:avLst>
                  <a:gd name="adj" fmla="val 16667"/>
                </a:avLst>
              </a:prstGeom>
              <a:solidFill>
                <a:srgbClr val="87A54F"/>
              </a:solidFill>
              <a:ln>
                <a:noFill/>
              </a:ln>
            </p:spPr>
            <p:txBody>
              <a:bodyPr lIns="91425" tIns="91425" rIns="91425" bIns="91425" anchor="ctr" anchorCtr="0">
                <a:noAutofit/>
              </a:bodyPr>
              <a:lstStyle/>
              <a:p>
                <a:pPr>
                  <a:spcBef>
                    <a:spcPts val="0"/>
                  </a:spcBef>
                  <a:buNone/>
                </a:pPr>
                <a:endParaRPr/>
              </a:p>
            </p:txBody>
          </p:sp>
          <p:sp>
            <p:nvSpPr>
              <p:cNvPr id="1666" name="Shape 1666"/>
              <p:cNvSpPr/>
              <p:nvPr/>
            </p:nvSpPr>
            <p:spPr>
              <a:xfrm>
                <a:off x="6955650" y="1444825"/>
                <a:ext cx="995099" cy="995099"/>
              </a:xfrm>
              <a:prstGeom prst="roundRect">
                <a:avLst>
                  <a:gd name="adj" fmla="val 16667"/>
                </a:avLst>
              </a:prstGeom>
              <a:solidFill>
                <a:srgbClr val="A5C961"/>
              </a:solidFill>
              <a:ln>
                <a:noFill/>
              </a:ln>
            </p:spPr>
            <p:txBody>
              <a:bodyPr lIns="91425" tIns="91425" rIns="91425" bIns="91425" anchor="ctr" anchorCtr="0">
                <a:noAutofit/>
              </a:bodyPr>
              <a:lstStyle/>
              <a:p>
                <a:pPr>
                  <a:spcBef>
                    <a:spcPts val="0"/>
                  </a:spcBef>
                  <a:buNone/>
                </a:pPr>
                <a:endParaRPr/>
              </a:p>
            </p:txBody>
          </p:sp>
        </p:grpSp>
        <p:pic>
          <p:nvPicPr>
            <p:cNvPr id="1667" name="Shape 1667"/>
            <p:cNvPicPr preferRelativeResize="0"/>
            <p:nvPr/>
          </p:nvPicPr>
          <p:blipFill>
            <a:blip r:embed="rId9">
              <a:alphaModFix/>
            </a:blip>
            <a:stretch>
              <a:fillRect/>
            </a:stretch>
          </p:blipFill>
          <p:spPr>
            <a:xfrm>
              <a:off x="6383512" y="1667565"/>
              <a:ext cx="877675" cy="877675"/>
            </a:xfrm>
            <a:prstGeom prst="rect">
              <a:avLst/>
            </a:prstGeom>
            <a:noFill/>
            <a:ln>
              <a:noFill/>
            </a:ln>
          </p:spPr>
        </p:pic>
      </p:grpSp>
      <p:pic>
        <p:nvPicPr>
          <p:cNvPr id="49" name="Immagine 48">
            <a:extLst>
              <a:ext uri="{FF2B5EF4-FFF2-40B4-BE49-F238E27FC236}">
                <a16:creationId xmlns:a16="http://schemas.microsoft.com/office/drawing/2014/main" id="{6B80DB64-6F80-42C4-BCFE-2FD2E051864E}"/>
              </a:ext>
            </a:extLst>
          </p:cNvPr>
          <p:cNvPicPr>
            <a:picLocks noChangeAspect="1"/>
          </p:cNvPicPr>
          <p:nvPr/>
        </p:nvPicPr>
        <p:blipFill rotWithShape="1">
          <a:blip r:embed="rId10"/>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625"/>
                                        </p:tgtEl>
                                        <p:attrNameLst>
                                          <p:attrName>style.visibility</p:attrName>
                                        </p:attrNameLst>
                                      </p:cBhvr>
                                      <p:to>
                                        <p:strVal val="visible"/>
                                      </p:to>
                                    </p:set>
                                    <p:anim calcmode="lin" valueType="num">
                                      <p:cBhvr additive="base">
                                        <p:cTn id="7" dur="1000"/>
                                        <p:tgtEl>
                                          <p:spTgt spid="1625"/>
                                        </p:tgtEl>
                                        <p:attrNameLst>
                                          <p:attrName>ppt_y</p:attrName>
                                        </p:attrNameLst>
                                      </p:cBhvr>
                                      <p:tavLst>
                                        <p:tav tm="0">
                                          <p:val>
                                            <p:strVal val="#ppt_y+1"/>
                                          </p:val>
                                        </p:tav>
                                        <p:tav tm="100000">
                                          <p:val>
                                            <p:strVal val="#ppt_y"/>
                                          </p:val>
                                        </p:tav>
                                      </p:tavLst>
                                    </p:anim>
                                  </p:childTnLst>
                                </p:cTn>
                              </p:par>
                            </p:childTnLst>
                          </p:cTn>
                        </p:par>
                        <p:par>
                          <p:cTn id="8" fill="hold">
                            <p:stCondLst>
                              <p:cond delay="1000"/>
                            </p:stCondLst>
                            <p:childTnLst>
                              <p:par>
                                <p:cTn id="9" presetID="2" presetClass="entr" presetSubtype="4" fill="hold" nodeType="afterEffect">
                                  <p:stCondLst>
                                    <p:cond delay="0"/>
                                  </p:stCondLst>
                                  <p:childTnLst>
                                    <p:set>
                                      <p:cBhvr>
                                        <p:cTn id="10" dur="1" fill="hold">
                                          <p:stCondLst>
                                            <p:cond delay="0"/>
                                          </p:stCondLst>
                                        </p:cTn>
                                        <p:tgtEl>
                                          <p:spTgt spid="1654"/>
                                        </p:tgtEl>
                                        <p:attrNameLst>
                                          <p:attrName>style.visibility</p:attrName>
                                        </p:attrNameLst>
                                      </p:cBhvr>
                                      <p:to>
                                        <p:strVal val="visible"/>
                                      </p:to>
                                    </p:set>
                                    <p:anim calcmode="lin" valueType="num">
                                      <p:cBhvr additive="base">
                                        <p:cTn id="11" dur="1000"/>
                                        <p:tgtEl>
                                          <p:spTgt spid="1654"/>
                                        </p:tgtEl>
                                        <p:attrNameLst>
                                          <p:attrName>ppt_y</p:attrName>
                                        </p:attrNameLst>
                                      </p:cBhvr>
                                      <p:tavLst>
                                        <p:tav tm="0">
                                          <p:val>
                                            <p:strVal val="#ppt_y+1"/>
                                          </p:val>
                                        </p:tav>
                                        <p:tav tm="100000">
                                          <p:val>
                                            <p:strVal val="#ppt_y"/>
                                          </p:val>
                                        </p:tav>
                                      </p:tavLst>
                                    </p:anim>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1640"/>
                                        </p:tgtEl>
                                        <p:attrNameLst>
                                          <p:attrName>style.visibility</p:attrName>
                                        </p:attrNameLst>
                                      </p:cBhvr>
                                      <p:to>
                                        <p:strVal val="visible"/>
                                      </p:to>
                                    </p:set>
                                    <p:anim calcmode="lin" valueType="num">
                                      <p:cBhvr additive="base">
                                        <p:cTn id="15" dur="1000"/>
                                        <p:tgtEl>
                                          <p:spTgt spid="1640"/>
                                        </p:tgtEl>
                                        <p:attrNameLst>
                                          <p:attrName>ppt_x</p:attrName>
                                        </p:attrNameLst>
                                      </p:cBhvr>
                                      <p:tavLst>
                                        <p:tav tm="0">
                                          <p:val>
                                            <p:strVal val="#ppt_x-1"/>
                                          </p:val>
                                        </p:tav>
                                        <p:tav tm="100000">
                                          <p:val>
                                            <p:strVal val="#ppt_x"/>
                                          </p:val>
                                        </p:tav>
                                      </p:tavLst>
                                    </p:anim>
                                  </p:childTnLst>
                                </p:cTn>
                              </p:par>
                            </p:childTnLst>
                          </p:cTn>
                        </p:par>
                        <p:par>
                          <p:cTn id="16" fill="hold">
                            <p:stCondLst>
                              <p:cond delay="3000"/>
                            </p:stCondLst>
                            <p:childTnLst>
                              <p:par>
                                <p:cTn id="17" presetID="2" presetClass="entr" presetSubtype="8" fill="hold" nodeType="afterEffect">
                                  <p:stCondLst>
                                    <p:cond delay="0"/>
                                  </p:stCondLst>
                                  <p:childTnLst>
                                    <p:set>
                                      <p:cBhvr>
                                        <p:cTn id="18" dur="1" fill="hold">
                                          <p:stCondLst>
                                            <p:cond delay="0"/>
                                          </p:stCondLst>
                                        </p:cTn>
                                        <p:tgtEl>
                                          <p:spTgt spid="1647"/>
                                        </p:tgtEl>
                                        <p:attrNameLst>
                                          <p:attrName>style.visibility</p:attrName>
                                        </p:attrNameLst>
                                      </p:cBhvr>
                                      <p:to>
                                        <p:strVal val="visible"/>
                                      </p:to>
                                    </p:set>
                                    <p:anim calcmode="lin" valueType="num">
                                      <p:cBhvr additive="base">
                                        <p:cTn id="19" dur="1000"/>
                                        <p:tgtEl>
                                          <p:spTgt spid="1647"/>
                                        </p:tgtEl>
                                        <p:attrNameLst>
                                          <p:attrName>ppt_x</p:attrName>
                                        </p:attrNameLst>
                                      </p:cBhvr>
                                      <p:tavLst>
                                        <p:tav tm="0">
                                          <p:val>
                                            <p:strVal val="#ppt_x-1"/>
                                          </p:val>
                                        </p:tav>
                                        <p:tav tm="100000">
                                          <p:val>
                                            <p:strVal val="#ppt_x"/>
                                          </p:val>
                                        </p:tav>
                                      </p:tavLst>
                                    </p:anim>
                                  </p:childTnLst>
                                </p:cTn>
                              </p:par>
                            </p:childTnLst>
                          </p:cTn>
                        </p:par>
                        <p:par>
                          <p:cTn id="20" fill="hold">
                            <p:stCondLst>
                              <p:cond delay="4000"/>
                            </p:stCondLst>
                            <p:childTnLst>
                              <p:par>
                                <p:cTn id="21" presetID="2" presetClass="entr" presetSubtype="2" fill="hold" nodeType="afterEffect">
                                  <p:stCondLst>
                                    <p:cond delay="0"/>
                                  </p:stCondLst>
                                  <p:childTnLst>
                                    <p:set>
                                      <p:cBhvr>
                                        <p:cTn id="22" dur="1" fill="hold">
                                          <p:stCondLst>
                                            <p:cond delay="0"/>
                                          </p:stCondLst>
                                        </p:cTn>
                                        <p:tgtEl>
                                          <p:spTgt spid="1661"/>
                                        </p:tgtEl>
                                        <p:attrNameLst>
                                          <p:attrName>style.visibility</p:attrName>
                                        </p:attrNameLst>
                                      </p:cBhvr>
                                      <p:to>
                                        <p:strVal val="visible"/>
                                      </p:to>
                                    </p:set>
                                    <p:anim calcmode="lin" valueType="num">
                                      <p:cBhvr additive="base">
                                        <p:cTn id="23" dur="1000"/>
                                        <p:tgtEl>
                                          <p:spTgt spid="1661"/>
                                        </p:tgtEl>
                                        <p:attrNameLst>
                                          <p:attrName>ppt_x</p:attrName>
                                        </p:attrNameLst>
                                      </p:cBhvr>
                                      <p:tavLst>
                                        <p:tav tm="0">
                                          <p:val>
                                            <p:strVal val="#ppt_x+1"/>
                                          </p:val>
                                        </p:tav>
                                        <p:tav tm="100000">
                                          <p:val>
                                            <p:strVal val="#ppt_x"/>
                                          </p:val>
                                        </p:tav>
                                      </p:tavLst>
                                    </p:anim>
                                  </p:childTnLst>
                                </p:cTn>
                              </p:par>
                            </p:childTnLst>
                          </p:cTn>
                        </p:par>
                        <p:par>
                          <p:cTn id="24" fill="hold">
                            <p:stCondLst>
                              <p:cond delay="5000"/>
                            </p:stCondLst>
                            <p:childTnLst>
                              <p:par>
                                <p:cTn id="25" presetID="2" presetClass="entr" presetSubtype="2" fill="hold" nodeType="afterEffect">
                                  <p:stCondLst>
                                    <p:cond delay="0"/>
                                  </p:stCondLst>
                                  <p:childTnLst>
                                    <p:set>
                                      <p:cBhvr>
                                        <p:cTn id="26" dur="1" fill="hold">
                                          <p:stCondLst>
                                            <p:cond delay="0"/>
                                          </p:stCondLst>
                                        </p:cTn>
                                        <p:tgtEl>
                                          <p:spTgt spid="1626"/>
                                        </p:tgtEl>
                                        <p:attrNameLst>
                                          <p:attrName>style.visibility</p:attrName>
                                        </p:attrNameLst>
                                      </p:cBhvr>
                                      <p:to>
                                        <p:strVal val="visible"/>
                                      </p:to>
                                    </p:set>
                                    <p:anim calcmode="lin" valueType="num">
                                      <p:cBhvr additive="base">
                                        <p:cTn id="27" dur="1000"/>
                                        <p:tgtEl>
                                          <p:spTgt spid="1626"/>
                                        </p:tgtEl>
                                        <p:attrNameLst>
                                          <p:attrName>ppt_x</p:attrName>
                                        </p:attrNameLst>
                                      </p:cBhvr>
                                      <p:tavLst>
                                        <p:tav tm="0">
                                          <p:val>
                                            <p:strVal val="#ppt_x+1"/>
                                          </p:val>
                                        </p:tav>
                                        <p:tav tm="100000">
                                          <p:val>
                                            <p:strVal val="#ppt_x"/>
                                          </p:val>
                                        </p:tav>
                                      </p:tavLst>
                                    </p:anim>
                                  </p:childTnLst>
                                </p:cTn>
                              </p:par>
                            </p:childTnLst>
                          </p:cTn>
                        </p:par>
                        <p:par>
                          <p:cTn id="28" fill="hold">
                            <p:stCondLst>
                              <p:cond delay="6000"/>
                            </p:stCondLst>
                            <p:childTnLst>
                              <p:par>
                                <p:cTn id="29" presetID="10" presetClass="entr" presetSubtype="0" fill="hold" nodeType="afterEffect">
                                  <p:stCondLst>
                                    <p:cond delay="0"/>
                                  </p:stCondLst>
                                  <p:childTnLst>
                                    <p:set>
                                      <p:cBhvr>
                                        <p:cTn id="30" dur="1" fill="hold">
                                          <p:stCondLst>
                                            <p:cond delay="0"/>
                                          </p:stCondLst>
                                        </p:cTn>
                                        <p:tgtEl>
                                          <p:spTgt spid="1632"/>
                                        </p:tgtEl>
                                        <p:attrNameLst>
                                          <p:attrName>style.visibility</p:attrName>
                                        </p:attrNameLst>
                                      </p:cBhvr>
                                      <p:to>
                                        <p:strVal val="visible"/>
                                      </p:to>
                                    </p:set>
                                    <p:animEffect transition="in" filter="fade">
                                      <p:cBhvr>
                                        <p:cTn id="31" dur="1000"/>
                                        <p:tgtEl>
                                          <p:spTgt spid="1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11"/>
        <p:cNvGrpSpPr/>
        <p:nvPr/>
      </p:nvGrpSpPr>
      <p:grpSpPr>
        <a:xfrm>
          <a:off x="0" y="0"/>
          <a:ext cx="0" cy="0"/>
          <a:chOff x="0" y="0"/>
          <a:chExt cx="0" cy="0"/>
        </a:xfrm>
      </p:grpSpPr>
      <p:pic>
        <p:nvPicPr>
          <p:cNvPr id="1712" name="Shape 1712"/>
          <p:cNvPicPr preferRelativeResize="0"/>
          <p:nvPr/>
        </p:nvPicPr>
        <p:blipFill>
          <a:blip r:embed="rId3">
            <a:alphaModFix/>
          </a:blip>
          <a:stretch>
            <a:fillRect/>
          </a:stretch>
        </p:blipFill>
        <p:spPr>
          <a:xfrm>
            <a:off x="0" y="11"/>
            <a:ext cx="9144001" cy="2858627"/>
          </a:xfrm>
          <a:prstGeom prst="rect">
            <a:avLst/>
          </a:prstGeom>
          <a:noFill/>
          <a:ln>
            <a:noFill/>
          </a:ln>
        </p:spPr>
      </p:pic>
      <p:pic>
        <p:nvPicPr>
          <p:cNvPr id="1713" name="Shape 1713"/>
          <p:cNvPicPr preferRelativeResize="0"/>
          <p:nvPr/>
        </p:nvPicPr>
        <p:blipFill>
          <a:blip r:embed="rId4">
            <a:alphaModFix/>
          </a:blip>
          <a:stretch>
            <a:fillRect/>
          </a:stretch>
        </p:blipFill>
        <p:spPr>
          <a:xfrm>
            <a:off x="0" y="2858650"/>
            <a:ext cx="9143999" cy="464650"/>
          </a:xfrm>
          <a:prstGeom prst="rect">
            <a:avLst/>
          </a:prstGeom>
          <a:noFill/>
          <a:ln>
            <a:noFill/>
          </a:ln>
        </p:spPr>
      </p:pic>
      <p:pic>
        <p:nvPicPr>
          <p:cNvPr id="1714" name="Shape 1714"/>
          <p:cNvPicPr preferRelativeResize="0"/>
          <p:nvPr/>
        </p:nvPicPr>
        <p:blipFill>
          <a:blip r:embed="rId5">
            <a:alphaModFix/>
          </a:blip>
          <a:stretch>
            <a:fillRect/>
          </a:stretch>
        </p:blipFill>
        <p:spPr>
          <a:xfrm>
            <a:off x="3480325" y="3623300"/>
            <a:ext cx="2183349" cy="576499"/>
          </a:xfrm>
          <a:prstGeom prst="rect">
            <a:avLst/>
          </a:prstGeom>
          <a:noFill/>
          <a:ln>
            <a:noFill/>
          </a:ln>
        </p:spPr>
      </p:pic>
      <p:sp>
        <p:nvSpPr>
          <p:cNvPr id="1715" name="Shape 1715"/>
          <p:cNvSpPr txBox="1"/>
          <p:nvPr/>
        </p:nvSpPr>
        <p:spPr>
          <a:xfrm>
            <a:off x="3240750" y="4349050"/>
            <a:ext cx="2662499" cy="290700"/>
          </a:xfrm>
          <a:prstGeom prst="rect">
            <a:avLst/>
          </a:prstGeom>
          <a:noFill/>
          <a:ln>
            <a:noFill/>
          </a:ln>
        </p:spPr>
        <p:txBody>
          <a:bodyPr lIns="91425" tIns="91425" rIns="91425" bIns="91425" anchor="t" anchorCtr="0">
            <a:noAutofit/>
          </a:bodyPr>
          <a:lstStyle/>
          <a:p>
            <a:pPr lvl="0" algn="ctr" rtl="0">
              <a:spcBef>
                <a:spcPts val="0"/>
              </a:spcBef>
              <a:buNone/>
            </a:pPr>
            <a:r>
              <a:rPr lang="en" sz="1000">
                <a:latin typeface="Roboto Slab"/>
                <a:ea typeface="Roboto Slab"/>
                <a:cs typeface="Roboto Slab"/>
                <a:sym typeface="Roboto Slab"/>
              </a:rPr>
              <a:t>www.startupwebsite.com</a:t>
            </a:r>
          </a:p>
        </p:txBody>
      </p:sp>
      <p:sp>
        <p:nvSpPr>
          <p:cNvPr id="1716" name="Shape 1716"/>
          <p:cNvSpPr txBox="1"/>
          <p:nvPr/>
        </p:nvSpPr>
        <p:spPr>
          <a:xfrm>
            <a:off x="242325" y="2831150"/>
            <a:ext cx="4604400" cy="620399"/>
          </a:xfrm>
          <a:prstGeom prst="rect">
            <a:avLst/>
          </a:prstGeom>
          <a:noFill/>
          <a:ln>
            <a:noFill/>
          </a:ln>
        </p:spPr>
        <p:txBody>
          <a:bodyPr lIns="91425" tIns="91425" rIns="91425" bIns="91425" anchor="t" anchorCtr="0">
            <a:noAutofit/>
          </a:bodyPr>
          <a:lstStyle/>
          <a:p>
            <a:pPr lvl="0" rtl="0">
              <a:spcBef>
                <a:spcPts val="0"/>
              </a:spcBef>
              <a:buClr>
                <a:schemeClr val="dk1"/>
              </a:buClr>
              <a:buSzPct val="55000"/>
              <a:buFont typeface="Arial"/>
              <a:buNone/>
            </a:pPr>
            <a:r>
              <a:rPr lang="en" sz="2000" b="1">
                <a:solidFill>
                  <a:schemeClr val="lt1"/>
                </a:solidFill>
                <a:latin typeface="Roboto Slab"/>
                <a:ea typeface="Roboto Slab"/>
                <a:cs typeface="Roboto Slab"/>
                <a:sym typeface="Roboto Slab"/>
              </a:rPr>
              <a:t>MILESTONES</a:t>
            </a:r>
          </a:p>
          <a:p>
            <a:pPr lvl="0" rtl="0">
              <a:spcBef>
                <a:spcPts val="0"/>
              </a:spcBef>
              <a:buClr>
                <a:schemeClr val="dk1"/>
              </a:buClr>
              <a:buFont typeface="Arial"/>
              <a:buNone/>
            </a:pPr>
            <a:endParaRPr sz="2000" b="1">
              <a:solidFill>
                <a:schemeClr val="lt1"/>
              </a:solidFill>
              <a:latin typeface="Roboto Slab"/>
              <a:ea typeface="Roboto Slab"/>
              <a:cs typeface="Roboto Slab"/>
              <a:sym typeface="Roboto Slab"/>
            </a:endParaRPr>
          </a:p>
          <a:p>
            <a:pPr lvl="0" rtl="0">
              <a:spcBef>
                <a:spcPts val="0"/>
              </a:spcBef>
              <a:buClr>
                <a:schemeClr val="dk1"/>
              </a:buClr>
              <a:buFont typeface="Arial"/>
              <a:buNone/>
            </a:pPr>
            <a:endParaRPr sz="2000" b="1">
              <a:solidFill>
                <a:schemeClr val="lt1"/>
              </a:solidFill>
              <a:latin typeface="Roboto Slab"/>
              <a:ea typeface="Roboto Slab"/>
              <a:cs typeface="Roboto Slab"/>
              <a:sym typeface="Roboto Slab"/>
            </a:endParaRPr>
          </a:p>
          <a:p>
            <a:pPr lvl="0" rtl="0">
              <a:spcBef>
                <a:spcPts val="0"/>
              </a:spcBef>
              <a:buClr>
                <a:schemeClr val="dk1"/>
              </a:buClr>
              <a:buFont typeface="Arial"/>
              <a:buNone/>
            </a:pPr>
            <a:endParaRPr sz="2000" b="1">
              <a:solidFill>
                <a:schemeClr val="lt1"/>
              </a:solidFill>
              <a:latin typeface="Roboto Slab"/>
              <a:ea typeface="Roboto Slab"/>
              <a:cs typeface="Roboto Slab"/>
              <a:sym typeface="Roboto Slab"/>
            </a:endParaRPr>
          </a:p>
          <a:p>
            <a:pPr lvl="0" rtl="0">
              <a:spcBef>
                <a:spcPts val="0"/>
              </a:spcBef>
              <a:buClr>
                <a:schemeClr val="dk1"/>
              </a:buClr>
              <a:buFont typeface="Arial"/>
              <a:buNone/>
            </a:pPr>
            <a:endParaRPr sz="2000" b="1">
              <a:solidFill>
                <a:schemeClr val="lt1"/>
              </a:solidFill>
              <a:latin typeface="Roboto Slab"/>
              <a:ea typeface="Roboto Slab"/>
              <a:cs typeface="Roboto Slab"/>
              <a:sym typeface="Roboto Slab"/>
            </a:endParaRPr>
          </a:p>
          <a:p>
            <a:pPr lvl="0" rtl="0">
              <a:spcBef>
                <a:spcPts val="0"/>
              </a:spcBef>
              <a:buNone/>
            </a:pPr>
            <a:endParaRPr/>
          </a:p>
        </p:txBody>
      </p:sp>
      <p:sp>
        <p:nvSpPr>
          <p:cNvPr id="1717" name="Shape 1717"/>
          <p:cNvSpPr txBox="1"/>
          <p:nvPr/>
        </p:nvSpPr>
        <p:spPr>
          <a:xfrm>
            <a:off x="4373750" y="2889275"/>
            <a:ext cx="4604400" cy="430500"/>
          </a:xfrm>
          <a:prstGeom prst="rect">
            <a:avLst/>
          </a:prstGeom>
          <a:noFill/>
          <a:ln>
            <a:noFill/>
          </a:ln>
        </p:spPr>
        <p:txBody>
          <a:bodyPr lIns="91425" tIns="91425" rIns="91425" bIns="91425" anchor="t" anchorCtr="0">
            <a:noAutofit/>
          </a:bodyPr>
          <a:lstStyle/>
          <a:p>
            <a:pPr lvl="0" algn="r" rtl="0">
              <a:spcBef>
                <a:spcPts val="0"/>
              </a:spcBef>
              <a:buClr>
                <a:schemeClr val="dk1"/>
              </a:buClr>
              <a:buSzPct val="78571"/>
              <a:buFont typeface="Arial"/>
              <a:buNone/>
            </a:pPr>
            <a:r>
              <a:rPr lang="en">
                <a:solidFill>
                  <a:schemeClr val="lt1"/>
                </a:solidFill>
                <a:latin typeface="Roboto"/>
                <a:ea typeface="Roboto"/>
                <a:cs typeface="Roboto"/>
                <a:sym typeface="Roboto"/>
              </a:rPr>
              <a:t>Your Marketing Strategy</a:t>
            </a:r>
          </a:p>
          <a:p>
            <a:pPr lvl="0" algn="r" rtl="0">
              <a:spcBef>
                <a:spcPts val="0"/>
              </a:spcBef>
              <a:buNone/>
            </a:pPr>
            <a:endParaRPr>
              <a:solidFill>
                <a:schemeClr val="lt1"/>
              </a:solidFill>
              <a:latin typeface="Roboto"/>
              <a:ea typeface="Roboto"/>
              <a:cs typeface="Roboto"/>
              <a:sym typeface="Roboto"/>
            </a:endParaRPr>
          </a:p>
          <a:p>
            <a:pPr lvl="0" algn="r" rtl="0">
              <a:spcBef>
                <a:spcPts val="0"/>
              </a:spcBef>
              <a:buNone/>
            </a:pPr>
            <a:endParaRPr>
              <a:solidFill>
                <a:schemeClr val="lt1"/>
              </a:solidFill>
              <a:latin typeface="Roboto"/>
              <a:ea typeface="Roboto"/>
              <a:cs typeface="Roboto"/>
              <a:sym typeface="Roboto"/>
            </a:endParaRPr>
          </a:p>
          <a:p>
            <a:pPr lvl="0" algn="r" rtl="0">
              <a:spcBef>
                <a:spcPts val="0"/>
              </a:spcBef>
              <a:buNone/>
            </a:pPr>
            <a:endParaRPr>
              <a:solidFill>
                <a:schemeClr val="lt1"/>
              </a:solidFill>
              <a:latin typeface="Roboto"/>
              <a:ea typeface="Roboto"/>
              <a:cs typeface="Roboto"/>
              <a:sym typeface="Roboto"/>
            </a:endParaRPr>
          </a:p>
          <a:p>
            <a:pPr lvl="0" algn="r" rtl="0">
              <a:spcBef>
                <a:spcPts val="0"/>
              </a:spcBef>
              <a:buNone/>
            </a:pPr>
            <a:endParaRPr>
              <a:solidFill>
                <a:schemeClr val="lt1"/>
              </a:solidFill>
              <a:latin typeface="Roboto"/>
              <a:ea typeface="Roboto"/>
              <a:cs typeface="Roboto"/>
              <a:sym typeface="Roboto"/>
            </a:endParaRPr>
          </a:p>
          <a:p>
            <a:pPr lvl="0" algn="r" rtl="0">
              <a:spcBef>
                <a:spcPts val="0"/>
              </a:spcBef>
              <a:buNone/>
            </a:pPr>
            <a:endParaRPr>
              <a:solidFill>
                <a:schemeClr val="lt1"/>
              </a:solidFill>
              <a:latin typeface="Roboto"/>
              <a:ea typeface="Roboto"/>
              <a:cs typeface="Roboto"/>
              <a:sym typeface="Roboto"/>
            </a:endParaRPr>
          </a:p>
          <a:p>
            <a:pPr lvl="0" rtl="0">
              <a:spcBef>
                <a:spcPts val="0"/>
              </a:spcBef>
              <a:buNone/>
            </a:pPr>
            <a:endParaRPr/>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712"/>
                                        </p:tgtEl>
                                        <p:attrNameLst>
                                          <p:attrName>style.visibility</p:attrName>
                                        </p:attrNameLst>
                                      </p:cBhvr>
                                      <p:to>
                                        <p:strVal val="visible"/>
                                      </p:to>
                                    </p:set>
                                    <p:anim calcmode="lin" valueType="num">
                                      <p:cBhvr additive="base">
                                        <p:cTn id="7" dur="1000"/>
                                        <p:tgtEl>
                                          <p:spTgt spid="1712"/>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 presetClass="entr" presetSubtype="8" fill="hold" nodeType="afterEffect">
                                  <p:stCondLst>
                                    <p:cond delay="0"/>
                                  </p:stCondLst>
                                  <p:childTnLst>
                                    <p:set>
                                      <p:cBhvr>
                                        <p:cTn id="10" dur="1" fill="hold">
                                          <p:stCondLst>
                                            <p:cond delay="0"/>
                                          </p:stCondLst>
                                        </p:cTn>
                                        <p:tgtEl>
                                          <p:spTgt spid="1716"/>
                                        </p:tgtEl>
                                        <p:attrNameLst>
                                          <p:attrName>style.visibility</p:attrName>
                                        </p:attrNameLst>
                                      </p:cBhvr>
                                      <p:to>
                                        <p:strVal val="visible"/>
                                      </p:to>
                                    </p:set>
                                    <p:anim calcmode="lin" valueType="num">
                                      <p:cBhvr additive="base">
                                        <p:cTn id="11" dur="1000"/>
                                        <p:tgtEl>
                                          <p:spTgt spid="1716"/>
                                        </p:tgtEl>
                                        <p:attrNameLst>
                                          <p:attrName>ppt_x</p:attrName>
                                        </p:attrNameLst>
                                      </p:cBhvr>
                                      <p:tavLst>
                                        <p:tav tm="0">
                                          <p:val>
                                            <p:strVal val="#ppt_x-1"/>
                                          </p:val>
                                        </p:tav>
                                        <p:tav tm="100000">
                                          <p:val>
                                            <p:strVal val="#ppt_x"/>
                                          </p:val>
                                        </p:tav>
                                      </p:tavLst>
                                    </p:anim>
                                  </p:childTnLst>
                                </p:cTn>
                              </p:par>
                            </p:childTnLst>
                          </p:cTn>
                        </p:par>
                        <p:par>
                          <p:cTn id="12" fill="hold">
                            <p:stCondLst>
                              <p:cond delay="2000"/>
                            </p:stCondLst>
                            <p:childTnLst>
                              <p:par>
                                <p:cTn id="13" presetID="2" presetClass="entr" presetSubtype="2" fill="hold" nodeType="afterEffect">
                                  <p:stCondLst>
                                    <p:cond delay="0"/>
                                  </p:stCondLst>
                                  <p:childTnLst>
                                    <p:set>
                                      <p:cBhvr>
                                        <p:cTn id="14" dur="1" fill="hold">
                                          <p:stCondLst>
                                            <p:cond delay="0"/>
                                          </p:stCondLst>
                                        </p:cTn>
                                        <p:tgtEl>
                                          <p:spTgt spid="1717"/>
                                        </p:tgtEl>
                                        <p:attrNameLst>
                                          <p:attrName>style.visibility</p:attrName>
                                        </p:attrNameLst>
                                      </p:cBhvr>
                                      <p:to>
                                        <p:strVal val="visible"/>
                                      </p:to>
                                    </p:set>
                                    <p:anim calcmode="lin" valueType="num">
                                      <p:cBhvr additive="base">
                                        <p:cTn id="15" dur="1000"/>
                                        <p:tgtEl>
                                          <p:spTgt spid="1717"/>
                                        </p:tgtEl>
                                        <p:attrNameLst>
                                          <p:attrName>ppt_x</p:attrName>
                                        </p:attrNameLst>
                                      </p:cBhvr>
                                      <p:tavLst>
                                        <p:tav tm="0">
                                          <p:val>
                                            <p:strVal val="#ppt_x+1"/>
                                          </p:val>
                                        </p:tav>
                                        <p:tav tm="100000">
                                          <p:val>
                                            <p:strVal val="#ppt_x"/>
                                          </p:val>
                                        </p:tav>
                                      </p:tavLst>
                                    </p:anim>
                                  </p:childTnLst>
                                </p:cTn>
                              </p:par>
                            </p:childTnLst>
                          </p:cTn>
                        </p:par>
                        <p:par>
                          <p:cTn id="16" fill="hold">
                            <p:stCondLst>
                              <p:cond delay="3000"/>
                            </p:stCondLst>
                            <p:childTnLst>
                              <p:par>
                                <p:cTn id="17" presetID="23" presetClass="entr" presetSubtype="16" fill="hold" nodeType="afterEffect">
                                  <p:stCondLst>
                                    <p:cond delay="0"/>
                                  </p:stCondLst>
                                  <p:childTnLst>
                                    <p:set>
                                      <p:cBhvr>
                                        <p:cTn id="18" dur="1" fill="hold">
                                          <p:stCondLst>
                                            <p:cond delay="0"/>
                                          </p:stCondLst>
                                        </p:cTn>
                                        <p:tgtEl>
                                          <p:spTgt spid="1714"/>
                                        </p:tgtEl>
                                        <p:attrNameLst>
                                          <p:attrName>style.visibility</p:attrName>
                                        </p:attrNameLst>
                                      </p:cBhvr>
                                      <p:to>
                                        <p:strVal val="visible"/>
                                      </p:to>
                                    </p:set>
                                    <p:anim calcmode="lin" valueType="num">
                                      <p:cBhvr additive="base">
                                        <p:cTn id="19" dur="1000"/>
                                        <p:tgtEl>
                                          <p:spTgt spid="1714"/>
                                        </p:tgtEl>
                                        <p:attrNameLst>
                                          <p:attrName>ppt_w</p:attrName>
                                        </p:attrNameLst>
                                      </p:cBhvr>
                                      <p:tavLst>
                                        <p:tav tm="0">
                                          <p:val>
                                            <p:strVal val="0"/>
                                          </p:val>
                                        </p:tav>
                                        <p:tav tm="100000">
                                          <p:val>
                                            <p:strVal val="#ppt_w"/>
                                          </p:val>
                                        </p:tav>
                                      </p:tavLst>
                                    </p:anim>
                                    <p:anim calcmode="lin" valueType="num">
                                      <p:cBhvr additive="base">
                                        <p:cTn id="20" dur="1000"/>
                                        <p:tgtEl>
                                          <p:spTgt spid="1714"/>
                                        </p:tgtEl>
                                        <p:attrNameLst>
                                          <p:attrName>ppt_h</p:attrName>
                                        </p:attrNameLst>
                                      </p:cBhvr>
                                      <p:tavLst>
                                        <p:tav tm="0">
                                          <p:val>
                                            <p:strVal val="0"/>
                                          </p:val>
                                        </p:tav>
                                        <p:tav tm="100000">
                                          <p:val>
                                            <p:strVal val="#ppt_h"/>
                                          </p:val>
                                        </p:tav>
                                      </p:tavLst>
                                    </p:anim>
                                  </p:childTnLst>
                                </p:cTn>
                              </p:par>
                            </p:childTnLst>
                          </p:cTn>
                        </p:par>
                        <p:par>
                          <p:cTn id="21" fill="hold">
                            <p:stCondLst>
                              <p:cond delay="4000"/>
                            </p:stCondLst>
                            <p:childTnLst>
                              <p:par>
                                <p:cTn id="22" presetID="23" presetClass="entr" presetSubtype="16" fill="hold" nodeType="afterEffect">
                                  <p:stCondLst>
                                    <p:cond delay="0"/>
                                  </p:stCondLst>
                                  <p:childTnLst>
                                    <p:set>
                                      <p:cBhvr>
                                        <p:cTn id="23" dur="1" fill="hold">
                                          <p:stCondLst>
                                            <p:cond delay="0"/>
                                          </p:stCondLst>
                                        </p:cTn>
                                        <p:tgtEl>
                                          <p:spTgt spid="1715"/>
                                        </p:tgtEl>
                                        <p:attrNameLst>
                                          <p:attrName>style.visibility</p:attrName>
                                        </p:attrNameLst>
                                      </p:cBhvr>
                                      <p:to>
                                        <p:strVal val="visible"/>
                                      </p:to>
                                    </p:set>
                                    <p:anim calcmode="lin" valueType="num">
                                      <p:cBhvr additive="base">
                                        <p:cTn id="24" dur="1000"/>
                                        <p:tgtEl>
                                          <p:spTgt spid="1715"/>
                                        </p:tgtEl>
                                        <p:attrNameLst>
                                          <p:attrName>ppt_w</p:attrName>
                                        </p:attrNameLst>
                                      </p:cBhvr>
                                      <p:tavLst>
                                        <p:tav tm="0">
                                          <p:val>
                                            <p:strVal val="0"/>
                                          </p:val>
                                        </p:tav>
                                        <p:tav tm="100000">
                                          <p:val>
                                            <p:strVal val="#ppt_w"/>
                                          </p:val>
                                        </p:tav>
                                      </p:tavLst>
                                    </p:anim>
                                    <p:anim calcmode="lin" valueType="num">
                                      <p:cBhvr additive="base">
                                        <p:cTn id="25" dur="1000"/>
                                        <p:tgtEl>
                                          <p:spTgt spid="171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760"/>
        <p:cNvGrpSpPr/>
        <p:nvPr/>
      </p:nvGrpSpPr>
      <p:grpSpPr>
        <a:xfrm>
          <a:off x="0" y="0"/>
          <a:ext cx="0" cy="0"/>
          <a:chOff x="0" y="0"/>
          <a:chExt cx="0" cy="0"/>
        </a:xfrm>
      </p:grpSpPr>
      <p:sp>
        <p:nvSpPr>
          <p:cNvPr id="12" name="Rettangolo 11">
            <a:extLst>
              <a:ext uri="{FF2B5EF4-FFF2-40B4-BE49-F238E27FC236}">
                <a16:creationId xmlns:a16="http://schemas.microsoft.com/office/drawing/2014/main" id="{EAC3E9C8-0FAB-4C63-BA37-7760B20334F2}"/>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2761" name="Shape 2761"/>
          <p:cNvPicPr preferRelativeResize="0"/>
          <p:nvPr/>
        </p:nvPicPr>
        <p:blipFill>
          <a:blip r:embed="rId3">
            <a:alphaModFix/>
          </a:blip>
          <a:stretch>
            <a:fillRect/>
          </a:stretch>
        </p:blipFill>
        <p:spPr>
          <a:xfrm>
            <a:off x="-84000" y="175455"/>
            <a:ext cx="9291700" cy="788900"/>
          </a:xfrm>
          <a:prstGeom prst="rect">
            <a:avLst/>
          </a:prstGeom>
          <a:noFill/>
          <a:ln>
            <a:noFill/>
          </a:ln>
        </p:spPr>
      </p:pic>
      <p:sp>
        <p:nvSpPr>
          <p:cNvPr id="2764" name="Shape 2764"/>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Multi Projects Presentation</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pic>
        <p:nvPicPr>
          <p:cNvPr id="2765" name="Shape 2765"/>
          <p:cNvPicPr preferRelativeResize="0"/>
          <p:nvPr/>
        </p:nvPicPr>
        <p:blipFill>
          <a:blip r:embed="rId4">
            <a:alphaModFix/>
          </a:blip>
          <a:stretch>
            <a:fillRect/>
          </a:stretch>
        </p:blipFill>
        <p:spPr>
          <a:xfrm>
            <a:off x="3818450" y="927503"/>
            <a:ext cx="5480399" cy="4244100"/>
          </a:xfrm>
          <a:prstGeom prst="rect">
            <a:avLst/>
          </a:prstGeom>
          <a:noFill/>
          <a:ln>
            <a:noFill/>
          </a:ln>
        </p:spPr>
      </p:pic>
      <p:grpSp>
        <p:nvGrpSpPr>
          <p:cNvPr id="2766" name="Shape 2766"/>
          <p:cNvGrpSpPr/>
          <p:nvPr/>
        </p:nvGrpSpPr>
        <p:grpSpPr>
          <a:xfrm>
            <a:off x="663675" y="1600636"/>
            <a:ext cx="3045649" cy="3011431"/>
            <a:chOff x="663675" y="1600636"/>
            <a:chExt cx="3045649" cy="3011431"/>
          </a:xfrm>
        </p:grpSpPr>
        <p:sp>
          <p:nvSpPr>
            <p:cNvPr id="2767" name="Shape 2767"/>
            <p:cNvSpPr txBox="1"/>
            <p:nvPr/>
          </p:nvSpPr>
          <p:spPr>
            <a:xfrm>
              <a:off x="663675" y="1600636"/>
              <a:ext cx="2533500" cy="365399"/>
            </a:xfrm>
            <a:prstGeom prst="rect">
              <a:avLst/>
            </a:prstGeom>
            <a:noFill/>
            <a:ln>
              <a:noFill/>
            </a:ln>
          </p:spPr>
          <p:txBody>
            <a:bodyPr lIns="91425" tIns="91425" rIns="91425" bIns="91425" anchor="t" anchorCtr="0">
              <a:noAutofit/>
            </a:bodyPr>
            <a:lstStyle/>
            <a:p>
              <a:pPr lvl="0" rtl="0">
                <a:lnSpc>
                  <a:spcPct val="115000"/>
                </a:lnSpc>
                <a:spcBef>
                  <a:spcPts val="0"/>
                </a:spcBef>
                <a:buNone/>
              </a:pPr>
              <a:r>
                <a:rPr lang="en" sz="1800">
                  <a:solidFill>
                    <a:srgbClr val="F08B7C"/>
                  </a:solidFill>
                  <a:latin typeface="Roboto Slab"/>
                  <a:ea typeface="Roboto Slab"/>
                  <a:cs typeface="Roboto Slab"/>
                  <a:sym typeface="Roboto Slab"/>
                </a:rPr>
                <a:t>Case History</a:t>
              </a:r>
            </a:p>
            <a:p>
              <a:pPr lvl="0" rtl="0">
                <a:spcBef>
                  <a:spcPts val="0"/>
                </a:spcBef>
                <a:buNone/>
              </a:pPr>
              <a:endParaRPr sz="1800">
                <a:solidFill>
                  <a:srgbClr val="DD7E6B"/>
                </a:solidFill>
              </a:endParaRPr>
            </a:p>
          </p:txBody>
        </p:sp>
        <p:sp>
          <p:nvSpPr>
            <p:cNvPr id="2768" name="Shape 2768"/>
            <p:cNvSpPr txBox="1"/>
            <p:nvPr/>
          </p:nvSpPr>
          <p:spPr>
            <a:xfrm>
              <a:off x="680225" y="1979973"/>
              <a:ext cx="3029099" cy="536100"/>
            </a:xfrm>
            <a:prstGeom prst="rect">
              <a:avLst/>
            </a:prstGeom>
            <a:noFill/>
            <a:ln>
              <a:noFill/>
            </a:ln>
          </p:spPr>
          <p:txBody>
            <a:bodyPr lIns="91425" tIns="91425" rIns="91425" bIns="91425" anchor="t" anchorCtr="0">
              <a:noAutofit/>
            </a:bodyPr>
            <a:lstStyle/>
            <a:p>
              <a:pPr lvl="0" rtl="0">
                <a:spcBef>
                  <a:spcPts val="0"/>
                </a:spcBef>
                <a:buClr>
                  <a:schemeClr val="dk1"/>
                </a:buClr>
                <a:buSzPct val="122222"/>
                <a:buFont typeface="Arial"/>
                <a:buNone/>
              </a:pPr>
              <a:r>
                <a:rPr lang="en" sz="900" b="1">
                  <a:solidFill>
                    <a:schemeClr val="dk2"/>
                  </a:solidFill>
                  <a:latin typeface="Roboto"/>
                  <a:ea typeface="Roboto"/>
                  <a:cs typeface="Roboto"/>
                  <a:sym typeface="Roboto"/>
                </a:rPr>
                <a:t>Lorem ipsum dolor sit amet consecuretur</a:t>
              </a:r>
            </a:p>
            <a:p>
              <a:pPr lvl="0" rtl="0">
                <a:spcBef>
                  <a:spcPts val="0"/>
                </a:spcBef>
                <a:buNone/>
              </a:pPr>
              <a:endParaRPr sz="900" b="1">
                <a:solidFill>
                  <a:schemeClr val="dk2"/>
                </a:solidFill>
                <a:latin typeface="Roboto"/>
                <a:ea typeface="Roboto"/>
                <a:cs typeface="Roboto"/>
                <a:sym typeface="Roboto"/>
              </a:endParaRPr>
            </a:p>
          </p:txBody>
        </p:sp>
        <p:sp>
          <p:nvSpPr>
            <p:cNvPr id="2769" name="Shape 2769"/>
            <p:cNvSpPr txBox="1"/>
            <p:nvPr/>
          </p:nvSpPr>
          <p:spPr>
            <a:xfrm>
              <a:off x="691475" y="2386667"/>
              <a:ext cx="2263499" cy="2225400"/>
            </a:xfrm>
            <a:prstGeom prst="rect">
              <a:avLst/>
            </a:prstGeom>
            <a:noFill/>
            <a:ln>
              <a:noFill/>
            </a:ln>
          </p:spPr>
          <p:txBody>
            <a:bodyPr lIns="91425" tIns="91425" rIns="91425" bIns="91425" anchor="t" anchorCtr="0">
              <a:noAutofit/>
            </a:bodyPr>
            <a:lstStyle/>
            <a:p>
              <a:pPr lvl="0" rtl="0">
                <a:spcBef>
                  <a:spcPts val="0"/>
                </a:spcBef>
                <a:buClr>
                  <a:schemeClr val="dk1"/>
                </a:buClr>
                <a:buSzPct val="110000"/>
                <a:buFont typeface="Arial"/>
                <a:buNone/>
              </a:pPr>
              <a:r>
                <a:rPr lang="en" sz="1000">
                  <a:solidFill>
                    <a:srgbClr val="666666"/>
                  </a:solidFill>
                  <a:latin typeface="Roboto"/>
                  <a:ea typeface="Roboto"/>
                  <a:cs typeface="Roboto"/>
                  <a:sym typeface="Roboto"/>
                </a:rPr>
                <a:t>Lorem ipsum dolor sit amet, consectetur adipiscing elit. Nulla dignissim eros sit amet enissim eros sit amet enissim eros sit amet enissim eros sit amet enissim eros siros tincidunt tristique consectetur adipiscing elit. Nulla dignissim eros sit amet enissim eros sit amet enissim eros sit amet enissim eros sit amet enissim eros siros tincidunt tristique.</a:t>
              </a:r>
            </a:p>
            <a:p>
              <a:pPr lvl="0" rtl="0">
                <a:spcBef>
                  <a:spcPts val="0"/>
                </a:spcBef>
                <a:buClr>
                  <a:schemeClr val="dk1"/>
                </a:buClr>
                <a:buFont typeface="Arial"/>
                <a:buNone/>
              </a:pPr>
              <a:endParaRPr sz="1000">
                <a:solidFill>
                  <a:srgbClr val="666666"/>
                </a:solidFill>
                <a:latin typeface="Roboto"/>
                <a:ea typeface="Roboto"/>
                <a:cs typeface="Roboto"/>
                <a:sym typeface="Roboto"/>
              </a:endParaRPr>
            </a:p>
            <a:p>
              <a:pPr lvl="0" rtl="0">
                <a:spcBef>
                  <a:spcPts val="0"/>
                </a:spcBef>
                <a:buNone/>
              </a:pPr>
              <a:endParaRPr sz="1000">
                <a:solidFill>
                  <a:srgbClr val="666666"/>
                </a:solidFill>
                <a:latin typeface="Roboto"/>
                <a:ea typeface="Roboto"/>
                <a:cs typeface="Roboto"/>
                <a:sym typeface="Roboto"/>
              </a:endParaRPr>
            </a:p>
          </p:txBody>
        </p:sp>
      </p:grpSp>
      <p:pic>
        <p:nvPicPr>
          <p:cNvPr id="11" name="Immagine 10">
            <a:extLst>
              <a:ext uri="{FF2B5EF4-FFF2-40B4-BE49-F238E27FC236}">
                <a16:creationId xmlns:a16="http://schemas.microsoft.com/office/drawing/2014/main" id="{3E2D3C86-F5B9-4F2D-99BA-CB8E0F0C1773}"/>
              </a:ext>
            </a:extLst>
          </p:cNvPr>
          <p:cNvPicPr>
            <a:picLocks noChangeAspect="1"/>
          </p:cNvPicPr>
          <p:nvPr/>
        </p:nvPicPr>
        <p:blipFill rotWithShape="1">
          <a:blip r:embed="rId5"/>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766"/>
                                        </p:tgtEl>
                                        <p:attrNameLst>
                                          <p:attrName>style.visibility</p:attrName>
                                        </p:attrNameLst>
                                      </p:cBhvr>
                                      <p:to>
                                        <p:strVal val="visible"/>
                                      </p:to>
                                    </p:set>
                                    <p:anim calcmode="lin" valueType="num">
                                      <p:cBhvr additive="base">
                                        <p:cTn id="7" dur="500"/>
                                        <p:tgtEl>
                                          <p:spTgt spid="2766"/>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2765"/>
                                        </p:tgtEl>
                                        <p:attrNameLst>
                                          <p:attrName>style.visibility</p:attrName>
                                        </p:attrNameLst>
                                      </p:cBhvr>
                                      <p:to>
                                        <p:strVal val="visible"/>
                                      </p:to>
                                    </p:set>
                                    <p:anim calcmode="lin" valueType="num">
                                      <p:cBhvr additive="base">
                                        <p:cTn id="11" dur="500"/>
                                        <p:tgtEl>
                                          <p:spTgt spid="276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871"/>
        <p:cNvGrpSpPr/>
        <p:nvPr/>
      </p:nvGrpSpPr>
      <p:grpSpPr>
        <a:xfrm>
          <a:off x="0" y="0"/>
          <a:ext cx="0" cy="0"/>
          <a:chOff x="0" y="0"/>
          <a:chExt cx="0" cy="0"/>
        </a:xfrm>
      </p:grpSpPr>
      <p:sp>
        <p:nvSpPr>
          <p:cNvPr id="35" name="Rettangolo 34">
            <a:extLst>
              <a:ext uri="{FF2B5EF4-FFF2-40B4-BE49-F238E27FC236}">
                <a16:creationId xmlns:a16="http://schemas.microsoft.com/office/drawing/2014/main" id="{398DD2D3-3670-458C-B100-905A413051A7}"/>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2872" name="Shape 2872"/>
          <p:cNvPicPr preferRelativeResize="0"/>
          <p:nvPr/>
        </p:nvPicPr>
        <p:blipFill>
          <a:blip r:embed="rId3">
            <a:alphaModFix/>
          </a:blip>
          <a:stretch>
            <a:fillRect/>
          </a:stretch>
        </p:blipFill>
        <p:spPr>
          <a:xfrm>
            <a:off x="-84000" y="175455"/>
            <a:ext cx="9291700" cy="788900"/>
          </a:xfrm>
          <a:prstGeom prst="rect">
            <a:avLst/>
          </a:prstGeom>
          <a:noFill/>
          <a:ln>
            <a:noFill/>
          </a:ln>
        </p:spPr>
      </p:pic>
      <p:sp>
        <p:nvSpPr>
          <p:cNvPr id="2875" name="Shape 2875"/>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Investment</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grpSp>
        <p:nvGrpSpPr>
          <p:cNvPr id="2876" name="Shape 2876"/>
          <p:cNvGrpSpPr/>
          <p:nvPr/>
        </p:nvGrpSpPr>
        <p:grpSpPr>
          <a:xfrm>
            <a:off x="1090474" y="2246452"/>
            <a:ext cx="5444451" cy="2225072"/>
            <a:chOff x="1014274" y="2246452"/>
            <a:chExt cx="5444451" cy="2225072"/>
          </a:xfrm>
        </p:grpSpPr>
        <p:cxnSp>
          <p:nvCxnSpPr>
            <p:cNvPr id="2877" name="Shape 2877"/>
            <p:cNvCxnSpPr/>
            <p:nvPr/>
          </p:nvCxnSpPr>
          <p:spPr>
            <a:xfrm>
              <a:off x="1025571" y="2276652"/>
              <a:ext cx="0" cy="348600"/>
            </a:xfrm>
            <a:prstGeom prst="straightConnector1">
              <a:avLst/>
            </a:prstGeom>
            <a:noFill/>
            <a:ln w="19050" cap="flat" cmpd="sng">
              <a:solidFill>
                <a:srgbClr val="B7B7B7"/>
              </a:solidFill>
              <a:prstDash val="dot"/>
              <a:round/>
              <a:headEnd type="none" w="lg" len="lg"/>
              <a:tailEnd type="none" w="lg" len="lg"/>
            </a:ln>
          </p:spPr>
        </p:cxnSp>
        <p:cxnSp>
          <p:nvCxnSpPr>
            <p:cNvPr id="2878" name="Shape 2878"/>
            <p:cNvCxnSpPr/>
            <p:nvPr/>
          </p:nvCxnSpPr>
          <p:spPr>
            <a:xfrm>
              <a:off x="1014325" y="2591425"/>
              <a:ext cx="5444400" cy="0"/>
            </a:xfrm>
            <a:prstGeom prst="straightConnector1">
              <a:avLst/>
            </a:prstGeom>
            <a:noFill/>
            <a:ln w="19050" cap="flat" cmpd="sng">
              <a:solidFill>
                <a:srgbClr val="B7B7B7"/>
              </a:solidFill>
              <a:prstDash val="dot"/>
              <a:round/>
              <a:headEnd type="none" w="lg" len="lg"/>
              <a:tailEnd type="none" w="lg" len="lg"/>
            </a:ln>
          </p:spPr>
        </p:cxnSp>
        <p:cxnSp>
          <p:nvCxnSpPr>
            <p:cNvPr id="2879" name="Shape 2879"/>
            <p:cNvCxnSpPr/>
            <p:nvPr/>
          </p:nvCxnSpPr>
          <p:spPr>
            <a:xfrm>
              <a:off x="1025571" y="2738227"/>
              <a:ext cx="0" cy="348600"/>
            </a:xfrm>
            <a:prstGeom prst="straightConnector1">
              <a:avLst/>
            </a:prstGeom>
            <a:noFill/>
            <a:ln w="19050" cap="flat" cmpd="sng">
              <a:solidFill>
                <a:srgbClr val="B7B7B7"/>
              </a:solidFill>
              <a:prstDash val="dot"/>
              <a:round/>
              <a:headEnd type="none" w="lg" len="lg"/>
              <a:tailEnd type="none" w="lg" len="lg"/>
            </a:ln>
          </p:spPr>
        </p:cxnSp>
        <p:cxnSp>
          <p:nvCxnSpPr>
            <p:cNvPr id="2880" name="Shape 2880"/>
            <p:cNvCxnSpPr/>
            <p:nvPr/>
          </p:nvCxnSpPr>
          <p:spPr>
            <a:xfrm>
              <a:off x="1014325" y="3053000"/>
              <a:ext cx="5281499" cy="0"/>
            </a:xfrm>
            <a:prstGeom prst="straightConnector1">
              <a:avLst/>
            </a:prstGeom>
            <a:noFill/>
            <a:ln w="19050" cap="flat" cmpd="sng">
              <a:solidFill>
                <a:srgbClr val="B7B7B7"/>
              </a:solidFill>
              <a:prstDash val="dot"/>
              <a:round/>
              <a:headEnd type="none" w="lg" len="lg"/>
              <a:tailEnd type="none" w="lg" len="lg"/>
            </a:ln>
          </p:spPr>
        </p:cxnSp>
        <p:cxnSp>
          <p:nvCxnSpPr>
            <p:cNvPr id="2881" name="Shape 2881"/>
            <p:cNvCxnSpPr/>
            <p:nvPr/>
          </p:nvCxnSpPr>
          <p:spPr>
            <a:xfrm>
              <a:off x="1025571" y="3199802"/>
              <a:ext cx="0" cy="348600"/>
            </a:xfrm>
            <a:prstGeom prst="straightConnector1">
              <a:avLst/>
            </a:prstGeom>
            <a:noFill/>
            <a:ln w="19050" cap="flat" cmpd="sng">
              <a:solidFill>
                <a:srgbClr val="B7B7B7"/>
              </a:solidFill>
              <a:prstDash val="dot"/>
              <a:round/>
              <a:headEnd type="none" w="lg" len="lg"/>
              <a:tailEnd type="none" w="lg" len="lg"/>
            </a:ln>
          </p:spPr>
        </p:cxnSp>
        <p:cxnSp>
          <p:nvCxnSpPr>
            <p:cNvPr id="2882" name="Shape 2882"/>
            <p:cNvCxnSpPr/>
            <p:nvPr/>
          </p:nvCxnSpPr>
          <p:spPr>
            <a:xfrm>
              <a:off x="1014325" y="3514575"/>
              <a:ext cx="5081699" cy="0"/>
            </a:xfrm>
            <a:prstGeom prst="straightConnector1">
              <a:avLst/>
            </a:prstGeom>
            <a:noFill/>
            <a:ln w="19050" cap="flat" cmpd="sng">
              <a:solidFill>
                <a:srgbClr val="B7B7B7"/>
              </a:solidFill>
              <a:prstDash val="dot"/>
              <a:round/>
              <a:headEnd type="none" w="lg" len="lg"/>
              <a:tailEnd type="none" w="lg" len="lg"/>
            </a:ln>
          </p:spPr>
        </p:cxnSp>
        <p:cxnSp>
          <p:nvCxnSpPr>
            <p:cNvPr id="2883" name="Shape 2883"/>
            <p:cNvCxnSpPr/>
            <p:nvPr/>
          </p:nvCxnSpPr>
          <p:spPr>
            <a:xfrm>
              <a:off x="1025571" y="3661377"/>
              <a:ext cx="0" cy="348600"/>
            </a:xfrm>
            <a:prstGeom prst="straightConnector1">
              <a:avLst/>
            </a:prstGeom>
            <a:noFill/>
            <a:ln w="19050" cap="flat" cmpd="sng">
              <a:solidFill>
                <a:srgbClr val="B7B7B7"/>
              </a:solidFill>
              <a:prstDash val="dot"/>
              <a:round/>
              <a:headEnd type="none" w="lg" len="lg"/>
              <a:tailEnd type="none" w="lg" len="lg"/>
            </a:ln>
          </p:spPr>
        </p:cxnSp>
        <p:cxnSp>
          <p:nvCxnSpPr>
            <p:cNvPr id="2884" name="Shape 2884"/>
            <p:cNvCxnSpPr/>
            <p:nvPr/>
          </p:nvCxnSpPr>
          <p:spPr>
            <a:xfrm>
              <a:off x="1014274" y="3976221"/>
              <a:ext cx="4958099" cy="6000"/>
            </a:xfrm>
            <a:prstGeom prst="straightConnector1">
              <a:avLst/>
            </a:prstGeom>
            <a:noFill/>
            <a:ln w="19050" cap="flat" cmpd="sng">
              <a:solidFill>
                <a:srgbClr val="B7B7B7"/>
              </a:solidFill>
              <a:prstDash val="dot"/>
              <a:round/>
              <a:headEnd type="none" w="lg" len="lg"/>
              <a:tailEnd type="none" w="lg" len="lg"/>
            </a:ln>
          </p:spPr>
        </p:cxnSp>
        <p:cxnSp>
          <p:nvCxnSpPr>
            <p:cNvPr id="2885" name="Shape 2885"/>
            <p:cNvCxnSpPr/>
            <p:nvPr/>
          </p:nvCxnSpPr>
          <p:spPr>
            <a:xfrm>
              <a:off x="1025574" y="4100452"/>
              <a:ext cx="0" cy="348600"/>
            </a:xfrm>
            <a:prstGeom prst="straightConnector1">
              <a:avLst/>
            </a:prstGeom>
            <a:noFill/>
            <a:ln w="19050" cap="flat" cmpd="sng">
              <a:solidFill>
                <a:srgbClr val="B7B7B7"/>
              </a:solidFill>
              <a:prstDash val="dot"/>
              <a:round/>
              <a:headEnd type="none" w="lg" len="lg"/>
              <a:tailEnd type="none" w="lg" len="lg"/>
            </a:ln>
          </p:spPr>
        </p:cxnSp>
        <p:cxnSp>
          <p:nvCxnSpPr>
            <p:cNvPr id="2886" name="Shape 2886"/>
            <p:cNvCxnSpPr/>
            <p:nvPr/>
          </p:nvCxnSpPr>
          <p:spPr>
            <a:xfrm>
              <a:off x="1014329" y="4415225"/>
              <a:ext cx="5081699" cy="0"/>
            </a:xfrm>
            <a:prstGeom prst="straightConnector1">
              <a:avLst/>
            </a:prstGeom>
            <a:noFill/>
            <a:ln w="19050" cap="flat" cmpd="sng">
              <a:solidFill>
                <a:srgbClr val="B7B7B7"/>
              </a:solidFill>
              <a:prstDash val="dot"/>
              <a:round/>
              <a:headEnd type="none" w="lg" len="lg"/>
              <a:tailEnd type="none" w="lg" len="lg"/>
            </a:ln>
          </p:spPr>
        </p:cxnSp>
        <p:sp>
          <p:nvSpPr>
            <p:cNvPr id="2887" name="Shape 2887"/>
            <p:cNvSpPr txBox="1"/>
            <p:nvPr/>
          </p:nvSpPr>
          <p:spPr>
            <a:xfrm>
              <a:off x="1056679" y="2679931"/>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A5C961"/>
                  </a:solidFill>
                  <a:latin typeface="Roboto Slab"/>
                  <a:ea typeface="Roboto Slab"/>
                  <a:cs typeface="Roboto Slab"/>
                  <a:sym typeface="Roboto Slab"/>
                </a:rPr>
                <a:t>20% SEO</a:t>
              </a:r>
            </a:p>
            <a:p>
              <a:pPr lvl="0" algn="ctr" rtl="0">
                <a:spcBef>
                  <a:spcPts val="0"/>
                </a:spcBef>
                <a:buNone/>
              </a:pPr>
              <a:endParaRPr sz="1200" b="1">
                <a:solidFill>
                  <a:schemeClr val="dk2"/>
                </a:solidFill>
                <a:latin typeface="Roboto Slab"/>
                <a:ea typeface="Roboto Slab"/>
                <a:cs typeface="Roboto Slab"/>
                <a:sym typeface="Roboto Slab"/>
              </a:endParaRPr>
            </a:p>
          </p:txBody>
        </p:sp>
        <p:sp>
          <p:nvSpPr>
            <p:cNvPr id="2888" name="Shape 2888"/>
            <p:cNvSpPr txBox="1"/>
            <p:nvPr/>
          </p:nvSpPr>
          <p:spPr>
            <a:xfrm>
              <a:off x="1053056" y="3158365"/>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chemeClr val="accent1"/>
                  </a:solidFill>
                  <a:latin typeface="Roboto Slab"/>
                  <a:ea typeface="Roboto Slab"/>
                  <a:cs typeface="Roboto Slab"/>
                  <a:sym typeface="Roboto Slab"/>
                </a:rPr>
                <a:t>30% IN-APP ADVERTISING</a:t>
              </a:r>
            </a:p>
          </p:txBody>
        </p:sp>
        <p:sp>
          <p:nvSpPr>
            <p:cNvPr id="2889" name="Shape 2889"/>
            <p:cNvSpPr txBox="1"/>
            <p:nvPr/>
          </p:nvSpPr>
          <p:spPr>
            <a:xfrm>
              <a:off x="1038176" y="3605552"/>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F08B7C"/>
                  </a:solidFill>
                  <a:latin typeface="Roboto Slab"/>
                  <a:ea typeface="Roboto Slab"/>
                  <a:cs typeface="Roboto Slab"/>
                  <a:sym typeface="Roboto Slab"/>
                </a:rPr>
                <a:t>40% LOCAL ADVERTISING</a:t>
              </a:r>
            </a:p>
            <a:p>
              <a:pPr lvl="0" algn="ctr" rtl="0">
                <a:spcBef>
                  <a:spcPts val="0"/>
                </a:spcBef>
                <a:buNone/>
              </a:pPr>
              <a:endParaRPr sz="1200" b="1">
                <a:solidFill>
                  <a:schemeClr val="dk2"/>
                </a:solidFill>
                <a:latin typeface="Roboto Slab"/>
                <a:ea typeface="Roboto Slab"/>
                <a:cs typeface="Roboto Slab"/>
                <a:sym typeface="Roboto Slab"/>
              </a:endParaRPr>
            </a:p>
          </p:txBody>
        </p:sp>
        <p:sp>
          <p:nvSpPr>
            <p:cNvPr id="2890" name="Shape 2890"/>
            <p:cNvSpPr txBox="1"/>
            <p:nvPr/>
          </p:nvSpPr>
          <p:spPr>
            <a:xfrm>
              <a:off x="1028932" y="4036525"/>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chemeClr val="accent5"/>
                  </a:solidFill>
                  <a:latin typeface="Roboto Slab"/>
                  <a:ea typeface="Roboto Slab"/>
                  <a:cs typeface="Roboto Slab"/>
                  <a:sym typeface="Roboto Slab"/>
                </a:rPr>
                <a:t>50% GOOGLE ADWORDS</a:t>
              </a:r>
            </a:p>
            <a:p>
              <a:pPr lvl="0" algn="ctr" rtl="0">
                <a:spcBef>
                  <a:spcPts val="0"/>
                </a:spcBef>
                <a:buNone/>
              </a:pPr>
              <a:endParaRPr sz="1200" b="1">
                <a:solidFill>
                  <a:schemeClr val="dk2"/>
                </a:solidFill>
                <a:latin typeface="Roboto Slab"/>
                <a:ea typeface="Roboto Slab"/>
                <a:cs typeface="Roboto Slab"/>
                <a:sym typeface="Roboto Slab"/>
              </a:endParaRPr>
            </a:p>
          </p:txBody>
        </p:sp>
        <p:sp>
          <p:nvSpPr>
            <p:cNvPr id="2891" name="Shape 2891"/>
            <p:cNvSpPr txBox="1"/>
            <p:nvPr/>
          </p:nvSpPr>
          <p:spPr>
            <a:xfrm>
              <a:off x="1054169" y="2246452"/>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7FB3E6"/>
                  </a:solidFill>
                  <a:latin typeface="Roboto Slab"/>
                  <a:ea typeface="Roboto Slab"/>
                  <a:cs typeface="Roboto Slab"/>
                  <a:sym typeface="Roboto Slab"/>
                </a:rPr>
                <a:t>10% EMAIL MARKETING</a:t>
              </a:r>
            </a:p>
            <a:p>
              <a:pPr lvl="0" algn="ctr" rtl="0">
                <a:spcBef>
                  <a:spcPts val="0"/>
                </a:spcBef>
                <a:buNone/>
              </a:pPr>
              <a:endParaRPr sz="1200" b="1">
                <a:solidFill>
                  <a:schemeClr val="dk2"/>
                </a:solidFill>
                <a:latin typeface="Roboto Slab"/>
                <a:ea typeface="Roboto Slab"/>
                <a:cs typeface="Roboto Slab"/>
                <a:sym typeface="Roboto Slab"/>
              </a:endParaRPr>
            </a:p>
          </p:txBody>
        </p:sp>
        <p:sp>
          <p:nvSpPr>
            <p:cNvPr id="2892" name="Shape 2892"/>
            <p:cNvSpPr txBox="1"/>
            <p:nvPr/>
          </p:nvSpPr>
          <p:spPr>
            <a:xfrm>
              <a:off x="3066100" y="2287875"/>
              <a:ext cx="2405999" cy="241800"/>
            </a:xfrm>
            <a:prstGeom prst="rect">
              <a:avLst/>
            </a:prstGeom>
            <a:noFill/>
            <a:ln>
              <a:noFill/>
            </a:ln>
          </p:spPr>
          <p:txBody>
            <a:bodyPr lIns="91425" tIns="91425" rIns="91425" bIns="91425" anchor="t" anchorCtr="0">
              <a:noAutofit/>
            </a:bodyPr>
            <a:lstStyle/>
            <a:p>
              <a:pPr lvl="0" rtl="0">
                <a:spcBef>
                  <a:spcPts val="0"/>
                </a:spcBef>
                <a:buClr>
                  <a:schemeClr val="dk1"/>
                </a:buClr>
                <a:buSzPct val="137500"/>
                <a:buFont typeface="Arial"/>
                <a:buNone/>
              </a:pPr>
              <a:r>
                <a:rPr lang="en" sz="800">
                  <a:solidFill>
                    <a:schemeClr val="dk1"/>
                  </a:solidFill>
                  <a:latin typeface="Roboto"/>
                  <a:ea typeface="Roboto"/>
                  <a:cs typeface="Roboto"/>
                  <a:sym typeface="Roboto"/>
                </a:rPr>
                <a:t>Lorem ipsum dolor sit amet consecuretur</a:t>
              </a:r>
            </a:p>
            <a:p>
              <a:pPr>
                <a:spcBef>
                  <a:spcPts val="0"/>
                </a:spcBef>
                <a:buNone/>
              </a:pPr>
              <a:endParaRPr sz="800">
                <a:latin typeface="Roboto"/>
                <a:ea typeface="Roboto"/>
                <a:cs typeface="Roboto"/>
                <a:sym typeface="Roboto"/>
              </a:endParaRPr>
            </a:p>
          </p:txBody>
        </p:sp>
        <p:sp>
          <p:nvSpPr>
            <p:cNvPr id="2893" name="Shape 2893"/>
            <p:cNvSpPr txBox="1"/>
            <p:nvPr/>
          </p:nvSpPr>
          <p:spPr>
            <a:xfrm>
              <a:off x="1889375" y="2723125"/>
              <a:ext cx="2405999" cy="241800"/>
            </a:xfrm>
            <a:prstGeom prst="rect">
              <a:avLst/>
            </a:prstGeom>
            <a:noFill/>
            <a:ln>
              <a:noFill/>
            </a:ln>
          </p:spPr>
          <p:txBody>
            <a:bodyPr lIns="91425" tIns="91425" rIns="91425" bIns="91425" anchor="t" anchorCtr="0">
              <a:noAutofit/>
            </a:bodyPr>
            <a:lstStyle/>
            <a:p>
              <a:pPr lvl="0" rtl="0">
                <a:spcBef>
                  <a:spcPts val="0"/>
                </a:spcBef>
                <a:buNone/>
              </a:pPr>
              <a:r>
                <a:rPr lang="en" sz="800">
                  <a:solidFill>
                    <a:schemeClr val="dk1"/>
                  </a:solidFill>
                  <a:latin typeface="Roboto"/>
                  <a:ea typeface="Roboto"/>
                  <a:cs typeface="Roboto"/>
                  <a:sym typeface="Roboto"/>
                </a:rPr>
                <a:t>Lorem ipsum dolor sit amet consecuretur</a:t>
              </a:r>
            </a:p>
            <a:p>
              <a:pPr lvl="0" rtl="0">
                <a:spcBef>
                  <a:spcPts val="0"/>
                </a:spcBef>
                <a:buNone/>
              </a:pPr>
              <a:endParaRPr sz="800">
                <a:latin typeface="Roboto"/>
                <a:ea typeface="Roboto"/>
                <a:cs typeface="Roboto"/>
                <a:sym typeface="Roboto"/>
              </a:endParaRPr>
            </a:p>
          </p:txBody>
        </p:sp>
        <p:sp>
          <p:nvSpPr>
            <p:cNvPr id="2894" name="Shape 2894"/>
            <p:cNvSpPr txBox="1"/>
            <p:nvPr/>
          </p:nvSpPr>
          <p:spPr>
            <a:xfrm>
              <a:off x="3188516" y="3199988"/>
              <a:ext cx="2405999" cy="241800"/>
            </a:xfrm>
            <a:prstGeom prst="rect">
              <a:avLst/>
            </a:prstGeom>
            <a:noFill/>
            <a:ln>
              <a:noFill/>
            </a:ln>
          </p:spPr>
          <p:txBody>
            <a:bodyPr lIns="91425" tIns="91425" rIns="91425" bIns="91425" anchor="t" anchorCtr="0">
              <a:noAutofit/>
            </a:bodyPr>
            <a:lstStyle/>
            <a:p>
              <a:pPr lvl="0" rtl="0">
                <a:spcBef>
                  <a:spcPts val="0"/>
                </a:spcBef>
                <a:buNone/>
              </a:pPr>
              <a:r>
                <a:rPr lang="en" sz="800">
                  <a:solidFill>
                    <a:schemeClr val="dk1"/>
                  </a:solidFill>
                  <a:latin typeface="Roboto"/>
                  <a:ea typeface="Roboto"/>
                  <a:cs typeface="Roboto"/>
                  <a:sym typeface="Roboto"/>
                </a:rPr>
                <a:t>Lorem ipsum dolor sit amet consecuretur</a:t>
              </a:r>
            </a:p>
            <a:p>
              <a:pPr lvl="0" rtl="0">
                <a:spcBef>
                  <a:spcPts val="0"/>
                </a:spcBef>
                <a:buNone/>
              </a:pPr>
              <a:endParaRPr sz="800">
                <a:latin typeface="Roboto"/>
                <a:ea typeface="Roboto"/>
                <a:cs typeface="Roboto"/>
                <a:sym typeface="Roboto"/>
              </a:endParaRPr>
            </a:p>
          </p:txBody>
        </p:sp>
        <p:sp>
          <p:nvSpPr>
            <p:cNvPr id="2895" name="Shape 2895"/>
            <p:cNvSpPr txBox="1"/>
            <p:nvPr/>
          </p:nvSpPr>
          <p:spPr>
            <a:xfrm>
              <a:off x="3172287" y="3645942"/>
              <a:ext cx="2405999" cy="241800"/>
            </a:xfrm>
            <a:prstGeom prst="rect">
              <a:avLst/>
            </a:prstGeom>
            <a:noFill/>
            <a:ln>
              <a:noFill/>
            </a:ln>
          </p:spPr>
          <p:txBody>
            <a:bodyPr lIns="91425" tIns="91425" rIns="91425" bIns="91425" anchor="t" anchorCtr="0">
              <a:noAutofit/>
            </a:bodyPr>
            <a:lstStyle/>
            <a:p>
              <a:pPr lvl="0" rtl="0">
                <a:spcBef>
                  <a:spcPts val="0"/>
                </a:spcBef>
                <a:buNone/>
              </a:pPr>
              <a:r>
                <a:rPr lang="en" sz="800">
                  <a:solidFill>
                    <a:schemeClr val="dk1"/>
                  </a:solidFill>
                  <a:latin typeface="Roboto"/>
                  <a:ea typeface="Roboto"/>
                  <a:cs typeface="Roboto"/>
                  <a:sym typeface="Roboto"/>
                </a:rPr>
                <a:t>Lorem ipsum dolor sit amet consecuretur</a:t>
              </a:r>
            </a:p>
            <a:p>
              <a:pPr lvl="0" rtl="0">
                <a:spcBef>
                  <a:spcPts val="0"/>
                </a:spcBef>
                <a:buNone/>
              </a:pPr>
              <a:endParaRPr sz="800">
                <a:latin typeface="Roboto"/>
                <a:ea typeface="Roboto"/>
                <a:cs typeface="Roboto"/>
                <a:sym typeface="Roboto"/>
              </a:endParaRPr>
            </a:p>
          </p:txBody>
        </p:sp>
        <p:sp>
          <p:nvSpPr>
            <p:cNvPr id="2896" name="Shape 2896"/>
            <p:cNvSpPr txBox="1"/>
            <p:nvPr/>
          </p:nvSpPr>
          <p:spPr>
            <a:xfrm>
              <a:off x="2931183" y="4080828"/>
              <a:ext cx="2405999" cy="241800"/>
            </a:xfrm>
            <a:prstGeom prst="rect">
              <a:avLst/>
            </a:prstGeom>
            <a:noFill/>
            <a:ln>
              <a:noFill/>
            </a:ln>
          </p:spPr>
          <p:txBody>
            <a:bodyPr lIns="91425" tIns="91425" rIns="91425" bIns="91425" anchor="t" anchorCtr="0">
              <a:noAutofit/>
            </a:bodyPr>
            <a:lstStyle/>
            <a:p>
              <a:pPr lvl="0" rtl="0">
                <a:spcBef>
                  <a:spcPts val="0"/>
                </a:spcBef>
                <a:buNone/>
              </a:pPr>
              <a:r>
                <a:rPr lang="en" sz="800">
                  <a:solidFill>
                    <a:schemeClr val="dk1"/>
                  </a:solidFill>
                  <a:latin typeface="Roboto"/>
                  <a:ea typeface="Roboto"/>
                  <a:cs typeface="Roboto"/>
                  <a:sym typeface="Roboto"/>
                </a:rPr>
                <a:t>Lorem ipsum dolor sit amet consecuretur</a:t>
              </a:r>
            </a:p>
            <a:p>
              <a:pPr lvl="0" rtl="0">
                <a:spcBef>
                  <a:spcPts val="0"/>
                </a:spcBef>
                <a:buNone/>
              </a:pPr>
              <a:endParaRPr sz="800">
                <a:latin typeface="Roboto"/>
                <a:ea typeface="Roboto"/>
                <a:cs typeface="Roboto"/>
                <a:sym typeface="Roboto"/>
              </a:endParaRPr>
            </a:p>
          </p:txBody>
        </p:sp>
      </p:grpSp>
      <p:sp>
        <p:nvSpPr>
          <p:cNvPr id="2897" name="Shape 2897"/>
          <p:cNvSpPr txBox="1"/>
          <p:nvPr/>
        </p:nvSpPr>
        <p:spPr>
          <a:xfrm>
            <a:off x="2013348" y="1392850"/>
            <a:ext cx="5097000" cy="434999"/>
          </a:xfrm>
          <a:prstGeom prst="rect">
            <a:avLst/>
          </a:prstGeom>
          <a:noFill/>
          <a:ln>
            <a:noFill/>
          </a:ln>
        </p:spPr>
        <p:txBody>
          <a:bodyPr lIns="91425" tIns="91425" rIns="91425" bIns="91425" anchor="t" anchorCtr="0">
            <a:noAutofit/>
          </a:bodyPr>
          <a:lstStyle/>
          <a:p>
            <a:pPr lvl="0" algn="ctr" rtl="0">
              <a:spcBef>
                <a:spcPts val="0"/>
              </a:spcBef>
              <a:buNone/>
            </a:pPr>
            <a:r>
              <a:rPr lang="en" sz="1800" b="1">
                <a:solidFill>
                  <a:srgbClr val="A8D5D7"/>
                </a:solidFill>
                <a:latin typeface="Roboto Slab"/>
                <a:ea typeface="Roboto Slab"/>
                <a:cs typeface="Roboto Slab"/>
                <a:sym typeface="Roboto Slab"/>
              </a:rPr>
              <a:t>How Much Do You Need?</a:t>
            </a:r>
          </a:p>
        </p:txBody>
      </p:sp>
      <p:pic>
        <p:nvPicPr>
          <p:cNvPr id="2898" name="Shape 2898"/>
          <p:cNvPicPr preferRelativeResize="0"/>
          <p:nvPr/>
        </p:nvPicPr>
        <p:blipFill>
          <a:blip r:embed="rId4">
            <a:alphaModFix/>
          </a:blip>
          <a:stretch>
            <a:fillRect/>
          </a:stretch>
        </p:blipFill>
        <p:spPr>
          <a:xfrm>
            <a:off x="5972374" y="3340043"/>
            <a:ext cx="2161674" cy="1284357"/>
          </a:xfrm>
          <a:prstGeom prst="rect">
            <a:avLst/>
          </a:prstGeom>
          <a:noFill/>
          <a:ln>
            <a:noFill/>
          </a:ln>
        </p:spPr>
      </p:pic>
      <p:pic>
        <p:nvPicPr>
          <p:cNvPr id="2899" name="Shape 2899"/>
          <p:cNvPicPr preferRelativeResize="0"/>
          <p:nvPr/>
        </p:nvPicPr>
        <p:blipFill>
          <a:blip r:embed="rId5">
            <a:alphaModFix/>
          </a:blip>
          <a:stretch>
            <a:fillRect/>
          </a:stretch>
        </p:blipFill>
        <p:spPr>
          <a:xfrm>
            <a:off x="6148020" y="3054894"/>
            <a:ext cx="1803015" cy="1070314"/>
          </a:xfrm>
          <a:prstGeom prst="rect">
            <a:avLst/>
          </a:prstGeom>
          <a:noFill/>
          <a:ln>
            <a:noFill/>
          </a:ln>
        </p:spPr>
      </p:pic>
      <p:pic>
        <p:nvPicPr>
          <p:cNvPr id="2900" name="Shape 2900"/>
          <p:cNvPicPr preferRelativeResize="0"/>
          <p:nvPr/>
        </p:nvPicPr>
        <p:blipFill>
          <a:blip r:embed="rId6">
            <a:alphaModFix/>
          </a:blip>
          <a:stretch>
            <a:fillRect/>
          </a:stretch>
        </p:blipFill>
        <p:spPr>
          <a:xfrm>
            <a:off x="6305690" y="2740665"/>
            <a:ext cx="1487653" cy="906258"/>
          </a:xfrm>
          <a:prstGeom prst="rect">
            <a:avLst/>
          </a:prstGeom>
          <a:noFill/>
          <a:ln>
            <a:noFill/>
          </a:ln>
        </p:spPr>
      </p:pic>
      <p:pic>
        <p:nvPicPr>
          <p:cNvPr id="2901" name="Shape 2901"/>
          <p:cNvPicPr preferRelativeResize="0"/>
          <p:nvPr/>
        </p:nvPicPr>
        <p:blipFill>
          <a:blip r:embed="rId7">
            <a:alphaModFix/>
          </a:blip>
          <a:stretch>
            <a:fillRect/>
          </a:stretch>
        </p:blipFill>
        <p:spPr>
          <a:xfrm>
            <a:off x="6436619" y="2512160"/>
            <a:ext cx="1225824" cy="747759"/>
          </a:xfrm>
          <a:prstGeom prst="rect">
            <a:avLst/>
          </a:prstGeom>
          <a:noFill/>
          <a:ln>
            <a:noFill/>
          </a:ln>
        </p:spPr>
      </p:pic>
      <p:pic>
        <p:nvPicPr>
          <p:cNvPr id="2902" name="Shape 2902"/>
          <p:cNvPicPr preferRelativeResize="0"/>
          <p:nvPr/>
        </p:nvPicPr>
        <p:blipFill>
          <a:blip r:embed="rId8">
            <a:alphaModFix/>
          </a:blip>
          <a:stretch>
            <a:fillRect/>
          </a:stretch>
        </p:blipFill>
        <p:spPr>
          <a:xfrm>
            <a:off x="6542949" y="2341325"/>
            <a:ext cx="1008248" cy="615852"/>
          </a:xfrm>
          <a:prstGeom prst="rect">
            <a:avLst/>
          </a:prstGeom>
          <a:noFill/>
          <a:ln>
            <a:noFill/>
          </a:ln>
        </p:spPr>
      </p:pic>
      <p:pic>
        <p:nvPicPr>
          <p:cNvPr id="2903" name="Shape 2903"/>
          <p:cNvPicPr preferRelativeResize="0"/>
          <p:nvPr/>
        </p:nvPicPr>
        <p:blipFill>
          <a:blip r:embed="rId9">
            <a:alphaModFix/>
          </a:blip>
          <a:stretch>
            <a:fillRect/>
          </a:stretch>
        </p:blipFill>
        <p:spPr>
          <a:xfrm>
            <a:off x="7717403" y="3456737"/>
            <a:ext cx="1490300" cy="1916974"/>
          </a:xfrm>
          <a:prstGeom prst="rect">
            <a:avLst/>
          </a:prstGeom>
          <a:noFill/>
          <a:ln>
            <a:noFill/>
          </a:ln>
        </p:spPr>
      </p:pic>
      <p:pic>
        <p:nvPicPr>
          <p:cNvPr id="34" name="Immagine 33">
            <a:extLst>
              <a:ext uri="{FF2B5EF4-FFF2-40B4-BE49-F238E27FC236}">
                <a16:creationId xmlns:a16="http://schemas.microsoft.com/office/drawing/2014/main" id="{88C8281C-7A17-44B8-B74E-7F4FC4BD9914}"/>
              </a:ext>
            </a:extLst>
          </p:cNvPr>
          <p:cNvPicPr>
            <a:picLocks noChangeAspect="1"/>
          </p:cNvPicPr>
          <p:nvPr/>
        </p:nvPicPr>
        <p:blipFill rotWithShape="1">
          <a:blip r:embed="rId10"/>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897"/>
                                        </p:tgtEl>
                                        <p:attrNameLst>
                                          <p:attrName>style.visibility</p:attrName>
                                        </p:attrNameLst>
                                      </p:cBhvr>
                                      <p:to>
                                        <p:strVal val="visible"/>
                                      </p:to>
                                    </p:set>
                                    <p:anim calcmode="lin" valueType="num">
                                      <p:cBhvr additive="base">
                                        <p:cTn id="7" dur="1000"/>
                                        <p:tgtEl>
                                          <p:spTgt spid="2897"/>
                                        </p:tgtEl>
                                        <p:attrNameLst>
                                          <p:attrName>ppt_y</p:attrName>
                                        </p:attrNameLst>
                                      </p:cBhvr>
                                      <p:tavLst>
                                        <p:tav tm="0">
                                          <p:val>
                                            <p:strVal val="#ppt_y+1"/>
                                          </p:val>
                                        </p:tav>
                                        <p:tav tm="100000">
                                          <p:val>
                                            <p:strVal val="#ppt_y"/>
                                          </p:val>
                                        </p:tav>
                                      </p:tavLst>
                                    </p:anim>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2898"/>
                                        </p:tgtEl>
                                        <p:attrNameLst>
                                          <p:attrName>style.visibility</p:attrName>
                                        </p:attrNameLst>
                                      </p:cBhvr>
                                      <p:to>
                                        <p:strVal val="visible"/>
                                      </p:to>
                                    </p:set>
                                    <p:anim calcmode="lin" valueType="num">
                                      <p:cBhvr additive="base">
                                        <p:cTn id="11" dur="500"/>
                                        <p:tgtEl>
                                          <p:spTgt spid="2898"/>
                                        </p:tgtEl>
                                        <p:attrNameLst>
                                          <p:attrName>ppt_w</p:attrName>
                                        </p:attrNameLst>
                                      </p:cBhvr>
                                      <p:tavLst>
                                        <p:tav tm="0">
                                          <p:val>
                                            <p:strVal val="0"/>
                                          </p:val>
                                        </p:tav>
                                        <p:tav tm="100000">
                                          <p:val>
                                            <p:strVal val="#ppt_w"/>
                                          </p:val>
                                        </p:tav>
                                      </p:tavLst>
                                    </p:anim>
                                    <p:anim calcmode="lin" valueType="num">
                                      <p:cBhvr additive="base">
                                        <p:cTn id="12" dur="500"/>
                                        <p:tgtEl>
                                          <p:spTgt spid="2898"/>
                                        </p:tgtEl>
                                        <p:attrNameLst>
                                          <p:attrName>ppt_h</p:attrName>
                                        </p:attrNameLst>
                                      </p:cBhvr>
                                      <p:tavLst>
                                        <p:tav tm="0">
                                          <p:val>
                                            <p:strVal val="0"/>
                                          </p:val>
                                        </p:tav>
                                        <p:tav tm="100000">
                                          <p:val>
                                            <p:strVal val="#ppt_h"/>
                                          </p:val>
                                        </p:tav>
                                      </p:tavLst>
                                    </p:anim>
                                  </p:childTnLst>
                                </p:cTn>
                              </p:par>
                            </p:childTnLst>
                          </p:cTn>
                        </p:par>
                        <p:par>
                          <p:cTn id="13" fill="hold">
                            <p:stCondLst>
                              <p:cond delay="1500"/>
                            </p:stCondLst>
                            <p:childTnLst>
                              <p:par>
                                <p:cTn id="14" presetID="23" presetClass="entr" presetSubtype="16" fill="hold" nodeType="afterEffect">
                                  <p:stCondLst>
                                    <p:cond delay="0"/>
                                  </p:stCondLst>
                                  <p:childTnLst>
                                    <p:set>
                                      <p:cBhvr>
                                        <p:cTn id="15" dur="1" fill="hold">
                                          <p:stCondLst>
                                            <p:cond delay="0"/>
                                          </p:stCondLst>
                                        </p:cTn>
                                        <p:tgtEl>
                                          <p:spTgt spid="2899"/>
                                        </p:tgtEl>
                                        <p:attrNameLst>
                                          <p:attrName>style.visibility</p:attrName>
                                        </p:attrNameLst>
                                      </p:cBhvr>
                                      <p:to>
                                        <p:strVal val="visible"/>
                                      </p:to>
                                    </p:set>
                                    <p:anim calcmode="lin" valueType="num">
                                      <p:cBhvr additive="base">
                                        <p:cTn id="16" dur="500"/>
                                        <p:tgtEl>
                                          <p:spTgt spid="2899"/>
                                        </p:tgtEl>
                                        <p:attrNameLst>
                                          <p:attrName>ppt_w</p:attrName>
                                        </p:attrNameLst>
                                      </p:cBhvr>
                                      <p:tavLst>
                                        <p:tav tm="0">
                                          <p:val>
                                            <p:strVal val="0"/>
                                          </p:val>
                                        </p:tav>
                                        <p:tav tm="100000">
                                          <p:val>
                                            <p:strVal val="#ppt_w"/>
                                          </p:val>
                                        </p:tav>
                                      </p:tavLst>
                                    </p:anim>
                                    <p:anim calcmode="lin" valueType="num">
                                      <p:cBhvr additive="base">
                                        <p:cTn id="17" dur="500"/>
                                        <p:tgtEl>
                                          <p:spTgt spid="2899"/>
                                        </p:tgtEl>
                                        <p:attrNameLst>
                                          <p:attrName>ppt_h</p:attrName>
                                        </p:attrNameLst>
                                      </p:cBhvr>
                                      <p:tavLst>
                                        <p:tav tm="0">
                                          <p:val>
                                            <p:strVal val="0"/>
                                          </p:val>
                                        </p:tav>
                                        <p:tav tm="100000">
                                          <p:val>
                                            <p:strVal val="#ppt_h"/>
                                          </p:val>
                                        </p:tav>
                                      </p:tavLst>
                                    </p:anim>
                                  </p:childTnLst>
                                </p:cTn>
                              </p:par>
                            </p:childTnLst>
                          </p:cTn>
                        </p:par>
                        <p:par>
                          <p:cTn id="18" fill="hold">
                            <p:stCondLst>
                              <p:cond delay="2000"/>
                            </p:stCondLst>
                            <p:childTnLst>
                              <p:par>
                                <p:cTn id="19" presetID="23" presetClass="entr" presetSubtype="16" fill="hold" nodeType="afterEffect">
                                  <p:stCondLst>
                                    <p:cond delay="0"/>
                                  </p:stCondLst>
                                  <p:childTnLst>
                                    <p:set>
                                      <p:cBhvr>
                                        <p:cTn id="20" dur="1" fill="hold">
                                          <p:stCondLst>
                                            <p:cond delay="0"/>
                                          </p:stCondLst>
                                        </p:cTn>
                                        <p:tgtEl>
                                          <p:spTgt spid="2900"/>
                                        </p:tgtEl>
                                        <p:attrNameLst>
                                          <p:attrName>style.visibility</p:attrName>
                                        </p:attrNameLst>
                                      </p:cBhvr>
                                      <p:to>
                                        <p:strVal val="visible"/>
                                      </p:to>
                                    </p:set>
                                    <p:anim calcmode="lin" valueType="num">
                                      <p:cBhvr additive="base">
                                        <p:cTn id="21" dur="500"/>
                                        <p:tgtEl>
                                          <p:spTgt spid="2900"/>
                                        </p:tgtEl>
                                        <p:attrNameLst>
                                          <p:attrName>ppt_w</p:attrName>
                                        </p:attrNameLst>
                                      </p:cBhvr>
                                      <p:tavLst>
                                        <p:tav tm="0">
                                          <p:val>
                                            <p:strVal val="0"/>
                                          </p:val>
                                        </p:tav>
                                        <p:tav tm="100000">
                                          <p:val>
                                            <p:strVal val="#ppt_w"/>
                                          </p:val>
                                        </p:tav>
                                      </p:tavLst>
                                    </p:anim>
                                    <p:anim calcmode="lin" valueType="num">
                                      <p:cBhvr additive="base">
                                        <p:cTn id="22" dur="500"/>
                                        <p:tgtEl>
                                          <p:spTgt spid="2900"/>
                                        </p:tgtEl>
                                        <p:attrNameLst>
                                          <p:attrName>ppt_h</p:attrName>
                                        </p:attrNameLst>
                                      </p:cBhvr>
                                      <p:tavLst>
                                        <p:tav tm="0">
                                          <p:val>
                                            <p:strVal val="0"/>
                                          </p:val>
                                        </p:tav>
                                        <p:tav tm="100000">
                                          <p:val>
                                            <p:strVal val="#ppt_h"/>
                                          </p:val>
                                        </p:tav>
                                      </p:tavLst>
                                    </p:anim>
                                  </p:childTnLst>
                                </p:cTn>
                              </p:par>
                            </p:childTnLst>
                          </p:cTn>
                        </p:par>
                        <p:par>
                          <p:cTn id="23" fill="hold">
                            <p:stCondLst>
                              <p:cond delay="2500"/>
                            </p:stCondLst>
                            <p:childTnLst>
                              <p:par>
                                <p:cTn id="24" presetID="23" presetClass="entr" presetSubtype="16" fill="hold" nodeType="afterEffect">
                                  <p:stCondLst>
                                    <p:cond delay="0"/>
                                  </p:stCondLst>
                                  <p:childTnLst>
                                    <p:set>
                                      <p:cBhvr>
                                        <p:cTn id="25" dur="1" fill="hold">
                                          <p:stCondLst>
                                            <p:cond delay="0"/>
                                          </p:stCondLst>
                                        </p:cTn>
                                        <p:tgtEl>
                                          <p:spTgt spid="2901"/>
                                        </p:tgtEl>
                                        <p:attrNameLst>
                                          <p:attrName>style.visibility</p:attrName>
                                        </p:attrNameLst>
                                      </p:cBhvr>
                                      <p:to>
                                        <p:strVal val="visible"/>
                                      </p:to>
                                    </p:set>
                                    <p:anim calcmode="lin" valueType="num">
                                      <p:cBhvr additive="base">
                                        <p:cTn id="26" dur="500"/>
                                        <p:tgtEl>
                                          <p:spTgt spid="2901"/>
                                        </p:tgtEl>
                                        <p:attrNameLst>
                                          <p:attrName>ppt_w</p:attrName>
                                        </p:attrNameLst>
                                      </p:cBhvr>
                                      <p:tavLst>
                                        <p:tav tm="0">
                                          <p:val>
                                            <p:strVal val="0"/>
                                          </p:val>
                                        </p:tav>
                                        <p:tav tm="100000">
                                          <p:val>
                                            <p:strVal val="#ppt_w"/>
                                          </p:val>
                                        </p:tav>
                                      </p:tavLst>
                                    </p:anim>
                                    <p:anim calcmode="lin" valueType="num">
                                      <p:cBhvr additive="base">
                                        <p:cTn id="27" dur="500"/>
                                        <p:tgtEl>
                                          <p:spTgt spid="2901"/>
                                        </p:tgtEl>
                                        <p:attrNameLst>
                                          <p:attrName>ppt_h</p:attrName>
                                        </p:attrNameLst>
                                      </p:cBhvr>
                                      <p:tavLst>
                                        <p:tav tm="0">
                                          <p:val>
                                            <p:strVal val="0"/>
                                          </p:val>
                                        </p:tav>
                                        <p:tav tm="100000">
                                          <p:val>
                                            <p:strVal val="#ppt_h"/>
                                          </p:val>
                                        </p:tav>
                                      </p:tavLst>
                                    </p:anim>
                                  </p:childTnLst>
                                </p:cTn>
                              </p:par>
                            </p:childTnLst>
                          </p:cTn>
                        </p:par>
                        <p:par>
                          <p:cTn id="28" fill="hold">
                            <p:stCondLst>
                              <p:cond delay="3000"/>
                            </p:stCondLst>
                            <p:childTnLst>
                              <p:par>
                                <p:cTn id="29" presetID="23" presetClass="entr" presetSubtype="16" fill="hold" nodeType="afterEffect">
                                  <p:stCondLst>
                                    <p:cond delay="0"/>
                                  </p:stCondLst>
                                  <p:childTnLst>
                                    <p:set>
                                      <p:cBhvr>
                                        <p:cTn id="30" dur="1" fill="hold">
                                          <p:stCondLst>
                                            <p:cond delay="0"/>
                                          </p:stCondLst>
                                        </p:cTn>
                                        <p:tgtEl>
                                          <p:spTgt spid="2902"/>
                                        </p:tgtEl>
                                        <p:attrNameLst>
                                          <p:attrName>style.visibility</p:attrName>
                                        </p:attrNameLst>
                                      </p:cBhvr>
                                      <p:to>
                                        <p:strVal val="visible"/>
                                      </p:to>
                                    </p:set>
                                    <p:anim calcmode="lin" valueType="num">
                                      <p:cBhvr additive="base">
                                        <p:cTn id="31" dur="500"/>
                                        <p:tgtEl>
                                          <p:spTgt spid="2902"/>
                                        </p:tgtEl>
                                        <p:attrNameLst>
                                          <p:attrName>ppt_w</p:attrName>
                                        </p:attrNameLst>
                                      </p:cBhvr>
                                      <p:tavLst>
                                        <p:tav tm="0">
                                          <p:val>
                                            <p:strVal val="0"/>
                                          </p:val>
                                        </p:tav>
                                        <p:tav tm="100000">
                                          <p:val>
                                            <p:strVal val="#ppt_w"/>
                                          </p:val>
                                        </p:tav>
                                      </p:tavLst>
                                    </p:anim>
                                    <p:anim calcmode="lin" valueType="num">
                                      <p:cBhvr additive="base">
                                        <p:cTn id="32" dur="500"/>
                                        <p:tgtEl>
                                          <p:spTgt spid="2902"/>
                                        </p:tgtEl>
                                        <p:attrNameLst>
                                          <p:attrName>ppt_h</p:attrName>
                                        </p:attrNameLst>
                                      </p:cBhvr>
                                      <p:tavLst>
                                        <p:tav tm="0">
                                          <p:val>
                                            <p:strVal val="0"/>
                                          </p:val>
                                        </p:tav>
                                        <p:tav tm="100000">
                                          <p:val>
                                            <p:strVal val="#ppt_h"/>
                                          </p:val>
                                        </p:tav>
                                      </p:tavLst>
                                    </p:anim>
                                  </p:childTnLst>
                                </p:cTn>
                              </p:par>
                            </p:childTnLst>
                          </p:cTn>
                        </p:par>
                        <p:par>
                          <p:cTn id="33" fill="hold">
                            <p:stCondLst>
                              <p:cond delay="3500"/>
                            </p:stCondLst>
                            <p:childTnLst>
                              <p:par>
                                <p:cTn id="34" presetID="2" presetClass="entr" presetSubtype="2" fill="hold" nodeType="afterEffect">
                                  <p:stCondLst>
                                    <p:cond delay="0"/>
                                  </p:stCondLst>
                                  <p:childTnLst>
                                    <p:set>
                                      <p:cBhvr>
                                        <p:cTn id="35" dur="1" fill="hold">
                                          <p:stCondLst>
                                            <p:cond delay="0"/>
                                          </p:stCondLst>
                                        </p:cTn>
                                        <p:tgtEl>
                                          <p:spTgt spid="2903"/>
                                        </p:tgtEl>
                                        <p:attrNameLst>
                                          <p:attrName>style.visibility</p:attrName>
                                        </p:attrNameLst>
                                      </p:cBhvr>
                                      <p:to>
                                        <p:strVal val="visible"/>
                                      </p:to>
                                    </p:set>
                                    <p:anim calcmode="lin" valueType="num">
                                      <p:cBhvr additive="base">
                                        <p:cTn id="36" dur="500"/>
                                        <p:tgtEl>
                                          <p:spTgt spid="2903"/>
                                        </p:tgtEl>
                                        <p:attrNameLst>
                                          <p:attrName>ppt_x</p:attrName>
                                        </p:attrNameLst>
                                      </p:cBhvr>
                                      <p:tavLst>
                                        <p:tav tm="0">
                                          <p:val>
                                            <p:strVal val="#ppt_x+1"/>
                                          </p:val>
                                        </p:tav>
                                        <p:tav tm="100000">
                                          <p:val>
                                            <p:strVal val="#ppt_x"/>
                                          </p:val>
                                        </p:tav>
                                      </p:tavLst>
                                    </p:anim>
                                  </p:childTnLst>
                                </p:cTn>
                              </p:par>
                            </p:childTnLst>
                          </p:cTn>
                        </p:par>
                        <p:par>
                          <p:cTn id="37" fill="hold">
                            <p:stCondLst>
                              <p:cond delay="4000"/>
                            </p:stCondLst>
                            <p:childTnLst>
                              <p:par>
                                <p:cTn id="38" presetID="2" presetClass="entr" presetSubtype="8" fill="hold" nodeType="afterEffect">
                                  <p:stCondLst>
                                    <p:cond delay="0"/>
                                  </p:stCondLst>
                                  <p:childTnLst>
                                    <p:set>
                                      <p:cBhvr>
                                        <p:cTn id="39" dur="1" fill="hold">
                                          <p:stCondLst>
                                            <p:cond delay="0"/>
                                          </p:stCondLst>
                                        </p:cTn>
                                        <p:tgtEl>
                                          <p:spTgt spid="2876"/>
                                        </p:tgtEl>
                                        <p:attrNameLst>
                                          <p:attrName>style.visibility</p:attrName>
                                        </p:attrNameLst>
                                      </p:cBhvr>
                                      <p:to>
                                        <p:strVal val="visible"/>
                                      </p:to>
                                    </p:set>
                                    <p:anim calcmode="lin" valueType="num">
                                      <p:cBhvr additive="base">
                                        <p:cTn id="40" dur="500"/>
                                        <p:tgtEl>
                                          <p:spTgt spid="287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907"/>
        <p:cNvGrpSpPr/>
        <p:nvPr/>
      </p:nvGrpSpPr>
      <p:grpSpPr>
        <a:xfrm>
          <a:off x="0" y="0"/>
          <a:ext cx="0" cy="0"/>
          <a:chOff x="0" y="0"/>
          <a:chExt cx="0" cy="0"/>
        </a:xfrm>
      </p:grpSpPr>
      <p:sp>
        <p:nvSpPr>
          <p:cNvPr id="42" name="Rettangolo 41">
            <a:extLst>
              <a:ext uri="{FF2B5EF4-FFF2-40B4-BE49-F238E27FC236}">
                <a16:creationId xmlns:a16="http://schemas.microsoft.com/office/drawing/2014/main" id="{3AF9C907-ABE4-43E6-BF7B-4C15E132D812}"/>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2908" name="Shape 2908"/>
          <p:cNvPicPr preferRelativeResize="0"/>
          <p:nvPr/>
        </p:nvPicPr>
        <p:blipFill>
          <a:blip r:embed="rId3">
            <a:alphaModFix/>
          </a:blip>
          <a:stretch>
            <a:fillRect/>
          </a:stretch>
        </p:blipFill>
        <p:spPr>
          <a:xfrm>
            <a:off x="-84000" y="175455"/>
            <a:ext cx="9291700" cy="788900"/>
          </a:xfrm>
          <a:prstGeom prst="rect">
            <a:avLst/>
          </a:prstGeom>
          <a:noFill/>
          <a:ln>
            <a:noFill/>
          </a:ln>
        </p:spPr>
      </p:pic>
      <p:sp>
        <p:nvSpPr>
          <p:cNvPr id="2911" name="Shape 2911"/>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Investment</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grpSp>
        <p:nvGrpSpPr>
          <p:cNvPr id="2912" name="Shape 2912"/>
          <p:cNvGrpSpPr/>
          <p:nvPr/>
        </p:nvGrpSpPr>
        <p:grpSpPr>
          <a:xfrm>
            <a:off x="714044" y="1673250"/>
            <a:ext cx="1849449" cy="2973674"/>
            <a:chOff x="714044" y="1673250"/>
            <a:chExt cx="1849449" cy="2973674"/>
          </a:xfrm>
        </p:grpSpPr>
        <p:pic>
          <p:nvPicPr>
            <p:cNvPr id="2913" name="Shape 2913"/>
            <p:cNvPicPr preferRelativeResize="0"/>
            <p:nvPr/>
          </p:nvPicPr>
          <p:blipFill>
            <a:blip r:embed="rId4">
              <a:alphaModFix/>
            </a:blip>
            <a:stretch>
              <a:fillRect/>
            </a:stretch>
          </p:blipFill>
          <p:spPr>
            <a:xfrm>
              <a:off x="714044" y="1673250"/>
              <a:ext cx="1849449" cy="2973674"/>
            </a:xfrm>
            <a:prstGeom prst="rect">
              <a:avLst/>
            </a:prstGeom>
            <a:noFill/>
            <a:ln>
              <a:noFill/>
            </a:ln>
          </p:spPr>
        </p:pic>
        <p:sp>
          <p:nvSpPr>
            <p:cNvPr id="2914" name="Shape 2914"/>
            <p:cNvSpPr txBox="1"/>
            <p:nvPr/>
          </p:nvSpPr>
          <p:spPr>
            <a:xfrm>
              <a:off x="819410" y="2935950"/>
              <a:ext cx="1551599" cy="434999"/>
            </a:xfrm>
            <a:prstGeom prst="rect">
              <a:avLst/>
            </a:prstGeom>
            <a:noFill/>
            <a:ln>
              <a:noFill/>
            </a:ln>
          </p:spPr>
          <p:txBody>
            <a:bodyPr lIns="91425" tIns="91425" rIns="91425" bIns="91425" anchor="t" anchorCtr="0">
              <a:noAutofit/>
            </a:bodyPr>
            <a:lstStyle/>
            <a:p>
              <a:pPr lvl="0" algn="ctr" rtl="0">
                <a:spcBef>
                  <a:spcPts val="0"/>
                </a:spcBef>
                <a:buNone/>
              </a:pPr>
              <a:r>
                <a:rPr lang="en" sz="2400" b="1">
                  <a:solidFill>
                    <a:schemeClr val="lt1"/>
                  </a:solidFill>
                  <a:latin typeface="Roboto Slab"/>
                  <a:ea typeface="Roboto Slab"/>
                  <a:cs typeface="Roboto Slab"/>
                  <a:sym typeface="Roboto Slab"/>
                </a:rPr>
                <a:t>SEED</a:t>
              </a:r>
            </a:p>
            <a:p>
              <a:pPr lvl="0" algn="ctr" rtl="0">
                <a:spcBef>
                  <a:spcPts val="0"/>
                </a:spcBef>
                <a:buNone/>
              </a:pPr>
              <a:r>
                <a:rPr lang="en">
                  <a:solidFill>
                    <a:schemeClr val="lt1"/>
                  </a:solidFill>
                  <a:latin typeface="Roboto Slab"/>
                  <a:ea typeface="Roboto Slab"/>
                  <a:cs typeface="Roboto Slab"/>
                  <a:sym typeface="Roboto Slab"/>
                </a:rPr>
                <a:t>INVESTMENT</a:t>
              </a:r>
            </a:p>
          </p:txBody>
        </p:sp>
        <p:sp>
          <p:nvSpPr>
            <p:cNvPr id="2915" name="Shape 2915"/>
            <p:cNvSpPr txBox="1"/>
            <p:nvPr/>
          </p:nvSpPr>
          <p:spPr>
            <a:xfrm>
              <a:off x="818158" y="3502753"/>
              <a:ext cx="1551599" cy="434999"/>
            </a:xfrm>
            <a:prstGeom prst="rect">
              <a:avLst/>
            </a:prstGeom>
            <a:noFill/>
            <a:ln>
              <a:noFill/>
            </a:ln>
          </p:spPr>
          <p:txBody>
            <a:bodyPr lIns="91425" tIns="91425" rIns="91425" bIns="91425" anchor="t" anchorCtr="0">
              <a:noAutofit/>
            </a:bodyPr>
            <a:lstStyle/>
            <a:p>
              <a:pPr lvl="0" algn="ctr" rtl="0">
                <a:spcBef>
                  <a:spcPts val="0"/>
                </a:spcBef>
                <a:buNone/>
              </a:pPr>
              <a:r>
                <a:rPr lang="en" sz="2400" b="1">
                  <a:solidFill>
                    <a:schemeClr val="lt1"/>
                  </a:solidFill>
                  <a:latin typeface="Roboto Slab"/>
                  <a:ea typeface="Roboto Slab"/>
                  <a:cs typeface="Roboto Slab"/>
                  <a:sym typeface="Roboto Slab"/>
                </a:rPr>
                <a:t>$ 70.000</a:t>
              </a:r>
            </a:p>
            <a:p>
              <a:pPr lvl="0" algn="l" rtl="0">
                <a:spcBef>
                  <a:spcPts val="0"/>
                </a:spcBef>
                <a:buNone/>
              </a:pPr>
              <a:endParaRPr>
                <a:solidFill>
                  <a:schemeClr val="lt1"/>
                </a:solidFill>
                <a:latin typeface="Roboto Slab"/>
                <a:ea typeface="Roboto Slab"/>
                <a:cs typeface="Roboto Slab"/>
                <a:sym typeface="Roboto Slab"/>
              </a:endParaRPr>
            </a:p>
          </p:txBody>
        </p:sp>
      </p:grpSp>
      <p:sp>
        <p:nvSpPr>
          <p:cNvPr id="2916" name="Shape 2916"/>
          <p:cNvSpPr txBox="1"/>
          <p:nvPr/>
        </p:nvSpPr>
        <p:spPr>
          <a:xfrm>
            <a:off x="2190724" y="1063317"/>
            <a:ext cx="5097000" cy="434999"/>
          </a:xfrm>
          <a:prstGeom prst="rect">
            <a:avLst/>
          </a:prstGeom>
          <a:noFill/>
          <a:ln>
            <a:noFill/>
          </a:ln>
        </p:spPr>
        <p:txBody>
          <a:bodyPr lIns="91425" tIns="91425" rIns="91425" bIns="91425" anchor="t" anchorCtr="0">
            <a:noAutofit/>
          </a:bodyPr>
          <a:lstStyle/>
          <a:p>
            <a:pPr lvl="0" algn="ctr" rtl="0">
              <a:spcBef>
                <a:spcPts val="0"/>
              </a:spcBef>
              <a:buNone/>
            </a:pPr>
            <a:r>
              <a:rPr lang="en" sz="1800" b="1">
                <a:solidFill>
                  <a:srgbClr val="A8D5D7"/>
                </a:solidFill>
                <a:latin typeface="Roboto Slab"/>
                <a:ea typeface="Roboto Slab"/>
                <a:cs typeface="Roboto Slab"/>
                <a:sym typeface="Roboto Slab"/>
              </a:rPr>
              <a:t>How We’ll Spend The Investment</a:t>
            </a:r>
          </a:p>
        </p:txBody>
      </p:sp>
      <p:grpSp>
        <p:nvGrpSpPr>
          <p:cNvPr id="2917" name="Shape 2917"/>
          <p:cNvGrpSpPr/>
          <p:nvPr/>
        </p:nvGrpSpPr>
        <p:grpSpPr>
          <a:xfrm>
            <a:off x="2924175" y="1668900"/>
            <a:ext cx="6008197" cy="739199"/>
            <a:chOff x="2924175" y="1668900"/>
            <a:chExt cx="6008197" cy="739199"/>
          </a:xfrm>
        </p:grpSpPr>
        <p:pic>
          <p:nvPicPr>
            <p:cNvPr id="2918" name="Shape 2918"/>
            <p:cNvPicPr preferRelativeResize="0"/>
            <p:nvPr/>
          </p:nvPicPr>
          <p:blipFill>
            <a:blip r:embed="rId5">
              <a:alphaModFix/>
            </a:blip>
            <a:stretch>
              <a:fillRect/>
            </a:stretch>
          </p:blipFill>
          <p:spPr>
            <a:xfrm>
              <a:off x="2924175" y="1668900"/>
              <a:ext cx="1927025" cy="739199"/>
            </a:xfrm>
            <a:prstGeom prst="rect">
              <a:avLst/>
            </a:prstGeom>
            <a:noFill/>
            <a:ln>
              <a:noFill/>
            </a:ln>
          </p:spPr>
        </p:pic>
        <p:pic>
          <p:nvPicPr>
            <p:cNvPr id="2919" name="Shape 2919"/>
            <p:cNvPicPr preferRelativeResize="0"/>
            <p:nvPr/>
          </p:nvPicPr>
          <p:blipFill>
            <a:blip r:embed="rId6">
              <a:alphaModFix/>
            </a:blip>
            <a:stretch>
              <a:fillRect/>
            </a:stretch>
          </p:blipFill>
          <p:spPr>
            <a:xfrm>
              <a:off x="4537985" y="1690132"/>
              <a:ext cx="923200" cy="667824"/>
            </a:xfrm>
            <a:prstGeom prst="rect">
              <a:avLst/>
            </a:prstGeom>
            <a:noFill/>
            <a:ln>
              <a:noFill/>
            </a:ln>
          </p:spPr>
        </p:pic>
        <p:pic>
          <p:nvPicPr>
            <p:cNvPr id="2920" name="Shape 2920"/>
            <p:cNvPicPr preferRelativeResize="0"/>
            <p:nvPr/>
          </p:nvPicPr>
          <p:blipFill>
            <a:blip r:embed="rId7">
              <a:alphaModFix/>
            </a:blip>
            <a:stretch>
              <a:fillRect/>
            </a:stretch>
          </p:blipFill>
          <p:spPr>
            <a:xfrm>
              <a:off x="5183766" y="1689938"/>
              <a:ext cx="923199" cy="668211"/>
            </a:xfrm>
            <a:prstGeom prst="rect">
              <a:avLst/>
            </a:prstGeom>
            <a:noFill/>
            <a:ln>
              <a:noFill/>
            </a:ln>
          </p:spPr>
        </p:pic>
        <p:pic>
          <p:nvPicPr>
            <p:cNvPr id="2921" name="Shape 2921"/>
            <p:cNvPicPr preferRelativeResize="0"/>
            <p:nvPr/>
          </p:nvPicPr>
          <p:blipFill>
            <a:blip r:embed="rId6">
              <a:alphaModFix/>
            </a:blip>
            <a:stretch>
              <a:fillRect/>
            </a:stretch>
          </p:blipFill>
          <p:spPr>
            <a:xfrm>
              <a:off x="5831514" y="1687718"/>
              <a:ext cx="923200" cy="667824"/>
            </a:xfrm>
            <a:prstGeom prst="rect">
              <a:avLst/>
            </a:prstGeom>
            <a:noFill/>
            <a:ln>
              <a:noFill/>
            </a:ln>
          </p:spPr>
        </p:pic>
        <p:pic>
          <p:nvPicPr>
            <p:cNvPr id="2922" name="Shape 2922"/>
            <p:cNvPicPr preferRelativeResize="0"/>
            <p:nvPr/>
          </p:nvPicPr>
          <p:blipFill>
            <a:blip r:embed="rId7">
              <a:alphaModFix/>
            </a:blip>
            <a:stretch>
              <a:fillRect/>
            </a:stretch>
          </p:blipFill>
          <p:spPr>
            <a:xfrm>
              <a:off x="6477295" y="1687524"/>
              <a:ext cx="923199" cy="668211"/>
            </a:xfrm>
            <a:prstGeom prst="rect">
              <a:avLst/>
            </a:prstGeom>
            <a:noFill/>
            <a:ln>
              <a:noFill/>
            </a:ln>
          </p:spPr>
        </p:pic>
        <p:pic>
          <p:nvPicPr>
            <p:cNvPr id="2923" name="Shape 2923"/>
            <p:cNvPicPr preferRelativeResize="0"/>
            <p:nvPr/>
          </p:nvPicPr>
          <p:blipFill>
            <a:blip r:embed="rId6">
              <a:alphaModFix/>
            </a:blip>
            <a:stretch>
              <a:fillRect/>
            </a:stretch>
          </p:blipFill>
          <p:spPr>
            <a:xfrm>
              <a:off x="7125064" y="1687705"/>
              <a:ext cx="923200" cy="667824"/>
            </a:xfrm>
            <a:prstGeom prst="rect">
              <a:avLst/>
            </a:prstGeom>
            <a:noFill/>
            <a:ln>
              <a:noFill/>
            </a:ln>
          </p:spPr>
        </p:pic>
        <p:sp>
          <p:nvSpPr>
            <p:cNvPr id="2924" name="Shape 2924"/>
            <p:cNvSpPr txBox="1"/>
            <p:nvPr/>
          </p:nvSpPr>
          <p:spPr>
            <a:xfrm>
              <a:off x="2965320" y="1837863"/>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A5C961"/>
                  </a:solidFill>
                  <a:latin typeface="Roboto Slab"/>
                  <a:ea typeface="Roboto Slab"/>
                  <a:cs typeface="Roboto Slab"/>
                  <a:sym typeface="Roboto Slab"/>
                </a:rPr>
                <a:t>Email Marketing</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b="1">
                <a:solidFill>
                  <a:schemeClr val="dk2"/>
                </a:solidFill>
                <a:latin typeface="Roboto Slab"/>
                <a:ea typeface="Roboto Slab"/>
                <a:cs typeface="Roboto Slab"/>
                <a:sym typeface="Roboto Slab"/>
              </a:endParaRPr>
            </a:p>
          </p:txBody>
        </p:sp>
        <p:sp>
          <p:nvSpPr>
            <p:cNvPr id="2925" name="Shape 2925"/>
            <p:cNvSpPr txBox="1"/>
            <p:nvPr/>
          </p:nvSpPr>
          <p:spPr>
            <a:xfrm>
              <a:off x="8065672" y="1824725"/>
              <a:ext cx="8666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A5C961"/>
                  </a:solidFill>
                  <a:latin typeface="Roboto Slab"/>
                  <a:ea typeface="Roboto Slab"/>
                  <a:cs typeface="Roboto Slab"/>
                  <a:sym typeface="Roboto Slab"/>
                </a:rPr>
                <a:t>$ 5000</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b="1">
                <a:solidFill>
                  <a:schemeClr val="dk2"/>
                </a:solidFill>
                <a:latin typeface="Roboto Slab"/>
                <a:ea typeface="Roboto Slab"/>
                <a:cs typeface="Roboto Slab"/>
                <a:sym typeface="Roboto Slab"/>
              </a:endParaRPr>
            </a:p>
          </p:txBody>
        </p:sp>
      </p:grpSp>
      <p:grpSp>
        <p:nvGrpSpPr>
          <p:cNvPr id="2926" name="Shape 2926"/>
          <p:cNvGrpSpPr/>
          <p:nvPr/>
        </p:nvGrpSpPr>
        <p:grpSpPr>
          <a:xfrm>
            <a:off x="2924175" y="2495050"/>
            <a:ext cx="4809672" cy="739199"/>
            <a:chOff x="2924175" y="2495050"/>
            <a:chExt cx="4809672" cy="739199"/>
          </a:xfrm>
        </p:grpSpPr>
        <p:pic>
          <p:nvPicPr>
            <p:cNvPr id="2927" name="Shape 2927"/>
            <p:cNvPicPr preferRelativeResize="0"/>
            <p:nvPr/>
          </p:nvPicPr>
          <p:blipFill>
            <a:blip r:embed="rId5">
              <a:alphaModFix/>
            </a:blip>
            <a:stretch>
              <a:fillRect/>
            </a:stretch>
          </p:blipFill>
          <p:spPr>
            <a:xfrm>
              <a:off x="2924175" y="2495050"/>
              <a:ext cx="1927025" cy="739199"/>
            </a:xfrm>
            <a:prstGeom prst="rect">
              <a:avLst/>
            </a:prstGeom>
            <a:noFill/>
            <a:ln>
              <a:noFill/>
            </a:ln>
          </p:spPr>
        </p:pic>
        <p:pic>
          <p:nvPicPr>
            <p:cNvPr id="2928" name="Shape 2928"/>
            <p:cNvPicPr preferRelativeResize="0"/>
            <p:nvPr/>
          </p:nvPicPr>
          <p:blipFill>
            <a:blip r:embed="rId8">
              <a:alphaModFix/>
            </a:blip>
            <a:stretch>
              <a:fillRect/>
            </a:stretch>
          </p:blipFill>
          <p:spPr>
            <a:xfrm>
              <a:off x="4537975" y="2511246"/>
              <a:ext cx="923199" cy="667900"/>
            </a:xfrm>
            <a:prstGeom prst="rect">
              <a:avLst/>
            </a:prstGeom>
            <a:noFill/>
            <a:ln>
              <a:noFill/>
            </a:ln>
          </p:spPr>
        </p:pic>
        <p:pic>
          <p:nvPicPr>
            <p:cNvPr id="2929" name="Shape 2929"/>
            <p:cNvPicPr preferRelativeResize="0"/>
            <p:nvPr/>
          </p:nvPicPr>
          <p:blipFill>
            <a:blip r:embed="rId9">
              <a:alphaModFix/>
            </a:blip>
            <a:stretch>
              <a:fillRect/>
            </a:stretch>
          </p:blipFill>
          <p:spPr>
            <a:xfrm>
              <a:off x="5189396" y="2510278"/>
              <a:ext cx="923200" cy="665974"/>
            </a:xfrm>
            <a:prstGeom prst="rect">
              <a:avLst/>
            </a:prstGeom>
            <a:noFill/>
            <a:ln>
              <a:noFill/>
            </a:ln>
          </p:spPr>
        </p:pic>
        <p:pic>
          <p:nvPicPr>
            <p:cNvPr id="2930" name="Shape 2930"/>
            <p:cNvPicPr preferRelativeResize="0"/>
            <p:nvPr/>
          </p:nvPicPr>
          <p:blipFill>
            <a:blip r:embed="rId8">
              <a:alphaModFix/>
            </a:blip>
            <a:stretch>
              <a:fillRect/>
            </a:stretch>
          </p:blipFill>
          <p:spPr>
            <a:xfrm>
              <a:off x="5842767" y="2509796"/>
              <a:ext cx="923199" cy="667900"/>
            </a:xfrm>
            <a:prstGeom prst="rect">
              <a:avLst/>
            </a:prstGeom>
            <a:noFill/>
            <a:ln>
              <a:noFill/>
            </a:ln>
          </p:spPr>
        </p:pic>
        <p:sp>
          <p:nvSpPr>
            <p:cNvPr id="2931" name="Shape 2931"/>
            <p:cNvSpPr txBox="1"/>
            <p:nvPr/>
          </p:nvSpPr>
          <p:spPr>
            <a:xfrm>
              <a:off x="2973488" y="2661635"/>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7FB3E6"/>
                  </a:solidFill>
                  <a:latin typeface="Roboto Slab"/>
                  <a:ea typeface="Roboto Slab"/>
                  <a:cs typeface="Roboto Slab"/>
                  <a:sym typeface="Roboto Slab"/>
                </a:rPr>
                <a:t>Seo Optimization</a:t>
              </a:r>
            </a:p>
            <a:p>
              <a:pPr lvl="0" rtl="0">
                <a:spcBef>
                  <a:spcPts val="0"/>
                </a:spcBef>
                <a:buNone/>
              </a:pPr>
              <a:endParaRPr b="1">
                <a:solidFill>
                  <a:srgbClr val="7FB3E6"/>
                </a:solidFill>
                <a:latin typeface="Roboto Slab"/>
                <a:ea typeface="Roboto Slab"/>
                <a:cs typeface="Roboto Slab"/>
                <a:sym typeface="Roboto Slab"/>
              </a:endParaRPr>
            </a:p>
            <a:p>
              <a:pPr lvl="0" algn="ctr" rtl="0">
                <a:spcBef>
                  <a:spcPts val="0"/>
                </a:spcBef>
                <a:buNone/>
              </a:pPr>
              <a:endParaRPr b="1">
                <a:solidFill>
                  <a:srgbClr val="7FB3E6"/>
                </a:solidFill>
                <a:latin typeface="Roboto Slab"/>
                <a:ea typeface="Roboto Slab"/>
                <a:cs typeface="Roboto Slab"/>
                <a:sym typeface="Roboto Slab"/>
              </a:endParaRPr>
            </a:p>
          </p:txBody>
        </p:sp>
        <p:sp>
          <p:nvSpPr>
            <p:cNvPr id="2932" name="Shape 2932"/>
            <p:cNvSpPr txBox="1"/>
            <p:nvPr/>
          </p:nvSpPr>
          <p:spPr>
            <a:xfrm>
              <a:off x="6867147" y="2627850"/>
              <a:ext cx="8666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7FB3E6"/>
                  </a:solidFill>
                  <a:latin typeface="Roboto Slab"/>
                  <a:ea typeface="Roboto Slab"/>
                  <a:cs typeface="Roboto Slab"/>
                  <a:sym typeface="Roboto Slab"/>
                </a:rPr>
                <a:t>$ 3000</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b="1">
                <a:solidFill>
                  <a:schemeClr val="dk2"/>
                </a:solidFill>
                <a:latin typeface="Roboto Slab"/>
                <a:ea typeface="Roboto Slab"/>
                <a:cs typeface="Roboto Slab"/>
                <a:sym typeface="Roboto Slab"/>
              </a:endParaRPr>
            </a:p>
          </p:txBody>
        </p:sp>
      </p:grpSp>
      <p:grpSp>
        <p:nvGrpSpPr>
          <p:cNvPr id="2933" name="Shape 2933"/>
          <p:cNvGrpSpPr/>
          <p:nvPr/>
        </p:nvGrpSpPr>
        <p:grpSpPr>
          <a:xfrm>
            <a:off x="2924789" y="3321200"/>
            <a:ext cx="5405532" cy="739199"/>
            <a:chOff x="2924789" y="3321200"/>
            <a:chExt cx="5405532" cy="739199"/>
          </a:xfrm>
        </p:grpSpPr>
        <p:pic>
          <p:nvPicPr>
            <p:cNvPr id="2934" name="Shape 2934"/>
            <p:cNvPicPr preferRelativeResize="0"/>
            <p:nvPr/>
          </p:nvPicPr>
          <p:blipFill>
            <a:blip r:embed="rId5">
              <a:alphaModFix/>
            </a:blip>
            <a:stretch>
              <a:fillRect/>
            </a:stretch>
          </p:blipFill>
          <p:spPr>
            <a:xfrm>
              <a:off x="2924789" y="3321200"/>
              <a:ext cx="1927025" cy="739199"/>
            </a:xfrm>
            <a:prstGeom prst="rect">
              <a:avLst/>
            </a:prstGeom>
            <a:noFill/>
            <a:ln>
              <a:noFill/>
            </a:ln>
          </p:spPr>
        </p:pic>
        <p:pic>
          <p:nvPicPr>
            <p:cNvPr id="2935" name="Shape 2935"/>
            <p:cNvPicPr preferRelativeResize="0"/>
            <p:nvPr/>
          </p:nvPicPr>
          <p:blipFill>
            <a:blip r:embed="rId10">
              <a:alphaModFix/>
            </a:blip>
            <a:stretch>
              <a:fillRect/>
            </a:stretch>
          </p:blipFill>
          <p:spPr>
            <a:xfrm>
              <a:off x="4537975" y="3338942"/>
              <a:ext cx="925630" cy="668200"/>
            </a:xfrm>
            <a:prstGeom prst="rect">
              <a:avLst/>
            </a:prstGeom>
            <a:noFill/>
            <a:ln>
              <a:noFill/>
            </a:ln>
          </p:spPr>
        </p:pic>
        <p:pic>
          <p:nvPicPr>
            <p:cNvPr id="2936" name="Shape 2936"/>
            <p:cNvPicPr preferRelativeResize="0"/>
            <p:nvPr/>
          </p:nvPicPr>
          <p:blipFill>
            <a:blip r:embed="rId11">
              <a:alphaModFix/>
            </a:blip>
            <a:stretch>
              <a:fillRect/>
            </a:stretch>
          </p:blipFill>
          <p:spPr>
            <a:xfrm>
              <a:off x="5189400" y="3337875"/>
              <a:ext cx="924133" cy="668199"/>
            </a:xfrm>
            <a:prstGeom prst="rect">
              <a:avLst/>
            </a:prstGeom>
            <a:noFill/>
            <a:ln>
              <a:noFill/>
            </a:ln>
          </p:spPr>
        </p:pic>
        <p:pic>
          <p:nvPicPr>
            <p:cNvPr id="2937" name="Shape 2937"/>
            <p:cNvPicPr preferRelativeResize="0"/>
            <p:nvPr/>
          </p:nvPicPr>
          <p:blipFill>
            <a:blip r:embed="rId10">
              <a:alphaModFix/>
            </a:blip>
            <a:stretch>
              <a:fillRect/>
            </a:stretch>
          </p:blipFill>
          <p:spPr>
            <a:xfrm>
              <a:off x="5837146" y="3336039"/>
              <a:ext cx="925630" cy="668200"/>
            </a:xfrm>
            <a:prstGeom prst="rect">
              <a:avLst/>
            </a:prstGeom>
            <a:noFill/>
            <a:ln>
              <a:noFill/>
            </a:ln>
          </p:spPr>
        </p:pic>
        <p:pic>
          <p:nvPicPr>
            <p:cNvPr id="2938" name="Shape 2938"/>
            <p:cNvPicPr preferRelativeResize="0"/>
            <p:nvPr/>
          </p:nvPicPr>
          <p:blipFill>
            <a:blip r:embed="rId11">
              <a:alphaModFix/>
            </a:blip>
            <a:stretch>
              <a:fillRect/>
            </a:stretch>
          </p:blipFill>
          <p:spPr>
            <a:xfrm>
              <a:off x="6488571" y="3334971"/>
              <a:ext cx="924133" cy="668199"/>
            </a:xfrm>
            <a:prstGeom prst="rect">
              <a:avLst/>
            </a:prstGeom>
            <a:noFill/>
            <a:ln>
              <a:noFill/>
            </a:ln>
          </p:spPr>
        </p:pic>
        <p:sp>
          <p:nvSpPr>
            <p:cNvPr id="2939" name="Shape 2939"/>
            <p:cNvSpPr txBox="1"/>
            <p:nvPr/>
          </p:nvSpPr>
          <p:spPr>
            <a:xfrm>
              <a:off x="2964820" y="3484969"/>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FDCC5B"/>
                  </a:solidFill>
                  <a:latin typeface="Roboto Slab"/>
                  <a:ea typeface="Roboto Slab"/>
                  <a:cs typeface="Roboto Slab"/>
                  <a:sym typeface="Roboto Slab"/>
                </a:rPr>
                <a:t>Google Adwords</a:t>
              </a:r>
            </a:p>
            <a:p>
              <a:pPr lvl="0" rtl="0">
                <a:spcBef>
                  <a:spcPts val="0"/>
                </a:spcBef>
                <a:buNone/>
              </a:pPr>
              <a:endParaRPr b="1">
                <a:solidFill>
                  <a:srgbClr val="FDCC5B"/>
                </a:solidFill>
                <a:latin typeface="Roboto Slab"/>
                <a:ea typeface="Roboto Slab"/>
                <a:cs typeface="Roboto Slab"/>
                <a:sym typeface="Roboto Slab"/>
              </a:endParaRPr>
            </a:p>
            <a:p>
              <a:pPr lvl="0" algn="ctr" rtl="0">
                <a:spcBef>
                  <a:spcPts val="0"/>
                </a:spcBef>
                <a:buNone/>
              </a:pPr>
              <a:endParaRPr b="1">
                <a:solidFill>
                  <a:srgbClr val="FDCC5B"/>
                </a:solidFill>
                <a:latin typeface="Roboto Slab"/>
                <a:ea typeface="Roboto Slab"/>
                <a:cs typeface="Roboto Slab"/>
                <a:sym typeface="Roboto Slab"/>
              </a:endParaRPr>
            </a:p>
          </p:txBody>
        </p:sp>
        <p:sp>
          <p:nvSpPr>
            <p:cNvPr id="2940" name="Shape 2940"/>
            <p:cNvSpPr txBox="1"/>
            <p:nvPr/>
          </p:nvSpPr>
          <p:spPr>
            <a:xfrm>
              <a:off x="7463622" y="3451575"/>
              <a:ext cx="8666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FDCC5B"/>
                  </a:solidFill>
                  <a:latin typeface="Roboto Slab"/>
                  <a:ea typeface="Roboto Slab"/>
                  <a:cs typeface="Roboto Slab"/>
                  <a:sym typeface="Roboto Slab"/>
                </a:rPr>
                <a:t>$ 4000</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b="1">
                <a:solidFill>
                  <a:schemeClr val="dk2"/>
                </a:solidFill>
                <a:latin typeface="Roboto Slab"/>
                <a:ea typeface="Roboto Slab"/>
                <a:cs typeface="Roboto Slab"/>
                <a:sym typeface="Roboto Slab"/>
              </a:endParaRPr>
            </a:p>
          </p:txBody>
        </p:sp>
      </p:grpSp>
      <p:grpSp>
        <p:nvGrpSpPr>
          <p:cNvPr id="2941" name="Shape 2941"/>
          <p:cNvGrpSpPr/>
          <p:nvPr/>
        </p:nvGrpSpPr>
        <p:grpSpPr>
          <a:xfrm>
            <a:off x="2924789" y="4147350"/>
            <a:ext cx="4174308" cy="739199"/>
            <a:chOff x="2924789" y="4147350"/>
            <a:chExt cx="4174308" cy="739199"/>
          </a:xfrm>
        </p:grpSpPr>
        <p:pic>
          <p:nvPicPr>
            <p:cNvPr id="2942" name="Shape 2942"/>
            <p:cNvPicPr preferRelativeResize="0"/>
            <p:nvPr/>
          </p:nvPicPr>
          <p:blipFill>
            <a:blip r:embed="rId5">
              <a:alphaModFix/>
            </a:blip>
            <a:stretch>
              <a:fillRect/>
            </a:stretch>
          </p:blipFill>
          <p:spPr>
            <a:xfrm>
              <a:off x="2924789" y="4147350"/>
              <a:ext cx="1927025" cy="739199"/>
            </a:xfrm>
            <a:prstGeom prst="rect">
              <a:avLst/>
            </a:prstGeom>
            <a:noFill/>
            <a:ln>
              <a:noFill/>
            </a:ln>
          </p:spPr>
        </p:pic>
        <p:pic>
          <p:nvPicPr>
            <p:cNvPr id="2943" name="Shape 2943"/>
            <p:cNvPicPr preferRelativeResize="0"/>
            <p:nvPr/>
          </p:nvPicPr>
          <p:blipFill>
            <a:blip r:embed="rId12">
              <a:alphaModFix/>
            </a:blip>
            <a:stretch>
              <a:fillRect/>
            </a:stretch>
          </p:blipFill>
          <p:spPr>
            <a:xfrm>
              <a:off x="4536750" y="4166950"/>
              <a:ext cx="925625" cy="669300"/>
            </a:xfrm>
            <a:prstGeom prst="rect">
              <a:avLst/>
            </a:prstGeom>
            <a:noFill/>
            <a:ln>
              <a:noFill/>
            </a:ln>
          </p:spPr>
        </p:pic>
        <p:pic>
          <p:nvPicPr>
            <p:cNvPr id="2944" name="Shape 2944"/>
            <p:cNvPicPr preferRelativeResize="0"/>
            <p:nvPr/>
          </p:nvPicPr>
          <p:blipFill>
            <a:blip r:embed="rId13">
              <a:alphaModFix/>
            </a:blip>
            <a:stretch>
              <a:fillRect/>
            </a:stretch>
          </p:blipFill>
          <p:spPr>
            <a:xfrm>
              <a:off x="5183775" y="4166959"/>
              <a:ext cx="923200" cy="666081"/>
            </a:xfrm>
            <a:prstGeom prst="rect">
              <a:avLst/>
            </a:prstGeom>
            <a:noFill/>
            <a:ln>
              <a:noFill/>
            </a:ln>
          </p:spPr>
        </p:pic>
        <p:sp>
          <p:nvSpPr>
            <p:cNvPr id="2945" name="Shape 2945"/>
            <p:cNvSpPr txBox="1"/>
            <p:nvPr/>
          </p:nvSpPr>
          <p:spPr>
            <a:xfrm>
              <a:off x="2972988" y="4308741"/>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F08B7C"/>
                  </a:solidFill>
                  <a:latin typeface="Roboto Slab"/>
                  <a:ea typeface="Roboto Slab"/>
                  <a:cs typeface="Roboto Slab"/>
                  <a:sym typeface="Roboto Slab"/>
                </a:rPr>
                <a:t>Guest Posts</a:t>
              </a:r>
            </a:p>
            <a:p>
              <a:pPr lvl="0" rtl="0">
                <a:spcBef>
                  <a:spcPts val="0"/>
                </a:spcBef>
                <a:buNone/>
              </a:pPr>
              <a:endParaRPr b="1">
                <a:solidFill>
                  <a:srgbClr val="F08B7C"/>
                </a:solidFill>
                <a:latin typeface="Roboto Slab"/>
                <a:ea typeface="Roboto Slab"/>
                <a:cs typeface="Roboto Slab"/>
                <a:sym typeface="Roboto Slab"/>
              </a:endParaRPr>
            </a:p>
            <a:p>
              <a:pPr lvl="0" algn="ctr" rtl="0">
                <a:spcBef>
                  <a:spcPts val="0"/>
                </a:spcBef>
                <a:buNone/>
              </a:pPr>
              <a:endParaRPr b="1">
                <a:solidFill>
                  <a:srgbClr val="F08B7C"/>
                </a:solidFill>
                <a:latin typeface="Roboto Slab"/>
                <a:ea typeface="Roboto Slab"/>
                <a:cs typeface="Roboto Slab"/>
                <a:sym typeface="Roboto Slab"/>
              </a:endParaRPr>
            </a:p>
          </p:txBody>
        </p:sp>
        <p:sp>
          <p:nvSpPr>
            <p:cNvPr id="2946" name="Shape 2946"/>
            <p:cNvSpPr txBox="1"/>
            <p:nvPr/>
          </p:nvSpPr>
          <p:spPr>
            <a:xfrm>
              <a:off x="6232398" y="4275300"/>
              <a:ext cx="8666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F08B7C"/>
                  </a:solidFill>
                  <a:latin typeface="Roboto Slab"/>
                  <a:ea typeface="Roboto Slab"/>
                  <a:cs typeface="Roboto Slab"/>
                  <a:sym typeface="Roboto Slab"/>
                </a:rPr>
                <a:t>$ 2000</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b="1">
                <a:solidFill>
                  <a:schemeClr val="dk2"/>
                </a:solidFill>
                <a:latin typeface="Roboto Slab"/>
                <a:ea typeface="Roboto Slab"/>
                <a:cs typeface="Roboto Slab"/>
                <a:sym typeface="Roboto Slab"/>
              </a:endParaRPr>
            </a:p>
          </p:txBody>
        </p:sp>
      </p:grpSp>
      <p:pic>
        <p:nvPicPr>
          <p:cNvPr id="41" name="Immagine 40">
            <a:extLst>
              <a:ext uri="{FF2B5EF4-FFF2-40B4-BE49-F238E27FC236}">
                <a16:creationId xmlns:a16="http://schemas.microsoft.com/office/drawing/2014/main" id="{E8331360-3784-41EA-A289-F0E2CB4513F4}"/>
              </a:ext>
            </a:extLst>
          </p:cNvPr>
          <p:cNvPicPr>
            <a:picLocks noChangeAspect="1"/>
          </p:cNvPicPr>
          <p:nvPr/>
        </p:nvPicPr>
        <p:blipFill rotWithShape="1">
          <a:blip r:embed="rId14"/>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912"/>
                                        </p:tgtEl>
                                        <p:attrNameLst>
                                          <p:attrName>style.visibility</p:attrName>
                                        </p:attrNameLst>
                                      </p:cBhvr>
                                      <p:to>
                                        <p:strVal val="visible"/>
                                      </p:to>
                                    </p:set>
                                    <p:anim calcmode="lin" valueType="num">
                                      <p:cBhvr additive="base">
                                        <p:cTn id="7" dur="500"/>
                                        <p:tgtEl>
                                          <p:spTgt spid="2912"/>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2916"/>
                                        </p:tgtEl>
                                        <p:attrNameLst>
                                          <p:attrName>style.visibility</p:attrName>
                                        </p:attrNameLst>
                                      </p:cBhvr>
                                      <p:to>
                                        <p:strVal val="visible"/>
                                      </p:to>
                                    </p:set>
                                    <p:anim calcmode="lin" valueType="num">
                                      <p:cBhvr additive="base">
                                        <p:cTn id="11" dur="500"/>
                                        <p:tgtEl>
                                          <p:spTgt spid="2916"/>
                                        </p:tgtEl>
                                        <p:attrNameLst>
                                          <p:attrName>ppt_x</p:attrName>
                                        </p:attrNameLst>
                                      </p:cBhvr>
                                      <p:tavLst>
                                        <p:tav tm="0">
                                          <p:val>
                                            <p:strVal val="#ppt_x+1"/>
                                          </p:val>
                                        </p:tav>
                                        <p:tav tm="100000">
                                          <p:val>
                                            <p:strVal val="#ppt_x"/>
                                          </p:val>
                                        </p:tav>
                                      </p:tavLst>
                                    </p:anim>
                                  </p:childTnLst>
                                </p:cTn>
                              </p:par>
                            </p:childTnLst>
                          </p:cTn>
                        </p:par>
                        <p:par>
                          <p:cTn id="12" fill="hold">
                            <p:stCondLst>
                              <p:cond delay="1000"/>
                            </p:stCondLst>
                            <p:childTnLst>
                              <p:par>
                                <p:cTn id="13" presetID="2" presetClass="entr" presetSubtype="2" fill="hold" nodeType="afterEffect">
                                  <p:stCondLst>
                                    <p:cond delay="0"/>
                                  </p:stCondLst>
                                  <p:childTnLst>
                                    <p:set>
                                      <p:cBhvr>
                                        <p:cTn id="14" dur="1" fill="hold">
                                          <p:stCondLst>
                                            <p:cond delay="0"/>
                                          </p:stCondLst>
                                        </p:cTn>
                                        <p:tgtEl>
                                          <p:spTgt spid="2917"/>
                                        </p:tgtEl>
                                        <p:attrNameLst>
                                          <p:attrName>style.visibility</p:attrName>
                                        </p:attrNameLst>
                                      </p:cBhvr>
                                      <p:to>
                                        <p:strVal val="visible"/>
                                      </p:to>
                                    </p:set>
                                    <p:anim calcmode="lin" valueType="num">
                                      <p:cBhvr additive="base">
                                        <p:cTn id="15" dur="500"/>
                                        <p:tgtEl>
                                          <p:spTgt spid="2917"/>
                                        </p:tgtEl>
                                        <p:attrNameLst>
                                          <p:attrName>ppt_x</p:attrName>
                                        </p:attrNameLst>
                                      </p:cBhvr>
                                      <p:tavLst>
                                        <p:tav tm="0">
                                          <p:val>
                                            <p:strVal val="#ppt_x+1"/>
                                          </p:val>
                                        </p:tav>
                                        <p:tav tm="100000">
                                          <p:val>
                                            <p:strVal val="#ppt_x"/>
                                          </p:val>
                                        </p:tav>
                                      </p:tavLst>
                                    </p:anim>
                                  </p:childTnLst>
                                </p:cTn>
                              </p:par>
                            </p:childTnLst>
                          </p:cTn>
                        </p:par>
                        <p:par>
                          <p:cTn id="16" fill="hold">
                            <p:stCondLst>
                              <p:cond delay="1500"/>
                            </p:stCondLst>
                            <p:childTnLst>
                              <p:par>
                                <p:cTn id="17" presetID="2" presetClass="entr" presetSubtype="2" fill="hold" nodeType="afterEffect">
                                  <p:stCondLst>
                                    <p:cond delay="0"/>
                                  </p:stCondLst>
                                  <p:childTnLst>
                                    <p:set>
                                      <p:cBhvr>
                                        <p:cTn id="18" dur="1" fill="hold">
                                          <p:stCondLst>
                                            <p:cond delay="0"/>
                                          </p:stCondLst>
                                        </p:cTn>
                                        <p:tgtEl>
                                          <p:spTgt spid="2926"/>
                                        </p:tgtEl>
                                        <p:attrNameLst>
                                          <p:attrName>style.visibility</p:attrName>
                                        </p:attrNameLst>
                                      </p:cBhvr>
                                      <p:to>
                                        <p:strVal val="visible"/>
                                      </p:to>
                                    </p:set>
                                    <p:anim calcmode="lin" valueType="num">
                                      <p:cBhvr additive="base">
                                        <p:cTn id="19" dur="500"/>
                                        <p:tgtEl>
                                          <p:spTgt spid="2926"/>
                                        </p:tgtEl>
                                        <p:attrNameLst>
                                          <p:attrName>ppt_x</p:attrName>
                                        </p:attrNameLst>
                                      </p:cBhvr>
                                      <p:tavLst>
                                        <p:tav tm="0">
                                          <p:val>
                                            <p:strVal val="#ppt_x+1"/>
                                          </p:val>
                                        </p:tav>
                                        <p:tav tm="100000">
                                          <p:val>
                                            <p:strVal val="#ppt_x"/>
                                          </p:val>
                                        </p:tav>
                                      </p:tavLst>
                                    </p:anim>
                                  </p:childTnLst>
                                </p:cTn>
                              </p:par>
                            </p:childTnLst>
                          </p:cTn>
                        </p:par>
                        <p:par>
                          <p:cTn id="20" fill="hold">
                            <p:stCondLst>
                              <p:cond delay="2000"/>
                            </p:stCondLst>
                            <p:childTnLst>
                              <p:par>
                                <p:cTn id="21" presetID="2" presetClass="entr" presetSubtype="2" fill="hold" nodeType="afterEffect">
                                  <p:stCondLst>
                                    <p:cond delay="0"/>
                                  </p:stCondLst>
                                  <p:childTnLst>
                                    <p:set>
                                      <p:cBhvr>
                                        <p:cTn id="22" dur="1" fill="hold">
                                          <p:stCondLst>
                                            <p:cond delay="0"/>
                                          </p:stCondLst>
                                        </p:cTn>
                                        <p:tgtEl>
                                          <p:spTgt spid="2933"/>
                                        </p:tgtEl>
                                        <p:attrNameLst>
                                          <p:attrName>style.visibility</p:attrName>
                                        </p:attrNameLst>
                                      </p:cBhvr>
                                      <p:to>
                                        <p:strVal val="visible"/>
                                      </p:to>
                                    </p:set>
                                    <p:anim calcmode="lin" valueType="num">
                                      <p:cBhvr additive="base">
                                        <p:cTn id="23" dur="500"/>
                                        <p:tgtEl>
                                          <p:spTgt spid="2933"/>
                                        </p:tgtEl>
                                        <p:attrNameLst>
                                          <p:attrName>ppt_x</p:attrName>
                                        </p:attrNameLst>
                                      </p:cBhvr>
                                      <p:tavLst>
                                        <p:tav tm="0">
                                          <p:val>
                                            <p:strVal val="#ppt_x+1"/>
                                          </p:val>
                                        </p:tav>
                                        <p:tav tm="100000">
                                          <p:val>
                                            <p:strVal val="#ppt_x"/>
                                          </p:val>
                                        </p:tav>
                                      </p:tavLst>
                                    </p:anim>
                                  </p:childTnLst>
                                </p:cTn>
                              </p:par>
                            </p:childTnLst>
                          </p:cTn>
                        </p:par>
                        <p:par>
                          <p:cTn id="24" fill="hold">
                            <p:stCondLst>
                              <p:cond delay="2500"/>
                            </p:stCondLst>
                            <p:childTnLst>
                              <p:par>
                                <p:cTn id="25" presetID="2" presetClass="entr" presetSubtype="2" fill="hold" nodeType="afterEffect">
                                  <p:stCondLst>
                                    <p:cond delay="0"/>
                                  </p:stCondLst>
                                  <p:childTnLst>
                                    <p:set>
                                      <p:cBhvr>
                                        <p:cTn id="26" dur="1" fill="hold">
                                          <p:stCondLst>
                                            <p:cond delay="0"/>
                                          </p:stCondLst>
                                        </p:cTn>
                                        <p:tgtEl>
                                          <p:spTgt spid="2941"/>
                                        </p:tgtEl>
                                        <p:attrNameLst>
                                          <p:attrName>style.visibility</p:attrName>
                                        </p:attrNameLst>
                                      </p:cBhvr>
                                      <p:to>
                                        <p:strVal val="visible"/>
                                      </p:to>
                                    </p:set>
                                    <p:anim calcmode="lin" valueType="num">
                                      <p:cBhvr additive="base">
                                        <p:cTn id="27" dur="500"/>
                                        <p:tgtEl>
                                          <p:spTgt spid="294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950"/>
        <p:cNvGrpSpPr/>
        <p:nvPr/>
      </p:nvGrpSpPr>
      <p:grpSpPr>
        <a:xfrm>
          <a:off x="0" y="0"/>
          <a:ext cx="0" cy="0"/>
          <a:chOff x="0" y="0"/>
          <a:chExt cx="0" cy="0"/>
        </a:xfrm>
      </p:grpSpPr>
      <p:sp>
        <p:nvSpPr>
          <p:cNvPr id="30" name="Rettangolo 29">
            <a:extLst>
              <a:ext uri="{FF2B5EF4-FFF2-40B4-BE49-F238E27FC236}">
                <a16:creationId xmlns:a16="http://schemas.microsoft.com/office/drawing/2014/main" id="{9E7724E5-6684-4755-AE76-B5D0AACB8F5B}"/>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2951" name="Shape 2951"/>
          <p:cNvPicPr preferRelativeResize="0"/>
          <p:nvPr/>
        </p:nvPicPr>
        <p:blipFill>
          <a:blip r:embed="rId3">
            <a:alphaModFix/>
          </a:blip>
          <a:stretch>
            <a:fillRect/>
          </a:stretch>
        </p:blipFill>
        <p:spPr>
          <a:xfrm>
            <a:off x="-84000" y="175455"/>
            <a:ext cx="9291700" cy="788900"/>
          </a:xfrm>
          <a:prstGeom prst="rect">
            <a:avLst/>
          </a:prstGeom>
          <a:noFill/>
          <a:ln>
            <a:noFill/>
          </a:ln>
        </p:spPr>
      </p:pic>
      <p:sp>
        <p:nvSpPr>
          <p:cNvPr id="2954" name="Shape 2954"/>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Investment</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pic>
        <p:nvPicPr>
          <p:cNvPr id="2955" name="Shape 2955"/>
          <p:cNvPicPr preferRelativeResize="0"/>
          <p:nvPr/>
        </p:nvPicPr>
        <p:blipFill>
          <a:blip r:embed="rId4">
            <a:alphaModFix/>
          </a:blip>
          <a:stretch>
            <a:fillRect/>
          </a:stretch>
        </p:blipFill>
        <p:spPr>
          <a:xfrm>
            <a:off x="-212398" y="2124874"/>
            <a:ext cx="3534850" cy="3608874"/>
          </a:xfrm>
          <a:prstGeom prst="rect">
            <a:avLst/>
          </a:prstGeom>
          <a:noFill/>
          <a:ln>
            <a:noFill/>
          </a:ln>
        </p:spPr>
      </p:pic>
      <p:pic>
        <p:nvPicPr>
          <p:cNvPr id="2956" name="Shape 2956"/>
          <p:cNvPicPr preferRelativeResize="0"/>
          <p:nvPr/>
        </p:nvPicPr>
        <p:blipFill>
          <a:blip r:embed="rId5">
            <a:alphaModFix/>
          </a:blip>
          <a:stretch>
            <a:fillRect/>
          </a:stretch>
        </p:blipFill>
        <p:spPr>
          <a:xfrm>
            <a:off x="345498" y="1253549"/>
            <a:ext cx="961050" cy="1376950"/>
          </a:xfrm>
          <a:prstGeom prst="rect">
            <a:avLst/>
          </a:prstGeom>
          <a:noFill/>
          <a:ln>
            <a:noFill/>
          </a:ln>
        </p:spPr>
      </p:pic>
      <p:grpSp>
        <p:nvGrpSpPr>
          <p:cNvPr id="2957" name="Shape 2957"/>
          <p:cNvGrpSpPr/>
          <p:nvPr/>
        </p:nvGrpSpPr>
        <p:grpSpPr>
          <a:xfrm>
            <a:off x="1028075" y="3122443"/>
            <a:ext cx="1005024" cy="712556"/>
            <a:chOff x="1028075" y="3122443"/>
            <a:chExt cx="1005024" cy="712556"/>
          </a:xfrm>
        </p:grpSpPr>
        <p:pic>
          <p:nvPicPr>
            <p:cNvPr id="2958" name="Shape 2958"/>
            <p:cNvPicPr preferRelativeResize="0"/>
            <p:nvPr/>
          </p:nvPicPr>
          <p:blipFill>
            <a:blip r:embed="rId6">
              <a:alphaModFix/>
            </a:blip>
            <a:stretch>
              <a:fillRect/>
            </a:stretch>
          </p:blipFill>
          <p:spPr>
            <a:xfrm>
              <a:off x="1634800" y="3122443"/>
              <a:ext cx="398299" cy="471131"/>
            </a:xfrm>
            <a:prstGeom prst="rect">
              <a:avLst/>
            </a:prstGeom>
            <a:noFill/>
            <a:ln>
              <a:noFill/>
            </a:ln>
          </p:spPr>
        </p:pic>
        <p:pic>
          <p:nvPicPr>
            <p:cNvPr id="2959" name="Shape 2959"/>
            <p:cNvPicPr preferRelativeResize="0"/>
            <p:nvPr/>
          </p:nvPicPr>
          <p:blipFill>
            <a:blip r:embed="rId6">
              <a:alphaModFix/>
            </a:blip>
            <a:stretch>
              <a:fillRect/>
            </a:stretch>
          </p:blipFill>
          <p:spPr>
            <a:xfrm>
              <a:off x="1306550" y="3229868"/>
              <a:ext cx="398299" cy="471131"/>
            </a:xfrm>
            <a:prstGeom prst="rect">
              <a:avLst/>
            </a:prstGeom>
            <a:noFill/>
            <a:ln>
              <a:noFill/>
            </a:ln>
          </p:spPr>
        </p:pic>
        <p:pic>
          <p:nvPicPr>
            <p:cNvPr id="2960" name="Shape 2960"/>
            <p:cNvPicPr preferRelativeResize="0"/>
            <p:nvPr/>
          </p:nvPicPr>
          <p:blipFill>
            <a:blip r:embed="rId7">
              <a:alphaModFix/>
            </a:blip>
            <a:stretch>
              <a:fillRect/>
            </a:stretch>
          </p:blipFill>
          <p:spPr>
            <a:xfrm>
              <a:off x="1028075" y="3620700"/>
              <a:ext cx="349149" cy="214299"/>
            </a:xfrm>
            <a:prstGeom prst="rect">
              <a:avLst/>
            </a:prstGeom>
            <a:noFill/>
            <a:ln>
              <a:noFill/>
            </a:ln>
          </p:spPr>
        </p:pic>
      </p:grpSp>
      <p:pic>
        <p:nvPicPr>
          <p:cNvPr id="2961" name="Shape 2961"/>
          <p:cNvPicPr preferRelativeResize="0"/>
          <p:nvPr/>
        </p:nvPicPr>
        <p:blipFill>
          <a:blip r:embed="rId6">
            <a:alphaModFix/>
          </a:blip>
          <a:stretch>
            <a:fillRect/>
          </a:stretch>
        </p:blipFill>
        <p:spPr>
          <a:xfrm>
            <a:off x="2061200" y="4202993"/>
            <a:ext cx="398299" cy="471131"/>
          </a:xfrm>
          <a:prstGeom prst="rect">
            <a:avLst/>
          </a:prstGeom>
          <a:noFill/>
          <a:ln>
            <a:noFill/>
          </a:ln>
        </p:spPr>
      </p:pic>
      <p:grpSp>
        <p:nvGrpSpPr>
          <p:cNvPr id="2962" name="Shape 2962"/>
          <p:cNvGrpSpPr/>
          <p:nvPr/>
        </p:nvGrpSpPr>
        <p:grpSpPr>
          <a:xfrm>
            <a:off x="1905625" y="1832574"/>
            <a:ext cx="7301974" cy="3427925"/>
            <a:chOff x="1905625" y="1832574"/>
            <a:chExt cx="7301974" cy="3427925"/>
          </a:xfrm>
        </p:grpSpPr>
        <p:cxnSp>
          <p:nvCxnSpPr>
            <p:cNvPr id="2963" name="Shape 2963"/>
            <p:cNvCxnSpPr/>
            <p:nvPr/>
          </p:nvCxnSpPr>
          <p:spPr>
            <a:xfrm rot="10800000" flipH="1">
              <a:off x="1905625" y="1832574"/>
              <a:ext cx="1253400" cy="534000"/>
            </a:xfrm>
            <a:prstGeom prst="straightConnector1">
              <a:avLst/>
            </a:prstGeom>
            <a:noFill/>
            <a:ln w="19050" cap="flat" cmpd="sng">
              <a:solidFill>
                <a:srgbClr val="B7B7B7"/>
              </a:solidFill>
              <a:prstDash val="dot"/>
              <a:round/>
              <a:headEnd type="none" w="lg" len="lg"/>
              <a:tailEnd type="none" w="lg" len="lg"/>
            </a:ln>
          </p:spPr>
        </p:cxnSp>
        <p:cxnSp>
          <p:nvCxnSpPr>
            <p:cNvPr id="2964" name="Shape 2964"/>
            <p:cNvCxnSpPr/>
            <p:nvPr/>
          </p:nvCxnSpPr>
          <p:spPr>
            <a:xfrm>
              <a:off x="3159175" y="1838175"/>
              <a:ext cx="6042900" cy="0"/>
            </a:xfrm>
            <a:prstGeom prst="straightConnector1">
              <a:avLst/>
            </a:prstGeom>
            <a:noFill/>
            <a:ln w="19050" cap="flat" cmpd="sng">
              <a:solidFill>
                <a:srgbClr val="B7B7B7"/>
              </a:solidFill>
              <a:prstDash val="dot"/>
              <a:round/>
              <a:headEnd type="none" w="lg" len="lg"/>
              <a:tailEnd type="none" w="lg" len="lg"/>
            </a:ln>
          </p:spPr>
        </p:cxnSp>
        <p:cxnSp>
          <p:nvCxnSpPr>
            <p:cNvPr id="2965" name="Shape 2965"/>
            <p:cNvCxnSpPr/>
            <p:nvPr/>
          </p:nvCxnSpPr>
          <p:spPr>
            <a:xfrm rot="10800000" flipH="1">
              <a:off x="2600774" y="2864399"/>
              <a:ext cx="1253400" cy="534000"/>
            </a:xfrm>
            <a:prstGeom prst="straightConnector1">
              <a:avLst/>
            </a:prstGeom>
            <a:noFill/>
            <a:ln w="19050" cap="flat" cmpd="sng">
              <a:solidFill>
                <a:srgbClr val="B7B7B7"/>
              </a:solidFill>
              <a:prstDash val="dot"/>
              <a:round/>
              <a:headEnd type="none" w="lg" len="lg"/>
              <a:tailEnd type="none" w="lg" len="lg"/>
            </a:ln>
          </p:spPr>
        </p:cxnSp>
        <p:cxnSp>
          <p:nvCxnSpPr>
            <p:cNvPr id="2966" name="Shape 2966"/>
            <p:cNvCxnSpPr/>
            <p:nvPr/>
          </p:nvCxnSpPr>
          <p:spPr>
            <a:xfrm>
              <a:off x="3854324" y="2870000"/>
              <a:ext cx="5325299" cy="0"/>
            </a:xfrm>
            <a:prstGeom prst="straightConnector1">
              <a:avLst/>
            </a:prstGeom>
            <a:noFill/>
            <a:ln w="19050" cap="flat" cmpd="sng">
              <a:solidFill>
                <a:srgbClr val="B7B7B7"/>
              </a:solidFill>
              <a:prstDash val="dot"/>
              <a:round/>
              <a:headEnd type="none" w="lg" len="lg"/>
              <a:tailEnd type="none" w="lg" len="lg"/>
            </a:ln>
          </p:spPr>
        </p:cxnSp>
        <p:cxnSp>
          <p:nvCxnSpPr>
            <p:cNvPr id="2967" name="Shape 2967"/>
            <p:cNvCxnSpPr/>
            <p:nvPr/>
          </p:nvCxnSpPr>
          <p:spPr>
            <a:xfrm rot="10800000" flipH="1">
              <a:off x="3311549" y="3893099"/>
              <a:ext cx="1253400" cy="534000"/>
            </a:xfrm>
            <a:prstGeom prst="straightConnector1">
              <a:avLst/>
            </a:prstGeom>
            <a:noFill/>
            <a:ln w="19050" cap="flat" cmpd="sng">
              <a:solidFill>
                <a:srgbClr val="B7B7B7"/>
              </a:solidFill>
              <a:prstDash val="dot"/>
              <a:round/>
              <a:headEnd type="none" w="lg" len="lg"/>
              <a:tailEnd type="none" w="lg" len="lg"/>
            </a:ln>
          </p:spPr>
        </p:cxnSp>
        <p:cxnSp>
          <p:nvCxnSpPr>
            <p:cNvPr id="2968" name="Shape 2968"/>
            <p:cNvCxnSpPr/>
            <p:nvPr/>
          </p:nvCxnSpPr>
          <p:spPr>
            <a:xfrm>
              <a:off x="4565099" y="3898700"/>
              <a:ext cx="4642500" cy="0"/>
            </a:xfrm>
            <a:prstGeom prst="straightConnector1">
              <a:avLst/>
            </a:prstGeom>
            <a:noFill/>
            <a:ln w="19050" cap="flat" cmpd="sng">
              <a:solidFill>
                <a:srgbClr val="B7B7B7"/>
              </a:solidFill>
              <a:prstDash val="dot"/>
              <a:round/>
              <a:headEnd type="none" w="lg" len="lg"/>
              <a:tailEnd type="none" w="lg" len="lg"/>
            </a:ln>
          </p:spPr>
        </p:cxnSp>
        <p:sp>
          <p:nvSpPr>
            <p:cNvPr id="2969" name="Shape 2969"/>
            <p:cNvSpPr txBox="1"/>
            <p:nvPr/>
          </p:nvSpPr>
          <p:spPr>
            <a:xfrm>
              <a:off x="3263293" y="1914363"/>
              <a:ext cx="3309000" cy="504299"/>
            </a:xfrm>
            <a:prstGeom prst="rect">
              <a:avLst/>
            </a:prstGeom>
            <a:noFill/>
            <a:ln>
              <a:noFill/>
            </a:ln>
          </p:spPr>
          <p:txBody>
            <a:bodyPr lIns="91425" tIns="91425" rIns="91425" bIns="91425" anchor="t" anchorCtr="0">
              <a:noAutofit/>
            </a:bodyPr>
            <a:lstStyle/>
            <a:p>
              <a:pPr lvl="0" rtl="0">
                <a:spcBef>
                  <a:spcPts val="0"/>
                </a:spcBef>
                <a:buNone/>
              </a:pPr>
              <a:r>
                <a:rPr lang="en" sz="1600" b="1">
                  <a:solidFill>
                    <a:srgbClr val="A5C961"/>
                  </a:solidFill>
                  <a:latin typeface="Roboto Slab"/>
                  <a:ea typeface="Roboto Slab"/>
                  <a:cs typeface="Roboto Slab"/>
                  <a:sym typeface="Roboto Slab"/>
                </a:rPr>
                <a:t>RETURN ON INVESTMENT</a:t>
              </a:r>
            </a:p>
            <a:p>
              <a:pPr lvl="0" rtl="0">
                <a:spcBef>
                  <a:spcPts val="0"/>
                </a:spcBef>
                <a:buNone/>
              </a:pPr>
              <a:endParaRPr sz="800" b="1">
                <a:solidFill>
                  <a:schemeClr val="dk2"/>
                </a:solidFill>
                <a:latin typeface="Roboto Slab"/>
                <a:ea typeface="Roboto Slab"/>
                <a:cs typeface="Roboto Slab"/>
                <a:sym typeface="Roboto Slab"/>
              </a:endParaRPr>
            </a:p>
          </p:txBody>
        </p:sp>
        <p:sp>
          <p:nvSpPr>
            <p:cNvPr id="2970" name="Shape 2970"/>
            <p:cNvSpPr txBox="1"/>
            <p:nvPr/>
          </p:nvSpPr>
          <p:spPr>
            <a:xfrm>
              <a:off x="3260575" y="2217975"/>
              <a:ext cx="5098199" cy="995099"/>
            </a:xfrm>
            <a:prstGeom prst="rect">
              <a:avLst/>
            </a:prstGeom>
            <a:noFill/>
            <a:ln>
              <a:noFill/>
            </a:ln>
          </p:spPr>
          <p:txBody>
            <a:bodyPr lIns="91425" tIns="91425" rIns="91425" bIns="91425" anchor="t" anchorCtr="0">
              <a:noAutofit/>
            </a:bodyPr>
            <a:lstStyle/>
            <a:p>
              <a:pPr lvl="0" rtl="0">
                <a:spcBef>
                  <a:spcPts val="0"/>
                </a:spcBef>
                <a:buClr>
                  <a:schemeClr val="dk1"/>
                </a:buClr>
                <a:buSzPct val="122222"/>
                <a:buFont typeface="Arial"/>
                <a:buNone/>
              </a:pPr>
              <a:r>
                <a:rPr lang="en" sz="900">
                  <a:solidFill>
                    <a:srgbClr val="666666"/>
                  </a:solidFill>
                  <a:latin typeface="Roboto"/>
                  <a:ea typeface="Roboto"/>
                  <a:cs typeface="Roboto"/>
                  <a:sym typeface="Roboto"/>
                </a:rPr>
                <a:t>Lorem Ipsum is simply dummy text of the printing and typesetting industry. Lorem Ipsum has been the industry's standard dummy text ever since the 1500s.</a:t>
              </a:r>
            </a:p>
            <a:p>
              <a:pPr lvl="0" rtl="0">
                <a:spcBef>
                  <a:spcPts val="0"/>
                </a:spcBef>
                <a:buNone/>
              </a:pPr>
              <a:endParaRPr sz="1100">
                <a:solidFill>
                  <a:srgbClr val="666666"/>
                </a:solidFill>
                <a:latin typeface="Roboto"/>
                <a:ea typeface="Roboto"/>
                <a:cs typeface="Roboto"/>
                <a:sym typeface="Roboto"/>
              </a:endParaRPr>
            </a:p>
            <a:p>
              <a:pPr lvl="0" rtl="0">
                <a:spcBef>
                  <a:spcPts val="0"/>
                </a:spcBef>
                <a:buNone/>
              </a:pPr>
              <a:endParaRPr sz="1200">
                <a:solidFill>
                  <a:srgbClr val="666666"/>
                </a:solidFill>
                <a:latin typeface="Roboto"/>
                <a:ea typeface="Roboto"/>
                <a:cs typeface="Roboto"/>
                <a:sym typeface="Roboto"/>
              </a:endParaRPr>
            </a:p>
            <a:p>
              <a:pPr lvl="0" rtl="0">
                <a:spcBef>
                  <a:spcPts val="0"/>
                </a:spcBef>
                <a:buNone/>
              </a:pPr>
              <a:endParaRPr sz="900">
                <a:solidFill>
                  <a:srgbClr val="666666"/>
                </a:solidFill>
                <a:latin typeface="Roboto"/>
                <a:ea typeface="Roboto"/>
                <a:cs typeface="Roboto"/>
                <a:sym typeface="Roboto"/>
              </a:endParaRPr>
            </a:p>
          </p:txBody>
        </p:sp>
        <p:sp>
          <p:nvSpPr>
            <p:cNvPr id="2971" name="Shape 2971"/>
            <p:cNvSpPr txBox="1"/>
            <p:nvPr/>
          </p:nvSpPr>
          <p:spPr>
            <a:xfrm>
              <a:off x="3970593" y="2960563"/>
              <a:ext cx="3309000" cy="504299"/>
            </a:xfrm>
            <a:prstGeom prst="rect">
              <a:avLst/>
            </a:prstGeom>
            <a:noFill/>
            <a:ln>
              <a:noFill/>
            </a:ln>
          </p:spPr>
          <p:txBody>
            <a:bodyPr lIns="91425" tIns="91425" rIns="91425" bIns="91425" anchor="t" anchorCtr="0">
              <a:noAutofit/>
            </a:bodyPr>
            <a:lstStyle/>
            <a:p>
              <a:pPr lvl="0" rtl="0">
                <a:spcBef>
                  <a:spcPts val="0"/>
                </a:spcBef>
                <a:buNone/>
              </a:pPr>
              <a:r>
                <a:rPr lang="en" sz="1600" b="1">
                  <a:solidFill>
                    <a:srgbClr val="FDCC5B"/>
                  </a:solidFill>
                  <a:latin typeface="Roboto Slab"/>
                  <a:ea typeface="Roboto Slab"/>
                  <a:cs typeface="Roboto Slab"/>
                  <a:sym typeface="Roboto Slab"/>
                </a:rPr>
                <a:t>EARLY STAGE INVESTMENT</a:t>
              </a:r>
            </a:p>
            <a:p>
              <a:pPr lvl="0" rtl="0">
                <a:spcBef>
                  <a:spcPts val="0"/>
                </a:spcBef>
                <a:buNone/>
              </a:pPr>
              <a:endParaRPr sz="800" b="1">
                <a:solidFill>
                  <a:schemeClr val="dk2"/>
                </a:solidFill>
                <a:latin typeface="Roboto Slab"/>
                <a:ea typeface="Roboto Slab"/>
                <a:cs typeface="Roboto Slab"/>
                <a:sym typeface="Roboto Slab"/>
              </a:endParaRPr>
            </a:p>
          </p:txBody>
        </p:sp>
        <p:sp>
          <p:nvSpPr>
            <p:cNvPr id="2972" name="Shape 2972"/>
            <p:cNvSpPr txBox="1"/>
            <p:nvPr/>
          </p:nvSpPr>
          <p:spPr>
            <a:xfrm>
              <a:off x="3967875" y="3264175"/>
              <a:ext cx="5098199" cy="995099"/>
            </a:xfrm>
            <a:prstGeom prst="rect">
              <a:avLst/>
            </a:prstGeom>
            <a:noFill/>
            <a:ln>
              <a:noFill/>
            </a:ln>
          </p:spPr>
          <p:txBody>
            <a:bodyPr lIns="91425" tIns="91425" rIns="91425" bIns="91425" anchor="t" anchorCtr="0">
              <a:noAutofit/>
            </a:bodyPr>
            <a:lstStyle/>
            <a:p>
              <a:pPr lvl="0" rtl="0">
                <a:spcBef>
                  <a:spcPts val="0"/>
                </a:spcBef>
                <a:buNone/>
              </a:pPr>
              <a:r>
                <a:rPr lang="en" sz="900">
                  <a:solidFill>
                    <a:srgbClr val="666666"/>
                  </a:solidFill>
                  <a:latin typeface="Roboto"/>
                  <a:ea typeface="Roboto"/>
                  <a:cs typeface="Roboto"/>
                  <a:sym typeface="Roboto"/>
                </a:rPr>
                <a:t>Lorem Ipsum is simply dummy text of the printing and typesetting industry. Lorem Ipsum has been the industry's standard dummy text ever since the 1500s.</a:t>
              </a:r>
            </a:p>
            <a:p>
              <a:pPr lvl="0" rtl="0">
                <a:spcBef>
                  <a:spcPts val="0"/>
                </a:spcBef>
                <a:buNone/>
              </a:pPr>
              <a:endParaRPr sz="1100">
                <a:solidFill>
                  <a:srgbClr val="666666"/>
                </a:solidFill>
                <a:latin typeface="Roboto"/>
                <a:ea typeface="Roboto"/>
                <a:cs typeface="Roboto"/>
                <a:sym typeface="Roboto"/>
              </a:endParaRPr>
            </a:p>
            <a:p>
              <a:pPr lvl="0" rtl="0">
                <a:spcBef>
                  <a:spcPts val="0"/>
                </a:spcBef>
                <a:buNone/>
              </a:pPr>
              <a:endParaRPr sz="1200">
                <a:solidFill>
                  <a:srgbClr val="666666"/>
                </a:solidFill>
                <a:latin typeface="Roboto"/>
                <a:ea typeface="Roboto"/>
                <a:cs typeface="Roboto"/>
                <a:sym typeface="Roboto"/>
              </a:endParaRPr>
            </a:p>
            <a:p>
              <a:pPr lvl="0" rtl="0">
                <a:spcBef>
                  <a:spcPts val="0"/>
                </a:spcBef>
                <a:buNone/>
              </a:pPr>
              <a:endParaRPr sz="900">
                <a:solidFill>
                  <a:srgbClr val="666666"/>
                </a:solidFill>
                <a:latin typeface="Roboto"/>
                <a:ea typeface="Roboto"/>
                <a:cs typeface="Roboto"/>
                <a:sym typeface="Roboto"/>
              </a:endParaRPr>
            </a:p>
          </p:txBody>
        </p:sp>
        <p:sp>
          <p:nvSpPr>
            <p:cNvPr id="2973" name="Shape 2973"/>
            <p:cNvSpPr txBox="1"/>
            <p:nvPr/>
          </p:nvSpPr>
          <p:spPr>
            <a:xfrm>
              <a:off x="4465893" y="3961795"/>
              <a:ext cx="3309000" cy="504299"/>
            </a:xfrm>
            <a:prstGeom prst="rect">
              <a:avLst/>
            </a:prstGeom>
            <a:noFill/>
            <a:ln>
              <a:noFill/>
            </a:ln>
          </p:spPr>
          <p:txBody>
            <a:bodyPr lIns="91425" tIns="91425" rIns="91425" bIns="91425" anchor="t" anchorCtr="0">
              <a:noAutofit/>
            </a:bodyPr>
            <a:lstStyle/>
            <a:p>
              <a:pPr lvl="0" rtl="0">
                <a:spcBef>
                  <a:spcPts val="0"/>
                </a:spcBef>
                <a:buNone/>
              </a:pPr>
              <a:r>
                <a:rPr lang="en" sz="1600" b="1">
                  <a:solidFill>
                    <a:srgbClr val="F08B7C"/>
                  </a:solidFill>
                  <a:latin typeface="Roboto Slab"/>
                  <a:ea typeface="Roboto Slab"/>
                  <a:cs typeface="Roboto Slab"/>
                  <a:sym typeface="Roboto Slab"/>
                </a:rPr>
                <a:t>SEED INVESTMENT</a:t>
              </a:r>
            </a:p>
            <a:p>
              <a:pPr lvl="0" rtl="0">
                <a:spcBef>
                  <a:spcPts val="0"/>
                </a:spcBef>
                <a:buNone/>
              </a:pPr>
              <a:endParaRPr sz="800" b="1">
                <a:solidFill>
                  <a:srgbClr val="F08B7C"/>
                </a:solidFill>
                <a:latin typeface="Roboto Slab"/>
                <a:ea typeface="Roboto Slab"/>
                <a:cs typeface="Roboto Slab"/>
                <a:sym typeface="Roboto Slab"/>
              </a:endParaRPr>
            </a:p>
          </p:txBody>
        </p:sp>
        <p:sp>
          <p:nvSpPr>
            <p:cNvPr id="2974" name="Shape 2974"/>
            <p:cNvSpPr txBox="1"/>
            <p:nvPr/>
          </p:nvSpPr>
          <p:spPr>
            <a:xfrm>
              <a:off x="4463175" y="4265400"/>
              <a:ext cx="4480199" cy="995099"/>
            </a:xfrm>
            <a:prstGeom prst="rect">
              <a:avLst/>
            </a:prstGeom>
            <a:noFill/>
            <a:ln>
              <a:noFill/>
            </a:ln>
          </p:spPr>
          <p:txBody>
            <a:bodyPr lIns="91425" tIns="91425" rIns="91425" bIns="91425" anchor="t" anchorCtr="0">
              <a:noAutofit/>
            </a:bodyPr>
            <a:lstStyle/>
            <a:p>
              <a:pPr lvl="0" rtl="0">
                <a:spcBef>
                  <a:spcPts val="0"/>
                </a:spcBef>
                <a:buNone/>
              </a:pPr>
              <a:r>
                <a:rPr lang="en" sz="900">
                  <a:solidFill>
                    <a:srgbClr val="666666"/>
                  </a:solidFill>
                  <a:latin typeface="Roboto"/>
                  <a:ea typeface="Roboto"/>
                  <a:cs typeface="Roboto"/>
                  <a:sym typeface="Roboto"/>
                </a:rPr>
                <a:t>Lorem Ipsum is simply dummy text of the printing and typesetting industry. Lorem Ipsum has been the industry's standard dummy text ever since the 1500s.</a:t>
              </a:r>
            </a:p>
            <a:p>
              <a:pPr lvl="0" rtl="0">
                <a:spcBef>
                  <a:spcPts val="0"/>
                </a:spcBef>
                <a:buNone/>
              </a:pPr>
              <a:endParaRPr sz="1100">
                <a:solidFill>
                  <a:srgbClr val="666666"/>
                </a:solidFill>
                <a:latin typeface="Roboto"/>
                <a:ea typeface="Roboto"/>
                <a:cs typeface="Roboto"/>
                <a:sym typeface="Roboto"/>
              </a:endParaRPr>
            </a:p>
            <a:p>
              <a:pPr lvl="0" rtl="0">
                <a:spcBef>
                  <a:spcPts val="0"/>
                </a:spcBef>
                <a:buNone/>
              </a:pPr>
              <a:endParaRPr sz="1200">
                <a:solidFill>
                  <a:srgbClr val="666666"/>
                </a:solidFill>
                <a:latin typeface="Roboto"/>
                <a:ea typeface="Roboto"/>
                <a:cs typeface="Roboto"/>
                <a:sym typeface="Roboto"/>
              </a:endParaRPr>
            </a:p>
            <a:p>
              <a:pPr lvl="0" rtl="0">
                <a:spcBef>
                  <a:spcPts val="0"/>
                </a:spcBef>
                <a:buNone/>
              </a:pPr>
              <a:endParaRPr sz="900">
                <a:solidFill>
                  <a:srgbClr val="666666"/>
                </a:solidFill>
                <a:latin typeface="Roboto"/>
                <a:ea typeface="Roboto"/>
                <a:cs typeface="Roboto"/>
                <a:sym typeface="Roboto"/>
              </a:endParaRPr>
            </a:p>
          </p:txBody>
        </p:sp>
        <p:sp>
          <p:nvSpPr>
            <p:cNvPr id="2975" name="Shape 2975"/>
            <p:cNvSpPr txBox="1"/>
            <p:nvPr/>
          </p:nvSpPr>
          <p:spPr>
            <a:xfrm>
              <a:off x="7823446" y="1914375"/>
              <a:ext cx="1215299" cy="504299"/>
            </a:xfrm>
            <a:prstGeom prst="rect">
              <a:avLst/>
            </a:prstGeom>
            <a:noFill/>
            <a:ln>
              <a:noFill/>
            </a:ln>
          </p:spPr>
          <p:txBody>
            <a:bodyPr lIns="91425" tIns="91425" rIns="91425" bIns="91425" anchor="t" anchorCtr="0">
              <a:noAutofit/>
            </a:bodyPr>
            <a:lstStyle/>
            <a:p>
              <a:pPr lvl="0" rtl="0">
                <a:spcBef>
                  <a:spcPts val="0"/>
                </a:spcBef>
                <a:buNone/>
              </a:pPr>
              <a:r>
                <a:rPr lang="en" sz="1600">
                  <a:solidFill>
                    <a:srgbClr val="A5C961"/>
                  </a:solidFill>
                  <a:latin typeface="Roboto Slab"/>
                  <a:ea typeface="Roboto Slab"/>
                  <a:cs typeface="Roboto Slab"/>
                  <a:sym typeface="Roboto Slab"/>
                </a:rPr>
                <a:t>MAY 2016</a:t>
              </a:r>
            </a:p>
          </p:txBody>
        </p:sp>
        <p:sp>
          <p:nvSpPr>
            <p:cNvPr id="2976" name="Shape 2976"/>
            <p:cNvSpPr txBox="1"/>
            <p:nvPr/>
          </p:nvSpPr>
          <p:spPr>
            <a:xfrm>
              <a:off x="7823443" y="2957463"/>
              <a:ext cx="1279800" cy="504299"/>
            </a:xfrm>
            <a:prstGeom prst="rect">
              <a:avLst/>
            </a:prstGeom>
            <a:noFill/>
            <a:ln>
              <a:noFill/>
            </a:ln>
          </p:spPr>
          <p:txBody>
            <a:bodyPr lIns="91425" tIns="91425" rIns="91425" bIns="91425" anchor="t" anchorCtr="0">
              <a:noAutofit/>
            </a:bodyPr>
            <a:lstStyle/>
            <a:p>
              <a:pPr lvl="0" rtl="0">
                <a:spcBef>
                  <a:spcPts val="0"/>
                </a:spcBef>
                <a:buNone/>
              </a:pPr>
              <a:r>
                <a:rPr lang="en" sz="1600">
                  <a:solidFill>
                    <a:schemeClr val="accent1"/>
                  </a:solidFill>
                  <a:latin typeface="Roboto Slab"/>
                  <a:ea typeface="Roboto Slab"/>
                  <a:cs typeface="Roboto Slab"/>
                  <a:sym typeface="Roboto Slab"/>
                </a:rPr>
                <a:t>$ 1.000.000</a:t>
              </a:r>
            </a:p>
          </p:txBody>
        </p:sp>
        <p:sp>
          <p:nvSpPr>
            <p:cNvPr id="2977" name="Shape 2977"/>
            <p:cNvSpPr txBox="1"/>
            <p:nvPr/>
          </p:nvSpPr>
          <p:spPr>
            <a:xfrm>
              <a:off x="7858572" y="3943659"/>
              <a:ext cx="1279800" cy="504299"/>
            </a:xfrm>
            <a:prstGeom prst="rect">
              <a:avLst/>
            </a:prstGeom>
            <a:noFill/>
            <a:ln>
              <a:noFill/>
            </a:ln>
          </p:spPr>
          <p:txBody>
            <a:bodyPr lIns="91425" tIns="91425" rIns="91425" bIns="91425" anchor="t" anchorCtr="0">
              <a:noAutofit/>
            </a:bodyPr>
            <a:lstStyle/>
            <a:p>
              <a:pPr lvl="0" rtl="0">
                <a:spcBef>
                  <a:spcPts val="0"/>
                </a:spcBef>
                <a:buNone/>
              </a:pPr>
              <a:r>
                <a:rPr lang="en" sz="1600">
                  <a:solidFill>
                    <a:srgbClr val="F08B7C"/>
                  </a:solidFill>
                  <a:latin typeface="Roboto Slab"/>
                  <a:ea typeface="Roboto Slab"/>
                  <a:cs typeface="Roboto Slab"/>
                  <a:sym typeface="Roboto Slab"/>
                </a:rPr>
                <a:t>$ 60.000</a:t>
              </a:r>
            </a:p>
          </p:txBody>
        </p:sp>
      </p:grpSp>
      <p:pic>
        <p:nvPicPr>
          <p:cNvPr id="29" name="Immagine 28">
            <a:extLst>
              <a:ext uri="{FF2B5EF4-FFF2-40B4-BE49-F238E27FC236}">
                <a16:creationId xmlns:a16="http://schemas.microsoft.com/office/drawing/2014/main" id="{3540BF5E-9502-4A56-AC70-A3E281634435}"/>
              </a:ext>
            </a:extLst>
          </p:cNvPr>
          <p:cNvPicPr>
            <a:picLocks noChangeAspect="1"/>
          </p:cNvPicPr>
          <p:nvPr/>
        </p:nvPicPr>
        <p:blipFill rotWithShape="1">
          <a:blip r:embed="rId8"/>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955"/>
                                        </p:tgtEl>
                                        <p:attrNameLst>
                                          <p:attrName>style.visibility</p:attrName>
                                        </p:attrNameLst>
                                      </p:cBhvr>
                                      <p:to>
                                        <p:strVal val="visible"/>
                                      </p:to>
                                    </p:set>
                                    <p:anim calcmode="lin" valueType="num">
                                      <p:cBhvr additive="base">
                                        <p:cTn id="7" dur="500"/>
                                        <p:tgtEl>
                                          <p:spTgt spid="2955"/>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2956"/>
                                        </p:tgtEl>
                                        <p:attrNameLst>
                                          <p:attrName>style.visibility</p:attrName>
                                        </p:attrNameLst>
                                      </p:cBhvr>
                                      <p:to>
                                        <p:strVal val="visible"/>
                                      </p:to>
                                    </p:set>
                                    <p:anim calcmode="lin" valueType="num">
                                      <p:cBhvr additive="base">
                                        <p:cTn id="11" dur="500"/>
                                        <p:tgtEl>
                                          <p:spTgt spid="2956"/>
                                        </p:tgtEl>
                                        <p:attrNameLst>
                                          <p:attrName>ppt_w</p:attrName>
                                        </p:attrNameLst>
                                      </p:cBhvr>
                                      <p:tavLst>
                                        <p:tav tm="0">
                                          <p:val>
                                            <p:strVal val="0"/>
                                          </p:val>
                                        </p:tav>
                                        <p:tav tm="100000">
                                          <p:val>
                                            <p:strVal val="#ppt_w"/>
                                          </p:val>
                                        </p:tav>
                                      </p:tavLst>
                                    </p:anim>
                                    <p:anim calcmode="lin" valueType="num">
                                      <p:cBhvr additive="base">
                                        <p:cTn id="12" dur="500"/>
                                        <p:tgtEl>
                                          <p:spTgt spid="2956"/>
                                        </p:tgtEl>
                                        <p:attrNameLst>
                                          <p:attrName>ppt_h</p:attrName>
                                        </p:attrNameLst>
                                      </p:cBhvr>
                                      <p:tavLst>
                                        <p:tav tm="0">
                                          <p:val>
                                            <p:strVal val="0"/>
                                          </p:val>
                                        </p:tav>
                                        <p:tav tm="100000">
                                          <p:val>
                                            <p:strVal val="#ppt_h"/>
                                          </p:val>
                                        </p:tav>
                                      </p:tavLst>
                                    </p:anim>
                                  </p:childTnLst>
                                </p:cTn>
                              </p:par>
                            </p:childTnLst>
                          </p:cTn>
                        </p:par>
                        <p:par>
                          <p:cTn id="13" fill="hold">
                            <p:stCondLst>
                              <p:cond delay="1000"/>
                            </p:stCondLst>
                            <p:childTnLst>
                              <p:par>
                                <p:cTn id="14" presetID="23" presetClass="entr" presetSubtype="16" fill="hold" nodeType="afterEffect">
                                  <p:stCondLst>
                                    <p:cond delay="0"/>
                                  </p:stCondLst>
                                  <p:childTnLst>
                                    <p:set>
                                      <p:cBhvr>
                                        <p:cTn id="15" dur="1" fill="hold">
                                          <p:stCondLst>
                                            <p:cond delay="0"/>
                                          </p:stCondLst>
                                        </p:cTn>
                                        <p:tgtEl>
                                          <p:spTgt spid="2957"/>
                                        </p:tgtEl>
                                        <p:attrNameLst>
                                          <p:attrName>style.visibility</p:attrName>
                                        </p:attrNameLst>
                                      </p:cBhvr>
                                      <p:to>
                                        <p:strVal val="visible"/>
                                      </p:to>
                                    </p:set>
                                    <p:anim calcmode="lin" valueType="num">
                                      <p:cBhvr additive="base">
                                        <p:cTn id="16" dur="500"/>
                                        <p:tgtEl>
                                          <p:spTgt spid="2957"/>
                                        </p:tgtEl>
                                        <p:attrNameLst>
                                          <p:attrName>ppt_w</p:attrName>
                                        </p:attrNameLst>
                                      </p:cBhvr>
                                      <p:tavLst>
                                        <p:tav tm="0">
                                          <p:val>
                                            <p:strVal val="0"/>
                                          </p:val>
                                        </p:tav>
                                        <p:tav tm="100000">
                                          <p:val>
                                            <p:strVal val="#ppt_w"/>
                                          </p:val>
                                        </p:tav>
                                      </p:tavLst>
                                    </p:anim>
                                    <p:anim calcmode="lin" valueType="num">
                                      <p:cBhvr additive="base">
                                        <p:cTn id="17" dur="500"/>
                                        <p:tgtEl>
                                          <p:spTgt spid="2957"/>
                                        </p:tgtEl>
                                        <p:attrNameLst>
                                          <p:attrName>ppt_h</p:attrName>
                                        </p:attrNameLst>
                                      </p:cBhvr>
                                      <p:tavLst>
                                        <p:tav tm="0">
                                          <p:val>
                                            <p:strVal val="0"/>
                                          </p:val>
                                        </p:tav>
                                        <p:tav tm="100000">
                                          <p:val>
                                            <p:strVal val="#ppt_h"/>
                                          </p:val>
                                        </p:tav>
                                      </p:tavLst>
                                    </p:anim>
                                  </p:childTnLst>
                                </p:cTn>
                              </p:par>
                            </p:childTnLst>
                          </p:cTn>
                        </p:par>
                        <p:par>
                          <p:cTn id="18" fill="hold">
                            <p:stCondLst>
                              <p:cond delay="1500"/>
                            </p:stCondLst>
                            <p:childTnLst>
                              <p:par>
                                <p:cTn id="19" presetID="23" presetClass="entr" presetSubtype="16" fill="hold" nodeType="afterEffect">
                                  <p:stCondLst>
                                    <p:cond delay="0"/>
                                  </p:stCondLst>
                                  <p:childTnLst>
                                    <p:set>
                                      <p:cBhvr>
                                        <p:cTn id="20" dur="1" fill="hold">
                                          <p:stCondLst>
                                            <p:cond delay="0"/>
                                          </p:stCondLst>
                                        </p:cTn>
                                        <p:tgtEl>
                                          <p:spTgt spid="2961"/>
                                        </p:tgtEl>
                                        <p:attrNameLst>
                                          <p:attrName>style.visibility</p:attrName>
                                        </p:attrNameLst>
                                      </p:cBhvr>
                                      <p:to>
                                        <p:strVal val="visible"/>
                                      </p:to>
                                    </p:set>
                                    <p:anim calcmode="lin" valueType="num">
                                      <p:cBhvr additive="base">
                                        <p:cTn id="21" dur="500"/>
                                        <p:tgtEl>
                                          <p:spTgt spid="2961"/>
                                        </p:tgtEl>
                                        <p:attrNameLst>
                                          <p:attrName>ppt_w</p:attrName>
                                        </p:attrNameLst>
                                      </p:cBhvr>
                                      <p:tavLst>
                                        <p:tav tm="0">
                                          <p:val>
                                            <p:strVal val="0"/>
                                          </p:val>
                                        </p:tav>
                                        <p:tav tm="100000">
                                          <p:val>
                                            <p:strVal val="#ppt_w"/>
                                          </p:val>
                                        </p:tav>
                                      </p:tavLst>
                                    </p:anim>
                                    <p:anim calcmode="lin" valueType="num">
                                      <p:cBhvr additive="base">
                                        <p:cTn id="22" dur="500"/>
                                        <p:tgtEl>
                                          <p:spTgt spid="2961"/>
                                        </p:tgtEl>
                                        <p:attrNameLst>
                                          <p:attrName>ppt_h</p:attrName>
                                        </p:attrNameLst>
                                      </p:cBhvr>
                                      <p:tavLst>
                                        <p:tav tm="0">
                                          <p:val>
                                            <p:strVal val="0"/>
                                          </p:val>
                                        </p:tav>
                                        <p:tav tm="100000">
                                          <p:val>
                                            <p:strVal val="#ppt_h"/>
                                          </p:val>
                                        </p:tav>
                                      </p:tavLst>
                                    </p:anim>
                                  </p:childTnLst>
                                </p:cTn>
                              </p:par>
                            </p:childTnLst>
                          </p:cTn>
                        </p:par>
                        <p:par>
                          <p:cTn id="23" fill="hold">
                            <p:stCondLst>
                              <p:cond delay="2000"/>
                            </p:stCondLst>
                            <p:childTnLst>
                              <p:par>
                                <p:cTn id="24" presetID="2" presetClass="entr" presetSubtype="2" fill="hold" nodeType="afterEffect">
                                  <p:stCondLst>
                                    <p:cond delay="0"/>
                                  </p:stCondLst>
                                  <p:childTnLst>
                                    <p:set>
                                      <p:cBhvr>
                                        <p:cTn id="25" dur="1" fill="hold">
                                          <p:stCondLst>
                                            <p:cond delay="0"/>
                                          </p:stCondLst>
                                        </p:cTn>
                                        <p:tgtEl>
                                          <p:spTgt spid="2962"/>
                                        </p:tgtEl>
                                        <p:attrNameLst>
                                          <p:attrName>style.visibility</p:attrName>
                                        </p:attrNameLst>
                                      </p:cBhvr>
                                      <p:to>
                                        <p:strVal val="visible"/>
                                      </p:to>
                                    </p:set>
                                    <p:anim calcmode="lin" valueType="num">
                                      <p:cBhvr additive="base">
                                        <p:cTn id="26" dur="1000"/>
                                        <p:tgtEl>
                                          <p:spTgt spid="296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981"/>
        <p:cNvGrpSpPr/>
        <p:nvPr/>
      </p:nvGrpSpPr>
      <p:grpSpPr>
        <a:xfrm>
          <a:off x="0" y="0"/>
          <a:ext cx="0" cy="0"/>
          <a:chOff x="0" y="0"/>
          <a:chExt cx="0" cy="0"/>
        </a:xfrm>
      </p:grpSpPr>
      <p:sp>
        <p:nvSpPr>
          <p:cNvPr id="26" name="Rettangolo 25">
            <a:extLst>
              <a:ext uri="{FF2B5EF4-FFF2-40B4-BE49-F238E27FC236}">
                <a16:creationId xmlns:a16="http://schemas.microsoft.com/office/drawing/2014/main" id="{27793F99-1ABE-4C8E-9CFB-142D39E0020A}"/>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2982" name="Shape 2982"/>
          <p:cNvPicPr preferRelativeResize="0"/>
          <p:nvPr/>
        </p:nvPicPr>
        <p:blipFill>
          <a:blip r:embed="rId3">
            <a:alphaModFix/>
          </a:blip>
          <a:stretch>
            <a:fillRect/>
          </a:stretch>
        </p:blipFill>
        <p:spPr>
          <a:xfrm>
            <a:off x="-84000" y="175455"/>
            <a:ext cx="9291700" cy="788900"/>
          </a:xfrm>
          <a:prstGeom prst="rect">
            <a:avLst/>
          </a:prstGeom>
          <a:noFill/>
          <a:ln>
            <a:noFill/>
          </a:ln>
        </p:spPr>
      </p:pic>
      <p:sp>
        <p:nvSpPr>
          <p:cNvPr id="2985" name="Shape 2985"/>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Investment</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grpSp>
        <p:nvGrpSpPr>
          <p:cNvPr id="2986" name="Shape 2986"/>
          <p:cNvGrpSpPr/>
          <p:nvPr/>
        </p:nvGrpSpPr>
        <p:grpSpPr>
          <a:xfrm>
            <a:off x="490939" y="1469681"/>
            <a:ext cx="8945382" cy="2948668"/>
            <a:chOff x="490939" y="1469681"/>
            <a:chExt cx="8945382" cy="2948668"/>
          </a:xfrm>
        </p:grpSpPr>
        <p:grpSp>
          <p:nvGrpSpPr>
            <p:cNvPr id="2987" name="Shape 2987"/>
            <p:cNvGrpSpPr/>
            <p:nvPr/>
          </p:nvGrpSpPr>
          <p:grpSpPr>
            <a:xfrm>
              <a:off x="490939" y="1469681"/>
              <a:ext cx="8116415" cy="1981377"/>
              <a:chOff x="9150" y="2134529"/>
              <a:chExt cx="8849122" cy="2160246"/>
            </a:xfrm>
          </p:grpSpPr>
          <p:pic>
            <p:nvPicPr>
              <p:cNvPr id="2988" name="Shape 2988"/>
              <p:cNvPicPr preferRelativeResize="0"/>
              <p:nvPr/>
            </p:nvPicPr>
            <p:blipFill>
              <a:blip r:embed="rId4">
                <a:alphaModFix/>
              </a:blip>
              <a:stretch>
                <a:fillRect/>
              </a:stretch>
            </p:blipFill>
            <p:spPr>
              <a:xfrm>
                <a:off x="9150" y="2141749"/>
                <a:ext cx="1841299" cy="1731324"/>
              </a:xfrm>
              <a:prstGeom prst="rect">
                <a:avLst/>
              </a:prstGeom>
              <a:noFill/>
              <a:ln>
                <a:noFill/>
              </a:ln>
            </p:spPr>
          </p:pic>
          <p:pic>
            <p:nvPicPr>
              <p:cNvPr id="2989" name="Shape 2989"/>
              <p:cNvPicPr preferRelativeResize="0"/>
              <p:nvPr/>
            </p:nvPicPr>
            <p:blipFill>
              <a:blip r:embed="rId5">
                <a:alphaModFix/>
              </a:blip>
              <a:stretch>
                <a:fillRect/>
              </a:stretch>
            </p:blipFill>
            <p:spPr>
              <a:xfrm>
                <a:off x="3533310" y="2723975"/>
                <a:ext cx="1672025" cy="1149100"/>
              </a:xfrm>
              <a:prstGeom prst="rect">
                <a:avLst/>
              </a:prstGeom>
              <a:noFill/>
              <a:ln>
                <a:noFill/>
              </a:ln>
            </p:spPr>
          </p:pic>
          <p:pic>
            <p:nvPicPr>
              <p:cNvPr id="2990" name="Shape 2990"/>
              <p:cNvPicPr preferRelativeResize="0"/>
              <p:nvPr/>
            </p:nvPicPr>
            <p:blipFill>
              <a:blip r:embed="rId6">
                <a:alphaModFix/>
              </a:blip>
              <a:stretch>
                <a:fillRect/>
              </a:stretch>
            </p:blipFill>
            <p:spPr>
              <a:xfrm>
                <a:off x="5205325" y="2723539"/>
                <a:ext cx="1672024" cy="1149535"/>
              </a:xfrm>
              <a:prstGeom prst="rect">
                <a:avLst/>
              </a:prstGeom>
              <a:noFill/>
              <a:ln>
                <a:noFill/>
              </a:ln>
            </p:spPr>
          </p:pic>
          <p:pic>
            <p:nvPicPr>
              <p:cNvPr id="2991" name="Shape 2991"/>
              <p:cNvPicPr preferRelativeResize="0"/>
              <p:nvPr/>
            </p:nvPicPr>
            <p:blipFill>
              <a:blip r:embed="rId7">
                <a:alphaModFix/>
              </a:blip>
              <a:stretch>
                <a:fillRect/>
              </a:stretch>
            </p:blipFill>
            <p:spPr>
              <a:xfrm>
                <a:off x="1816722" y="2141750"/>
                <a:ext cx="1706452" cy="1731324"/>
              </a:xfrm>
              <a:prstGeom prst="rect">
                <a:avLst/>
              </a:prstGeom>
              <a:noFill/>
              <a:ln>
                <a:noFill/>
              </a:ln>
            </p:spPr>
          </p:pic>
          <p:pic>
            <p:nvPicPr>
              <p:cNvPr id="2992" name="Shape 2992"/>
              <p:cNvPicPr preferRelativeResize="0"/>
              <p:nvPr/>
            </p:nvPicPr>
            <p:blipFill>
              <a:blip r:embed="rId8">
                <a:alphaModFix/>
              </a:blip>
              <a:stretch>
                <a:fillRect/>
              </a:stretch>
            </p:blipFill>
            <p:spPr>
              <a:xfrm>
                <a:off x="6713900" y="2134529"/>
                <a:ext cx="1841300" cy="1738546"/>
              </a:xfrm>
              <a:prstGeom prst="rect">
                <a:avLst/>
              </a:prstGeom>
              <a:noFill/>
              <a:ln>
                <a:noFill/>
              </a:ln>
            </p:spPr>
          </p:pic>
          <p:pic>
            <p:nvPicPr>
              <p:cNvPr id="2993" name="Shape 2993"/>
              <p:cNvPicPr preferRelativeResize="0"/>
              <p:nvPr/>
            </p:nvPicPr>
            <p:blipFill>
              <a:blip r:embed="rId9">
                <a:alphaModFix/>
              </a:blip>
              <a:stretch>
                <a:fillRect/>
              </a:stretch>
            </p:blipFill>
            <p:spPr>
              <a:xfrm>
                <a:off x="156673" y="3586371"/>
                <a:ext cx="559924" cy="662799"/>
              </a:xfrm>
              <a:prstGeom prst="rect">
                <a:avLst/>
              </a:prstGeom>
              <a:noFill/>
              <a:ln>
                <a:noFill/>
              </a:ln>
            </p:spPr>
          </p:pic>
          <p:pic>
            <p:nvPicPr>
              <p:cNvPr id="2994" name="Shape 2994"/>
              <p:cNvPicPr preferRelativeResize="0"/>
              <p:nvPr/>
            </p:nvPicPr>
            <p:blipFill>
              <a:blip r:embed="rId10">
                <a:alphaModFix/>
              </a:blip>
              <a:stretch>
                <a:fillRect/>
              </a:stretch>
            </p:blipFill>
            <p:spPr>
              <a:xfrm>
                <a:off x="8189772" y="3433775"/>
                <a:ext cx="668500" cy="861000"/>
              </a:xfrm>
              <a:prstGeom prst="rect">
                <a:avLst/>
              </a:prstGeom>
              <a:noFill/>
              <a:ln>
                <a:noFill/>
              </a:ln>
            </p:spPr>
          </p:pic>
          <p:pic>
            <p:nvPicPr>
              <p:cNvPr id="2995" name="Shape 2995"/>
              <p:cNvPicPr preferRelativeResize="0"/>
              <p:nvPr/>
            </p:nvPicPr>
            <p:blipFill>
              <a:blip r:embed="rId9">
                <a:alphaModFix/>
              </a:blip>
              <a:stretch>
                <a:fillRect/>
              </a:stretch>
            </p:blipFill>
            <p:spPr>
              <a:xfrm>
                <a:off x="3435286" y="3631971"/>
                <a:ext cx="559924" cy="662799"/>
              </a:xfrm>
              <a:prstGeom prst="rect">
                <a:avLst/>
              </a:prstGeom>
              <a:noFill/>
              <a:ln>
                <a:noFill/>
              </a:ln>
            </p:spPr>
          </p:pic>
        </p:grpSp>
        <p:sp>
          <p:nvSpPr>
            <p:cNvPr id="2996" name="Shape 2996"/>
            <p:cNvSpPr txBox="1"/>
            <p:nvPr/>
          </p:nvSpPr>
          <p:spPr>
            <a:xfrm>
              <a:off x="6668225" y="1536075"/>
              <a:ext cx="1142400"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A8D5D7"/>
                  </a:solidFill>
                  <a:latin typeface="Roboto Slab"/>
                  <a:ea typeface="Roboto Slab"/>
                  <a:cs typeface="Roboto Slab"/>
                  <a:sym typeface="Roboto Slab"/>
                </a:rPr>
                <a:t>MAY 2016</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b="1">
                <a:solidFill>
                  <a:schemeClr val="dk2"/>
                </a:solidFill>
                <a:latin typeface="Roboto Slab"/>
                <a:ea typeface="Roboto Slab"/>
                <a:cs typeface="Roboto Slab"/>
                <a:sym typeface="Roboto Slab"/>
              </a:endParaRPr>
            </a:p>
          </p:txBody>
        </p:sp>
        <p:sp>
          <p:nvSpPr>
            <p:cNvPr id="2997" name="Shape 2997"/>
            <p:cNvSpPr txBox="1"/>
            <p:nvPr/>
          </p:nvSpPr>
          <p:spPr>
            <a:xfrm>
              <a:off x="3624248" y="1570225"/>
              <a:ext cx="8666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A5C961"/>
                  </a:solidFill>
                  <a:latin typeface="Roboto Slab"/>
                  <a:ea typeface="Roboto Slab"/>
                  <a:cs typeface="Roboto Slab"/>
                  <a:sym typeface="Roboto Slab"/>
                </a:rPr>
                <a:t>$ 10.000</a:t>
              </a:r>
            </a:p>
            <a:p>
              <a:pPr lvl="0" rtl="0">
                <a:spcBef>
                  <a:spcPts val="0"/>
                </a:spcBef>
                <a:buNone/>
              </a:pPr>
              <a:endParaRPr b="1">
                <a:solidFill>
                  <a:srgbClr val="A5C961"/>
                </a:solidFill>
                <a:latin typeface="Roboto Slab"/>
                <a:ea typeface="Roboto Slab"/>
                <a:cs typeface="Roboto Slab"/>
                <a:sym typeface="Roboto Slab"/>
              </a:endParaRPr>
            </a:p>
            <a:p>
              <a:pPr lvl="0" algn="ctr" rtl="0">
                <a:spcBef>
                  <a:spcPts val="0"/>
                </a:spcBef>
                <a:buNone/>
              </a:pPr>
              <a:endParaRPr b="1">
                <a:solidFill>
                  <a:srgbClr val="A5C961"/>
                </a:solidFill>
                <a:latin typeface="Roboto Slab"/>
                <a:ea typeface="Roboto Slab"/>
                <a:cs typeface="Roboto Slab"/>
                <a:sym typeface="Roboto Slab"/>
              </a:endParaRPr>
            </a:p>
          </p:txBody>
        </p:sp>
        <p:sp>
          <p:nvSpPr>
            <p:cNvPr id="2998" name="Shape 2998"/>
            <p:cNvSpPr txBox="1"/>
            <p:nvPr/>
          </p:nvSpPr>
          <p:spPr>
            <a:xfrm>
              <a:off x="528172" y="1570225"/>
              <a:ext cx="8666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F08B7C"/>
                  </a:solidFill>
                  <a:latin typeface="Roboto Slab"/>
                  <a:ea typeface="Roboto Slab"/>
                  <a:cs typeface="Roboto Slab"/>
                  <a:sym typeface="Roboto Slab"/>
                </a:rPr>
                <a:t>$ 65.000</a:t>
              </a:r>
            </a:p>
            <a:p>
              <a:pPr lvl="0" rtl="0">
                <a:spcBef>
                  <a:spcPts val="0"/>
                </a:spcBef>
                <a:buNone/>
              </a:pPr>
              <a:endParaRPr b="1">
                <a:solidFill>
                  <a:schemeClr val="dk2"/>
                </a:solidFill>
                <a:latin typeface="Roboto Slab"/>
                <a:ea typeface="Roboto Slab"/>
                <a:cs typeface="Roboto Slab"/>
                <a:sym typeface="Roboto Slab"/>
              </a:endParaRPr>
            </a:p>
            <a:p>
              <a:pPr lvl="0" algn="ctr" rtl="0">
                <a:spcBef>
                  <a:spcPts val="0"/>
                </a:spcBef>
                <a:buNone/>
              </a:pPr>
              <a:endParaRPr b="1">
                <a:solidFill>
                  <a:schemeClr val="dk2"/>
                </a:solidFill>
                <a:latin typeface="Roboto Slab"/>
                <a:ea typeface="Roboto Slab"/>
                <a:cs typeface="Roboto Slab"/>
                <a:sym typeface="Roboto Slab"/>
              </a:endParaRPr>
            </a:p>
          </p:txBody>
        </p:sp>
        <p:sp>
          <p:nvSpPr>
            <p:cNvPr id="2999" name="Shape 2999"/>
            <p:cNvSpPr txBox="1"/>
            <p:nvPr/>
          </p:nvSpPr>
          <p:spPr>
            <a:xfrm>
              <a:off x="528172" y="3500025"/>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F08B7C"/>
                  </a:solidFill>
                  <a:latin typeface="Roboto Slab"/>
                  <a:ea typeface="Roboto Slab"/>
                  <a:cs typeface="Roboto Slab"/>
                  <a:sym typeface="Roboto Slab"/>
                </a:rPr>
                <a:t>Seed Investment</a:t>
              </a:r>
            </a:p>
            <a:p>
              <a:pPr lvl="0" rtl="0">
                <a:spcBef>
                  <a:spcPts val="0"/>
                </a:spcBef>
                <a:buNone/>
              </a:pPr>
              <a:endParaRPr b="1">
                <a:solidFill>
                  <a:srgbClr val="F08B7C"/>
                </a:solidFill>
                <a:latin typeface="Roboto Slab"/>
                <a:ea typeface="Roboto Slab"/>
                <a:cs typeface="Roboto Slab"/>
                <a:sym typeface="Roboto Slab"/>
              </a:endParaRPr>
            </a:p>
            <a:p>
              <a:pPr lvl="0" algn="ctr" rtl="0">
                <a:spcBef>
                  <a:spcPts val="0"/>
                </a:spcBef>
                <a:buNone/>
              </a:pPr>
              <a:endParaRPr sz="800" b="1">
                <a:solidFill>
                  <a:srgbClr val="F08B7C"/>
                </a:solidFill>
                <a:latin typeface="Roboto Slab"/>
                <a:ea typeface="Roboto Slab"/>
                <a:cs typeface="Roboto Slab"/>
                <a:sym typeface="Roboto Slab"/>
              </a:endParaRPr>
            </a:p>
          </p:txBody>
        </p:sp>
        <p:sp>
          <p:nvSpPr>
            <p:cNvPr id="3000" name="Shape 3000"/>
            <p:cNvSpPr txBox="1"/>
            <p:nvPr/>
          </p:nvSpPr>
          <p:spPr>
            <a:xfrm>
              <a:off x="528184" y="3813550"/>
              <a:ext cx="1646700" cy="604800"/>
            </a:xfrm>
            <a:prstGeom prst="rect">
              <a:avLst/>
            </a:prstGeom>
            <a:noFill/>
            <a:ln>
              <a:noFill/>
            </a:ln>
          </p:spPr>
          <p:txBody>
            <a:bodyPr lIns="91425" tIns="91425" rIns="91425" bIns="91425" anchor="t" anchorCtr="0">
              <a:noAutofit/>
            </a:bodyPr>
            <a:lstStyle/>
            <a:p>
              <a:pPr lvl="0"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r>
                <a:rPr lang="en" sz="900">
                  <a:latin typeface="Roboto"/>
                  <a:ea typeface="Roboto"/>
                  <a:cs typeface="Roboto"/>
                  <a:sym typeface="Roboto"/>
                </a:rPr>
                <a:t>.</a:t>
              </a:r>
            </a:p>
            <a:p>
              <a:pPr lvl="0" rtl="0">
                <a:spcBef>
                  <a:spcPts val="0"/>
                </a:spcBef>
                <a:buNone/>
              </a:pPr>
              <a:endParaRPr sz="900">
                <a:latin typeface="Roboto"/>
                <a:ea typeface="Roboto"/>
                <a:cs typeface="Roboto"/>
                <a:sym typeface="Roboto"/>
              </a:endParaRPr>
            </a:p>
          </p:txBody>
        </p:sp>
        <p:sp>
          <p:nvSpPr>
            <p:cNvPr id="3001" name="Shape 3001"/>
            <p:cNvSpPr txBox="1"/>
            <p:nvPr/>
          </p:nvSpPr>
          <p:spPr>
            <a:xfrm>
              <a:off x="3524872" y="3500025"/>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A5C961"/>
                  </a:solidFill>
                  <a:latin typeface="Roboto Slab"/>
                  <a:ea typeface="Roboto Slab"/>
                  <a:cs typeface="Roboto Slab"/>
                  <a:sym typeface="Roboto Slab"/>
                </a:rPr>
                <a:t>Early Stage Investment</a:t>
              </a:r>
            </a:p>
            <a:p>
              <a:pPr lvl="0" rtl="0">
                <a:spcBef>
                  <a:spcPts val="0"/>
                </a:spcBef>
                <a:buNone/>
              </a:pPr>
              <a:endParaRPr b="1">
                <a:solidFill>
                  <a:srgbClr val="A5C961"/>
                </a:solidFill>
                <a:latin typeface="Roboto Slab"/>
                <a:ea typeface="Roboto Slab"/>
                <a:cs typeface="Roboto Slab"/>
                <a:sym typeface="Roboto Slab"/>
              </a:endParaRPr>
            </a:p>
            <a:p>
              <a:pPr lvl="0" algn="ctr" rtl="0">
                <a:spcBef>
                  <a:spcPts val="0"/>
                </a:spcBef>
                <a:buNone/>
              </a:pPr>
              <a:endParaRPr sz="800" b="1">
                <a:solidFill>
                  <a:srgbClr val="A5C961"/>
                </a:solidFill>
                <a:latin typeface="Roboto Slab"/>
                <a:ea typeface="Roboto Slab"/>
                <a:cs typeface="Roboto Slab"/>
                <a:sym typeface="Roboto Slab"/>
              </a:endParaRPr>
            </a:p>
          </p:txBody>
        </p:sp>
        <p:sp>
          <p:nvSpPr>
            <p:cNvPr id="3002" name="Shape 3002"/>
            <p:cNvSpPr txBox="1"/>
            <p:nvPr/>
          </p:nvSpPr>
          <p:spPr>
            <a:xfrm>
              <a:off x="3524884" y="3813550"/>
              <a:ext cx="1646700" cy="604800"/>
            </a:xfrm>
            <a:prstGeom prst="rect">
              <a:avLst/>
            </a:prstGeom>
            <a:noFill/>
            <a:ln>
              <a:noFill/>
            </a:ln>
          </p:spPr>
          <p:txBody>
            <a:bodyPr lIns="91425" tIns="91425" rIns="91425" bIns="91425" anchor="t" anchorCtr="0">
              <a:noAutofit/>
            </a:bodyPr>
            <a:lstStyle/>
            <a:p>
              <a:pPr lvl="0"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r>
                <a:rPr lang="en" sz="900">
                  <a:latin typeface="Roboto"/>
                  <a:ea typeface="Roboto"/>
                  <a:cs typeface="Roboto"/>
                  <a:sym typeface="Roboto"/>
                </a:rPr>
                <a:t>.</a:t>
              </a:r>
            </a:p>
            <a:p>
              <a:pPr lvl="0" rtl="0">
                <a:spcBef>
                  <a:spcPts val="0"/>
                </a:spcBef>
                <a:buNone/>
              </a:pPr>
              <a:endParaRPr sz="900">
                <a:latin typeface="Roboto"/>
                <a:ea typeface="Roboto"/>
                <a:cs typeface="Roboto"/>
                <a:sym typeface="Roboto"/>
              </a:endParaRPr>
            </a:p>
          </p:txBody>
        </p:sp>
        <p:sp>
          <p:nvSpPr>
            <p:cNvPr id="3003" name="Shape 3003"/>
            <p:cNvSpPr txBox="1"/>
            <p:nvPr/>
          </p:nvSpPr>
          <p:spPr>
            <a:xfrm>
              <a:off x="6668222" y="3500025"/>
              <a:ext cx="2768099" cy="434999"/>
            </a:xfrm>
            <a:prstGeom prst="rect">
              <a:avLst/>
            </a:prstGeom>
            <a:noFill/>
            <a:ln>
              <a:noFill/>
            </a:ln>
          </p:spPr>
          <p:txBody>
            <a:bodyPr lIns="91425" tIns="91425" rIns="91425" bIns="91425" anchor="t" anchorCtr="0">
              <a:noAutofit/>
            </a:bodyPr>
            <a:lstStyle/>
            <a:p>
              <a:pPr lvl="0" rtl="0">
                <a:spcBef>
                  <a:spcPts val="0"/>
                </a:spcBef>
                <a:buNone/>
              </a:pPr>
              <a:r>
                <a:rPr lang="en" sz="1200" b="1">
                  <a:solidFill>
                    <a:srgbClr val="A8D5D7"/>
                  </a:solidFill>
                  <a:latin typeface="Roboto Slab"/>
                  <a:ea typeface="Roboto Slab"/>
                  <a:cs typeface="Roboto Slab"/>
                  <a:sym typeface="Roboto Slab"/>
                </a:rPr>
                <a:t>ROI</a:t>
              </a:r>
            </a:p>
            <a:p>
              <a:pPr lvl="0" rtl="0">
                <a:spcBef>
                  <a:spcPts val="0"/>
                </a:spcBef>
                <a:buNone/>
              </a:pPr>
              <a:endParaRPr b="1">
                <a:solidFill>
                  <a:srgbClr val="A8D5D7"/>
                </a:solidFill>
                <a:latin typeface="Roboto Slab"/>
                <a:ea typeface="Roboto Slab"/>
                <a:cs typeface="Roboto Slab"/>
                <a:sym typeface="Roboto Slab"/>
              </a:endParaRPr>
            </a:p>
            <a:p>
              <a:pPr lvl="0" algn="ctr" rtl="0">
                <a:spcBef>
                  <a:spcPts val="0"/>
                </a:spcBef>
                <a:buNone/>
              </a:pPr>
              <a:endParaRPr sz="800" b="1">
                <a:solidFill>
                  <a:srgbClr val="A8D5D7"/>
                </a:solidFill>
                <a:latin typeface="Roboto Slab"/>
                <a:ea typeface="Roboto Slab"/>
                <a:cs typeface="Roboto Slab"/>
                <a:sym typeface="Roboto Slab"/>
              </a:endParaRPr>
            </a:p>
          </p:txBody>
        </p:sp>
        <p:sp>
          <p:nvSpPr>
            <p:cNvPr id="3004" name="Shape 3004"/>
            <p:cNvSpPr txBox="1"/>
            <p:nvPr/>
          </p:nvSpPr>
          <p:spPr>
            <a:xfrm>
              <a:off x="6668235" y="3813550"/>
              <a:ext cx="1646700" cy="604800"/>
            </a:xfrm>
            <a:prstGeom prst="rect">
              <a:avLst/>
            </a:prstGeom>
            <a:noFill/>
            <a:ln>
              <a:noFill/>
            </a:ln>
          </p:spPr>
          <p:txBody>
            <a:bodyPr lIns="91425" tIns="91425" rIns="91425" bIns="91425" anchor="t" anchorCtr="0">
              <a:noAutofit/>
            </a:bodyPr>
            <a:lstStyle/>
            <a:p>
              <a:pPr lvl="0"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r>
                <a:rPr lang="en" sz="900">
                  <a:latin typeface="Roboto"/>
                  <a:ea typeface="Roboto"/>
                  <a:cs typeface="Roboto"/>
                  <a:sym typeface="Roboto"/>
                </a:rPr>
                <a:t>.</a:t>
              </a:r>
            </a:p>
            <a:p>
              <a:pPr lvl="0" rtl="0">
                <a:spcBef>
                  <a:spcPts val="0"/>
                </a:spcBef>
                <a:buNone/>
              </a:pPr>
              <a:endParaRPr sz="900">
                <a:latin typeface="Roboto"/>
                <a:ea typeface="Roboto"/>
                <a:cs typeface="Roboto"/>
                <a:sym typeface="Roboto"/>
              </a:endParaRPr>
            </a:p>
          </p:txBody>
        </p:sp>
      </p:grpSp>
      <p:pic>
        <p:nvPicPr>
          <p:cNvPr id="25" name="Immagine 24">
            <a:extLst>
              <a:ext uri="{FF2B5EF4-FFF2-40B4-BE49-F238E27FC236}">
                <a16:creationId xmlns:a16="http://schemas.microsoft.com/office/drawing/2014/main" id="{BE76E6B5-F862-4C0D-8D03-E52BFD559A8E}"/>
              </a:ext>
            </a:extLst>
          </p:cNvPr>
          <p:cNvPicPr>
            <a:picLocks noChangeAspect="1"/>
          </p:cNvPicPr>
          <p:nvPr/>
        </p:nvPicPr>
        <p:blipFill rotWithShape="1">
          <a:blip r:embed="rId11"/>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986"/>
                                        </p:tgtEl>
                                        <p:attrNameLst>
                                          <p:attrName>style.visibility</p:attrName>
                                        </p:attrNameLst>
                                      </p:cBhvr>
                                      <p:to>
                                        <p:strVal val="visible"/>
                                      </p:to>
                                    </p:set>
                                    <p:anim calcmode="lin" valueType="num">
                                      <p:cBhvr additive="base">
                                        <p:cTn id="7" dur="500"/>
                                        <p:tgtEl>
                                          <p:spTgt spid="29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pic>
        <p:nvPicPr>
          <p:cNvPr id="3009" name="Shape 3009"/>
          <p:cNvPicPr preferRelativeResize="0"/>
          <p:nvPr/>
        </p:nvPicPr>
        <p:blipFill>
          <a:blip r:embed="rId3">
            <a:alphaModFix/>
          </a:blip>
          <a:stretch>
            <a:fillRect/>
          </a:stretch>
        </p:blipFill>
        <p:spPr>
          <a:xfrm>
            <a:off x="0" y="11"/>
            <a:ext cx="9144001" cy="2858627"/>
          </a:xfrm>
          <a:prstGeom prst="rect">
            <a:avLst/>
          </a:prstGeom>
          <a:noFill/>
          <a:ln>
            <a:noFill/>
          </a:ln>
        </p:spPr>
      </p:pic>
      <p:pic>
        <p:nvPicPr>
          <p:cNvPr id="3010" name="Shape 3010"/>
          <p:cNvPicPr preferRelativeResize="0"/>
          <p:nvPr/>
        </p:nvPicPr>
        <p:blipFill>
          <a:blip r:embed="rId4">
            <a:alphaModFix/>
          </a:blip>
          <a:stretch>
            <a:fillRect/>
          </a:stretch>
        </p:blipFill>
        <p:spPr>
          <a:xfrm>
            <a:off x="0" y="2858650"/>
            <a:ext cx="9143999" cy="464650"/>
          </a:xfrm>
          <a:prstGeom prst="rect">
            <a:avLst/>
          </a:prstGeom>
          <a:noFill/>
          <a:ln>
            <a:noFill/>
          </a:ln>
        </p:spPr>
      </p:pic>
      <p:pic>
        <p:nvPicPr>
          <p:cNvPr id="3011" name="Shape 3011"/>
          <p:cNvPicPr preferRelativeResize="0"/>
          <p:nvPr/>
        </p:nvPicPr>
        <p:blipFill>
          <a:blip r:embed="rId5">
            <a:alphaModFix/>
          </a:blip>
          <a:stretch>
            <a:fillRect/>
          </a:stretch>
        </p:blipFill>
        <p:spPr>
          <a:xfrm>
            <a:off x="3480325" y="3623300"/>
            <a:ext cx="2183349" cy="576499"/>
          </a:xfrm>
          <a:prstGeom prst="rect">
            <a:avLst/>
          </a:prstGeom>
          <a:noFill/>
          <a:ln>
            <a:noFill/>
          </a:ln>
        </p:spPr>
      </p:pic>
      <p:sp>
        <p:nvSpPr>
          <p:cNvPr id="3012" name="Shape 3012"/>
          <p:cNvSpPr txBox="1"/>
          <p:nvPr/>
        </p:nvSpPr>
        <p:spPr>
          <a:xfrm>
            <a:off x="3240750" y="4349050"/>
            <a:ext cx="2662499" cy="290700"/>
          </a:xfrm>
          <a:prstGeom prst="rect">
            <a:avLst/>
          </a:prstGeom>
          <a:noFill/>
          <a:ln>
            <a:noFill/>
          </a:ln>
        </p:spPr>
        <p:txBody>
          <a:bodyPr lIns="91425" tIns="91425" rIns="91425" bIns="91425" anchor="t" anchorCtr="0">
            <a:noAutofit/>
          </a:bodyPr>
          <a:lstStyle/>
          <a:p>
            <a:pPr lvl="0" algn="ctr" rtl="0">
              <a:spcBef>
                <a:spcPts val="0"/>
              </a:spcBef>
              <a:buNone/>
            </a:pPr>
            <a:r>
              <a:rPr lang="en" sz="1000">
                <a:latin typeface="Roboto Slab"/>
                <a:ea typeface="Roboto Slab"/>
                <a:cs typeface="Roboto Slab"/>
                <a:sym typeface="Roboto Slab"/>
              </a:rPr>
              <a:t>www.startupwebsite.com</a:t>
            </a:r>
          </a:p>
        </p:txBody>
      </p:sp>
      <p:sp>
        <p:nvSpPr>
          <p:cNvPr id="3013" name="Shape 3013"/>
          <p:cNvSpPr txBox="1"/>
          <p:nvPr/>
        </p:nvSpPr>
        <p:spPr>
          <a:xfrm>
            <a:off x="242325" y="2831150"/>
            <a:ext cx="4604400" cy="620399"/>
          </a:xfrm>
          <a:prstGeom prst="rect">
            <a:avLst/>
          </a:prstGeom>
          <a:noFill/>
          <a:ln>
            <a:noFill/>
          </a:ln>
        </p:spPr>
        <p:txBody>
          <a:bodyPr lIns="91425" tIns="91425" rIns="91425" bIns="91425" anchor="t" anchorCtr="0">
            <a:noAutofit/>
          </a:bodyPr>
          <a:lstStyle/>
          <a:p>
            <a:pPr lvl="0" rtl="0">
              <a:spcBef>
                <a:spcPts val="0"/>
              </a:spcBef>
              <a:buClr>
                <a:schemeClr val="dk1"/>
              </a:buClr>
              <a:buSzPct val="55000"/>
              <a:buFont typeface="Arial"/>
              <a:buNone/>
            </a:pPr>
            <a:r>
              <a:rPr lang="en" sz="2000" b="1">
                <a:solidFill>
                  <a:schemeClr val="lt1"/>
                </a:solidFill>
                <a:latin typeface="Roboto Slab"/>
                <a:ea typeface="Roboto Slab"/>
                <a:cs typeface="Roboto Slab"/>
                <a:sym typeface="Roboto Slab"/>
              </a:rPr>
              <a:t>SPECIAL SLIDES</a:t>
            </a:r>
          </a:p>
          <a:p>
            <a:pPr lvl="0" rtl="0">
              <a:spcBef>
                <a:spcPts val="0"/>
              </a:spcBef>
              <a:buClr>
                <a:schemeClr val="dk1"/>
              </a:buClr>
              <a:buFont typeface="Arial"/>
              <a:buNone/>
            </a:pPr>
            <a:endParaRPr sz="2000" b="1">
              <a:solidFill>
                <a:schemeClr val="lt1"/>
              </a:solidFill>
              <a:latin typeface="Roboto Slab"/>
              <a:ea typeface="Roboto Slab"/>
              <a:cs typeface="Roboto Slab"/>
              <a:sym typeface="Roboto Slab"/>
            </a:endParaRPr>
          </a:p>
          <a:p>
            <a:pPr lvl="0" rtl="0">
              <a:spcBef>
                <a:spcPts val="0"/>
              </a:spcBef>
              <a:buClr>
                <a:schemeClr val="dk1"/>
              </a:buClr>
              <a:buFont typeface="Arial"/>
              <a:buNone/>
            </a:pPr>
            <a:endParaRPr sz="2000" b="1">
              <a:solidFill>
                <a:schemeClr val="lt1"/>
              </a:solidFill>
              <a:latin typeface="Roboto Slab"/>
              <a:ea typeface="Roboto Slab"/>
              <a:cs typeface="Roboto Slab"/>
              <a:sym typeface="Roboto Slab"/>
            </a:endParaRPr>
          </a:p>
          <a:p>
            <a:pPr lvl="0" rtl="0">
              <a:spcBef>
                <a:spcPts val="0"/>
              </a:spcBef>
              <a:buClr>
                <a:schemeClr val="dk1"/>
              </a:buClr>
              <a:buFont typeface="Arial"/>
              <a:buNone/>
            </a:pPr>
            <a:endParaRPr sz="2000" b="1">
              <a:solidFill>
                <a:schemeClr val="lt1"/>
              </a:solidFill>
              <a:latin typeface="Roboto Slab"/>
              <a:ea typeface="Roboto Slab"/>
              <a:cs typeface="Roboto Slab"/>
              <a:sym typeface="Roboto Slab"/>
            </a:endParaRPr>
          </a:p>
          <a:p>
            <a:pPr lvl="0" rtl="0">
              <a:spcBef>
                <a:spcPts val="0"/>
              </a:spcBef>
              <a:buClr>
                <a:schemeClr val="dk1"/>
              </a:buClr>
              <a:buFont typeface="Arial"/>
              <a:buNone/>
            </a:pPr>
            <a:endParaRPr sz="2000" b="1">
              <a:solidFill>
                <a:schemeClr val="lt1"/>
              </a:solidFill>
              <a:latin typeface="Roboto Slab"/>
              <a:ea typeface="Roboto Slab"/>
              <a:cs typeface="Roboto Slab"/>
              <a:sym typeface="Roboto Slab"/>
            </a:endParaRPr>
          </a:p>
          <a:p>
            <a:pPr lvl="0" rtl="0">
              <a:spcBef>
                <a:spcPts val="0"/>
              </a:spcBef>
              <a:buClr>
                <a:schemeClr val="dk1"/>
              </a:buClr>
              <a:buFont typeface="Arial"/>
              <a:buNone/>
            </a:pPr>
            <a:endParaRPr sz="2000" b="1">
              <a:solidFill>
                <a:schemeClr val="lt1"/>
              </a:solidFill>
              <a:latin typeface="Roboto Slab"/>
              <a:ea typeface="Roboto Slab"/>
              <a:cs typeface="Roboto Slab"/>
              <a:sym typeface="Roboto Slab"/>
            </a:endParaRPr>
          </a:p>
          <a:p>
            <a:pPr lvl="0" rtl="0">
              <a:spcBef>
                <a:spcPts val="0"/>
              </a:spcBef>
              <a:buClr>
                <a:schemeClr val="dk1"/>
              </a:buClr>
              <a:buFont typeface="Arial"/>
              <a:buNone/>
            </a:pPr>
            <a:endParaRPr sz="2000" b="1">
              <a:solidFill>
                <a:schemeClr val="lt1"/>
              </a:solidFill>
              <a:latin typeface="Roboto Slab"/>
              <a:ea typeface="Roboto Slab"/>
              <a:cs typeface="Roboto Slab"/>
              <a:sym typeface="Roboto Slab"/>
            </a:endParaRPr>
          </a:p>
          <a:p>
            <a:pPr lvl="0" rtl="0">
              <a:spcBef>
                <a:spcPts val="0"/>
              </a:spcBef>
              <a:buClr>
                <a:schemeClr val="dk1"/>
              </a:buClr>
              <a:buFont typeface="Arial"/>
              <a:buNone/>
            </a:pPr>
            <a:endParaRPr sz="2000" b="1">
              <a:solidFill>
                <a:schemeClr val="lt1"/>
              </a:solidFill>
              <a:latin typeface="Roboto Slab"/>
              <a:ea typeface="Roboto Slab"/>
              <a:cs typeface="Roboto Slab"/>
              <a:sym typeface="Roboto Slab"/>
            </a:endParaRPr>
          </a:p>
          <a:p>
            <a:pPr lvl="0" rtl="0">
              <a:spcBef>
                <a:spcPts val="0"/>
              </a:spcBef>
              <a:buClr>
                <a:schemeClr val="dk1"/>
              </a:buClr>
              <a:buFont typeface="Arial"/>
              <a:buNone/>
            </a:pPr>
            <a:endParaRPr sz="2000" b="1">
              <a:solidFill>
                <a:schemeClr val="lt1"/>
              </a:solidFill>
              <a:latin typeface="Roboto Slab"/>
              <a:ea typeface="Roboto Slab"/>
              <a:cs typeface="Roboto Slab"/>
              <a:sym typeface="Roboto Slab"/>
            </a:endParaRPr>
          </a:p>
          <a:p>
            <a:pPr lvl="0" rtl="0">
              <a:spcBef>
                <a:spcPts val="0"/>
              </a:spcBef>
              <a:buClr>
                <a:schemeClr val="dk1"/>
              </a:buClr>
              <a:buFont typeface="Arial"/>
              <a:buNone/>
            </a:pPr>
            <a:endParaRPr sz="2000" b="1">
              <a:solidFill>
                <a:schemeClr val="lt1"/>
              </a:solidFill>
              <a:latin typeface="Roboto Slab"/>
              <a:ea typeface="Roboto Slab"/>
              <a:cs typeface="Roboto Slab"/>
              <a:sym typeface="Roboto Slab"/>
            </a:endParaRPr>
          </a:p>
          <a:p>
            <a:pPr lvl="0" rtl="0">
              <a:spcBef>
                <a:spcPts val="0"/>
              </a:spcBef>
              <a:buNone/>
            </a:pPr>
            <a:endParaRPr/>
          </a:p>
        </p:txBody>
      </p:sp>
      <p:sp>
        <p:nvSpPr>
          <p:cNvPr id="3014" name="Shape 3014"/>
          <p:cNvSpPr txBox="1"/>
          <p:nvPr/>
        </p:nvSpPr>
        <p:spPr>
          <a:xfrm>
            <a:off x="4373750" y="2889275"/>
            <a:ext cx="4604400" cy="430500"/>
          </a:xfrm>
          <a:prstGeom prst="rect">
            <a:avLst/>
          </a:prstGeom>
          <a:noFill/>
          <a:ln>
            <a:noFill/>
          </a:ln>
        </p:spPr>
        <p:txBody>
          <a:bodyPr lIns="91425" tIns="91425" rIns="91425" bIns="91425" anchor="t" anchorCtr="0">
            <a:noAutofit/>
          </a:bodyPr>
          <a:lstStyle/>
          <a:p>
            <a:pPr lvl="0" algn="r" rtl="0">
              <a:spcBef>
                <a:spcPts val="0"/>
              </a:spcBef>
              <a:buClr>
                <a:schemeClr val="dk1"/>
              </a:buClr>
              <a:buSzPct val="78571"/>
              <a:buFont typeface="Arial"/>
              <a:buNone/>
            </a:pPr>
            <a:r>
              <a:rPr lang="en">
                <a:solidFill>
                  <a:schemeClr val="lt1"/>
                </a:solidFill>
                <a:latin typeface="Roboto"/>
                <a:ea typeface="Roboto"/>
                <a:cs typeface="Roboto"/>
                <a:sym typeface="Roboto"/>
              </a:rPr>
              <a:t>Use These Slides For Any Purpose</a:t>
            </a:r>
          </a:p>
          <a:p>
            <a:pPr lvl="0" algn="r" rtl="0">
              <a:spcBef>
                <a:spcPts val="0"/>
              </a:spcBef>
              <a:buClr>
                <a:schemeClr val="dk1"/>
              </a:buClr>
              <a:buFont typeface="Arial"/>
              <a:buNone/>
            </a:pPr>
            <a:endParaRPr>
              <a:solidFill>
                <a:schemeClr val="lt1"/>
              </a:solidFill>
              <a:latin typeface="Roboto"/>
              <a:ea typeface="Roboto"/>
              <a:cs typeface="Roboto"/>
              <a:sym typeface="Roboto"/>
            </a:endParaRPr>
          </a:p>
          <a:p>
            <a:pPr lvl="0" algn="r" rtl="0">
              <a:spcBef>
                <a:spcPts val="0"/>
              </a:spcBef>
              <a:buClr>
                <a:schemeClr val="dk1"/>
              </a:buClr>
              <a:buFont typeface="Arial"/>
              <a:buNone/>
            </a:pPr>
            <a:endParaRPr>
              <a:solidFill>
                <a:schemeClr val="lt1"/>
              </a:solidFill>
              <a:latin typeface="Roboto"/>
              <a:ea typeface="Roboto"/>
              <a:cs typeface="Roboto"/>
              <a:sym typeface="Roboto"/>
            </a:endParaRPr>
          </a:p>
          <a:p>
            <a:pPr lvl="0" algn="r" rtl="0">
              <a:spcBef>
                <a:spcPts val="0"/>
              </a:spcBef>
              <a:buClr>
                <a:schemeClr val="dk1"/>
              </a:buClr>
              <a:buFont typeface="Arial"/>
              <a:buNone/>
            </a:pPr>
            <a:endParaRPr>
              <a:solidFill>
                <a:schemeClr val="lt1"/>
              </a:solidFill>
              <a:latin typeface="Roboto"/>
              <a:ea typeface="Roboto"/>
              <a:cs typeface="Roboto"/>
              <a:sym typeface="Roboto"/>
            </a:endParaRPr>
          </a:p>
          <a:p>
            <a:pPr lvl="0" algn="r" rtl="0">
              <a:spcBef>
                <a:spcPts val="0"/>
              </a:spcBef>
              <a:buClr>
                <a:schemeClr val="dk1"/>
              </a:buClr>
              <a:buFont typeface="Arial"/>
              <a:buNone/>
            </a:pPr>
            <a:endParaRPr>
              <a:solidFill>
                <a:schemeClr val="lt1"/>
              </a:solidFill>
              <a:latin typeface="Roboto"/>
              <a:ea typeface="Roboto"/>
              <a:cs typeface="Roboto"/>
              <a:sym typeface="Roboto"/>
            </a:endParaRPr>
          </a:p>
          <a:p>
            <a:pPr lvl="0" algn="r" rtl="0">
              <a:spcBef>
                <a:spcPts val="0"/>
              </a:spcBef>
              <a:buClr>
                <a:schemeClr val="dk1"/>
              </a:buClr>
              <a:buFont typeface="Arial"/>
              <a:buNone/>
            </a:pPr>
            <a:endParaRPr>
              <a:solidFill>
                <a:schemeClr val="lt1"/>
              </a:solidFill>
              <a:latin typeface="Roboto"/>
              <a:ea typeface="Roboto"/>
              <a:cs typeface="Roboto"/>
              <a:sym typeface="Roboto"/>
            </a:endParaRPr>
          </a:p>
          <a:p>
            <a:pPr lvl="0" algn="r" rtl="0">
              <a:spcBef>
                <a:spcPts val="0"/>
              </a:spcBef>
              <a:buNone/>
            </a:pPr>
            <a:endParaRPr>
              <a:solidFill>
                <a:schemeClr val="lt1"/>
              </a:solidFill>
              <a:latin typeface="Roboto"/>
              <a:ea typeface="Roboto"/>
              <a:cs typeface="Roboto"/>
              <a:sym typeface="Roboto"/>
            </a:endParaRPr>
          </a:p>
          <a:p>
            <a:pPr lvl="0" algn="r" rtl="0">
              <a:spcBef>
                <a:spcPts val="0"/>
              </a:spcBef>
              <a:buNone/>
            </a:pPr>
            <a:endParaRPr>
              <a:solidFill>
                <a:schemeClr val="lt1"/>
              </a:solidFill>
              <a:latin typeface="Roboto"/>
              <a:ea typeface="Roboto"/>
              <a:cs typeface="Roboto"/>
              <a:sym typeface="Roboto"/>
            </a:endParaRPr>
          </a:p>
          <a:p>
            <a:pPr lvl="0" algn="r" rtl="0">
              <a:spcBef>
                <a:spcPts val="0"/>
              </a:spcBef>
              <a:buNone/>
            </a:pPr>
            <a:endParaRPr>
              <a:solidFill>
                <a:schemeClr val="lt1"/>
              </a:solidFill>
              <a:latin typeface="Roboto"/>
              <a:ea typeface="Roboto"/>
              <a:cs typeface="Roboto"/>
              <a:sym typeface="Roboto"/>
            </a:endParaRPr>
          </a:p>
          <a:p>
            <a:pPr lvl="0" algn="r" rtl="0">
              <a:spcBef>
                <a:spcPts val="0"/>
              </a:spcBef>
              <a:buNone/>
            </a:pPr>
            <a:endParaRPr>
              <a:solidFill>
                <a:schemeClr val="lt1"/>
              </a:solidFill>
              <a:latin typeface="Roboto"/>
              <a:ea typeface="Roboto"/>
              <a:cs typeface="Roboto"/>
              <a:sym typeface="Roboto"/>
            </a:endParaRPr>
          </a:p>
          <a:p>
            <a:pPr lvl="0" algn="r" rtl="0">
              <a:spcBef>
                <a:spcPts val="0"/>
              </a:spcBef>
              <a:buNone/>
            </a:pPr>
            <a:endParaRPr>
              <a:solidFill>
                <a:schemeClr val="lt1"/>
              </a:solidFill>
              <a:latin typeface="Roboto"/>
              <a:ea typeface="Roboto"/>
              <a:cs typeface="Roboto"/>
              <a:sym typeface="Roboto"/>
            </a:endParaRPr>
          </a:p>
          <a:p>
            <a:pPr lvl="0" rtl="0">
              <a:spcBef>
                <a:spcPts val="0"/>
              </a:spcBef>
              <a:buNone/>
            </a:pPr>
            <a:endParaRPr/>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009"/>
                                        </p:tgtEl>
                                        <p:attrNameLst>
                                          <p:attrName>style.visibility</p:attrName>
                                        </p:attrNameLst>
                                      </p:cBhvr>
                                      <p:to>
                                        <p:strVal val="visible"/>
                                      </p:to>
                                    </p:set>
                                    <p:anim calcmode="lin" valueType="num">
                                      <p:cBhvr additive="base">
                                        <p:cTn id="7" dur="1000"/>
                                        <p:tgtEl>
                                          <p:spTgt spid="3009"/>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 presetClass="entr" presetSubtype="8" fill="hold" nodeType="afterEffect">
                                  <p:stCondLst>
                                    <p:cond delay="0"/>
                                  </p:stCondLst>
                                  <p:childTnLst>
                                    <p:set>
                                      <p:cBhvr>
                                        <p:cTn id="10" dur="1" fill="hold">
                                          <p:stCondLst>
                                            <p:cond delay="0"/>
                                          </p:stCondLst>
                                        </p:cTn>
                                        <p:tgtEl>
                                          <p:spTgt spid="3013"/>
                                        </p:tgtEl>
                                        <p:attrNameLst>
                                          <p:attrName>style.visibility</p:attrName>
                                        </p:attrNameLst>
                                      </p:cBhvr>
                                      <p:to>
                                        <p:strVal val="visible"/>
                                      </p:to>
                                    </p:set>
                                    <p:anim calcmode="lin" valueType="num">
                                      <p:cBhvr additive="base">
                                        <p:cTn id="11" dur="1000"/>
                                        <p:tgtEl>
                                          <p:spTgt spid="3013"/>
                                        </p:tgtEl>
                                        <p:attrNameLst>
                                          <p:attrName>ppt_x</p:attrName>
                                        </p:attrNameLst>
                                      </p:cBhvr>
                                      <p:tavLst>
                                        <p:tav tm="0">
                                          <p:val>
                                            <p:strVal val="#ppt_x-1"/>
                                          </p:val>
                                        </p:tav>
                                        <p:tav tm="100000">
                                          <p:val>
                                            <p:strVal val="#ppt_x"/>
                                          </p:val>
                                        </p:tav>
                                      </p:tavLst>
                                    </p:anim>
                                  </p:childTnLst>
                                </p:cTn>
                              </p:par>
                            </p:childTnLst>
                          </p:cTn>
                        </p:par>
                        <p:par>
                          <p:cTn id="12" fill="hold">
                            <p:stCondLst>
                              <p:cond delay="2000"/>
                            </p:stCondLst>
                            <p:childTnLst>
                              <p:par>
                                <p:cTn id="13" presetID="2" presetClass="entr" presetSubtype="2" fill="hold" nodeType="afterEffect">
                                  <p:stCondLst>
                                    <p:cond delay="0"/>
                                  </p:stCondLst>
                                  <p:childTnLst>
                                    <p:set>
                                      <p:cBhvr>
                                        <p:cTn id="14" dur="1" fill="hold">
                                          <p:stCondLst>
                                            <p:cond delay="0"/>
                                          </p:stCondLst>
                                        </p:cTn>
                                        <p:tgtEl>
                                          <p:spTgt spid="3014"/>
                                        </p:tgtEl>
                                        <p:attrNameLst>
                                          <p:attrName>style.visibility</p:attrName>
                                        </p:attrNameLst>
                                      </p:cBhvr>
                                      <p:to>
                                        <p:strVal val="visible"/>
                                      </p:to>
                                    </p:set>
                                    <p:anim calcmode="lin" valueType="num">
                                      <p:cBhvr additive="base">
                                        <p:cTn id="15" dur="1000"/>
                                        <p:tgtEl>
                                          <p:spTgt spid="3014"/>
                                        </p:tgtEl>
                                        <p:attrNameLst>
                                          <p:attrName>ppt_x</p:attrName>
                                        </p:attrNameLst>
                                      </p:cBhvr>
                                      <p:tavLst>
                                        <p:tav tm="0">
                                          <p:val>
                                            <p:strVal val="#ppt_x+1"/>
                                          </p:val>
                                        </p:tav>
                                        <p:tav tm="100000">
                                          <p:val>
                                            <p:strVal val="#ppt_x"/>
                                          </p:val>
                                        </p:tav>
                                      </p:tavLst>
                                    </p:anim>
                                  </p:childTnLst>
                                </p:cTn>
                              </p:par>
                            </p:childTnLst>
                          </p:cTn>
                        </p:par>
                        <p:par>
                          <p:cTn id="16" fill="hold">
                            <p:stCondLst>
                              <p:cond delay="3000"/>
                            </p:stCondLst>
                            <p:childTnLst>
                              <p:par>
                                <p:cTn id="17" presetID="23" presetClass="entr" presetSubtype="16" fill="hold" nodeType="afterEffect">
                                  <p:stCondLst>
                                    <p:cond delay="0"/>
                                  </p:stCondLst>
                                  <p:childTnLst>
                                    <p:set>
                                      <p:cBhvr>
                                        <p:cTn id="18" dur="1" fill="hold">
                                          <p:stCondLst>
                                            <p:cond delay="0"/>
                                          </p:stCondLst>
                                        </p:cTn>
                                        <p:tgtEl>
                                          <p:spTgt spid="3011"/>
                                        </p:tgtEl>
                                        <p:attrNameLst>
                                          <p:attrName>style.visibility</p:attrName>
                                        </p:attrNameLst>
                                      </p:cBhvr>
                                      <p:to>
                                        <p:strVal val="visible"/>
                                      </p:to>
                                    </p:set>
                                    <p:anim calcmode="lin" valueType="num">
                                      <p:cBhvr additive="base">
                                        <p:cTn id="19" dur="1000"/>
                                        <p:tgtEl>
                                          <p:spTgt spid="3011"/>
                                        </p:tgtEl>
                                        <p:attrNameLst>
                                          <p:attrName>ppt_w</p:attrName>
                                        </p:attrNameLst>
                                      </p:cBhvr>
                                      <p:tavLst>
                                        <p:tav tm="0">
                                          <p:val>
                                            <p:strVal val="0"/>
                                          </p:val>
                                        </p:tav>
                                        <p:tav tm="100000">
                                          <p:val>
                                            <p:strVal val="#ppt_w"/>
                                          </p:val>
                                        </p:tav>
                                      </p:tavLst>
                                    </p:anim>
                                    <p:anim calcmode="lin" valueType="num">
                                      <p:cBhvr additive="base">
                                        <p:cTn id="20" dur="1000"/>
                                        <p:tgtEl>
                                          <p:spTgt spid="3011"/>
                                        </p:tgtEl>
                                        <p:attrNameLst>
                                          <p:attrName>ppt_h</p:attrName>
                                        </p:attrNameLst>
                                      </p:cBhvr>
                                      <p:tavLst>
                                        <p:tav tm="0">
                                          <p:val>
                                            <p:strVal val="0"/>
                                          </p:val>
                                        </p:tav>
                                        <p:tav tm="100000">
                                          <p:val>
                                            <p:strVal val="#ppt_h"/>
                                          </p:val>
                                        </p:tav>
                                      </p:tavLst>
                                    </p:anim>
                                  </p:childTnLst>
                                </p:cTn>
                              </p:par>
                            </p:childTnLst>
                          </p:cTn>
                        </p:par>
                        <p:par>
                          <p:cTn id="21" fill="hold">
                            <p:stCondLst>
                              <p:cond delay="4000"/>
                            </p:stCondLst>
                            <p:childTnLst>
                              <p:par>
                                <p:cTn id="22" presetID="23" presetClass="entr" presetSubtype="16" fill="hold" nodeType="afterEffect">
                                  <p:stCondLst>
                                    <p:cond delay="0"/>
                                  </p:stCondLst>
                                  <p:childTnLst>
                                    <p:set>
                                      <p:cBhvr>
                                        <p:cTn id="23" dur="1" fill="hold">
                                          <p:stCondLst>
                                            <p:cond delay="0"/>
                                          </p:stCondLst>
                                        </p:cTn>
                                        <p:tgtEl>
                                          <p:spTgt spid="3012"/>
                                        </p:tgtEl>
                                        <p:attrNameLst>
                                          <p:attrName>style.visibility</p:attrName>
                                        </p:attrNameLst>
                                      </p:cBhvr>
                                      <p:to>
                                        <p:strVal val="visible"/>
                                      </p:to>
                                    </p:set>
                                    <p:anim calcmode="lin" valueType="num">
                                      <p:cBhvr additive="base">
                                        <p:cTn id="24" dur="1000"/>
                                        <p:tgtEl>
                                          <p:spTgt spid="3012"/>
                                        </p:tgtEl>
                                        <p:attrNameLst>
                                          <p:attrName>ppt_w</p:attrName>
                                        </p:attrNameLst>
                                      </p:cBhvr>
                                      <p:tavLst>
                                        <p:tav tm="0">
                                          <p:val>
                                            <p:strVal val="0"/>
                                          </p:val>
                                        </p:tav>
                                        <p:tav tm="100000">
                                          <p:val>
                                            <p:strVal val="#ppt_w"/>
                                          </p:val>
                                        </p:tav>
                                      </p:tavLst>
                                    </p:anim>
                                    <p:anim calcmode="lin" valueType="num">
                                      <p:cBhvr additive="base">
                                        <p:cTn id="25" dur="1000"/>
                                        <p:tgtEl>
                                          <p:spTgt spid="301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018"/>
        <p:cNvGrpSpPr/>
        <p:nvPr/>
      </p:nvGrpSpPr>
      <p:grpSpPr>
        <a:xfrm>
          <a:off x="0" y="0"/>
          <a:ext cx="0" cy="0"/>
          <a:chOff x="0" y="0"/>
          <a:chExt cx="0" cy="0"/>
        </a:xfrm>
      </p:grpSpPr>
      <p:sp>
        <p:nvSpPr>
          <p:cNvPr id="13" name="Rettangolo 12">
            <a:extLst>
              <a:ext uri="{FF2B5EF4-FFF2-40B4-BE49-F238E27FC236}">
                <a16:creationId xmlns:a16="http://schemas.microsoft.com/office/drawing/2014/main" id="{D7285A19-4BA1-427E-9C39-72F1BCCDF0BC}"/>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3019" name="Shape 3019"/>
          <p:cNvPicPr preferRelativeResize="0"/>
          <p:nvPr/>
        </p:nvPicPr>
        <p:blipFill>
          <a:blip r:embed="rId3">
            <a:alphaModFix/>
          </a:blip>
          <a:stretch>
            <a:fillRect/>
          </a:stretch>
        </p:blipFill>
        <p:spPr>
          <a:xfrm>
            <a:off x="-22825" y="923350"/>
            <a:ext cx="9230524" cy="4265124"/>
          </a:xfrm>
          <a:prstGeom prst="rect">
            <a:avLst/>
          </a:prstGeom>
          <a:noFill/>
          <a:ln>
            <a:noFill/>
          </a:ln>
        </p:spPr>
      </p:pic>
      <p:pic>
        <p:nvPicPr>
          <p:cNvPr id="3020" name="Shape 3020"/>
          <p:cNvPicPr preferRelativeResize="0"/>
          <p:nvPr/>
        </p:nvPicPr>
        <p:blipFill>
          <a:blip r:embed="rId4">
            <a:alphaModFix/>
          </a:blip>
          <a:stretch>
            <a:fillRect/>
          </a:stretch>
        </p:blipFill>
        <p:spPr>
          <a:xfrm>
            <a:off x="-22828" y="2358350"/>
            <a:ext cx="9166826" cy="4866725"/>
          </a:xfrm>
          <a:prstGeom prst="rect">
            <a:avLst/>
          </a:prstGeom>
          <a:noFill/>
          <a:ln>
            <a:noFill/>
          </a:ln>
        </p:spPr>
      </p:pic>
      <p:pic>
        <p:nvPicPr>
          <p:cNvPr id="3021" name="Shape 3021"/>
          <p:cNvPicPr preferRelativeResize="0"/>
          <p:nvPr/>
        </p:nvPicPr>
        <p:blipFill>
          <a:blip r:embed="rId5">
            <a:alphaModFix/>
          </a:blip>
          <a:stretch>
            <a:fillRect/>
          </a:stretch>
        </p:blipFill>
        <p:spPr>
          <a:xfrm>
            <a:off x="156675" y="309462"/>
            <a:ext cx="1876425" cy="536121"/>
          </a:xfrm>
          <a:prstGeom prst="rect">
            <a:avLst/>
          </a:prstGeom>
          <a:noFill/>
          <a:ln>
            <a:noFill/>
          </a:ln>
        </p:spPr>
      </p:pic>
      <p:sp>
        <p:nvSpPr>
          <p:cNvPr id="3022" name="Shape 3022"/>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Investment</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sp>
        <p:nvSpPr>
          <p:cNvPr id="3023" name="Shape 3023"/>
          <p:cNvSpPr txBox="1"/>
          <p:nvPr/>
        </p:nvSpPr>
        <p:spPr>
          <a:xfrm>
            <a:off x="2023511" y="4448667"/>
            <a:ext cx="5097000" cy="434999"/>
          </a:xfrm>
          <a:prstGeom prst="rect">
            <a:avLst/>
          </a:prstGeom>
          <a:noFill/>
          <a:ln>
            <a:noFill/>
          </a:ln>
        </p:spPr>
        <p:txBody>
          <a:bodyPr lIns="91425" tIns="91425" rIns="91425" bIns="91425" anchor="t" anchorCtr="0">
            <a:noAutofit/>
          </a:bodyPr>
          <a:lstStyle/>
          <a:p>
            <a:pPr lvl="0" algn="ctr" rtl="0">
              <a:spcBef>
                <a:spcPts val="0"/>
              </a:spcBef>
              <a:buNone/>
            </a:pPr>
            <a:r>
              <a:rPr lang="en" sz="1800" b="1">
                <a:solidFill>
                  <a:srgbClr val="A8D5D7"/>
                </a:solidFill>
                <a:latin typeface="Roboto Slab"/>
                <a:ea typeface="Roboto Slab"/>
                <a:cs typeface="Roboto Slab"/>
                <a:sym typeface="Roboto Slab"/>
              </a:rPr>
              <a:t>Thank you for your attention!</a:t>
            </a:r>
          </a:p>
        </p:txBody>
      </p:sp>
      <p:pic>
        <p:nvPicPr>
          <p:cNvPr id="3024" name="Shape 3024"/>
          <p:cNvPicPr preferRelativeResize="0"/>
          <p:nvPr/>
        </p:nvPicPr>
        <p:blipFill>
          <a:blip r:embed="rId6">
            <a:alphaModFix/>
          </a:blip>
          <a:stretch>
            <a:fillRect/>
          </a:stretch>
        </p:blipFill>
        <p:spPr>
          <a:xfrm>
            <a:off x="3743037" y="1165475"/>
            <a:ext cx="1635099" cy="3474599"/>
          </a:xfrm>
          <a:prstGeom prst="rect">
            <a:avLst/>
          </a:prstGeom>
          <a:noFill/>
          <a:ln>
            <a:noFill/>
          </a:ln>
        </p:spPr>
      </p:pic>
      <p:pic>
        <p:nvPicPr>
          <p:cNvPr id="3025" name="Shape 3025"/>
          <p:cNvPicPr preferRelativeResize="0"/>
          <p:nvPr/>
        </p:nvPicPr>
        <p:blipFill>
          <a:blip r:embed="rId7">
            <a:alphaModFix/>
          </a:blip>
          <a:stretch>
            <a:fillRect/>
          </a:stretch>
        </p:blipFill>
        <p:spPr>
          <a:xfrm>
            <a:off x="385762" y="1397598"/>
            <a:ext cx="8372475" cy="3076575"/>
          </a:xfrm>
          <a:prstGeom prst="rect">
            <a:avLst/>
          </a:prstGeom>
          <a:noFill/>
          <a:ln>
            <a:noFill/>
          </a:ln>
        </p:spPr>
      </p:pic>
      <p:pic>
        <p:nvPicPr>
          <p:cNvPr id="3026" name="Shape 3026"/>
          <p:cNvPicPr preferRelativeResize="0"/>
          <p:nvPr/>
        </p:nvPicPr>
        <p:blipFill>
          <a:blip r:embed="rId8">
            <a:alphaModFix/>
          </a:blip>
          <a:stretch>
            <a:fillRect/>
          </a:stretch>
        </p:blipFill>
        <p:spPr>
          <a:xfrm>
            <a:off x="-84000" y="175455"/>
            <a:ext cx="9291700" cy="788900"/>
          </a:xfrm>
          <a:prstGeom prst="rect">
            <a:avLst/>
          </a:prstGeom>
          <a:noFill/>
          <a:ln>
            <a:noFill/>
          </a:ln>
        </p:spPr>
      </p:pic>
      <p:pic>
        <p:nvPicPr>
          <p:cNvPr id="12" name="Immagine 11">
            <a:extLst>
              <a:ext uri="{FF2B5EF4-FFF2-40B4-BE49-F238E27FC236}">
                <a16:creationId xmlns:a16="http://schemas.microsoft.com/office/drawing/2014/main" id="{AADD16C8-93B7-4142-B7BF-3DFECEA66C59}"/>
              </a:ext>
            </a:extLst>
          </p:cNvPr>
          <p:cNvPicPr>
            <a:picLocks noChangeAspect="1"/>
          </p:cNvPicPr>
          <p:nvPr/>
        </p:nvPicPr>
        <p:blipFill rotWithShape="1">
          <a:blip r:embed="rId9"/>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020"/>
                                        </p:tgtEl>
                                        <p:attrNameLst>
                                          <p:attrName>style.visibility</p:attrName>
                                        </p:attrNameLst>
                                      </p:cBhvr>
                                      <p:to>
                                        <p:strVal val="visible"/>
                                      </p:to>
                                    </p:set>
                                    <p:anim calcmode="lin" valueType="num">
                                      <p:cBhvr additive="base">
                                        <p:cTn id="7" dur="1000"/>
                                        <p:tgtEl>
                                          <p:spTgt spid="3020"/>
                                        </p:tgtEl>
                                        <p:attrNameLst>
                                          <p:attrName>ppt_y</p:attrName>
                                        </p:attrNameLst>
                                      </p:cBhvr>
                                      <p:tavLst>
                                        <p:tav tm="0">
                                          <p:val>
                                            <p:strVal val="#ppt_y+1"/>
                                          </p:val>
                                        </p:tav>
                                        <p:tav tm="100000">
                                          <p:val>
                                            <p:strVal val="#ppt_y"/>
                                          </p:val>
                                        </p:tav>
                                      </p:tavLst>
                                    </p:anim>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025"/>
                                        </p:tgtEl>
                                        <p:attrNameLst>
                                          <p:attrName>style.visibility</p:attrName>
                                        </p:attrNameLst>
                                      </p:cBhvr>
                                      <p:to>
                                        <p:strVal val="visible"/>
                                      </p:to>
                                    </p:set>
                                    <p:animEffect transition="in" filter="fade">
                                      <p:cBhvr>
                                        <p:cTn id="11" dur="800"/>
                                        <p:tgtEl>
                                          <p:spTgt spid="302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024"/>
                                        </p:tgtEl>
                                        <p:attrNameLst>
                                          <p:attrName>style.visibility</p:attrName>
                                        </p:attrNameLst>
                                      </p:cBhvr>
                                      <p:to>
                                        <p:strVal val="visible"/>
                                      </p:to>
                                    </p:set>
                                    <p:anim calcmode="lin" valueType="num">
                                      <p:cBhvr additive="base">
                                        <p:cTn id="15" dur="500"/>
                                        <p:tgtEl>
                                          <p:spTgt spid="3024"/>
                                        </p:tgtEl>
                                        <p:attrNameLst>
                                          <p:attrName>ppt_y</p:attrName>
                                        </p:attrNameLst>
                                      </p:cBhvr>
                                      <p:tavLst>
                                        <p:tav tm="0">
                                          <p:val>
                                            <p:strVal val="#ppt_y+1"/>
                                          </p:val>
                                        </p:tav>
                                        <p:tav tm="100000">
                                          <p:val>
                                            <p:strVal val="#ppt_y"/>
                                          </p:val>
                                        </p:tav>
                                      </p:tavLst>
                                    </p:anim>
                                  </p:childTnLst>
                                </p:cTn>
                              </p:par>
                            </p:childTnLst>
                          </p:cTn>
                        </p:par>
                        <p:par>
                          <p:cTn id="16" fill="hold">
                            <p:stCondLst>
                              <p:cond delay="2300"/>
                            </p:stCondLst>
                            <p:childTnLst>
                              <p:par>
                                <p:cTn id="17" presetID="23" presetClass="entr" presetSubtype="16" fill="hold" nodeType="afterEffect">
                                  <p:stCondLst>
                                    <p:cond delay="0"/>
                                  </p:stCondLst>
                                  <p:childTnLst>
                                    <p:set>
                                      <p:cBhvr>
                                        <p:cTn id="18" dur="1" fill="hold">
                                          <p:stCondLst>
                                            <p:cond delay="0"/>
                                          </p:stCondLst>
                                        </p:cTn>
                                        <p:tgtEl>
                                          <p:spTgt spid="3023"/>
                                        </p:tgtEl>
                                        <p:attrNameLst>
                                          <p:attrName>style.visibility</p:attrName>
                                        </p:attrNameLst>
                                      </p:cBhvr>
                                      <p:to>
                                        <p:strVal val="visible"/>
                                      </p:to>
                                    </p:set>
                                    <p:anim calcmode="lin" valueType="num">
                                      <p:cBhvr additive="base">
                                        <p:cTn id="19" dur="500"/>
                                        <p:tgtEl>
                                          <p:spTgt spid="3023"/>
                                        </p:tgtEl>
                                        <p:attrNameLst>
                                          <p:attrName>ppt_w</p:attrName>
                                        </p:attrNameLst>
                                      </p:cBhvr>
                                      <p:tavLst>
                                        <p:tav tm="0">
                                          <p:val>
                                            <p:strVal val="0"/>
                                          </p:val>
                                        </p:tav>
                                        <p:tav tm="100000">
                                          <p:val>
                                            <p:strVal val="#ppt_w"/>
                                          </p:val>
                                        </p:tav>
                                      </p:tavLst>
                                    </p:anim>
                                    <p:anim calcmode="lin" valueType="num">
                                      <p:cBhvr additive="base">
                                        <p:cTn id="20" dur="500"/>
                                        <p:tgtEl>
                                          <p:spTgt spid="302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060"/>
        <p:cNvGrpSpPr/>
        <p:nvPr/>
      </p:nvGrpSpPr>
      <p:grpSpPr>
        <a:xfrm>
          <a:off x="0" y="0"/>
          <a:ext cx="0" cy="0"/>
          <a:chOff x="0" y="0"/>
          <a:chExt cx="0" cy="0"/>
        </a:xfrm>
      </p:grpSpPr>
      <p:sp>
        <p:nvSpPr>
          <p:cNvPr id="17" name="Rettangolo 16">
            <a:extLst>
              <a:ext uri="{FF2B5EF4-FFF2-40B4-BE49-F238E27FC236}">
                <a16:creationId xmlns:a16="http://schemas.microsoft.com/office/drawing/2014/main" id="{129B7F00-FDDC-4B35-892F-227CA8BC31EB}"/>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3061" name="Shape 3061"/>
          <p:cNvPicPr preferRelativeResize="0"/>
          <p:nvPr/>
        </p:nvPicPr>
        <p:blipFill>
          <a:blip r:embed="rId3">
            <a:alphaModFix/>
          </a:blip>
          <a:stretch>
            <a:fillRect/>
          </a:stretch>
        </p:blipFill>
        <p:spPr>
          <a:xfrm>
            <a:off x="-84000" y="175455"/>
            <a:ext cx="9291700" cy="788900"/>
          </a:xfrm>
          <a:prstGeom prst="rect">
            <a:avLst/>
          </a:prstGeom>
          <a:noFill/>
          <a:ln>
            <a:noFill/>
          </a:ln>
        </p:spPr>
      </p:pic>
      <p:sp>
        <p:nvSpPr>
          <p:cNvPr id="3064" name="Shape 3064"/>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Text Style</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grpSp>
        <p:nvGrpSpPr>
          <p:cNvPr id="3065" name="Shape 3065"/>
          <p:cNvGrpSpPr/>
          <p:nvPr/>
        </p:nvGrpSpPr>
        <p:grpSpPr>
          <a:xfrm>
            <a:off x="573375" y="1503117"/>
            <a:ext cx="8083200" cy="3294025"/>
            <a:chOff x="573375" y="1503117"/>
            <a:chExt cx="8083200" cy="3294025"/>
          </a:xfrm>
        </p:grpSpPr>
        <p:grpSp>
          <p:nvGrpSpPr>
            <p:cNvPr id="3066" name="Shape 3066"/>
            <p:cNvGrpSpPr/>
            <p:nvPr/>
          </p:nvGrpSpPr>
          <p:grpSpPr>
            <a:xfrm>
              <a:off x="573375" y="1503117"/>
              <a:ext cx="8083200" cy="3294025"/>
              <a:chOff x="573375" y="1503117"/>
              <a:chExt cx="8083200" cy="3294025"/>
            </a:xfrm>
          </p:grpSpPr>
          <p:cxnSp>
            <p:nvCxnSpPr>
              <p:cNvPr id="3067" name="Shape 3067"/>
              <p:cNvCxnSpPr/>
              <p:nvPr/>
            </p:nvCxnSpPr>
            <p:spPr>
              <a:xfrm>
                <a:off x="573375" y="2130500"/>
                <a:ext cx="8083200" cy="0"/>
              </a:xfrm>
              <a:prstGeom prst="straightConnector1">
                <a:avLst/>
              </a:prstGeom>
              <a:noFill/>
              <a:ln w="9525" cap="flat" cmpd="sng">
                <a:solidFill>
                  <a:srgbClr val="A5C961"/>
                </a:solidFill>
                <a:prstDash val="solid"/>
                <a:round/>
                <a:headEnd type="none" w="lg" len="lg"/>
                <a:tailEnd type="none" w="lg" len="lg"/>
              </a:ln>
            </p:spPr>
          </p:cxnSp>
          <p:sp>
            <p:nvSpPr>
              <p:cNvPr id="3068" name="Shape 3068"/>
              <p:cNvSpPr txBox="1"/>
              <p:nvPr/>
            </p:nvSpPr>
            <p:spPr>
              <a:xfrm>
                <a:off x="2023511" y="1503117"/>
                <a:ext cx="5097000" cy="434999"/>
              </a:xfrm>
              <a:prstGeom prst="rect">
                <a:avLst/>
              </a:prstGeom>
              <a:noFill/>
              <a:ln>
                <a:noFill/>
              </a:ln>
            </p:spPr>
            <p:txBody>
              <a:bodyPr lIns="91425" tIns="91425" rIns="91425" bIns="91425" anchor="t" anchorCtr="0">
                <a:noAutofit/>
              </a:bodyPr>
              <a:lstStyle/>
              <a:p>
                <a:pPr lvl="0" algn="ctr" rtl="0">
                  <a:spcBef>
                    <a:spcPts val="0"/>
                  </a:spcBef>
                  <a:buNone/>
                </a:pPr>
                <a:r>
                  <a:rPr lang="en" sz="1800" b="1">
                    <a:solidFill>
                      <a:srgbClr val="A5C961"/>
                    </a:solidFill>
                    <a:latin typeface="Roboto Slab"/>
                    <a:ea typeface="Roboto Slab"/>
                    <a:cs typeface="Roboto Slab"/>
                    <a:sym typeface="Roboto Slab"/>
                  </a:rPr>
                  <a:t>Apply this style to titles</a:t>
                </a:r>
              </a:p>
            </p:txBody>
          </p:sp>
          <p:sp>
            <p:nvSpPr>
              <p:cNvPr id="3069" name="Shape 3069"/>
              <p:cNvSpPr txBox="1"/>
              <p:nvPr/>
            </p:nvSpPr>
            <p:spPr>
              <a:xfrm>
                <a:off x="1197350" y="2434025"/>
                <a:ext cx="7459199" cy="789000"/>
              </a:xfrm>
              <a:prstGeom prst="rect">
                <a:avLst/>
              </a:prstGeom>
              <a:noFill/>
              <a:ln>
                <a:noFill/>
              </a:ln>
            </p:spPr>
            <p:txBody>
              <a:bodyPr lIns="91425" tIns="91425" rIns="91425" bIns="91425" anchor="t" anchorCtr="0">
                <a:noAutofit/>
              </a:bodyPr>
              <a:lstStyle/>
              <a:p>
                <a:pPr lvl="0" rtl="0">
                  <a:spcBef>
                    <a:spcPts val="0"/>
                  </a:spcBef>
                  <a:buClr>
                    <a:schemeClr val="dk1"/>
                  </a:buClr>
                  <a:buSzPct val="100000"/>
                  <a:buFont typeface="Arial"/>
                  <a:buNone/>
                </a:pPr>
                <a:r>
                  <a:rPr lang="en" sz="1100">
                    <a:solidFill>
                      <a:srgbClr val="595959"/>
                    </a:solidFill>
                    <a:latin typeface="Roboto"/>
                    <a:ea typeface="Roboto"/>
                    <a:cs typeface="Roboto"/>
                    <a:sym typeface="Roboto"/>
                  </a:rPr>
                  <a:t>Lorem ipsum dolor sit amet, consectetur adipiscing elit. Proin vel sapien sem. Fusce tincidunt eleifend enim, ut convallis orci fringilla sed. Sed vulputate quam ultrices orci venenatis commodo. Proin eget enim sed turpis consequat malesuada.</a:t>
                </a:r>
              </a:p>
              <a:p>
                <a:pPr>
                  <a:spcBef>
                    <a:spcPts val="0"/>
                  </a:spcBef>
                  <a:buNone/>
                </a:pPr>
                <a:endParaRPr sz="1100">
                  <a:solidFill>
                    <a:srgbClr val="595959"/>
                  </a:solidFill>
                  <a:latin typeface="Roboto"/>
                  <a:ea typeface="Roboto"/>
                  <a:cs typeface="Roboto"/>
                  <a:sym typeface="Roboto"/>
                </a:endParaRPr>
              </a:p>
            </p:txBody>
          </p:sp>
          <p:sp>
            <p:nvSpPr>
              <p:cNvPr id="3070" name="Shape 3070"/>
              <p:cNvSpPr txBox="1"/>
              <p:nvPr/>
            </p:nvSpPr>
            <p:spPr>
              <a:xfrm>
                <a:off x="1197350" y="3223025"/>
                <a:ext cx="7459199" cy="789000"/>
              </a:xfrm>
              <a:prstGeom prst="rect">
                <a:avLst/>
              </a:prstGeom>
              <a:noFill/>
              <a:ln>
                <a:noFill/>
              </a:ln>
            </p:spPr>
            <p:txBody>
              <a:bodyPr lIns="91425" tIns="91425" rIns="91425" bIns="91425" anchor="t" anchorCtr="0">
                <a:noAutofit/>
              </a:bodyPr>
              <a:lstStyle/>
              <a:p>
                <a:pPr lvl="0" rtl="0">
                  <a:spcBef>
                    <a:spcPts val="0"/>
                  </a:spcBef>
                  <a:buNone/>
                </a:pPr>
                <a:r>
                  <a:rPr lang="en" sz="1100" dirty="0">
                    <a:solidFill>
                      <a:srgbClr val="595959"/>
                    </a:solidFill>
                    <a:latin typeface="Roboto"/>
                    <a:ea typeface="Roboto"/>
                    <a:cs typeface="Roboto"/>
                    <a:sym typeface="Roboto"/>
                  </a:rPr>
                  <a:t>Lorem ipsum dolor sit amet, consectetur adipiscing elit. Proin vel sapien sem. Fusce tincidunt eleifend enim, ut convallis orci fringilla sed. Sed vulputate quam ultrices orci venenatis commodo. Proin eget enim sed turpis consequat malesuada.</a:t>
                </a:r>
              </a:p>
              <a:p>
                <a:pPr lvl="0" rtl="0">
                  <a:spcBef>
                    <a:spcPts val="0"/>
                  </a:spcBef>
                  <a:buNone/>
                </a:pPr>
                <a:endParaRPr sz="1100" dirty="0">
                  <a:solidFill>
                    <a:srgbClr val="595959"/>
                  </a:solidFill>
                  <a:latin typeface="Roboto"/>
                  <a:ea typeface="Roboto"/>
                  <a:cs typeface="Roboto"/>
                  <a:sym typeface="Roboto"/>
                </a:endParaRPr>
              </a:p>
            </p:txBody>
          </p:sp>
          <p:sp>
            <p:nvSpPr>
              <p:cNvPr id="3071" name="Shape 3071"/>
              <p:cNvSpPr txBox="1"/>
              <p:nvPr/>
            </p:nvSpPr>
            <p:spPr>
              <a:xfrm>
                <a:off x="1191728" y="4008143"/>
                <a:ext cx="7459199" cy="789000"/>
              </a:xfrm>
              <a:prstGeom prst="rect">
                <a:avLst/>
              </a:prstGeom>
              <a:noFill/>
              <a:ln>
                <a:noFill/>
              </a:ln>
            </p:spPr>
            <p:txBody>
              <a:bodyPr lIns="91425" tIns="91425" rIns="91425" bIns="91425" anchor="t" anchorCtr="0">
                <a:noAutofit/>
              </a:bodyPr>
              <a:lstStyle/>
              <a:p>
                <a:pPr lvl="0" rtl="0">
                  <a:spcBef>
                    <a:spcPts val="0"/>
                  </a:spcBef>
                  <a:buNone/>
                </a:pPr>
                <a:r>
                  <a:rPr lang="en" sz="1100">
                    <a:solidFill>
                      <a:srgbClr val="595959"/>
                    </a:solidFill>
                    <a:latin typeface="Roboto"/>
                    <a:ea typeface="Roboto"/>
                    <a:cs typeface="Roboto"/>
                    <a:sym typeface="Roboto"/>
                  </a:rPr>
                  <a:t>Lorem ipsum dolor sit amet, consectetur adipiscing elit. Proin vel sapien sem. Fusce tincidunt eleifend enim, ut convallis orci fringilla sed. Sed vulputate quam ultrices orci venenatis commodo. Proin eget enim sed turpis consequat malesuada.</a:t>
                </a:r>
              </a:p>
              <a:p>
                <a:pPr lvl="0" rtl="0">
                  <a:spcBef>
                    <a:spcPts val="0"/>
                  </a:spcBef>
                  <a:buNone/>
                </a:pPr>
                <a:endParaRPr sz="1100">
                  <a:solidFill>
                    <a:srgbClr val="595959"/>
                  </a:solidFill>
                  <a:latin typeface="Roboto"/>
                  <a:ea typeface="Roboto"/>
                  <a:cs typeface="Roboto"/>
                  <a:sym typeface="Roboto"/>
                </a:endParaRPr>
              </a:p>
            </p:txBody>
          </p:sp>
        </p:grpSp>
        <p:sp>
          <p:nvSpPr>
            <p:cNvPr id="3072" name="Shape 3072"/>
            <p:cNvSpPr txBox="1"/>
            <p:nvPr/>
          </p:nvSpPr>
          <p:spPr>
            <a:xfrm>
              <a:off x="988107" y="2400293"/>
              <a:ext cx="382199" cy="290700"/>
            </a:xfrm>
            <a:prstGeom prst="rect">
              <a:avLst/>
            </a:prstGeom>
            <a:noFill/>
            <a:ln>
              <a:noFill/>
            </a:ln>
          </p:spPr>
          <p:txBody>
            <a:bodyPr lIns="91425" tIns="91425" rIns="91425" bIns="91425" anchor="t" anchorCtr="0">
              <a:noAutofit/>
            </a:bodyPr>
            <a:lstStyle/>
            <a:p>
              <a:pPr>
                <a:spcBef>
                  <a:spcPts val="0"/>
                </a:spcBef>
                <a:buNone/>
              </a:pPr>
              <a:r>
                <a:rPr lang="en">
                  <a:solidFill>
                    <a:srgbClr val="A5C961"/>
                  </a:solidFill>
                  <a:latin typeface="Roboto"/>
                  <a:ea typeface="Roboto"/>
                  <a:cs typeface="Roboto"/>
                  <a:sym typeface="Roboto"/>
                </a:rPr>
                <a:t>A.</a:t>
              </a:r>
            </a:p>
          </p:txBody>
        </p:sp>
        <p:sp>
          <p:nvSpPr>
            <p:cNvPr id="3073" name="Shape 3073"/>
            <p:cNvSpPr txBox="1"/>
            <p:nvPr/>
          </p:nvSpPr>
          <p:spPr>
            <a:xfrm>
              <a:off x="988101" y="3183669"/>
              <a:ext cx="382199" cy="290700"/>
            </a:xfrm>
            <a:prstGeom prst="rect">
              <a:avLst/>
            </a:prstGeom>
            <a:noFill/>
            <a:ln>
              <a:noFill/>
            </a:ln>
          </p:spPr>
          <p:txBody>
            <a:bodyPr lIns="91425" tIns="91425" rIns="91425" bIns="91425" anchor="t" anchorCtr="0">
              <a:noAutofit/>
            </a:bodyPr>
            <a:lstStyle/>
            <a:p>
              <a:pPr lvl="0" rtl="0">
                <a:spcBef>
                  <a:spcPts val="0"/>
                </a:spcBef>
                <a:buNone/>
              </a:pPr>
              <a:r>
                <a:rPr lang="en" dirty="0">
                  <a:solidFill>
                    <a:srgbClr val="A5C961"/>
                  </a:solidFill>
                  <a:latin typeface="Roboto"/>
                  <a:ea typeface="Roboto"/>
                  <a:cs typeface="Roboto"/>
                  <a:sym typeface="Roboto"/>
                </a:rPr>
                <a:t>B.</a:t>
              </a:r>
            </a:p>
          </p:txBody>
        </p:sp>
        <p:sp>
          <p:nvSpPr>
            <p:cNvPr id="3074" name="Shape 3074"/>
            <p:cNvSpPr txBox="1"/>
            <p:nvPr/>
          </p:nvSpPr>
          <p:spPr>
            <a:xfrm>
              <a:off x="988101" y="3972665"/>
              <a:ext cx="382199" cy="290700"/>
            </a:xfrm>
            <a:prstGeom prst="rect">
              <a:avLst/>
            </a:prstGeom>
            <a:noFill/>
            <a:ln>
              <a:noFill/>
            </a:ln>
          </p:spPr>
          <p:txBody>
            <a:bodyPr lIns="91425" tIns="91425" rIns="91425" bIns="91425" anchor="t" anchorCtr="0">
              <a:noAutofit/>
            </a:bodyPr>
            <a:lstStyle/>
            <a:p>
              <a:pPr lvl="0" rtl="0">
                <a:spcBef>
                  <a:spcPts val="0"/>
                </a:spcBef>
                <a:buNone/>
              </a:pPr>
              <a:r>
                <a:rPr lang="en">
                  <a:solidFill>
                    <a:srgbClr val="A5C961"/>
                  </a:solidFill>
                  <a:latin typeface="Roboto"/>
                  <a:ea typeface="Roboto"/>
                  <a:cs typeface="Roboto"/>
                  <a:sym typeface="Roboto"/>
                </a:rPr>
                <a:t>C.</a:t>
              </a:r>
            </a:p>
          </p:txBody>
        </p:sp>
      </p:grpSp>
      <p:pic>
        <p:nvPicPr>
          <p:cNvPr id="16" name="Immagine 15">
            <a:extLst>
              <a:ext uri="{FF2B5EF4-FFF2-40B4-BE49-F238E27FC236}">
                <a16:creationId xmlns:a16="http://schemas.microsoft.com/office/drawing/2014/main" id="{BE2C60B4-E96C-467D-923F-296825B37C16}"/>
              </a:ext>
            </a:extLst>
          </p:cNvPr>
          <p:cNvPicPr>
            <a:picLocks noChangeAspect="1"/>
          </p:cNvPicPr>
          <p:nvPr/>
        </p:nvPicPr>
        <p:blipFill rotWithShape="1">
          <a:blip r:embed="rId4"/>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065"/>
                                        </p:tgtEl>
                                        <p:attrNameLst>
                                          <p:attrName>style.visibility</p:attrName>
                                        </p:attrNameLst>
                                      </p:cBhvr>
                                      <p:to>
                                        <p:strVal val="visible"/>
                                      </p:to>
                                    </p:set>
                                    <p:anim calcmode="lin" valueType="num">
                                      <p:cBhvr additive="base">
                                        <p:cTn id="7" dur="1000"/>
                                        <p:tgtEl>
                                          <p:spTgt spid="30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3091"/>
        <p:cNvGrpSpPr/>
        <p:nvPr/>
      </p:nvGrpSpPr>
      <p:grpSpPr>
        <a:xfrm>
          <a:off x="0" y="0"/>
          <a:ext cx="0" cy="0"/>
          <a:chOff x="0" y="0"/>
          <a:chExt cx="0" cy="0"/>
        </a:xfrm>
      </p:grpSpPr>
      <p:sp>
        <p:nvSpPr>
          <p:cNvPr id="13" name="Rettangolo 12">
            <a:extLst>
              <a:ext uri="{FF2B5EF4-FFF2-40B4-BE49-F238E27FC236}">
                <a16:creationId xmlns:a16="http://schemas.microsoft.com/office/drawing/2014/main" id="{CC7E610B-E805-4292-B1F7-AA7146242120}"/>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3092" name="Shape 3092"/>
          <p:cNvPicPr preferRelativeResize="0"/>
          <p:nvPr/>
        </p:nvPicPr>
        <p:blipFill>
          <a:blip r:embed="rId3">
            <a:alphaModFix/>
          </a:blip>
          <a:stretch>
            <a:fillRect/>
          </a:stretch>
        </p:blipFill>
        <p:spPr>
          <a:xfrm>
            <a:off x="-84000" y="175455"/>
            <a:ext cx="9291700" cy="788900"/>
          </a:xfrm>
          <a:prstGeom prst="rect">
            <a:avLst/>
          </a:prstGeom>
          <a:noFill/>
          <a:ln>
            <a:noFill/>
          </a:ln>
        </p:spPr>
      </p:pic>
      <p:sp>
        <p:nvSpPr>
          <p:cNvPr id="3095" name="Shape 3095"/>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Text Style</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grpSp>
        <p:nvGrpSpPr>
          <p:cNvPr id="3096" name="Shape 3096"/>
          <p:cNvGrpSpPr/>
          <p:nvPr/>
        </p:nvGrpSpPr>
        <p:grpSpPr>
          <a:xfrm>
            <a:off x="573373" y="1503117"/>
            <a:ext cx="8083201" cy="3230107"/>
            <a:chOff x="573373" y="1503117"/>
            <a:chExt cx="8083201" cy="3230107"/>
          </a:xfrm>
        </p:grpSpPr>
        <p:cxnSp>
          <p:nvCxnSpPr>
            <p:cNvPr id="3097" name="Shape 3097"/>
            <p:cNvCxnSpPr/>
            <p:nvPr/>
          </p:nvCxnSpPr>
          <p:spPr>
            <a:xfrm>
              <a:off x="573375" y="2130500"/>
              <a:ext cx="8083200" cy="0"/>
            </a:xfrm>
            <a:prstGeom prst="straightConnector1">
              <a:avLst/>
            </a:prstGeom>
            <a:noFill/>
            <a:ln w="9525" cap="flat" cmpd="sng">
              <a:solidFill>
                <a:srgbClr val="F08B7C"/>
              </a:solidFill>
              <a:prstDash val="solid"/>
              <a:round/>
              <a:headEnd type="none" w="lg" len="lg"/>
              <a:tailEnd type="none" w="lg" len="lg"/>
            </a:ln>
          </p:spPr>
        </p:cxnSp>
        <p:sp>
          <p:nvSpPr>
            <p:cNvPr id="3098" name="Shape 3098"/>
            <p:cNvSpPr txBox="1"/>
            <p:nvPr/>
          </p:nvSpPr>
          <p:spPr>
            <a:xfrm>
              <a:off x="2023511" y="1503117"/>
              <a:ext cx="5097000" cy="434999"/>
            </a:xfrm>
            <a:prstGeom prst="rect">
              <a:avLst/>
            </a:prstGeom>
            <a:noFill/>
            <a:ln>
              <a:noFill/>
            </a:ln>
          </p:spPr>
          <p:txBody>
            <a:bodyPr lIns="91425" tIns="91425" rIns="91425" bIns="91425" anchor="t" anchorCtr="0">
              <a:noAutofit/>
            </a:bodyPr>
            <a:lstStyle/>
            <a:p>
              <a:pPr lvl="0" algn="ctr" rtl="0">
                <a:spcBef>
                  <a:spcPts val="0"/>
                </a:spcBef>
                <a:buNone/>
              </a:pPr>
              <a:r>
                <a:rPr lang="en" sz="1800" b="1">
                  <a:solidFill>
                    <a:srgbClr val="F08B7C"/>
                  </a:solidFill>
                  <a:latin typeface="Roboto Slab"/>
                  <a:ea typeface="Roboto Slab"/>
                  <a:cs typeface="Roboto Slab"/>
                  <a:sym typeface="Roboto Slab"/>
                </a:rPr>
                <a:t>Apply this style to titles</a:t>
              </a:r>
            </a:p>
          </p:txBody>
        </p:sp>
        <p:sp>
          <p:nvSpPr>
            <p:cNvPr id="3099" name="Shape 3099"/>
            <p:cNvSpPr txBox="1"/>
            <p:nvPr/>
          </p:nvSpPr>
          <p:spPr>
            <a:xfrm>
              <a:off x="573373" y="2434025"/>
              <a:ext cx="2507099" cy="2299199"/>
            </a:xfrm>
            <a:prstGeom prst="rect">
              <a:avLst/>
            </a:prstGeom>
            <a:noFill/>
            <a:ln>
              <a:noFill/>
            </a:ln>
          </p:spPr>
          <p:txBody>
            <a:bodyPr lIns="91425" tIns="91425" rIns="91425" bIns="91425" anchor="t" anchorCtr="0">
              <a:noAutofit/>
            </a:bodyPr>
            <a:lstStyle/>
            <a:p>
              <a:pPr lvl="0" rtl="0">
                <a:spcBef>
                  <a:spcPts val="0"/>
                </a:spcBef>
                <a:buNone/>
              </a:pPr>
              <a:r>
                <a:rPr lang="en" sz="1100" dirty="0">
                  <a:solidFill>
                    <a:srgbClr val="595959"/>
                  </a:solidFill>
                  <a:latin typeface="Roboto"/>
                  <a:ea typeface="Roboto"/>
                  <a:cs typeface="Roboto"/>
                  <a:sym typeface="Roboto"/>
                </a:rPr>
                <a:t>Lorem ipsum dolor sit amet, consectetur adipiscing elit. </a:t>
              </a:r>
              <a:r>
                <a:rPr lang="en" sz="1100" dirty="0">
                  <a:solidFill>
                    <a:schemeClr val="dk2"/>
                  </a:solidFill>
                  <a:latin typeface="Roboto"/>
                  <a:ea typeface="Roboto"/>
                  <a:cs typeface="Roboto"/>
                  <a:sym typeface="Roboto"/>
                </a:rPr>
                <a:t>Proin vel sapien sem. Fusce tincidunt eleifend enim, ut convallis orci fringilla sed. Sed vulputate quam ultrices orci venenatis commodo. Proin vel sapien sem. Fusce tincidunt </a:t>
              </a:r>
              <a:r>
                <a:rPr lang="en" sz="1100" dirty="0">
                  <a:solidFill>
                    <a:srgbClr val="F2F2F2"/>
                  </a:solidFill>
                  <a:latin typeface="Roboto"/>
                  <a:ea typeface="Roboto"/>
                  <a:cs typeface="Roboto"/>
                  <a:sym typeface="Roboto"/>
                </a:rPr>
                <a:t>eleifend</a:t>
              </a:r>
              <a:r>
                <a:rPr lang="en" sz="1100" dirty="0">
                  <a:solidFill>
                    <a:schemeClr val="dk2"/>
                  </a:solidFill>
                  <a:latin typeface="Roboto"/>
                  <a:ea typeface="Roboto"/>
                  <a:cs typeface="Roboto"/>
                  <a:sym typeface="Roboto"/>
                </a:rPr>
                <a:t> enim, ut convallis orci fringilla sed. Sed vulputate quam ultrices orci venenatis commodo. Proin vel sapien sem. Fusce tincidunt eleifend enim, ut convallis orci fringilla sed.</a:t>
              </a:r>
            </a:p>
            <a:p>
              <a:pPr lvl="0" rtl="0">
                <a:spcBef>
                  <a:spcPts val="0"/>
                </a:spcBef>
                <a:buNone/>
              </a:pPr>
              <a:endParaRPr sz="1100" dirty="0">
                <a:solidFill>
                  <a:srgbClr val="595959"/>
                </a:solidFill>
                <a:latin typeface="Roboto"/>
                <a:ea typeface="Roboto"/>
                <a:cs typeface="Roboto"/>
                <a:sym typeface="Roboto"/>
              </a:endParaRPr>
            </a:p>
          </p:txBody>
        </p:sp>
        <p:sp>
          <p:nvSpPr>
            <p:cNvPr id="3100" name="Shape 3100"/>
            <p:cNvSpPr txBox="1"/>
            <p:nvPr/>
          </p:nvSpPr>
          <p:spPr>
            <a:xfrm>
              <a:off x="3354914" y="2434025"/>
              <a:ext cx="2507099" cy="2299199"/>
            </a:xfrm>
            <a:prstGeom prst="rect">
              <a:avLst/>
            </a:prstGeom>
            <a:noFill/>
            <a:ln>
              <a:noFill/>
            </a:ln>
          </p:spPr>
          <p:txBody>
            <a:bodyPr lIns="91425" tIns="91425" rIns="91425" bIns="91425" anchor="t" anchorCtr="0">
              <a:noAutofit/>
            </a:bodyPr>
            <a:lstStyle/>
            <a:p>
              <a:pPr lvl="0" rtl="0">
                <a:spcBef>
                  <a:spcPts val="0"/>
                </a:spcBef>
                <a:buNone/>
              </a:pPr>
              <a:r>
                <a:rPr lang="en" sz="1100">
                  <a:solidFill>
                    <a:srgbClr val="595959"/>
                  </a:solidFill>
                  <a:latin typeface="Roboto"/>
                  <a:ea typeface="Roboto"/>
                  <a:cs typeface="Roboto"/>
                  <a:sym typeface="Roboto"/>
                </a:rPr>
                <a:t>Lorem ipsum dolor sit amet, consectetur adipiscing elit. </a:t>
              </a:r>
              <a:r>
                <a:rPr lang="en" sz="1100">
                  <a:solidFill>
                    <a:schemeClr val="dk2"/>
                  </a:solidFill>
                  <a:latin typeface="Roboto"/>
                  <a:ea typeface="Roboto"/>
                  <a:cs typeface="Roboto"/>
                  <a:sym typeface="Roboto"/>
                </a:rPr>
                <a:t>Proin vel sapien sem. Fusce tincidunt eleifend enim, ut convallis orci fringilla sed. Sed vulputate quam ultrices orci venenatis commodo. Proin vel sapien sem. Fusce tincidunt eleifend enim, ut convallis orci fringilla sed. Sed vulputate quam ultrices orci venenatis commodo. Proin vel sapien sem. Fusce tincidunt eleifend enim, ut convallis orci fringilla sed.</a:t>
              </a:r>
            </a:p>
            <a:p>
              <a:pPr lvl="0" rtl="0">
                <a:spcBef>
                  <a:spcPts val="0"/>
                </a:spcBef>
                <a:buNone/>
              </a:pPr>
              <a:endParaRPr sz="1100">
                <a:solidFill>
                  <a:srgbClr val="595959"/>
                </a:solidFill>
                <a:latin typeface="Roboto"/>
                <a:ea typeface="Roboto"/>
                <a:cs typeface="Roboto"/>
                <a:sym typeface="Roboto"/>
              </a:endParaRPr>
            </a:p>
          </p:txBody>
        </p:sp>
        <p:sp>
          <p:nvSpPr>
            <p:cNvPr id="3101" name="Shape 3101"/>
            <p:cNvSpPr txBox="1"/>
            <p:nvPr/>
          </p:nvSpPr>
          <p:spPr>
            <a:xfrm>
              <a:off x="6136448" y="2434025"/>
              <a:ext cx="2507099" cy="2299199"/>
            </a:xfrm>
            <a:prstGeom prst="rect">
              <a:avLst/>
            </a:prstGeom>
            <a:noFill/>
            <a:ln>
              <a:noFill/>
            </a:ln>
          </p:spPr>
          <p:txBody>
            <a:bodyPr lIns="91425" tIns="91425" rIns="91425" bIns="91425" anchor="t" anchorCtr="0">
              <a:noAutofit/>
            </a:bodyPr>
            <a:lstStyle/>
            <a:p>
              <a:pPr lvl="0" rtl="0">
                <a:spcBef>
                  <a:spcPts val="0"/>
                </a:spcBef>
                <a:buNone/>
              </a:pPr>
              <a:r>
                <a:rPr lang="en" sz="1100">
                  <a:solidFill>
                    <a:srgbClr val="595959"/>
                  </a:solidFill>
                  <a:latin typeface="Roboto"/>
                  <a:ea typeface="Roboto"/>
                  <a:cs typeface="Roboto"/>
                  <a:sym typeface="Roboto"/>
                </a:rPr>
                <a:t>Lorem ipsum dolor sit amet, consectetur adipiscing elit. </a:t>
              </a:r>
              <a:r>
                <a:rPr lang="en" sz="1100">
                  <a:solidFill>
                    <a:schemeClr val="dk2"/>
                  </a:solidFill>
                  <a:latin typeface="Roboto"/>
                  <a:ea typeface="Roboto"/>
                  <a:cs typeface="Roboto"/>
                  <a:sym typeface="Roboto"/>
                </a:rPr>
                <a:t>Proin vel sapien sem. Fusce tincidunt eleifend enim, ut convallis orci fringilla sed. Sed vulputate quam ultrices orci venenatis commodo. Proin vel sapien sem. Fusce tincidunt eleifend enim, ut convallis orci fringilla sed. Sed vulputate quam ultrices orci venenatis commodo. Proin vel sapien sem. Fusce tincidunt eleifend enim, ut convallis orci fringilla sed.</a:t>
              </a:r>
            </a:p>
            <a:p>
              <a:pPr lvl="0" rtl="0">
                <a:spcBef>
                  <a:spcPts val="0"/>
                </a:spcBef>
                <a:buNone/>
              </a:pPr>
              <a:endParaRPr sz="1100">
                <a:solidFill>
                  <a:srgbClr val="595959"/>
                </a:solidFill>
                <a:latin typeface="Roboto"/>
                <a:ea typeface="Roboto"/>
                <a:cs typeface="Roboto"/>
                <a:sym typeface="Roboto"/>
              </a:endParaRPr>
            </a:p>
          </p:txBody>
        </p:sp>
      </p:grpSp>
      <p:pic>
        <p:nvPicPr>
          <p:cNvPr id="12" name="Immagine 11">
            <a:extLst>
              <a:ext uri="{FF2B5EF4-FFF2-40B4-BE49-F238E27FC236}">
                <a16:creationId xmlns:a16="http://schemas.microsoft.com/office/drawing/2014/main" id="{0E5967E2-1E9F-41C3-820D-6F0C5E82198A}"/>
              </a:ext>
            </a:extLst>
          </p:cNvPr>
          <p:cNvPicPr>
            <a:picLocks noChangeAspect="1"/>
          </p:cNvPicPr>
          <p:nvPr/>
        </p:nvPicPr>
        <p:blipFill rotWithShape="1">
          <a:blip r:embed="rId4"/>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8874477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096"/>
                                        </p:tgtEl>
                                        <p:attrNameLst>
                                          <p:attrName>style.visibility</p:attrName>
                                        </p:attrNameLst>
                                      </p:cBhvr>
                                      <p:to>
                                        <p:strVal val="visible"/>
                                      </p:to>
                                    </p:set>
                                    <p:anim calcmode="lin" valueType="num">
                                      <p:cBhvr additive="base">
                                        <p:cTn id="7" dur="600"/>
                                        <p:tgtEl>
                                          <p:spTgt spid="309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105"/>
        <p:cNvGrpSpPr/>
        <p:nvPr/>
      </p:nvGrpSpPr>
      <p:grpSpPr>
        <a:xfrm>
          <a:off x="0" y="0"/>
          <a:ext cx="0" cy="0"/>
          <a:chOff x="0" y="0"/>
          <a:chExt cx="0" cy="0"/>
        </a:xfrm>
      </p:grpSpPr>
      <p:sp>
        <p:nvSpPr>
          <p:cNvPr id="28" name="Rettangolo 27">
            <a:extLst>
              <a:ext uri="{FF2B5EF4-FFF2-40B4-BE49-F238E27FC236}">
                <a16:creationId xmlns:a16="http://schemas.microsoft.com/office/drawing/2014/main" id="{0D00C71F-52CB-412A-AA61-7A491ABA669E}"/>
              </a:ext>
            </a:extLst>
          </p:cNvPr>
          <p:cNvSpPr/>
          <p:nvPr/>
        </p:nvSpPr>
        <p:spPr>
          <a:xfrm>
            <a:off x="-10150" y="-7266"/>
            <a:ext cx="9144000" cy="1903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it-IT"/>
          </a:p>
        </p:txBody>
      </p:sp>
      <p:pic>
        <p:nvPicPr>
          <p:cNvPr id="3106" name="Shape 3106"/>
          <p:cNvPicPr preferRelativeResize="0"/>
          <p:nvPr/>
        </p:nvPicPr>
        <p:blipFill>
          <a:blip r:embed="rId3">
            <a:alphaModFix/>
          </a:blip>
          <a:stretch>
            <a:fillRect/>
          </a:stretch>
        </p:blipFill>
        <p:spPr>
          <a:xfrm>
            <a:off x="-84000" y="175455"/>
            <a:ext cx="9291700" cy="788900"/>
          </a:xfrm>
          <a:prstGeom prst="rect">
            <a:avLst/>
          </a:prstGeom>
          <a:noFill/>
          <a:ln>
            <a:noFill/>
          </a:ln>
        </p:spPr>
      </p:pic>
      <p:sp>
        <p:nvSpPr>
          <p:cNvPr id="3109" name="Shape 3109"/>
          <p:cNvSpPr txBox="1"/>
          <p:nvPr/>
        </p:nvSpPr>
        <p:spPr>
          <a:xfrm>
            <a:off x="6136450" y="381250"/>
            <a:ext cx="2917200" cy="290700"/>
          </a:xfrm>
          <a:prstGeom prst="rect">
            <a:avLst/>
          </a:prstGeom>
          <a:noFill/>
          <a:ln>
            <a:noFill/>
          </a:ln>
        </p:spPr>
        <p:txBody>
          <a:bodyPr lIns="91425" tIns="91425" rIns="91425" bIns="91425" anchor="t" anchorCtr="0">
            <a:noAutofit/>
          </a:bodyPr>
          <a:lstStyle/>
          <a:p>
            <a:pPr lvl="0" algn="r" rtl="0">
              <a:spcBef>
                <a:spcPts val="0"/>
              </a:spcBef>
              <a:buClr>
                <a:schemeClr val="dk1"/>
              </a:buClr>
              <a:buSzPct val="91666"/>
              <a:buFont typeface="Arial"/>
              <a:buNone/>
            </a:pPr>
            <a:r>
              <a:rPr lang="en" sz="1200">
                <a:solidFill>
                  <a:schemeClr val="accent3"/>
                </a:solidFill>
                <a:latin typeface="Roboto Slab"/>
                <a:ea typeface="Roboto Slab"/>
                <a:cs typeface="Roboto Slab"/>
                <a:sym typeface="Roboto Slab"/>
              </a:rPr>
              <a:t>Text Style</a:t>
            </a: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Clr>
                <a:schemeClr val="dk1"/>
              </a:buClr>
              <a:buFont typeface="Arial"/>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algn="r" rtl="0">
              <a:spcBef>
                <a:spcPts val="0"/>
              </a:spcBef>
              <a:buNone/>
            </a:pPr>
            <a:endParaRPr sz="1200">
              <a:solidFill>
                <a:schemeClr val="accent3"/>
              </a:solidFill>
              <a:latin typeface="Roboto Slab"/>
              <a:ea typeface="Roboto Slab"/>
              <a:cs typeface="Roboto Slab"/>
              <a:sym typeface="Roboto Slab"/>
            </a:endParaRPr>
          </a:p>
          <a:p>
            <a:pPr lvl="0" rtl="0">
              <a:spcBef>
                <a:spcPts val="0"/>
              </a:spcBef>
              <a:buNone/>
            </a:pPr>
            <a:endParaRPr sz="1200"/>
          </a:p>
        </p:txBody>
      </p:sp>
      <p:grpSp>
        <p:nvGrpSpPr>
          <p:cNvPr id="3110" name="Shape 3110"/>
          <p:cNvGrpSpPr/>
          <p:nvPr/>
        </p:nvGrpSpPr>
        <p:grpSpPr>
          <a:xfrm>
            <a:off x="496984" y="1365425"/>
            <a:ext cx="2768099" cy="3335474"/>
            <a:chOff x="496984" y="1365425"/>
            <a:chExt cx="2768099" cy="3335474"/>
          </a:xfrm>
        </p:grpSpPr>
        <p:sp>
          <p:nvSpPr>
            <p:cNvPr id="3111" name="Shape 3111"/>
            <p:cNvSpPr txBox="1"/>
            <p:nvPr/>
          </p:nvSpPr>
          <p:spPr>
            <a:xfrm>
              <a:off x="496984" y="1365425"/>
              <a:ext cx="2768099" cy="434999"/>
            </a:xfrm>
            <a:prstGeom prst="rect">
              <a:avLst/>
            </a:prstGeom>
            <a:noFill/>
            <a:ln>
              <a:noFill/>
            </a:ln>
          </p:spPr>
          <p:txBody>
            <a:bodyPr lIns="91425" tIns="91425" rIns="91425" bIns="91425" anchor="t" anchorCtr="0">
              <a:noAutofit/>
            </a:bodyPr>
            <a:lstStyle/>
            <a:p>
              <a:pPr lvl="0" algn="ctr" rtl="0">
                <a:spcBef>
                  <a:spcPts val="0"/>
                </a:spcBef>
                <a:buClr>
                  <a:schemeClr val="dk1"/>
                </a:buClr>
                <a:buSzPct val="100000"/>
                <a:buFont typeface="Arial"/>
                <a:buNone/>
              </a:pPr>
              <a:r>
                <a:rPr lang="en" sz="1100" b="1">
                  <a:solidFill>
                    <a:srgbClr val="F08B7C"/>
                  </a:solidFill>
                  <a:latin typeface="Roboto Slab"/>
                  <a:ea typeface="Roboto Slab"/>
                  <a:cs typeface="Roboto Slab"/>
                  <a:sym typeface="Roboto Slab"/>
                </a:rPr>
                <a:t>Apply this style to titles</a:t>
              </a:r>
            </a:p>
            <a:p>
              <a:pPr lvl="0" algn="ctr" rtl="0">
                <a:spcBef>
                  <a:spcPts val="0"/>
                </a:spcBef>
                <a:buNone/>
              </a:pPr>
              <a:endParaRPr sz="1200" b="1">
                <a:solidFill>
                  <a:srgbClr val="F08B7C"/>
                </a:solidFill>
                <a:latin typeface="Roboto Slab"/>
                <a:ea typeface="Roboto Slab"/>
                <a:cs typeface="Roboto Slab"/>
                <a:sym typeface="Roboto Slab"/>
              </a:endParaRPr>
            </a:p>
            <a:p>
              <a:pPr lvl="0" algn="ctr" rtl="0">
                <a:spcBef>
                  <a:spcPts val="0"/>
                </a:spcBef>
                <a:buNone/>
              </a:pPr>
              <a:endParaRPr b="1">
                <a:solidFill>
                  <a:srgbClr val="F08B7C"/>
                </a:solidFill>
                <a:latin typeface="Roboto Slab"/>
                <a:ea typeface="Roboto Slab"/>
                <a:cs typeface="Roboto Slab"/>
                <a:sym typeface="Roboto Slab"/>
              </a:endParaRPr>
            </a:p>
            <a:p>
              <a:pPr lvl="0" algn="ctr" rtl="0">
                <a:spcBef>
                  <a:spcPts val="0"/>
                </a:spcBef>
                <a:buNone/>
              </a:pPr>
              <a:endParaRPr sz="800" b="1">
                <a:solidFill>
                  <a:srgbClr val="F08B7C"/>
                </a:solidFill>
                <a:latin typeface="Roboto Slab"/>
                <a:ea typeface="Roboto Slab"/>
                <a:cs typeface="Roboto Slab"/>
                <a:sym typeface="Roboto Slab"/>
              </a:endParaRPr>
            </a:p>
          </p:txBody>
        </p:sp>
        <p:sp>
          <p:nvSpPr>
            <p:cNvPr id="3112" name="Shape 3112"/>
            <p:cNvSpPr txBox="1"/>
            <p:nvPr/>
          </p:nvSpPr>
          <p:spPr>
            <a:xfrm>
              <a:off x="784234" y="1678950"/>
              <a:ext cx="2193599" cy="604800"/>
            </a:xfrm>
            <a:prstGeom prst="rect">
              <a:avLst/>
            </a:prstGeom>
            <a:noFill/>
            <a:ln>
              <a:noFill/>
            </a:ln>
          </p:spPr>
          <p:txBody>
            <a:bodyPr lIns="91425" tIns="91425" rIns="91425" bIns="91425" anchor="t" anchorCtr="0">
              <a:noAutofit/>
            </a:bodyPr>
            <a:lstStyle/>
            <a:p>
              <a:pPr lvl="0" algn="ctr"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algn="ctr"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algn="ctr" rtl="0">
                <a:spcBef>
                  <a:spcPts val="0"/>
                </a:spcBef>
                <a:buNone/>
              </a:pPr>
              <a:endParaRPr sz="900">
                <a:latin typeface="Roboto"/>
                <a:ea typeface="Roboto"/>
                <a:cs typeface="Roboto"/>
                <a:sym typeface="Roboto"/>
              </a:endParaRPr>
            </a:p>
          </p:txBody>
        </p:sp>
        <p:sp>
          <p:nvSpPr>
            <p:cNvPr id="3113" name="Shape 3113"/>
            <p:cNvSpPr txBox="1"/>
            <p:nvPr/>
          </p:nvSpPr>
          <p:spPr>
            <a:xfrm>
              <a:off x="496984" y="2584625"/>
              <a:ext cx="2768099" cy="434999"/>
            </a:xfrm>
            <a:prstGeom prst="rect">
              <a:avLst/>
            </a:prstGeom>
            <a:noFill/>
            <a:ln>
              <a:noFill/>
            </a:ln>
          </p:spPr>
          <p:txBody>
            <a:bodyPr lIns="91425" tIns="91425" rIns="91425" bIns="91425" anchor="t" anchorCtr="0">
              <a:noAutofit/>
            </a:bodyPr>
            <a:lstStyle/>
            <a:p>
              <a:pPr lvl="0" algn="ctr" rtl="0">
                <a:spcBef>
                  <a:spcPts val="0"/>
                </a:spcBef>
                <a:buNone/>
              </a:pPr>
              <a:r>
                <a:rPr lang="en" sz="1100" b="1">
                  <a:solidFill>
                    <a:schemeClr val="accent4"/>
                  </a:solidFill>
                  <a:latin typeface="Roboto Slab"/>
                  <a:ea typeface="Roboto Slab"/>
                  <a:cs typeface="Roboto Slab"/>
                  <a:sym typeface="Roboto Slab"/>
                </a:rPr>
                <a:t>Apply this style to titles</a:t>
              </a:r>
            </a:p>
            <a:p>
              <a:pPr lvl="0" algn="ctr" rtl="0">
                <a:spcBef>
                  <a:spcPts val="0"/>
                </a:spcBef>
                <a:buNone/>
              </a:pPr>
              <a:endParaRPr sz="1200" b="1">
                <a:solidFill>
                  <a:srgbClr val="F08B7C"/>
                </a:solidFill>
                <a:latin typeface="Roboto Slab"/>
                <a:ea typeface="Roboto Slab"/>
                <a:cs typeface="Roboto Slab"/>
                <a:sym typeface="Roboto Slab"/>
              </a:endParaRPr>
            </a:p>
            <a:p>
              <a:pPr lvl="0" algn="ctr" rtl="0">
                <a:spcBef>
                  <a:spcPts val="0"/>
                </a:spcBef>
                <a:buNone/>
              </a:pPr>
              <a:endParaRPr b="1">
                <a:solidFill>
                  <a:srgbClr val="F08B7C"/>
                </a:solidFill>
                <a:latin typeface="Roboto Slab"/>
                <a:ea typeface="Roboto Slab"/>
                <a:cs typeface="Roboto Slab"/>
                <a:sym typeface="Roboto Slab"/>
              </a:endParaRPr>
            </a:p>
            <a:p>
              <a:pPr lvl="0" algn="ctr" rtl="0">
                <a:spcBef>
                  <a:spcPts val="0"/>
                </a:spcBef>
                <a:buNone/>
              </a:pPr>
              <a:endParaRPr sz="800" b="1">
                <a:solidFill>
                  <a:srgbClr val="F08B7C"/>
                </a:solidFill>
                <a:latin typeface="Roboto Slab"/>
                <a:ea typeface="Roboto Slab"/>
                <a:cs typeface="Roboto Slab"/>
                <a:sym typeface="Roboto Slab"/>
              </a:endParaRPr>
            </a:p>
          </p:txBody>
        </p:sp>
        <p:sp>
          <p:nvSpPr>
            <p:cNvPr id="3114" name="Shape 3114"/>
            <p:cNvSpPr txBox="1"/>
            <p:nvPr/>
          </p:nvSpPr>
          <p:spPr>
            <a:xfrm>
              <a:off x="784234" y="2898150"/>
              <a:ext cx="2193599" cy="604800"/>
            </a:xfrm>
            <a:prstGeom prst="rect">
              <a:avLst/>
            </a:prstGeom>
            <a:noFill/>
            <a:ln>
              <a:noFill/>
            </a:ln>
          </p:spPr>
          <p:txBody>
            <a:bodyPr lIns="91425" tIns="91425" rIns="91425" bIns="91425" anchor="t" anchorCtr="0">
              <a:noAutofit/>
            </a:bodyPr>
            <a:lstStyle/>
            <a:p>
              <a:pPr lvl="0" algn="ctr"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algn="ctr"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algn="ctr" rtl="0">
                <a:spcBef>
                  <a:spcPts val="0"/>
                </a:spcBef>
                <a:buNone/>
              </a:pPr>
              <a:endParaRPr sz="900">
                <a:latin typeface="Roboto"/>
                <a:ea typeface="Roboto"/>
                <a:cs typeface="Roboto"/>
                <a:sym typeface="Roboto"/>
              </a:endParaRPr>
            </a:p>
          </p:txBody>
        </p:sp>
        <p:sp>
          <p:nvSpPr>
            <p:cNvPr id="3115" name="Shape 3115"/>
            <p:cNvSpPr txBox="1"/>
            <p:nvPr/>
          </p:nvSpPr>
          <p:spPr>
            <a:xfrm>
              <a:off x="496984" y="3782574"/>
              <a:ext cx="2768099" cy="434999"/>
            </a:xfrm>
            <a:prstGeom prst="rect">
              <a:avLst/>
            </a:prstGeom>
            <a:noFill/>
            <a:ln>
              <a:noFill/>
            </a:ln>
          </p:spPr>
          <p:txBody>
            <a:bodyPr lIns="91425" tIns="91425" rIns="91425" bIns="91425" anchor="t" anchorCtr="0">
              <a:noAutofit/>
            </a:bodyPr>
            <a:lstStyle/>
            <a:p>
              <a:pPr lvl="0" algn="ctr" rtl="0">
                <a:spcBef>
                  <a:spcPts val="0"/>
                </a:spcBef>
                <a:buNone/>
              </a:pPr>
              <a:r>
                <a:rPr lang="en" sz="1100" b="1">
                  <a:solidFill>
                    <a:srgbClr val="D5A6BD"/>
                  </a:solidFill>
                  <a:latin typeface="Roboto Slab"/>
                  <a:ea typeface="Roboto Slab"/>
                  <a:cs typeface="Roboto Slab"/>
                  <a:sym typeface="Roboto Slab"/>
                </a:rPr>
                <a:t>Apply this style to titles</a:t>
              </a:r>
            </a:p>
            <a:p>
              <a:pPr lvl="0" algn="ctr" rtl="0">
                <a:spcBef>
                  <a:spcPts val="0"/>
                </a:spcBef>
                <a:buNone/>
              </a:pPr>
              <a:endParaRPr sz="1200" b="1">
                <a:solidFill>
                  <a:srgbClr val="F08B7C"/>
                </a:solidFill>
                <a:latin typeface="Roboto Slab"/>
                <a:ea typeface="Roboto Slab"/>
                <a:cs typeface="Roboto Slab"/>
                <a:sym typeface="Roboto Slab"/>
              </a:endParaRPr>
            </a:p>
            <a:p>
              <a:pPr lvl="0" algn="ctr" rtl="0">
                <a:spcBef>
                  <a:spcPts val="0"/>
                </a:spcBef>
                <a:buNone/>
              </a:pPr>
              <a:endParaRPr b="1">
                <a:solidFill>
                  <a:srgbClr val="F08B7C"/>
                </a:solidFill>
                <a:latin typeface="Roboto Slab"/>
                <a:ea typeface="Roboto Slab"/>
                <a:cs typeface="Roboto Slab"/>
                <a:sym typeface="Roboto Slab"/>
              </a:endParaRPr>
            </a:p>
            <a:p>
              <a:pPr lvl="0" algn="ctr" rtl="0">
                <a:spcBef>
                  <a:spcPts val="0"/>
                </a:spcBef>
                <a:buNone/>
              </a:pPr>
              <a:endParaRPr sz="800" b="1">
                <a:solidFill>
                  <a:srgbClr val="F08B7C"/>
                </a:solidFill>
                <a:latin typeface="Roboto Slab"/>
                <a:ea typeface="Roboto Slab"/>
                <a:cs typeface="Roboto Slab"/>
                <a:sym typeface="Roboto Slab"/>
              </a:endParaRPr>
            </a:p>
          </p:txBody>
        </p:sp>
        <p:sp>
          <p:nvSpPr>
            <p:cNvPr id="3116" name="Shape 3116"/>
            <p:cNvSpPr txBox="1"/>
            <p:nvPr/>
          </p:nvSpPr>
          <p:spPr>
            <a:xfrm>
              <a:off x="784234" y="4096099"/>
              <a:ext cx="2193599" cy="604800"/>
            </a:xfrm>
            <a:prstGeom prst="rect">
              <a:avLst/>
            </a:prstGeom>
            <a:noFill/>
            <a:ln>
              <a:noFill/>
            </a:ln>
          </p:spPr>
          <p:txBody>
            <a:bodyPr lIns="91425" tIns="91425" rIns="91425" bIns="91425" anchor="t" anchorCtr="0">
              <a:noAutofit/>
            </a:bodyPr>
            <a:lstStyle/>
            <a:p>
              <a:pPr lvl="0" algn="ctr"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algn="ctr"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algn="ctr" rtl="0">
                <a:spcBef>
                  <a:spcPts val="0"/>
                </a:spcBef>
                <a:buNone/>
              </a:pPr>
              <a:endParaRPr sz="900">
                <a:latin typeface="Roboto"/>
                <a:ea typeface="Roboto"/>
                <a:cs typeface="Roboto"/>
                <a:sym typeface="Roboto"/>
              </a:endParaRPr>
            </a:p>
          </p:txBody>
        </p:sp>
      </p:grpSp>
      <p:grpSp>
        <p:nvGrpSpPr>
          <p:cNvPr id="3117" name="Shape 3117"/>
          <p:cNvGrpSpPr/>
          <p:nvPr/>
        </p:nvGrpSpPr>
        <p:grpSpPr>
          <a:xfrm>
            <a:off x="3182116" y="1365425"/>
            <a:ext cx="2768099" cy="3335474"/>
            <a:chOff x="3182116" y="1365425"/>
            <a:chExt cx="2768099" cy="3335474"/>
          </a:xfrm>
        </p:grpSpPr>
        <p:sp>
          <p:nvSpPr>
            <p:cNvPr id="3118" name="Shape 3118"/>
            <p:cNvSpPr txBox="1"/>
            <p:nvPr/>
          </p:nvSpPr>
          <p:spPr>
            <a:xfrm>
              <a:off x="3182116" y="1365425"/>
              <a:ext cx="2768099" cy="434999"/>
            </a:xfrm>
            <a:prstGeom prst="rect">
              <a:avLst/>
            </a:prstGeom>
            <a:noFill/>
            <a:ln>
              <a:noFill/>
            </a:ln>
          </p:spPr>
          <p:txBody>
            <a:bodyPr lIns="91425" tIns="91425" rIns="91425" bIns="91425" anchor="t" anchorCtr="0">
              <a:noAutofit/>
            </a:bodyPr>
            <a:lstStyle/>
            <a:p>
              <a:pPr lvl="0" algn="ctr" rtl="0">
                <a:spcBef>
                  <a:spcPts val="0"/>
                </a:spcBef>
                <a:buNone/>
              </a:pPr>
              <a:r>
                <a:rPr lang="en" sz="1100" b="1">
                  <a:solidFill>
                    <a:srgbClr val="A5C961"/>
                  </a:solidFill>
                  <a:latin typeface="Roboto Slab"/>
                  <a:ea typeface="Roboto Slab"/>
                  <a:cs typeface="Roboto Slab"/>
                  <a:sym typeface="Roboto Slab"/>
                </a:rPr>
                <a:t>Apply this style to titles</a:t>
              </a:r>
            </a:p>
            <a:p>
              <a:pPr lvl="0" algn="ctr" rtl="0">
                <a:spcBef>
                  <a:spcPts val="0"/>
                </a:spcBef>
                <a:buNone/>
              </a:pPr>
              <a:endParaRPr sz="1200" b="1">
                <a:solidFill>
                  <a:srgbClr val="F08B7C"/>
                </a:solidFill>
                <a:latin typeface="Roboto Slab"/>
                <a:ea typeface="Roboto Slab"/>
                <a:cs typeface="Roboto Slab"/>
                <a:sym typeface="Roboto Slab"/>
              </a:endParaRPr>
            </a:p>
            <a:p>
              <a:pPr lvl="0" algn="ctr" rtl="0">
                <a:spcBef>
                  <a:spcPts val="0"/>
                </a:spcBef>
                <a:buNone/>
              </a:pPr>
              <a:endParaRPr b="1">
                <a:solidFill>
                  <a:srgbClr val="F08B7C"/>
                </a:solidFill>
                <a:latin typeface="Roboto Slab"/>
                <a:ea typeface="Roboto Slab"/>
                <a:cs typeface="Roboto Slab"/>
                <a:sym typeface="Roboto Slab"/>
              </a:endParaRPr>
            </a:p>
            <a:p>
              <a:pPr lvl="0" algn="ctr" rtl="0">
                <a:spcBef>
                  <a:spcPts val="0"/>
                </a:spcBef>
                <a:buNone/>
              </a:pPr>
              <a:endParaRPr sz="800" b="1">
                <a:solidFill>
                  <a:srgbClr val="F08B7C"/>
                </a:solidFill>
                <a:latin typeface="Roboto Slab"/>
                <a:ea typeface="Roboto Slab"/>
                <a:cs typeface="Roboto Slab"/>
                <a:sym typeface="Roboto Slab"/>
              </a:endParaRPr>
            </a:p>
          </p:txBody>
        </p:sp>
        <p:sp>
          <p:nvSpPr>
            <p:cNvPr id="3119" name="Shape 3119"/>
            <p:cNvSpPr txBox="1"/>
            <p:nvPr/>
          </p:nvSpPr>
          <p:spPr>
            <a:xfrm>
              <a:off x="3469366" y="1678950"/>
              <a:ext cx="2193599" cy="604800"/>
            </a:xfrm>
            <a:prstGeom prst="rect">
              <a:avLst/>
            </a:prstGeom>
            <a:noFill/>
            <a:ln>
              <a:noFill/>
            </a:ln>
          </p:spPr>
          <p:txBody>
            <a:bodyPr lIns="91425" tIns="91425" rIns="91425" bIns="91425" anchor="t" anchorCtr="0">
              <a:noAutofit/>
            </a:bodyPr>
            <a:lstStyle/>
            <a:p>
              <a:pPr lvl="0" algn="ctr"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algn="ctr"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algn="ctr" rtl="0">
                <a:spcBef>
                  <a:spcPts val="0"/>
                </a:spcBef>
                <a:buNone/>
              </a:pPr>
              <a:endParaRPr sz="900">
                <a:latin typeface="Roboto"/>
                <a:ea typeface="Roboto"/>
                <a:cs typeface="Roboto"/>
                <a:sym typeface="Roboto"/>
              </a:endParaRPr>
            </a:p>
          </p:txBody>
        </p:sp>
        <p:sp>
          <p:nvSpPr>
            <p:cNvPr id="3120" name="Shape 3120"/>
            <p:cNvSpPr txBox="1"/>
            <p:nvPr/>
          </p:nvSpPr>
          <p:spPr>
            <a:xfrm>
              <a:off x="3182116" y="2584625"/>
              <a:ext cx="2768099" cy="434999"/>
            </a:xfrm>
            <a:prstGeom prst="rect">
              <a:avLst/>
            </a:prstGeom>
            <a:noFill/>
            <a:ln>
              <a:noFill/>
            </a:ln>
          </p:spPr>
          <p:txBody>
            <a:bodyPr lIns="91425" tIns="91425" rIns="91425" bIns="91425" anchor="t" anchorCtr="0">
              <a:noAutofit/>
            </a:bodyPr>
            <a:lstStyle/>
            <a:p>
              <a:pPr lvl="0" algn="ctr" rtl="0">
                <a:spcBef>
                  <a:spcPts val="0"/>
                </a:spcBef>
                <a:buNone/>
              </a:pPr>
              <a:r>
                <a:rPr lang="en" sz="1100" b="1">
                  <a:solidFill>
                    <a:srgbClr val="0097A7"/>
                  </a:solidFill>
                  <a:latin typeface="Roboto Slab"/>
                  <a:ea typeface="Roboto Slab"/>
                  <a:cs typeface="Roboto Slab"/>
                  <a:sym typeface="Roboto Slab"/>
                </a:rPr>
                <a:t>Apply this style to titles</a:t>
              </a:r>
            </a:p>
            <a:p>
              <a:pPr lvl="0" algn="ctr" rtl="0">
                <a:spcBef>
                  <a:spcPts val="0"/>
                </a:spcBef>
                <a:buNone/>
              </a:pPr>
              <a:endParaRPr sz="1200" b="1">
                <a:solidFill>
                  <a:srgbClr val="F08B7C"/>
                </a:solidFill>
                <a:latin typeface="Roboto Slab"/>
                <a:ea typeface="Roboto Slab"/>
                <a:cs typeface="Roboto Slab"/>
                <a:sym typeface="Roboto Slab"/>
              </a:endParaRPr>
            </a:p>
            <a:p>
              <a:pPr lvl="0" algn="ctr" rtl="0">
                <a:spcBef>
                  <a:spcPts val="0"/>
                </a:spcBef>
                <a:buNone/>
              </a:pPr>
              <a:endParaRPr b="1">
                <a:solidFill>
                  <a:srgbClr val="F08B7C"/>
                </a:solidFill>
                <a:latin typeface="Roboto Slab"/>
                <a:ea typeface="Roboto Slab"/>
                <a:cs typeface="Roboto Slab"/>
                <a:sym typeface="Roboto Slab"/>
              </a:endParaRPr>
            </a:p>
            <a:p>
              <a:pPr lvl="0" algn="ctr" rtl="0">
                <a:spcBef>
                  <a:spcPts val="0"/>
                </a:spcBef>
                <a:buNone/>
              </a:pPr>
              <a:endParaRPr sz="800" b="1">
                <a:solidFill>
                  <a:srgbClr val="F08B7C"/>
                </a:solidFill>
                <a:latin typeface="Roboto Slab"/>
                <a:ea typeface="Roboto Slab"/>
                <a:cs typeface="Roboto Slab"/>
                <a:sym typeface="Roboto Slab"/>
              </a:endParaRPr>
            </a:p>
          </p:txBody>
        </p:sp>
        <p:sp>
          <p:nvSpPr>
            <p:cNvPr id="3121" name="Shape 3121"/>
            <p:cNvSpPr txBox="1"/>
            <p:nvPr/>
          </p:nvSpPr>
          <p:spPr>
            <a:xfrm>
              <a:off x="3469366" y="2898150"/>
              <a:ext cx="2193599" cy="604800"/>
            </a:xfrm>
            <a:prstGeom prst="rect">
              <a:avLst/>
            </a:prstGeom>
            <a:noFill/>
            <a:ln>
              <a:noFill/>
            </a:ln>
          </p:spPr>
          <p:txBody>
            <a:bodyPr lIns="91425" tIns="91425" rIns="91425" bIns="91425" anchor="t" anchorCtr="0">
              <a:noAutofit/>
            </a:bodyPr>
            <a:lstStyle/>
            <a:p>
              <a:pPr lvl="0" algn="ctr"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algn="ctr"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algn="ctr" rtl="0">
                <a:spcBef>
                  <a:spcPts val="0"/>
                </a:spcBef>
                <a:buNone/>
              </a:pPr>
              <a:endParaRPr sz="900">
                <a:latin typeface="Roboto"/>
                <a:ea typeface="Roboto"/>
                <a:cs typeface="Roboto"/>
                <a:sym typeface="Roboto"/>
              </a:endParaRPr>
            </a:p>
          </p:txBody>
        </p:sp>
        <p:sp>
          <p:nvSpPr>
            <p:cNvPr id="3122" name="Shape 3122"/>
            <p:cNvSpPr txBox="1"/>
            <p:nvPr/>
          </p:nvSpPr>
          <p:spPr>
            <a:xfrm>
              <a:off x="3182116" y="3782574"/>
              <a:ext cx="2768099" cy="434999"/>
            </a:xfrm>
            <a:prstGeom prst="rect">
              <a:avLst/>
            </a:prstGeom>
            <a:noFill/>
            <a:ln>
              <a:noFill/>
            </a:ln>
          </p:spPr>
          <p:txBody>
            <a:bodyPr lIns="91425" tIns="91425" rIns="91425" bIns="91425" anchor="t" anchorCtr="0">
              <a:noAutofit/>
            </a:bodyPr>
            <a:lstStyle/>
            <a:p>
              <a:pPr lvl="0" algn="ctr" rtl="0">
                <a:spcBef>
                  <a:spcPts val="0"/>
                </a:spcBef>
                <a:buNone/>
              </a:pPr>
              <a:r>
                <a:rPr lang="en" sz="1100" b="1">
                  <a:solidFill>
                    <a:srgbClr val="7FB3E6"/>
                  </a:solidFill>
                  <a:latin typeface="Roboto Slab"/>
                  <a:ea typeface="Roboto Slab"/>
                  <a:cs typeface="Roboto Slab"/>
                  <a:sym typeface="Roboto Slab"/>
                </a:rPr>
                <a:t>Apply this style to titles</a:t>
              </a:r>
            </a:p>
            <a:p>
              <a:pPr lvl="0" algn="ctr" rtl="0">
                <a:spcBef>
                  <a:spcPts val="0"/>
                </a:spcBef>
                <a:buNone/>
              </a:pPr>
              <a:endParaRPr sz="1200" b="1">
                <a:solidFill>
                  <a:srgbClr val="F08B7C"/>
                </a:solidFill>
                <a:latin typeface="Roboto Slab"/>
                <a:ea typeface="Roboto Slab"/>
                <a:cs typeface="Roboto Slab"/>
                <a:sym typeface="Roboto Slab"/>
              </a:endParaRPr>
            </a:p>
            <a:p>
              <a:pPr lvl="0" algn="ctr" rtl="0">
                <a:spcBef>
                  <a:spcPts val="0"/>
                </a:spcBef>
                <a:buNone/>
              </a:pPr>
              <a:endParaRPr b="1">
                <a:solidFill>
                  <a:srgbClr val="F08B7C"/>
                </a:solidFill>
                <a:latin typeface="Roboto Slab"/>
                <a:ea typeface="Roboto Slab"/>
                <a:cs typeface="Roboto Slab"/>
                <a:sym typeface="Roboto Slab"/>
              </a:endParaRPr>
            </a:p>
            <a:p>
              <a:pPr lvl="0" algn="ctr" rtl="0">
                <a:spcBef>
                  <a:spcPts val="0"/>
                </a:spcBef>
                <a:buNone/>
              </a:pPr>
              <a:endParaRPr sz="800" b="1">
                <a:solidFill>
                  <a:srgbClr val="F08B7C"/>
                </a:solidFill>
                <a:latin typeface="Roboto Slab"/>
                <a:ea typeface="Roboto Slab"/>
                <a:cs typeface="Roboto Slab"/>
                <a:sym typeface="Roboto Slab"/>
              </a:endParaRPr>
            </a:p>
          </p:txBody>
        </p:sp>
        <p:sp>
          <p:nvSpPr>
            <p:cNvPr id="3123" name="Shape 3123"/>
            <p:cNvSpPr txBox="1"/>
            <p:nvPr/>
          </p:nvSpPr>
          <p:spPr>
            <a:xfrm>
              <a:off x="3469366" y="4096099"/>
              <a:ext cx="2193599" cy="604800"/>
            </a:xfrm>
            <a:prstGeom prst="rect">
              <a:avLst/>
            </a:prstGeom>
            <a:noFill/>
            <a:ln>
              <a:noFill/>
            </a:ln>
          </p:spPr>
          <p:txBody>
            <a:bodyPr lIns="91425" tIns="91425" rIns="91425" bIns="91425" anchor="t" anchorCtr="0">
              <a:noAutofit/>
            </a:bodyPr>
            <a:lstStyle/>
            <a:p>
              <a:pPr lvl="0" algn="ctr"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algn="ctr"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algn="ctr" rtl="0">
                <a:spcBef>
                  <a:spcPts val="0"/>
                </a:spcBef>
                <a:buNone/>
              </a:pPr>
              <a:endParaRPr sz="900">
                <a:latin typeface="Roboto"/>
                <a:ea typeface="Roboto"/>
                <a:cs typeface="Roboto"/>
                <a:sym typeface="Roboto"/>
              </a:endParaRPr>
            </a:p>
          </p:txBody>
        </p:sp>
      </p:grpSp>
      <p:grpSp>
        <p:nvGrpSpPr>
          <p:cNvPr id="3124" name="Shape 3124"/>
          <p:cNvGrpSpPr/>
          <p:nvPr/>
        </p:nvGrpSpPr>
        <p:grpSpPr>
          <a:xfrm>
            <a:off x="5926516" y="1365425"/>
            <a:ext cx="2768099" cy="3335474"/>
            <a:chOff x="5926516" y="1365425"/>
            <a:chExt cx="2768099" cy="3335474"/>
          </a:xfrm>
        </p:grpSpPr>
        <p:sp>
          <p:nvSpPr>
            <p:cNvPr id="3125" name="Shape 3125"/>
            <p:cNvSpPr txBox="1"/>
            <p:nvPr/>
          </p:nvSpPr>
          <p:spPr>
            <a:xfrm>
              <a:off x="5926516" y="1365425"/>
              <a:ext cx="2768099" cy="434999"/>
            </a:xfrm>
            <a:prstGeom prst="rect">
              <a:avLst/>
            </a:prstGeom>
            <a:noFill/>
            <a:ln>
              <a:noFill/>
            </a:ln>
          </p:spPr>
          <p:txBody>
            <a:bodyPr lIns="91425" tIns="91425" rIns="91425" bIns="91425" anchor="t" anchorCtr="0">
              <a:noAutofit/>
            </a:bodyPr>
            <a:lstStyle/>
            <a:p>
              <a:pPr lvl="0" algn="ctr" rtl="0">
                <a:spcBef>
                  <a:spcPts val="0"/>
                </a:spcBef>
                <a:buNone/>
              </a:pPr>
              <a:r>
                <a:rPr lang="en" sz="1100" b="1">
                  <a:solidFill>
                    <a:srgbClr val="FDCC5B"/>
                  </a:solidFill>
                  <a:latin typeface="Roboto Slab"/>
                  <a:ea typeface="Roboto Slab"/>
                  <a:cs typeface="Roboto Slab"/>
                  <a:sym typeface="Roboto Slab"/>
                </a:rPr>
                <a:t>Apply this style to titles</a:t>
              </a:r>
            </a:p>
            <a:p>
              <a:pPr lvl="0" algn="ctr" rtl="0">
                <a:spcBef>
                  <a:spcPts val="0"/>
                </a:spcBef>
                <a:buNone/>
              </a:pPr>
              <a:endParaRPr sz="1200" b="1">
                <a:solidFill>
                  <a:srgbClr val="F08B7C"/>
                </a:solidFill>
                <a:latin typeface="Roboto Slab"/>
                <a:ea typeface="Roboto Slab"/>
                <a:cs typeface="Roboto Slab"/>
                <a:sym typeface="Roboto Slab"/>
              </a:endParaRPr>
            </a:p>
            <a:p>
              <a:pPr lvl="0" algn="ctr" rtl="0">
                <a:spcBef>
                  <a:spcPts val="0"/>
                </a:spcBef>
                <a:buNone/>
              </a:pPr>
              <a:endParaRPr b="1">
                <a:solidFill>
                  <a:srgbClr val="F08B7C"/>
                </a:solidFill>
                <a:latin typeface="Roboto Slab"/>
                <a:ea typeface="Roboto Slab"/>
                <a:cs typeface="Roboto Slab"/>
                <a:sym typeface="Roboto Slab"/>
              </a:endParaRPr>
            </a:p>
            <a:p>
              <a:pPr lvl="0" algn="ctr" rtl="0">
                <a:spcBef>
                  <a:spcPts val="0"/>
                </a:spcBef>
                <a:buNone/>
              </a:pPr>
              <a:endParaRPr sz="800" b="1">
                <a:solidFill>
                  <a:srgbClr val="F08B7C"/>
                </a:solidFill>
                <a:latin typeface="Roboto Slab"/>
                <a:ea typeface="Roboto Slab"/>
                <a:cs typeface="Roboto Slab"/>
                <a:sym typeface="Roboto Slab"/>
              </a:endParaRPr>
            </a:p>
          </p:txBody>
        </p:sp>
        <p:sp>
          <p:nvSpPr>
            <p:cNvPr id="3126" name="Shape 3126"/>
            <p:cNvSpPr txBox="1"/>
            <p:nvPr/>
          </p:nvSpPr>
          <p:spPr>
            <a:xfrm>
              <a:off x="6213766" y="1678950"/>
              <a:ext cx="2193599" cy="604800"/>
            </a:xfrm>
            <a:prstGeom prst="rect">
              <a:avLst/>
            </a:prstGeom>
            <a:noFill/>
            <a:ln>
              <a:noFill/>
            </a:ln>
          </p:spPr>
          <p:txBody>
            <a:bodyPr lIns="91425" tIns="91425" rIns="91425" bIns="91425" anchor="t" anchorCtr="0">
              <a:noAutofit/>
            </a:bodyPr>
            <a:lstStyle/>
            <a:p>
              <a:pPr lvl="0" algn="ctr"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algn="ctr"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algn="ctr" rtl="0">
                <a:spcBef>
                  <a:spcPts val="0"/>
                </a:spcBef>
                <a:buNone/>
              </a:pPr>
              <a:endParaRPr sz="900">
                <a:latin typeface="Roboto"/>
                <a:ea typeface="Roboto"/>
                <a:cs typeface="Roboto"/>
                <a:sym typeface="Roboto"/>
              </a:endParaRPr>
            </a:p>
          </p:txBody>
        </p:sp>
        <p:sp>
          <p:nvSpPr>
            <p:cNvPr id="3127" name="Shape 3127"/>
            <p:cNvSpPr txBox="1"/>
            <p:nvPr/>
          </p:nvSpPr>
          <p:spPr>
            <a:xfrm>
              <a:off x="5926516" y="2584625"/>
              <a:ext cx="2768099" cy="434999"/>
            </a:xfrm>
            <a:prstGeom prst="rect">
              <a:avLst/>
            </a:prstGeom>
            <a:noFill/>
            <a:ln>
              <a:noFill/>
            </a:ln>
          </p:spPr>
          <p:txBody>
            <a:bodyPr lIns="91425" tIns="91425" rIns="91425" bIns="91425" anchor="t" anchorCtr="0">
              <a:noAutofit/>
            </a:bodyPr>
            <a:lstStyle/>
            <a:p>
              <a:pPr lvl="0" algn="ctr" rtl="0">
                <a:spcBef>
                  <a:spcPts val="0"/>
                </a:spcBef>
                <a:buNone/>
              </a:pPr>
              <a:r>
                <a:rPr lang="en" sz="1100" b="1">
                  <a:solidFill>
                    <a:srgbClr val="C27BA0"/>
                  </a:solidFill>
                  <a:latin typeface="Roboto Slab"/>
                  <a:ea typeface="Roboto Slab"/>
                  <a:cs typeface="Roboto Slab"/>
                  <a:sym typeface="Roboto Slab"/>
                </a:rPr>
                <a:t>Apply this style to titles</a:t>
              </a:r>
            </a:p>
            <a:p>
              <a:pPr lvl="0" algn="ctr" rtl="0">
                <a:spcBef>
                  <a:spcPts val="0"/>
                </a:spcBef>
                <a:buNone/>
              </a:pPr>
              <a:endParaRPr sz="1200" b="1">
                <a:solidFill>
                  <a:srgbClr val="F08B7C"/>
                </a:solidFill>
                <a:latin typeface="Roboto Slab"/>
                <a:ea typeface="Roboto Slab"/>
                <a:cs typeface="Roboto Slab"/>
                <a:sym typeface="Roboto Slab"/>
              </a:endParaRPr>
            </a:p>
            <a:p>
              <a:pPr lvl="0" algn="ctr" rtl="0">
                <a:spcBef>
                  <a:spcPts val="0"/>
                </a:spcBef>
                <a:buNone/>
              </a:pPr>
              <a:endParaRPr b="1">
                <a:solidFill>
                  <a:srgbClr val="F08B7C"/>
                </a:solidFill>
                <a:latin typeface="Roboto Slab"/>
                <a:ea typeface="Roboto Slab"/>
                <a:cs typeface="Roboto Slab"/>
                <a:sym typeface="Roboto Slab"/>
              </a:endParaRPr>
            </a:p>
            <a:p>
              <a:pPr lvl="0" algn="ctr" rtl="0">
                <a:spcBef>
                  <a:spcPts val="0"/>
                </a:spcBef>
                <a:buNone/>
              </a:pPr>
              <a:endParaRPr sz="800" b="1">
                <a:solidFill>
                  <a:srgbClr val="F08B7C"/>
                </a:solidFill>
                <a:latin typeface="Roboto Slab"/>
                <a:ea typeface="Roboto Slab"/>
                <a:cs typeface="Roboto Slab"/>
                <a:sym typeface="Roboto Slab"/>
              </a:endParaRPr>
            </a:p>
          </p:txBody>
        </p:sp>
        <p:sp>
          <p:nvSpPr>
            <p:cNvPr id="3128" name="Shape 3128"/>
            <p:cNvSpPr txBox="1"/>
            <p:nvPr/>
          </p:nvSpPr>
          <p:spPr>
            <a:xfrm>
              <a:off x="6213766" y="2898150"/>
              <a:ext cx="2193599" cy="604800"/>
            </a:xfrm>
            <a:prstGeom prst="rect">
              <a:avLst/>
            </a:prstGeom>
            <a:noFill/>
            <a:ln>
              <a:noFill/>
            </a:ln>
          </p:spPr>
          <p:txBody>
            <a:bodyPr lIns="91425" tIns="91425" rIns="91425" bIns="91425" anchor="t" anchorCtr="0">
              <a:noAutofit/>
            </a:bodyPr>
            <a:lstStyle/>
            <a:p>
              <a:pPr lvl="0" algn="ctr"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algn="ctr"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algn="ctr" rtl="0">
                <a:spcBef>
                  <a:spcPts val="0"/>
                </a:spcBef>
                <a:buNone/>
              </a:pPr>
              <a:endParaRPr sz="900">
                <a:latin typeface="Roboto"/>
                <a:ea typeface="Roboto"/>
                <a:cs typeface="Roboto"/>
                <a:sym typeface="Roboto"/>
              </a:endParaRPr>
            </a:p>
          </p:txBody>
        </p:sp>
        <p:sp>
          <p:nvSpPr>
            <p:cNvPr id="3129" name="Shape 3129"/>
            <p:cNvSpPr txBox="1"/>
            <p:nvPr/>
          </p:nvSpPr>
          <p:spPr>
            <a:xfrm>
              <a:off x="5926516" y="3782574"/>
              <a:ext cx="2768099" cy="434999"/>
            </a:xfrm>
            <a:prstGeom prst="rect">
              <a:avLst/>
            </a:prstGeom>
            <a:noFill/>
            <a:ln>
              <a:noFill/>
            </a:ln>
          </p:spPr>
          <p:txBody>
            <a:bodyPr lIns="91425" tIns="91425" rIns="91425" bIns="91425" anchor="t" anchorCtr="0">
              <a:noAutofit/>
            </a:bodyPr>
            <a:lstStyle/>
            <a:p>
              <a:pPr lvl="0" algn="ctr" rtl="0">
                <a:spcBef>
                  <a:spcPts val="0"/>
                </a:spcBef>
                <a:buNone/>
              </a:pPr>
              <a:r>
                <a:rPr lang="en" sz="1100" b="1">
                  <a:solidFill>
                    <a:srgbClr val="93C47D"/>
                  </a:solidFill>
                  <a:latin typeface="Roboto Slab"/>
                  <a:ea typeface="Roboto Slab"/>
                  <a:cs typeface="Roboto Slab"/>
                  <a:sym typeface="Roboto Slab"/>
                </a:rPr>
                <a:t>Apply this style to titles</a:t>
              </a:r>
            </a:p>
            <a:p>
              <a:pPr lvl="0" algn="ctr" rtl="0">
                <a:spcBef>
                  <a:spcPts val="0"/>
                </a:spcBef>
                <a:buNone/>
              </a:pPr>
              <a:endParaRPr sz="1200" b="1">
                <a:solidFill>
                  <a:srgbClr val="F08B7C"/>
                </a:solidFill>
                <a:latin typeface="Roboto Slab"/>
                <a:ea typeface="Roboto Slab"/>
                <a:cs typeface="Roboto Slab"/>
                <a:sym typeface="Roboto Slab"/>
              </a:endParaRPr>
            </a:p>
            <a:p>
              <a:pPr lvl="0" algn="ctr" rtl="0">
                <a:spcBef>
                  <a:spcPts val="0"/>
                </a:spcBef>
                <a:buNone/>
              </a:pPr>
              <a:endParaRPr b="1">
                <a:solidFill>
                  <a:srgbClr val="F08B7C"/>
                </a:solidFill>
                <a:latin typeface="Roboto Slab"/>
                <a:ea typeface="Roboto Slab"/>
                <a:cs typeface="Roboto Slab"/>
                <a:sym typeface="Roboto Slab"/>
              </a:endParaRPr>
            </a:p>
            <a:p>
              <a:pPr lvl="0" algn="ctr" rtl="0">
                <a:spcBef>
                  <a:spcPts val="0"/>
                </a:spcBef>
                <a:buNone/>
              </a:pPr>
              <a:endParaRPr sz="800" b="1">
                <a:solidFill>
                  <a:srgbClr val="F08B7C"/>
                </a:solidFill>
                <a:latin typeface="Roboto Slab"/>
                <a:ea typeface="Roboto Slab"/>
                <a:cs typeface="Roboto Slab"/>
                <a:sym typeface="Roboto Slab"/>
              </a:endParaRPr>
            </a:p>
          </p:txBody>
        </p:sp>
        <p:sp>
          <p:nvSpPr>
            <p:cNvPr id="3130" name="Shape 3130"/>
            <p:cNvSpPr txBox="1"/>
            <p:nvPr/>
          </p:nvSpPr>
          <p:spPr>
            <a:xfrm>
              <a:off x="6213766" y="4096099"/>
              <a:ext cx="2193599" cy="604800"/>
            </a:xfrm>
            <a:prstGeom prst="rect">
              <a:avLst/>
            </a:prstGeom>
            <a:noFill/>
            <a:ln>
              <a:noFill/>
            </a:ln>
          </p:spPr>
          <p:txBody>
            <a:bodyPr lIns="91425" tIns="91425" rIns="91425" bIns="91425" anchor="t" anchorCtr="0">
              <a:noAutofit/>
            </a:bodyPr>
            <a:lstStyle/>
            <a:p>
              <a:pPr lvl="0" algn="ctr" rtl="0">
                <a:spcBef>
                  <a:spcPts val="0"/>
                </a:spcBef>
                <a:buNone/>
              </a:pPr>
              <a:r>
                <a:rPr lang="en" sz="900">
                  <a:latin typeface="Roboto"/>
                  <a:ea typeface="Roboto"/>
                  <a:cs typeface="Roboto"/>
                  <a:sym typeface="Roboto"/>
                </a:rPr>
                <a:t>Lorem ipsum dolor sit amet, </a:t>
              </a:r>
              <a:r>
                <a:rPr lang="en" sz="900">
                  <a:solidFill>
                    <a:schemeClr val="dk1"/>
                  </a:solidFill>
                  <a:latin typeface="Roboto"/>
                  <a:ea typeface="Roboto"/>
                  <a:cs typeface="Roboto"/>
                  <a:sym typeface="Roboto"/>
                </a:rPr>
                <a:t>psum dolo ip</a:t>
              </a:r>
              <a:r>
                <a:rPr lang="en" sz="900">
                  <a:latin typeface="Roboto"/>
                  <a:ea typeface="Roboto"/>
                  <a:cs typeface="Roboto"/>
                  <a:sym typeface="Roboto"/>
                </a:rPr>
                <a:t>consectetur </a:t>
              </a:r>
              <a:r>
                <a:rPr lang="en" sz="900">
                  <a:solidFill>
                    <a:schemeClr val="dk1"/>
                  </a:solidFill>
                  <a:latin typeface="Roboto"/>
                  <a:ea typeface="Roboto"/>
                  <a:cs typeface="Roboto"/>
                  <a:sym typeface="Roboto"/>
                </a:rPr>
                <a:t> ipsum dolo ipsum dolo</a:t>
              </a:r>
            </a:p>
            <a:p>
              <a:pPr lvl="0" algn="ctr" rtl="0">
                <a:spcBef>
                  <a:spcPts val="0"/>
                </a:spcBef>
                <a:buNone/>
              </a:pPr>
              <a:r>
                <a:rPr lang="en" sz="900">
                  <a:latin typeface="Roboto"/>
                  <a:ea typeface="Roboto"/>
                  <a:cs typeface="Roboto"/>
                  <a:sym typeface="Roboto"/>
                </a:rPr>
                <a:t>Vivamus ac massa</a:t>
              </a:r>
              <a:r>
                <a:rPr lang="en" sz="900">
                  <a:solidFill>
                    <a:schemeClr val="dk1"/>
                  </a:solidFill>
                  <a:latin typeface="Roboto"/>
                  <a:ea typeface="Roboto"/>
                  <a:cs typeface="Roboto"/>
                  <a:sym typeface="Roboto"/>
                </a:rPr>
                <a:t> ipsum dolo</a:t>
              </a:r>
              <a:r>
                <a:rPr lang="en" sz="900">
                  <a:latin typeface="Roboto"/>
                  <a:ea typeface="Roboto"/>
                  <a:cs typeface="Roboto"/>
                  <a:sym typeface="Roboto"/>
                </a:rPr>
                <a:t>.</a:t>
              </a:r>
            </a:p>
            <a:p>
              <a:pPr lvl="0" algn="ctr" rtl="0">
                <a:spcBef>
                  <a:spcPts val="0"/>
                </a:spcBef>
                <a:buNone/>
              </a:pPr>
              <a:endParaRPr sz="900">
                <a:latin typeface="Roboto"/>
                <a:ea typeface="Roboto"/>
                <a:cs typeface="Roboto"/>
                <a:sym typeface="Roboto"/>
              </a:endParaRPr>
            </a:p>
          </p:txBody>
        </p:sp>
      </p:grpSp>
      <p:pic>
        <p:nvPicPr>
          <p:cNvPr id="27" name="Immagine 26">
            <a:extLst>
              <a:ext uri="{FF2B5EF4-FFF2-40B4-BE49-F238E27FC236}">
                <a16:creationId xmlns:a16="http://schemas.microsoft.com/office/drawing/2014/main" id="{0B7AF580-3471-47C2-9DA9-9B6B9E174818}"/>
              </a:ext>
            </a:extLst>
          </p:cNvPr>
          <p:cNvPicPr>
            <a:picLocks noChangeAspect="1"/>
          </p:cNvPicPr>
          <p:nvPr/>
        </p:nvPicPr>
        <p:blipFill rotWithShape="1">
          <a:blip r:embed="rId4"/>
          <a:srcRect l="8414" t="42749" r="8338" b="42199"/>
          <a:stretch/>
        </p:blipFill>
        <p:spPr>
          <a:xfrm>
            <a:off x="361950" y="406960"/>
            <a:ext cx="1562100" cy="282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110"/>
                                        </p:tgtEl>
                                        <p:attrNameLst>
                                          <p:attrName>style.visibility</p:attrName>
                                        </p:attrNameLst>
                                      </p:cBhvr>
                                      <p:to>
                                        <p:strVal val="visible"/>
                                      </p:to>
                                    </p:set>
                                    <p:anim calcmode="lin" valueType="num">
                                      <p:cBhvr additive="base">
                                        <p:cTn id="7" dur="500"/>
                                        <p:tgtEl>
                                          <p:spTgt spid="3110"/>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117"/>
                                        </p:tgtEl>
                                        <p:attrNameLst>
                                          <p:attrName>style.visibility</p:attrName>
                                        </p:attrNameLst>
                                      </p:cBhvr>
                                      <p:to>
                                        <p:strVal val="visible"/>
                                      </p:to>
                                    </p:set>
                                    <p:anim calcmode="lin" valueType="num">
                                      <p:cBhvr additive="base">
                                        <p:cTn id="11" dur="500"/>
                                        <p:tgtEl>
                                          <p:spTgt spid="3117"/>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3124"/>
                                        </p:tgtEl>
                                        <p:attrNameLst>
                                          <p:attrName>style.visibility</p:attrName>
                                        </p:attrNameLst>
                                      </p:cBhvr>
                                      <p:to>
                                        <p:strVal val="visible"/>
                                      </p:to>
                                    </p:set>
                                    <p:anim calcmode="lin" valueType="num">
                                      <p:cBhvr additive="base">
                                        <p:cTn id="15" dur="500"/>
                                        <p:tgtEl>
                                          <p:spTgt spid="31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612</TotalTime>
  <Words>2617</Words>
  <Application>Microsoft Macintosh PowerPoint</Application>
  <PresentationFormat>Presentazione su schermo (16:9)</PresentationFormat>
  <Paragraphs>696</Paragraphs>
  <Slides>40</Slides>
  <Notes>40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40</vt:i4>
      </vt:variant>
    </vt:vector>
  </HeadingPairs>
  <TitlesOfParts>
    <vt:vector size="46" baseType="lpstr">
      <vt:lpstr>Exo</vt:lpstr>
      <vt:lpstr>Arial</vt:lpstr>
      <vt:lpstr>Exo 2 Extra Bold Condensed</vt:lpstr>
      <vt:lpstr>Roboto</vt:lpstr>
      <vt:lpstr>Roboto Slab</vt:lpstr>
      <vt:lpstr>simple-light-2</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di PowerPoint</dc:title>
  <dc:creator>Simone Ipprio</dc:creator>
  <cp:lastModifiedBy>Héloise MARTIN</cp:lastModifiedBy>
  <cp:revision>61</cp:revision>
  <dcterms:modified xsi:type="dcterms:W3CDTF">2019-01-27T11:42:50Z</dcterms:modified>
</cp:coreProperties>
</file>